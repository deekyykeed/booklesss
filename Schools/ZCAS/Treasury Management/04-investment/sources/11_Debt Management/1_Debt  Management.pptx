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6" r:id="rId32"/>
    <p:sldId id="287" r:id="rId33"/>
    <p:sldId id="2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75" autoAdjust="0"/>
  </p:normalViewPr>
  <p:slideViewPr>
    <p:cSldViewPr snapToGrid="0" snapToObjects="1">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11/8/2021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11/8/2021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11/8/2021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11/8/2021</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US" dirty="0"/>
              <a:t>Debt Management</a:t>
            </a:r>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US" dirty="0"/>
          </a:p>
        </p:txBody>
      </p:sp>
      <p:sp>
        <p:nvSpPr>
          <p:cNvPr id="3" name="Content Placeholder 2"/>
          <p:cNvSpPr>
            <a:spLocks noGrp="1"/>
          </p:cNvSpPr>
          <p:nvPr>
            <p:ph idx="1"/>
          </p:nvPr>
        </p:nvSpPr>
        <p:spPr/>
        <p:txBody>
          <a:bodyPr/>
          <a:lstStyle/>
          <a:p>
            <a:r>
              <a:rPr lang="en-GB" dirty="0"/>
              <a:t>Treasurer either manages a companies existing debt or has to procure new debt</a:t>
            </a:r>
          </a:p>
          <a:p>
            <a:r>
              <a:rPr lang="en-GB" dirty="0"/>
              <a:t>Typical form of corporate debt is either secured or unsecured loan</a:t>
            </a:r>
          </a:p>
          <a:p>
            <a:r>
              <a:rPr lang="en-GB" dirty="0"/>
              <a:t>However, there are a few other alternative forms of debt that he could consider depending on the duration of a company’s cash needs, its financial condition and the presence of collateral</a:t>
            </a:r>
            <a:endParaRPr lang="en-US" dirty="0"/>
          </a:p>
        </p:txBody>
      </p:sp>
    </p:spTree>
    <p:extLst>
      <p:ext uri="{BB962C8B-B14F-4D97-AF65-F5344CB8AC3E}">
        <p14:creationId xmlns:p14="http://schemas.microsoft.com/office/powerpoint/2010/main" val="292327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lnSpcReduction="10000"/>
          </a:bodyPr>
          <a:lstStyle/>
          <a:p>
            <a:pPr>
              <a:buAutoNum type="arabicPeriod"/>
            </a:pPr>
            <a:r>
              <a:rPr lang="en-GB" dirty="0"/>
              <a:t>Commercial Paper</a:t>
            </a:r>
          </a:p>
          <a:p>
            <a:r>
              <a:rPr lang="en-GB" dirty="0"/>
              <a:t>Unsecured debt issued by a company and has a fixed maturity ranging from 1 to 120 days</a:t>
            </a:r>
          </a:p>
          <a:p>
            <a:r>
              <a:rPr lang="en-GB" dirty="0"/>
              <a:t>Used to meet short term working capital needs</a:t>
            </a:r>
          </a:p>
          <a:p>
            <a:r>
              <a:rPr lang="en-GB" dirty="0"/>
              <a:t>Sold at a discount from face value</a:t>
            </a:r>
          </a:p>
          <a:p>
            <a:r>
              <a:rPr lang="en-GB" dirty="0"/>
              <a:t>Company can sell directly to investors or through a dealer in an exchange for a commission</a:t>
            </a:r>
          </a:p>
        </p:txBody>
      </p:sp>
    </p:spTree>
    <p:extLst>
      <p:ext uri="{BB962C8B-B14F-4D97-AF65-F5344CB8AC3E}">
        <p14:creationId xmlns:p14="http://schemas.microsoft.com/office/powerpoint/2010/main" val="398208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As there is no collateral on the debt, it is only an option for large companies having high level credit ratings from a recognised rating agency</a:t>
            </a:r>
            <a:endParaRPr lang="en-US" dirty="0"/>
          </a:p>
          <a:p>
            <a:endParaRPr lang="en-US" dirty="0"/>
          </a:p>
        </p:txBody>
      </p:sp>
    </p:spTree>
    <p:extLst>
      <p:ext uri="{BB962C8B-B14F-4D97-AF65-F5344CB8AC3E}">
        <p14:creationId xmlns:p14="http://schemas.microsoft.com/office/powerpoint/2010/main" val="155648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fontScale="92500"/>
          </a:bodyPr>
          <a:lstStyle/>
          <a:p>
            <a:pPr marL="0" indent="0">
              <a:buNone/>
            </a:pPr>
            <a:r>
              <a:rPr lang="en-GB" dirty="0"/>
              <a:t>2. Field Warehousing Financing</a:t>
            </a:r>
          </a:p>
          <a:p>
            <a:r>
              <a:rPr lang="en-GB" dirty="0"/>
              <a:t>The finance company will segregate a portion of a company’s warehouse </a:t>
            </a:r>
          </a:p>
          <a:p>
            <a:r>
              <a:rPr lang="en-GB" dirty="0"/>
              <a:t>All inventory within is collateral for a loan from the financing company</a:t>
            </a:r>
          </a:p>
          <a:p>
            <a:r>
              <a:rPr lang="en-GB" dirty="0"/>
              <a:t>The finance company will pay for raw materials as they are needed, and is paid back directly from accounts receivable as soon as the customer payments are received</a:t>
            </a:r>
            <a:endParaRPr lang="en-US" dirty="0"/>
          </a:p>
        </p:txBody>
      </p:sp>
    </p:spTree>
    <p:extLst>
      <p:ext uri="{BB962C8B-B14F-4D97-AF65-F5344CB8AC3E}">
        <p14:creationId xmlns:p14="http://schemas.microsoft.com/office/powerpoint/2010/main" val="255665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The finance will implement a strict inventory control system</a:t>
            </a:r>
          </a:p>
          <a:p>
            <a:r>
              <a:rPr lang="en-GB" dirty="0"/>
              <a:t>If the level of inventory drops below the amount of the loan, then the company must pay back the finance company the difference between the outstanding loan amount and the total inventory valuation</a:t>
            </a:r>
          </a:p>
          <a:p>
            <a:pPr marL="0" indent="0">
              <a:buNone/>
            </a:pPr>
            <a:endParaRPr lang="en-US" dirty="0"/>
          </a:p>
        </p:txBody>
      </p:sp>
    </p:spTree>
    <p:extLst>
      <p:ext uri="{BB962C8B-B14F-4D97-AF65-F5344CB8AC3E}">
        <p14:creationId xmlns:p14="http://schemas.microsoft.com/office/powerpoint/2010/main" val="346185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3. Line of credit</a:t>
            </a:r>
          </a:p>
          <a:p>
            <a:r>
              <a:rPr lang="en-GB" dirty="0"/>
              <a:t>A commitment from a lender to pay a company whenever it needs cash, up to a pre-set maximum level</a:t>
            </a:r>
          </a:p>
          <a:p>
            <a:r>
              <a:rPr lang="en-GB" dirty="0"/>
              <a:t>Generally secured by company assets and interest charged is not far above the prime rate</a:t>
            </a:r>
          </a:p>
          <a:p>
            <a:r>
              <a:rPr lang="en-GB" dirty="0"/>
              <a:t>Bank charges an annual maintenance fee, irrespective of the amount drawn down on the loan </a:t>
            </a:r>
          </a:p>
          <a:p>
            <a:endParaRPr lang="en-US" dirty="0"/>
          </a:p>
        </p:txBody>
      </p:sp>
    </p:spTree>
    <p:extLst>
      <p:ext uri="{BB962C8B-B14F-4D97-AF65-F5344CB8AC3E}">
        <p14:creationId xmlns:p14="http://schemas.microsoft.com/office/powerpoint/2010/main" val="103097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fontScale="92500" lnSpcReduction="10000"/>
          </a:bodyPr>
          <a:lstStyle/>
          <a:p>
            <a:r>
              <a:rPr lang="en-GB" dirty="0"/>
              <a:t>This is on the grounds that it has invested in the completion of paperwork for the loan</a:t>
            </a:r>
          </a:p>
          <a:p>
            <a:r>
              <a:rPr lang="en-GB" dirty="0"/>
              <a:t>The bank will require audited accounts to verify the financial standing of the company</a:t>
            </a:r>
          </a:p>
          <a:p>
            <a:r>
              <a:rPr lang="en-GB" dirty="0"/>
              <a:t>A disadvantage of the line of credit is that the bank may cancel the line or refuse to allow extra funds to be drawn</a:t>
            </a:r>
          </a:p>
          <a:p>
            <a:r>
              <a:rPr lang="en-GB" dirty="0"/>
              <a:t>Another disadvantage is that the bank may require the company to maintain a compensating balance in an account at the bank</a:t>
            </a:r>
            <a:endParaRPr lang="en-US" dirty="0"/>
          </a:p>
        </p:txBody>
      </p:sp>
    </p:spTree>
    <p:extLst>
      <p:ext uri="{BB962C8B-B14F-4D97-AF65-F5344CB8AC3E}">
        <p14:creationId xmlns:p14="http://schemas.microsoft.com/office/powerpoint/2010/main" val="119657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The line of credit is more useful when there may be only short term cash shortfalls or seasonal needs that result in the line being drawn down to zero at some point during the year</a:t>
            </a:r>
            <a:endParaRPr lang="en-US" dirty="0"/>
          </a:p>
        </p:txBody>
      </p:sp>
    </p:spTree>
    <p:extLst>
      <p:ext uri="{BB962C8B-B14F-4D97-AF65-F5344CB8AC3E}">
        <p14:creationId xmlns:p14="http://schemas.microsoft.com/office/powerpoint/2010/main" val="13760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4. Asset Based loans</a:t>
            </a:r>
          </a:p>
          <a:p>
            <a:r>
              <a:rPr lang="en-GB" dirty="0"/>
              <a:t>Loan that uses fixed assets or inventory as collateral</a:t>
            </a:r>
          </a:p>
          <a:p>
            <a:r>
              <a:rPr lang="en-GB" dirty="0"/>
              <a:t>May also be financed on cash surrender value of a life policy, securities or real estate</a:t>
            </a:r>
          </a:p>
          <a:p>
            <a:r>
              <a:rPr lang="en-GB" dirty="0"/>
              <a:t>The bank will not lend more than 50% of the value of the raw materials and 80% of the value of the finished goods</a:t>
            </a:r>
            <a:endParaRPr lang="en-US" dirty="0"/>
          </a:p>
        </p:txBody>
      </p:sp>
    </p:spTree>
    <p:extLst>
      <p:ext uri="{BB962C8B-B14F-4D97-AF65-F5344CB8AC3E}">
        <p14:creationId xmlns:p14="http://schemas.microsoft.com/office/powerpoint/2010/main" val="398860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lnSpcReduction="10000"/>
          </a:bodyPr>
          <a:lstStyle/>
          <a:p>
            <a:r>
              <a:rPr lang="en-GB" dirty="0"/>
              <a:t> The bank charges a lower interest rate due to the presence of collateral</a:t>
            </a:r>
          </a:p>
          <a:p>
            <a:r>
              <a:rPr lang="en-GB" dirty="0"/>
              <a:t>Lenders typically require minimal covenants in association with these loans</a:t>
            </a:r>
          </a:p>
          <a:p>
            <a:r>
              <a:rPr lang="en-GB" dirty="0"/>
              <a:t>The cost of an annual appraisal should be factored into the total cost </a:t>
            </a:r>
          </a:p>
          <a:p>
            <a:r>
              <a:rPr lang="en-GB" dirty="0"/>
              <a:t>Lenders require frequent reports on the status of underlying assets</a:t>
            </a:r>
            <a:endParaRPr lang="en-US" dirty="0"/>
          </a:p>
        </p:txBody>
      </p:sp>
    </p:spTree>
    <p:extLst>
      <p:ext uri="{BB962C8B-B14F-4D97-AF65-F5344CB8AC3E}">
        <p14:creationId xmlns:p14="http://schemas.microsoft.com/office/powerpoint/2010/main" val="368892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fontScale="92500"/>
          </a:bodyPr>
          <a:lstStyle/>
          <a:p>
            <a:pPr marL="0" indent="0">
              <a:buNone/>
            </a:pPr>
            <a:r>
              <a:rPr lang="en-GB" dirty="0"/>
              <a:t> 5. Bonds</a:t>
            </a:r>
          </a:p>
          <a:p>
            <a:r>
              <a:rPr lang="en-GB" dirty="0"/>
              <a:t>A long term debt instrument issued with a fixed interest rate </a:t>
            </a:r>
          </a:p>
          <a:p>
            <a:r>
              <a:rPr lang="en-GB" dirty="0"/>
              <a:t>If the market interest rate is low, then investors will pay less for the face value of the bond, thereby driving up the net interest rate cost for the company and vice versa</a:t>
            </a:r>
          </a:p>
          <a:p>
            <a:r>
              <a:rPr lang="en-GB" dirty="0"/>
              <a:t>Rate of interest is inversely related to the price of the bond</a:t>
            </a:r>
            <a:endParaRPr lang="en-US" dirty="0"/>
          </a:p>
        </p:txBody>
      </p:sp>
    </p:spTree>
    <p:extLst>
      <p:ext uri="{BB962C8B-B14F-4D97-AF65-F5344CB8AC3E}">
        <p14:creationId xmlns:p14="http://schemas.microsoft.com/office/powerpoint/2010/main" val="66295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A registered bond requires that the company maintains a list of owners of each bond</a:t>
            </a:r>
          </a:p>
          <a:p>
            <a:r>
              <a:rPr lang="en-GB" dirty="0"/>
              <a:t>The company periodically sends interest payments as well as the final principal payments to the investor on record</a:t>
            </a:r>
          </a:p>
          <a:p>
            <a:r>
              <a:rPr lang="en-GB" dirty="0"/>
              <a:t>A coupon bond, the company does not maintain a standard list of bondholders</a:t>
            </a:r>
            <a:endParaRPr lang="en-US" dirty="0"/>
          </a:p>
        </p:txBody>
      </p:sp>
    </p:spTree>
    <p:extLst>
      <p:ext uri="{BB962C8B-B14F-4D97-AF65-F5344CB8AC3E}">
        <p14:creationId xmlns:p14="http://schemas.microsoft.com/office/powerpoint/2010/main" val="25491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lnSpcReduction="10000"/>
          </a:bodyPr>
          <a:lstStyle/>
          <a:p>
            <a:r>
              <a:rPr lang="en-GB" dirty="0"/>
              <a:t>Instead, each bond contains interest coupons that the bond holder sends to the company on the dates when interest payments are due</a:t>
            </a:r>
          </a:p>
          <a:p>
            <a:r>
              <a:rPr lang="en-GB" dirty="0"/>
              <a:t>The most common types of bonds include:</a:t>
            </a:r>
          </a:p>
          <a:p>
            <a:pPr>
              <a:buFont typeface="+mj-lt"/>
              <a:buAutoNum type="alphaLcPeriod"/>
            </a:pPr>
            <a:r>
              <a:rPr lang="en-GB" dirty="0"/>
              <a:t>Collateral trust bond- bond that uses as collateral a company’s security investments</a:t>
            </a:r>
          </a:p>
          <a:p>
            <a:pPr>
              <a:buFont typeface="+mj-lt"/>
              <a:buAutoNum type="alphaLcPeriod"/>
            </a:pPr>
            <a:r>
              <a:rPr lang="en-GB" dirty="0"/>
              <a:t>Convertible bond- bond that can be converted into stock using a predetermined ratio</a:t>
            </a:r>
          </a:p>
          <a:p>
            <a:pPr marL="0" indent="0">
              <a:buNone/>
            </a:pPr>
            <a:endParaRPr lang="en-US" dirty="0"/>
          </a:p>
        </p:txBody>
      </p:sp>
    </p:spTree>
    <p:extLst>
      <p:ext uri="{BB962C8B-B14F-4D97-AF65-F5344CB8AC3E}">
        <p14:creationId xmlns:p14="http://schemas.microsoft.com/office/powerpoint/2010/main" val="309389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c. Debenture- bond issued with no collateral. A subordinated debenture is one that specifies debt that is senior to it</a:t>
            </a:r>
          </a:p>
          <a:p>
            <a:pPr marL="0" indent="0">
              <a:buNone/>
            </a:pPr>
            <a:r>
              <a:rPr lang="en-GB" dirty="0"/>
              <a:t>d. Deferred interest bond- bond that provides for either reduced or no interest in the beginning years of the bond term, and compensates for it with increased interest later in the bond term. </a:t>
            </a:r>
            <a:endParaRPr lang="en-US" dirty="0"/>
          </a:p>
        </p:txBody>
      </p:sp>
    </p:spTree>
    <p:extLst>
      <p:ext uri="{BB962C8B-B14F-4D97-AF65-F5344CB8AC3E}">
        <p14:creationId xmlns:p14="http://schemas.microsoft.com/office/powerpoint/2010/main" val="67067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e. Floorless bond- bond whose terms allows purchasers to convert them to common stock, as well as any accrued interest. Bond holders can convert some shares and sell them on the open market</a:t>
            </a:r>
          </a:p>
          <a:p>
            <a:pPr marL="0" indent="0">
              <a:buNone/>
            </a:pPr>
            <a:r>
              <a:rPr lang="en-GB" dirty="0"/>
              <a:t>f. Guarantee bond- bond whose payments are guaranteed by another party. Corporate parents sometimes issue this guarantee for bonds issued by subsidiaries in order to obtain lower effective interest rates</a:t>
            </a:r>
            <a:endParaRPr lang="en-US" dirty="0"/>
          </a:p>
        </p:txBody>
      </p:sp>
    </p:spTree>
    <p:extLst>
      <p:ext uri="{BB962C8B-B14F-4D97-AF65-F5344CB8AC3E}">
        <p14:creationId xmlns:p14="http://schemas.microsoft.com/office/powerpoint/2010/main" val="220813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g. Income bond- bond that pays interest only if income has been earned. The income can be tied to total corporate earnings or to specific projects. </a:t>
            </a:r>
          </a:p>
          <a:p>
            <a:pPr marL="0" indent="0">
              <a:buNone/>
            </a:pPr>
            <a:r>
              <a:rPr lang="en-GB" dirty="0"/>
              <a:t>h. Mortgage bond- bond offering backed by real estate owned by the company (real property mortgage bond) or by company owned equipment (equipment bond) or by all assets (general mortgage bond)</a:t>
            </a:r>
            <a:endParaRPr lang="en-US" dirty="0"/>
          </a:p>
        </p:txBody>
      </p:sp>
    </p:spTree>
    <p:extLst>
      <p:ext uri="{BB962C8B-B14F-4D97-AF65-F5344CB8AC3E}">
        <p14:creationId xmlns:p14="http://schemas.microsoft.com/office/powerpoint/2010/main" val="377559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514350" indent="-514350">
              <a:buAutoNum type="romanLcPeriod"/>
            </a:pPr>
            <a:r>
              <a:rPr lang="en-GB" dirty="0"/>
              <a:t>Serial bond- bond issuance where a portion of the total number of bonds is paid off each year, resulting in a gradual decline in the total amount of debt outstanding</a:t>
            </a:r>
          </a:p>
          <a:p>
            <a:pPr marL="0" indent="0">
              <a:buNone/>
            </a:pPr>
            <a:r>
              <a:rPr lang="en-GB" dirty="0"/>
              <a:t>j. Variable rate bond- bond whose stated interest rate varies as a percentage of a baseline indicator, such as the prime rate</a:t>
            </a:r>
          </a:p>
          <a:p>
            <a:pPr marL="0" indent="0">
              <a:buNone/>
            </a:pPr>
            <a:endParaRPr lang="en-US" dirty="0"/>
          </a:p>
        </p:txBody>
      </p:sp>
    </p:spTree>
    <p:extLst>
      <p:ext uri="{BB962C8B-B14F-4D97-AF65-F5344CB8AC3E}">
        <p14:creationId xmlns:p14="http://schemas.microsoft.com/office/powerpoint/2010/main" val="95674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k. Zero coupon bond- bond with no stated interest rate. Investors purchase these bonds at a considerable discount to face value</a:t>
            </a:r>
          </a:p>
          <a:p>
            <a:pPr marL="0" indent="0">
              <a:buNone/>
            </a:pPr>
            <a:r>
              <a:rPr lang="en-GB" dirty="0"/>
              <a:t>l. Zero coupon convertible bond- bond that offers no interest on its face but allows investors to convert to stock if the stock price reaches a higher level of volatility giving investors some hope of a profitable conversion to equity </a:t>
            </a:r>
            <a:endParaRPr lang="en-US" dirty="0"/>
          </a:p>
        </p:txBody>
      </p:sp>
    </p:spTree>
    <p:extLst>
      <p:ext uri="{BB962C8B-B14F-4D97-AF65-F5344CB8AC3E}">
        <p14:creationId xmlns:p14="http://schemas.microsoft.com/office/powerpoint/2010/main" val="287717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Bond indenture document itemizes all features of the bond issue</a:t>
            </a:r>
          </a:p>
          <a:p>
            <a:r>
              <a:rPr lang="en-GB" dirty="0"/>
              <a:t>It contains restrictions that the company imposes on itself, such as limitations on capital expenditure or dividends in order to make the bond issuance as palatable as possible to investors</a:t>
            </a:r>
          </a:p>
          <a:p>
            <a:r>
              <a:rPr lang="en-GB" dirty="0"/>
              <a:t>If the company does not follow these restrictions, the bonds will be in default</a:t>
            </a:r>
            <a:endParaRPr lang="en-US" dirty="0"/>
          </a:p>
        </p:txBody>
      </p:sp>
    </p:spTree>
    <p:extLst>
      <p:ext uri="{BB962C8B-B14F-4D97-AF65-F5344CB8AC3E}">
        <p14:creationId xmlns:p14="http://schemas.microsoft.com/office/powerpoint/2010/main" val="120579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6. Bridge loans</a:t>
            </a:r>
          </a:p>
          <a:p>
            <a:r>
              <a:rPr lang="en-GB" dirty="0"/>
              <a:t>Form of short term loan granted by a lending institution on the condition that the company will obtain longer term financing shortly that will pay off the bridge loan.</a:t>
            </a:r>
          </a:p>
          <a:p>
            <a:r>
              <a:rPr lang="en-GB" dirty="0"/>
              <a:t>Option commonly used when a company is seeking to replace a construction loan with a long term note that it expects to pay gradually over many years</a:t>
            </a:r>
            <a:endParaRPr lang="en-US" dirty="0"/>
          </a:p>
        </p:txBody>
      </p:sp>
    </p:spTree>
    <p:extLst>
      <p:ext uri="{BB962C8B-B14F-4D97-AF65-F5344CB8AC3E}">
        <p14:creationId xmlns:p14="http://schemas.microsoft.com/office/powerpoint/2010/main" val="384892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pPr marL="0" indent="0">
              <a:buNone/>
            </a:pPr>
            <a:r>
              <a:rPr lang="en-GB" dirty="0"/>
              <a:t>7. Economic development loans</a:t>
            </a:r>
          </a:p>
          <a:p>
            <a:r>
              <a:rPr lang="en-GB" dirty="0"/>
              <a:t>Various state agencies have mandate to guarantee bank loans to organisations that need funds in geographic areas where it is perceived that social improvement goals can be attained e.g. Development Bank of Zambia and National Credit and Savings Bank (NATSAVE) </a:t>
            </a:r>
            <a:endParaRPr lang="en-US" dirty="0"/>
          </a:p>
        </p:txBody>
      </p:sp>
    </p:spTree>
    <p:extLst>
      <p:ext uri="{BB962C8B-B14F-4D97-AF65-F5344CB8AC3E}">
        <p14:creationId xmlns:p14="http://schemas.microsoft.com/office/powerpoint/2010/main" val="38907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fontScale="92500"/>
          </a:bodyPr>
          <a:lstStyle/>
          <a:p>
            <a:pPr marL="0" indent="0">
              <a:buNone/>
            </a:pPr>
            <a:r>
              <a:rPr lang="en-GB" dirty="0"/>
              <a:t>8. Long Term Loans</a:t>
            </a:r>
          </a:p>
          <a:p>
            <a:r>
              <a:rPr lang="en-GB" dirty="0"/>
              <a:t>Tend to be issued to companies that cannot issue bonds</a:t>
            </a:r>
          </a:p>
          <a:p>
            <a:r>
              <a:rPr lang="en-GB" dirty="0"/>
              <a:t>Require the company to grant lender senior status over all other creditors in event of liquidation</a:t>
            </a:r>
          </a:p>
          <a:p>
            <a:r>
              <a:rPr lang="en-GB" dirty="0"/>
              <a:t>Involves use of fixed loan repayments of principal and interest</a:t>
            </a:r>
          </a:p>
          <a:p>
            <a:r>
              <a:rPr lang="en-GB" dirty="0"/>
              <a:t>Company can lock in favourable interest rate for long time </a:t>
            </a:r>
            <a:endParaRPr lang="en-US" dirty="0"/>
          </a:p>
        </p:txBody>
      </p:sp>
    </p:spTree>
    <p:extLst>
      <p:ext uri="{BB962C8B-B14F-4D97-AF65-F5344CB8AC3E}">
        <p14:creationId xmlns:p14="http://schemas.microsoft.com/office/powerpoint/2010/main" val="397232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normAutofit/>
          </a:bodyPr>
          <a:lstStyle/>
          <a:p>
            <a:pPr marL="0" indent="0">
              <a:buNone/>
            </a:pPr>
            <a:r>
              <a:rPr lang="en-GB" dirty="0"/>
              <a:t>9. Receivables Securitisation</a:t>
            </a:r>
          </a:p>
          <a:p>
            <a:r>
              <a:rPr lang="en-GB" dirty="0"/>
              <a:t>Achieves lowest interest rate available for debt</a:t>
            </a:r>
          </a:p>
          <a:p>
            <a:r>
              <a:rPr lang="en-GB" dirty="0"/>
              <a:t>Company creates special purpose entity (SPE) and transfers selection of receivables into the SPE.</a:t>
            </a:r>
          </a:p>
          <a:p>
            <a:r>
              <a:rPr lang="en-GB" dirty="0"/>
              <a:t>SPE sells the receivables to a bank conduit, which in turn pools receivables from multiple companies </a:t>
            </a:r>
          </a:p>
          <a:p>
            <a:endParaRPr lang="en-US" dirty="0"/>
          </a:p>
        </p:txBody>
      </p:sp>
    </p:spTree>
    <p:extLst>
      <p:ext uri="{BB962C8B-B14F-4D97-AF65-F5344CB8AC3E}">
        <p14:creationId xmlns:p14="http://schemas.microsoft.com/office/powerpoint/2010/main" val="13951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Bank uses the cash flows from receivables to back issuance of commercial paper to investors, who in turn are paid with the cash flows from the receivables</a:t>
            </a:r>
          </a:p>
          <a:p>
            <a:r>
              <a:rPr lang="en-GB" dirty="0"/>
              <a:t>Primary benefit is that a company’s receivables are isolated from its other risks, so that the SPE has a higher credit rating than the company</a:t>
            </a:r>
          </a:p>
          <a:p>
            <a:r>
              <a:rPr lang="en-GB" dirty="0"/>
              <a:t>Contributed to global financial crisis of 2007-2009</a:t>
            </a:r>
          </a:p>
          <a:p>
            <a:endParaRPr lang="en-US" dirty="0"/>
          </a:p>
        </p:txBody>
      </p:sp>
    </p:spTree>
    <p:extLst>
      <p:ext uri="{BB962C8B-B14F-4D97-AF65-F5344CB8AC3E}">
        <p14:creationId xmlns:p14="http://schemas.microsoft.com/office/powerpoint/2010/main" val="100684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Debt</a:t>
            </a:r>
            <a:endParaRPr lang="en-US" dirty="0"/>
          </a:p>
        </p:txBody>
      </p:sp>
      <p:sp>
        <p:nvSpPr>
          <p:cNvPr id="3" name="Content Placeholder 2"/>
          <p:cNvSpPr>
            <a:spLocks noGrp="1"/>
          </p:cNvSpPr>
          <p:nvPr>
            <p:ph idx="1"/>
          </p:nvPr>
        </p:nvSpPr>
        <p:spPr/>
        <p:txBody>
          <a:bodyPr/>
          <a:lstStyle/>
          <a:p>
            <a:r>
              <a:rPr lang="en-GB" dirty="0"/>
              <a:t>Achieves off balance sheet financing</a:t>
            </a:r>
          </a:p>
          <a:p>
            <a:r>
              <a:rPr lang="en-GB" dirty="0"/>
              <a:t>Only available to large companies having a broad customer base whose receivables have minimal default</a:t>
            </a:r>
          </a:p>
          <a:p>
            <a:r>
              <a:rPr lang="en-GB" dirty="0"/>
              <a:t>There must be adequate tracking systems to monitor creditworthiness of those debtors whose receivables are included in the SPE (RE: sub-prime mortgage crisis)</a:t>
            </a:r>
            <a:endParaRPr lang="en-US" dirty="0"/>
          </a:p>
        </p:txBody>
      </p:sp>
    </p:spTree>
    <p:extLst>
      <p:ext uri="{BB962C8B-B14F-4D97-AF65-F5344CB8AC3E}">
        <p14:creationId xmlns:p14="http://schemas.microsoft.com/office/powerpoint/2010/main" val="323469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Credit Rating Agencies</a:t>
            </a:r>
            <a:endParaRPr lang="en-US" dirty="0"/>
          </a:p>
        </p:txBody>
      </p:sp>
      <p:sp>
        <p:nvSpPr>
          <p:cNvPr id="3" name="Content Placeholder 2"/>
          <p:cNvSpPr>
            <a:spLocks noGrp="1"/>
          </p:cNvSpPr>
          <p:nvPr>
            <p:ph idx="1"/>
          </p:nvPr>
        </p:nvSpPr>
        <p:spPr/>
        <p:txBody>
          <a:bodyPr/>
          <a:lstStyle/>
          <a:p>
            <a:r>
              <a:rPr lang="en-GB" dirty="0"/>
              <a:t>Are agencies that give ratings to companies</a:t>
            </a:r>
          </a:p>
          <a:p>
            <a:r>
              <a:rPr lang="en-GB" dirty="0"/>
              <a:t>Most famous are Moody’s, Standard and </a:t>
            </a:r>
            <a:r>
              <a:rPr lang="en-GB" dirty="0" err="1"/>
              <a:t>Poors</a:t>
            </a:r>
            <a:r>
              <a:rPr lang="en-GB" dirty="0"/>
              <a:t> and Fitch</a:t>
            </a:r>
          </a:p>
          <a:p>
            <a:r>
              <a:rPr lang="en-GB" dirty="0"/>
              <a:t>Debt rating results in a credit score that indicates the perceived risk of default on the underlying debt</a:t>
            </a:r>
          </a:p>
          <a:p>
            <a:r>
              <a:rPr lang="en-GB" dirty="0"/>
              <a:t>This in turn impacts on the price of the debt on the open market</a:t>
            </a:r>
            <a:endParaRPr lang="en-US" dirty="0"/>
          </a:p>
        </p:txBody>
      </p:sp>
    </p:spTree>
    <p:extLst>
      <p:ext uri="{BB962C8B-B14F-4D97-AF65-F5344CB8AC3E}">
        <p14:creationId xmlns:p14="http://schemas.microsoft.com/office/powerpoint/2010/main" val="197069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Credit Rating Agencies</a:t>
            </a:r>
            <a:endParaRPr lang="en-US" dirty="0"/>
          </a:p>
        </p:txBody>
      </p:sp>
      <p:sp>
        <p:nvSpPr>
          <p:cNvPr id="3" name="Content Placeholder 2"/>
          <p:cNvSpPr>
            <a:spLocks noGrp="1"/>
          </p:cNvSpPr>
          <p:nvPr>
            <p:ph idx="1"/>
          </p:nvPr>
        </p:nvSpPr>
        <p:spPr/>
        <p:txBody>
          <a:bodyPr/>
          <a:lstStyle/>
          <a:p>
            <a:r>
              <a:rPr lang="en-GB" dirty="0"/>
              <a:t>Having a credit score is essentially mandatory in most developed countries like the U.S. and the U.K.  but not in Zambia</a:t>
            </a:r>
          </a:p>
          <a:p>
            <a:r>
              <a:rPr lang="en-GB" dirty="0"/>
              <a:t>This is because most funds are prohibited by their internal investment rules from buying debt that does not have a credit rating</a:t>
            </a:r>
          </a:p>
          <a:p>
            <a:r>
              <a:rPr lang="en-GB" dirty="0"/>
              <a:t>RE: the role of the credit ratings agencies in the subprime mortgage crisis</a:t>
            </a:r>
            <a:endParaRPr lang="en-US" dirty="0"/>
          </a:p>
        </p:txBody>
      </p:sp>
    </p:spTree>
    <p:extLst>
      <p:ext uri="{BB962C8B-B14F-4D97-AF65-F5344CB8AC3E}">
        <p14:creationId xmlns:p14="http://schemas.microsoft.com/office/powerpoint/2010/main" val="222634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Credit Score Comparison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58844423"/>
              </p:ext>
            </p:extLst>
          </p:nvPr>
        </p:nvGraphicFramePr>
        <p:xfrm>
          <a:off x="685800" y="2209800"/>
          <a:ext cx="7770812" cy="4033520"/>
        </p:xfrm>
        <a:graphic>
          <a:graphicData uri="http://schemas.openxmlformats.org/drawingml/2006/table">
            <a:tbl>
              <a:tblPr firstRow="1" bandRow="1">
                <a:tableStyleId>{5C22544A-7EE6-4342-B048-85BDC9FD1C3A}</a:tableStyleId>
              </a:tblPr>
              <a:tblGrid>
                <a:gridCol w="1942703">
                  <a:extLst>
                    <a:ext uri="{9D8B030D-6E8A-4147-A177-3AD203B41FA5}">
                      <a16:colId xmlns:a16="http://schemas.microsoft.com/office/drawing/2014/main" val="20000"/>
                    </a:ext>
                  </a:extLst>
                </a:gridCol>
                <a:gridCol w="1942703">
                  <a:extLst>
                    <a:ext uri="{9D8B030D-6E8A-4147-A177-3AD203B41FA5}">
                      <a16:colId xmlns:a16="http://schemas.microsoft.com/office/drawing/2014/main" val="20001"/>
                    </a:ext>
                  </a:extLst>
                </a:gridCol>
                <a:gridCol w="1942703">
                  <a:extLst>
                    <a:ext uri="{9D8B030D-6E8A-4147-A177-3AD203B41FA5}">
                      <a16:colId xmlns:a16="http://schemas.microsoft.com/office/drawing/2014/main" val="20002"/>
                    </a:ext>
                  </a:extLst>
                </a:gridCol>
                <a:gridCol w="1942703">
                  <a:extLst>
                    <a:ext uri="{9D8B030D-6E8A-4147-A177-3AD203B41FA5}">
                      <a16:colId xmlns:a16="http://schemas.microsoft.com/office/drawing/2014/main" val="20003"/>
                    </a:ext>
                  </a:extLst>
                </a:gridCol>
              </a:tblGrid>
              <a:tr h="370840">
                <a:tc>
                  <a:txBody>
                    <a:bodyPr/>
                    <a:lstStyle/>
                    <a:p>
                      <a:r>
                        <a:rPr lang="en-GB" dirty="0"/>
                        <a:t>Definition</a:t>
                      </a:r>
                      <a:endParaRPr lang="en-US" dirty="0"/>
                    </a:p>
                  </a:txBody>
                  <a:tcPr/>
                </a:tc>
                <a:tc>
                  <a:txBody>
                    <a:bodyPr/>
                    <a:lstStyle/>
                    <a:p>
                      <a:r>
                        <a:rPr lang="en-GB" dirty="0"/>
                        <a:t>Fitch Rating</a:t>
                      </a:r>
                      <a:endParaRPr lang="en-US" dirty="0"/>
                    </a:p>
                  </a:txBody>
                  <a:tcPr/>
                </a:tc>
                <a:tc>
                  <a:txBody>
                    <a:bodyPr/>
                    <a:lstStyle/>
                    <a:p>
                      <a:r>
                        <a:rPr lang="en-GB" dirty="0"/>
                        <a:t>Moody’s Rating</a:t>
                      </a:r>
                      <a:endParaRPr lang="en-US" dirty="0"/>
                    </a:p>
                  </a:txBody>
                  <a:tcPr/>
                </a:tc>
                <a:tc>
                  <a:txBody>
                    <a:bodyPr/>
                    <a:lstStyle/>
                    <a:p>
                      <a:r>
                        <a:rPr lang="en-GB" dirty="0"/>
                        <a:t>S&amp;P Rating</a:t>
                      </a:r>
                      <a:endParaRPr lang="en-US" dirty="0"/>
                    </a:p>
                  </a:txBody>
                  <a:tcPr/>
                </a:tc>
                <a:extLst>
                  <a:ext uri="{0D108BD9-81ED-4DB2-BD59-A6C34878D82A}">
                    <a16:rowId xmlns:a16="http://schemas.microsoft.com/office/drawing/2014/main" val="10000"/>
                  </a:ext>
                </a:extLst>
              </a:tr>
              <a:tr h="370840">
                <a:tc>
                  <a:txBody>
                    <a:bodyPr/>
                    <a:lstStyle/>
                    <a:p>
                      <a:r>
                        <a:rPr lang="en-GB" dirty="0"/>
                        <a:t>Prime</a:t>
                      </a:r>
                      <a:endParaRPr lang="en-US" dirty="0"/>
                    </a:p>
                  </a:txBody>
                  <a:tcPr/>
                </a:tc>
                <a:tc>
                  <a:txBody>
                    <a:bodyPr/>
                    <a:lstStyle/>
                    <a:p>
                      <a:r>
                        <a:rPr lang="en-GB" dirty="0"/>
                        <a:t>AAA</a:t>
                      </a:r>
                      <a:endParaRPr lang="en-US" dirty="0"/>
                    </a:p>
                  </a:txBody>
                  <a:tcPr/>
                </a:tc>
                <a:tc>
                  <a:txBody>
                    <a:bodyPr/>
                    <a:lstStyle/>
                    <a:p>
                      <a:r>
                        <a:rPr lang="en-GB" dirty="0" err="1"/>
                        <a:t>Aaa</a:t>
                      </a:r>
                      <a:endParaRPr lang="en-US" dirty="0"/>
                    </a:p>
                  </a:txBody>
                  <a:tcPr/>
                </a:tc>
                <a:tc>
                  <a:txBody>
                    <a:bodyPr/>
                    <a:lstStyle/>
                    <a:p>
                      <a:r>
                        <a:rPr lang="en-GB" dirty="0"/>
                        <a:t>AAA</a:t>
                      </a:r>
                      <a:endParaRPr lang="en-US" dirty="0"/>
                    </a:p>
                  </a:txBody>
                  <a:tcPr/>
                </a:tc>
                <a:extLst>
                  <a:ext uri="{0D108BD9-81ED-4DB2-BD59-A6C34878D82A}">
                    <a16:rowId xmlns:a16="http://schemas.microsoft.com/office/drawing/2014/main" val="10001"/>
                  </a:ext>
                </a:extLst>
              </a:tr>
              <a:tr h="370840">
                <a:tc>
                  <a:txBody>
                    <a:bodyPr/>
                    <a:lstStyle/>
                    <a:p>
                      <a:r>
                        <a:rPr lang="en-GB" dirty="0"/>
                        <a:t>High grade</a:t>
                      </a:r>
                      <a:endParaRPr lang="en-US" dirty="0"/>
                    </a:p>
                  </a:txBody>
                  <a:tcPr/>
                </a:tc>
                <a:tc>
                  <a:txBody>
                    <a:bodyPr/>
                    <a:lstStyle/>
                    <a:p>
                      <a:r>
                        <a:rPr lang="en-GB" dirty="0"/>
                        <a:t>AA+</a:t>
                      </a:r>
                    </a:p>
                    <a:p>
                      <a:r>
                        <a:rPr lang="en-GB" dirty="0"/>
                        <a:t>AA</a:t>
                      </a:r>
                    </a:p>
                    <a:p>
                      <a:r>
                        <a:rPr lang="en-GB" dirty="0"/>
                        <a:t>AA-</a:t>
                      </a:r>
                      <a:endParaRPr lang="en-US" dirty="0"/>
                    </a:p>
                  </a:txBody>
                  <a:tcPr/>
                </a:tc>
                <a:tc>
                  <a:txBody>
                    <a:bodyPr/>
                    <a:lstStyle/>
                    <a:p>
                      <a:r>
                        <a:rPr lang="en-GB" dirty="0"/>
                        <a:t>Aa1</a:t>
                      </a:r>
                    </a:p>
                    <a:p>
                      <a:r>
                        <a:rPr lang="en-GB" dirty="0"/>
                        <a:t>Aa2</a:t>
                      </a:r>
                    </a:p>
                    <a:p>
                      <a:r>
                        <a:rPr lang="en-GB" dirty="0"/>
                        <a:t>Aa3</a:t>
                      </a:r>
                      <a:endParaRPr lang="en-US" dirty="0"/>
                    </a:p>
                  </a:txBody>
                  <a:tcPr/>
                </a:tc>
                <a:tc>
                  <a:txBody>
                    <a:bodyPr/>
                    <a:lstStyle/>
                    <a:p>
                      <a:r>
                        <a:rPr lang="en-GB" dirty="0"/>
                        <a:t>AA+</a:t>
                      </a:r>
                    </a:p>
                    <a:p>
                      <a:r>
                        <a:rPr lang="en-GB" dirty="0"/>
                        <a:t>AA</a:t>
                      </a:r>
                    </a:p>
                    <a:p>
                      <a:r>
                        <a:rPr lang="en-GB" dirty="0"/>
                        <a:t>AA-</a:t>
                      </a:r>
                    </a:p>
                    <a:p>
                      <a:endParaRPr lang="en-US" dirty="0"/>
                    </a:p>
                  </a:txBody>
                  <a:tcPr/>
                </a:tc>
                <a:extLst>
                  <a:ext uri="{0D108BD9-81ED-4DB2-BD59-A6C34878D82A}">
                    <a16:rowId xmlns:a16="http://schemas.microsoft.com/office/drawing/2014/main" val="10002"/>
                  </a:ext>
                </a:extLst>
              </a:tr>
              <a:tr h="370840">
                <a:tc>
                  <a:txBody>
                    <a:bodyPr/>
                    <a:lstStyle/>
                    <a:p>
                      <a:r>
                        <a:rPr lang="en-GB" dirty="0"/>
                        <a:t>Upper medium grade</a:t>
                      </a:r>
                      <a:endParaRPr lang="en-US" dirty="0"/>
                    </a:p>
                  </a:txBody>
                  <a:tcPr/>
                </a:tc>
                <a:tc>
                  <a:txBody>
                    <a:bodyPr/>
                    <a:lstStyle/>
                    <a:p>
                      <a:r>
                        <a:rPr lang="en-GB" dirty="0"/>
                        <a:t>A+</a:t>
                      </a:r>
                    </a:p>
                    <a:p>
                      <a:r>
                        <a:rPr lang="en-GB" dirty="0"/>
                        <a:t>A</a:t>
                      </a:r>
                    </a:p>
                    <a:p>
                      <a:r>
                        <a:rPr lang="en-GB" dirty="0"/>
                        <a:t>A-</a:t>
                      </a:r>
                      <a:endParaRPr lang="en-US" dirty="0"/>
                    </a:p>
                  </a:txBody>
                  <a:tcPr/>
                </a:tc>
                <a:tc>
                  <a:txBody>
                    <a:bodyPr/>
                    <a:lstStyle/>
                    <a:p>
                      <a:r>
                        <a:rPr lang="en-GB" dirty="0"/>
                        <a:t>A1</a:t>
                      </a:r>
                    </a:p>
                    <a:p>
                      <a:r>
                        <a:rPr lang="en-GB" dirty="0"/>
                        <a:t>A2</a:t>
                      </a:r>
                    </a:p>
                    <a:p>
                      <a:r>
                        <a:rPr lang="en-GB" dirty="0"/>
                        <a:t>A3</a:t>
                      </a:r>
                      <a:endParaRPr lang="en-US" dirty="0"/>
                    </a:p>
                  </a:txBody>
                  <a:tcPr/>
                </a:tc>
                <a:tc>
                  <a:txBody>
                    <a:bodyPr/>
                    <a:lstStyle/>
                    <a:p>
                      <a:r>
                        <a:rPr lang="en-GB" dirty="0"/>
                        <a:t>A+</a:t>
                      </a:r>
                    </a:p>
                    <a:p>
                      <a:r>
                        <a:rPr lang="en-GB" dirty="0"/>
                        <a:t>A</a:t>
                      </a:r>
                    </a:p>
                    <a:p>
                      <a:r>
                        <a:rPr lang="en-GB" dirty="0"/>
                        <a:t>A-</a:t>
                      </a:r>
                      <a:endParaRPr lang="en-US" dirty="0"/>
                    </a:p>
                  </a:txBody>
                  <a:tcPr/>
                </a:tc>
                <a:extLst>
                  <a:ext uri="{0D108BD9-81ED-4DB2-BD59-A6C34878D82A}">
                    <a16:rowId xmlns:a16="http://schemas.microsoft.com/office/drawing/2014/main" val="10003"/>
                  </a:ext>
                </a:extLst>
              </a:tr>
              <a:tr h="370840">
                <a:tc>
                  <a:txBody>
                    <a:bodyPr/>
                    <a:lstStyle/>
                    <a:p>
                      <a:r>
                        <a:rPr lang="en-GB" dirty="0"/>
                        <a:t>Lower medium grade</a:t>
                      </a:r>
                      <a:endParaRPr lang="en-US" dirty="0"/>
                    </a:p>
                  </a:txBody>
                  <a:tcPr/>
                </a:tc>
                <a:tc>
                  <a:txBody>
                    <a:bodyPr/>
                    <a:lstStyle/>
                    <a:p>
                      <a:r>
                        <a:rPr lang="en-GB" dirty="0"/>
                        <a:t>BBB+</a:t>
                      </a:r>
                    </a:p>
                    <a:p>
                      <a:r>
                        <a:rPr lang="en-GB" dirty="0"/>
                        <a:t>BBB</a:t>
                      </a:r>
                    </a:p>
                    <a:p>
                      <a:r>
                        <a:rPr lang="en-GB" dirty="0"/>
                        <a:t>BBB-</a:t>
                      </a:r>
                      <a:endParaRPr lang="en-US" dirty="0"/>
                    </a:p>
                  </a:txBody>
                  <a:tcPr/>
                </a:tc>
                <a:tc>
                  <a:txBody>
                    <a:bodyPr/>
                    <a:lstStyle/>
                    <a:p>
                      <a:r>
                        <a:rPr lang="en-GB" dirty="0"/>
                        <a:t>Baa1</a:t>
                      </a:r>
                    </a:p>
                    <a:p>
                      <a:r>
                        <a:rPr lang="en-GB" dirty="0"/>
                        <a:t>Baa2</a:t>
                      </a:r>
                    </a:p>
                    <a:p>
                      <a:r>
                        <a:rPr lang="en-GB" dirty="0"/>
                        <a:t>Baa3</a:t>
                      </a:r>
                    </a:p>
                    <a:p>
                      <a:endParaRPr lang="en-US" dirty="0"/>
                    </a:p>
                  </a:txBody>
                  <a:tcPr/>
                </a:tc>
                <a:tc>
                  <a:txBody>
                    <a:bodyPr/>
                    <a:lstStyle/>
                    <a:p>
                      <a:r>
                        <a:rPr lang="en-GB" dirty="0"/>
                        <a:t>BBB+</a:t>
                      </a:r>
                    </a:p>
                    <a:p>
                      <a:r>
                        <a:rPr lang="en-GB" dirty="0"/>
                        <a:t>BBB</a:t>
                      </a:r>
                    </a:p>
                    <a:p>
                      <a:r>
                        <a:rPr lang="en-GB" dirty="0"/>
                        <a:t>BBB-</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70448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Credit Score Comparison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51454854"/>
              </p:ext>
            </p:extLst>
          </p:nvPr>
        </p:nvGraphicFramePr>
        <p:xfrm>
          <a:off x="685800" y="2209800"/>
          <a:ext cx="7770812" cy="2941320"/>
        </p:xfrm>
        <a:graphic>
          <a:graphicData uri="http://schemas.openxmlformats.org/drawingml/2006/table">
            <a:tbl>
              <a:tblPr firstRow="1" bandRow="1">
                <a:tableStyleId>{5C22544A-7EE6-4342-B048-85BDC9FD1C3A}</a:tableStyleId>
              </a:tblPr>
              <a:tblGrid>
                <a:gridCol w="1942703">
                  <a:extLst>
                    <a:ext uri="{9D8B030D-6E8A-4147-A177-3AD203B41FA5}">
                      <a16:colId xmlns:a16="http://schemas.microsoft.com/office/drawing/2014/main" val="20000"/>
                    </a:ext>
                  </a:extLst>
                </a:gridCol>
                <a:gridCol w="1942703">
                  <a:extLst>
                    <a:ext uri="{9D8B030D-6E8A-4147-A177-3AD203B41FA5}">
                      <a16:colId xmlns:a16="http://schemas.microsoft.com/office/drawing/2014/main" val="20001"/>
                    </a:ext>
                  </a:extLst>
                </a:gridCol>
                <a:gridCol w="1942703">
                  <a:extLst>
                    <a:ext uri="{9D8B030D-6E8A-4147-A177-3AD203B41FA5}">
                      <a16:colId xmlns:a16="http://schemas.microsoft.com/office/drawing/2014/main" val="20002"/>
                    </a:ext>
                  </a:extLst>
                </a:gridCol>
                <a:gridCol w="1942703">
                  <a:extLst>
                    <a:ext uri="{9D8B030D-6E8A-4147-A177-3AD203B41FA5}">
                      <a16:colId xmlns:a16="http://schemas.microsoft.com/office/drawing/2014/main" val="20003"/>
                    </a:ext>
                  </a:extLst>
                </a:gridCol>
              </a:tblGrid>
              <a:tr h="370840">
                <a:tc>
                  <a:txBody>
                    <a:bodyPr/>
                    <a:lstStyle/>
                    <a:p>
                      <a:r>
                        <a:rPr lang="en-GB" dirty="0"/>
                        <a:t>Definition</a:t>
                      </a:r>
                      <a:endParaRPr lang="en-US" dirty="0"/>
                    </a:p>
                  </a:txBody>
                  <a:tcPr/>
                </a:tc>
                <a:tc>
                  <a:txBody>
                    <a:bodyPr/>
                    <a:lstStyle/>
                    <a:p>
                      <a:r>
                        <a:rPr lang="en-GB" dirty="0"/>
                        <a:t>Fitch Rating</a:t>
                      </a:r>
                      <a:endParaRPr lang="en-US" dirty="0"/>
                    </a:p>
                  </a:txBody>
                  <a:tcPr/>
                </a:tc>
                <a:tc>
                  <a:txBody>
                    <a:bodyPr/>
                    <a:lstStyle/>
                    <a:p>
                      <a:r>
                        <a:rPr lang="en-GB" dirty="0"/>
                        <a:t>Moody’s Rating</a:t>
                      </a:r>
                      <a:endParaRPr lang="en-US" dirty="0"/>
                    </a:p>
                  </a:txBody>
                  <a:tcPr/>
                </a:tc>
                <a:tc>
                  <a:txBody>
                    <a:bodyPr/>
                    <a:lstStyle/>
                    <a:p>
                      <a:r>
                        <a:rPr lang="en-GB" dirty="0"/>
                        <a:t>S&amp;P Rating</a:t>
                      </a:r>
                      <a:endParaRPr lang="en-US" dirty="0"/>
                    </a:p>
                  </a:txBody>
                  <a:tcPr/>
                </a:tc>
                <a:extLst>
                  <a:ext uri="{0D108BD9-81ED-4DB2-BD59-A6C34878D82A}">
                    <a16:rowId xmlns:a16="http://schemas.microsoft.com/office/drawing/2014/main" val="10000"/>
                  </a:ext>
                </a:extLst>
              </a:tr>
              <a:tr h="370840">
                <a:tc>
                  <a:txBody>
                    <a:bodyPr/>
                    <a:lstStyle/>
                    <a:p>
                      <a:r>
                        <a:rPr lang="en-GB" dirty="0"/>
                        <a:t>Non-investment grade</a:t>
                      </a:r>
                      <a:endParaRPr lang="en-US" dirty="0"/>
                    </a:p>
                  </a:txBody>
                  <a:tcPr/>
                </a:tc>
                <a:tc>
                  <a:txBody>
                    <a:bodyPr/>
                    <a:lstStyle/>
                    <a:p>
                      <a:r>
                        <a:rPr lang="en-GB" dirty="0"/>
                        <a:t>BB+</a:t>
                      </a:r>
                    </a:p>
                    <a:p>
                      <a:r>
                        <a:rPr lang="en-GB" dirty="0"/>
                        <a:t>BB</a:t>
                      </a:r>
                    </a:p>
                    <a:p>
                      <a:r>
                        <a:rPr lang="en-GB" dirty="0"/>
                        <a:t>BB-</a:t>
                      </a:r>
                      <a:endParaRPr lang="en-US" dirty="0"/>
                    </a:p>
                  </a:txBody>
                  <a:tcPr/>
                </a:tc>
                <a:tc>
                  <a:txBody>
                    <a:bodyPr/>
                    <a:lstStyle/>
                    <a:p>
                      <a:r>
                        <a:rPr lang="en-GB" dirty="0"/>
                        <a:t>Ba1</a:t>
                      </a:r>
                    </a:p>
                    <a:p>
                      <a:r>
                        <a:rPr lang="en-GB" dirty="0"/>
                        <a:t>Ba2</a:t>
                      </a:r>
                    </a:p>
                    <a:p>
                      <a:r>
                        <a:rPr lang="en-GB" dirty="0"/>
                        <a:t>Ba3</a:t>
                      </a:r>
                      <a:endParaRPr lang="en-US" dirty="0"/>
                    </a:p>
                  </a:txBody>
                  <a:tcPr/>
                </a:tc>
                <a:tc>
                  <a:txBody>
                    <a:bodyPr/>
                    <a:lstStyle/>
                    <a:p>
                      <a:r>
                        <a:rPr lang="en-GB" dirty="0"/>
                        <a:t>BB+</a:t>
                      </a:r>
                    </a:p>
                    <a:p>
                      <a:r>
                        <a:rPr lang="en-GB" dirty="0"/>
                        <a:t>BB</a:t>
                      </a:r>
                    </a:p>
                    <a:p>
                      <a:r>
                        <a:rPr lang="en-GB" dirty="0"/>
                        <a:t>BB-</a:t>
                      </a:r>
                      <a:endParaRPr lang="en-US" dirty="0"/>
                    </a:p>
                  </a:txBody>
                  <a:tcPr/>
                </a:tc>
                <a:extLst>
                  <a:ext uri="{0D108BD9-81ED-4DB2-BD59-A6C34878D82A}">
                    <a16:rowId xmlns:a16="http://schemas.microsoft.com/office/drawing/2014/main" val="10001"/>
                  </a:ext>
                </a:extLst>
              </a:tr>
              <a:tr h="370840">
                <a:tc>
                  <a:txBody>
                    <a:bodyPr/>
                    <a:lstStyle/>
                    <a:p>
                      <a:r>
                        <a:rPr lang="en-GB" dirty="0"/>
                        <a:t>Speculative</a:t>
                      </a:r>
                      <a:endParaRPr lang="en-US" dirty="0"/>
                    </a:p>
                  </a:txBody>
                  <a:tcPr/>
                </a:tc>
                <a:tc>
                  <a:txBody>
                    <a:bodyPr/>
                    <a:lstStyle/>
                    <a:p>
                      <a:r>
                        <a:rPr lang="en-GB" dirty="0"/>
                        <a:t>B+</a:t>
                      </a:r>
                      <a:endParaRPr lang="en-US" dirty="0"/>
                    </a:p>
                  </a:txBody>
                  <a:tcPr/>
                </a:tc>
                <a:tc>
                  <a:txBody>
                    <a:bodyPr/>
                    <a:lstStyle/>
                    <a:p>
                      <a:r>
                        <a:rPr lang="en-GB" dirty="0"/>
                        <a:t>B1</a:t>
                      </a:r>
                    </a:p>
                    <a:p>
                      <a:r>
                        <a:rPr lang="en-GB" dirty="0"/>
                        <a:t>B2</a:t>
                      </a:r>
                    </a:p>
                    <a:p>
                      <a:r>
                        <a:rPr lang="en-GB" dirty="0"/>
                        <a:t>B3</a:t>
                      </a:r>
                      <a:endParaRPr lang="en-US" dirty="0"/>
                    </a:p>
                  </a:txBody>
                  <a:tcPr/>
                </a:tc>
                <a:tc>
                  <a:txBody>
                    <a:bodyPr/>
                    <a:lstStyle/>
                    <a:p>
                      <a:r>
                        <a:rPr lang="en-GB" dirty="0"/>
                        <a:t>B+</a:t>
                      </a:r>
                    </a:p>
                    <a:p>
                      <a:r>
                        <a:rPr lang="en-GB" dirty="0"/>
                        <a:t>B</a:t>
                      </a:r>
                    </a:p>
                    <a:p>
                      <a:r>
                        <a:rPr lang="en-GB" dirty="0"/>
                        <a:t>B-</a:t>
                      </a:r>
                      <a:endParaRPr lang="en-US" dirty="0"/>
                    </a:p>
                  </a:txBody>
                  <a:tcPr/>
                </a:tc>
                <a:extLst>
                  <a:ext uri="{0D108BD9-81ED-4DB2-BD59-A6C34878D82A}">
                    <a16:rowId xmlns:a16="http://schemas.microsoft.com/office/drawing/2014/main" val="10002"/>
                  </a:ext>
                </a:extLst>
              </a:tr>
              <a:tr h="370840">
                <a:tc>
                  <a:txBody>
                    <a:bodyPr/>
                    <a:lstStyle/>
                    <a:p>
                      <a:r>
                        <a:rPr lang="en-GB" dirty="0"/>
                        <a:t>Substantial</a:t>
                      </a:r>
                      <a:r>
                        <a:rPr lang="en-GB" baseline="0" dirty="0"/>
                        <a:t> risk</a:t>
                      </a:r>
                      <a:endParaRPr lang="en-US" dirty="0"/>
                    </a:p>
                  </a:txBody>
                  <a:tcPr/>
                </a:tc>
                <a:tc>
                  <a:txBody>
                    <a:bodyPr/>
                    <a:lstStyle/>
                    <a:p>
                      <a:r>
                        <a:rPr lang="en-GB" dirty="0"/>
                        <a:t>CCC</a:t>
                      </a:r>
                      <a:endParaRPr lang="en-US" dirty="0"/>
                    </a:p>
                  </a:txBody>
                  <a:tcPr/>
                </a:tc>
                <a:tc>
                  <a:txBody>
                    <a:bodyPr/>
                    <a:lstStyle/>
                    <a:p>
                      <a:r>
                        <a:rPr lang="en-GB" dirty="0"/>
                        <a:t>Caa1</a:t>
                      </a:r>
                      <a:endParaRPr lang="en-US" dirty="0"/>
                    </a:p>
                  </a:txBody>
                  <a:tcPr/>
                </a:tc>
                <a:tc>
                  <a:txBody>
                    <a:bodyPr/>
                    <a:lstStyle/>
                    <a:p>
                      <a:r>
                        <a:rPr lang="en-GB" dirty="0"/>
                        <a:t>CCC+</a:t>
                      </a:r>
                      <a:endParaRPr lang="en-US" dirty="0"/>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4976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Rating Process</a:t>
            </a:r>
            <a:endParaRPr lang="en-US" dirty="0"/>
          </a:p>
        </p:txBody>
      </p:sp>
      <p:sp>
        <p:nvSpPr>
          <p:cNvPr id="3" name="Content Placeholder 2"/>
          <p:cNvSpPr>
            <a:spLocks noGrp="1"/>
          </p:cNvSpPr>
          <p:nvPr>
            <p:ph idx="1"/>
          </p:nvPr>
        </p:nvSpPr>
        <p:spPr/>
        <p:txBody>
          <a:bodyPr>
            <a:normAutofit lnSpcReduction="10000"/>
          </a:bodyPr>
          <a:lstStyle/>
          <a:p>
            <a:r>
              <a:rPr lang="en-GB" dirty="0"/>
              <a:t>Rating process includes quantitative and qualitative analysis of the company </a:t>
            </a:r>
          </a:p>
          <a:p>
            <a:r>
              <a:rPr lang="en-GB" dirty="0"/>
              <a:t>Quantitative aspects focus on financial analysis and based on firm’s financial reports</a:t>
            </a:r>
          </a:p>
          <a:p>
            <a:r>
              <a:rPr lang="en-GB" dirty="0"/>
              <a:t>They examine issuer’s financials using proprietary models </a:t>
            </a:r>
          </a:p>
          <a:p>
            <a:r>
              <a:rPr lang="en-GB" dirty="0"/>
              <a:t>Qualitative side concerned with issues not related to the financials </a:t>
            </a:r>
          </a:p>
        </p:txBody>
      </p:sp>
    </p:spTree>
    <p:extLst>
      <p:ext uri="{BB962C8B-B14F-4D97-AF65-F5344CB8AC3E}">
        <p14:creationId xmlns:p14="http://schemas.microsoft.com/office/powerpoint/2010/main" val="156662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Rating Process</a:t>
            </a:r>
            <a:endParaRPr lang="en-US" dirty="0"/>
          </a:p>
        </p:txBody>
      </p:sp>
      <p:sp>
        <p:nvSpPr>
          <p:cNvPr id="3" name="Content Placeholder 2"/>
          <p:cNvSpPr>
            <a:spLocks noGrp="1"/>
          </p:cNvSpPr>
          <p:nvPr>
            <p:ph idx="1"/>
          </p:nvPr>
        </p:nvSpPr>
        <p:spPr/>
        <p:txBody>
          <a:bodyPr/>
          <a:lstStyle/>
          <a:p>
            <a:r>
              <a:rPr lang="en-GB" dirty="0"/>
              <a:t>For corporate issuer may include analysing quality of management and the firm’s competitiveness within its industry, as well as expected growth of industry and its vulnerability to business cycles, technology changes, regulatory changes and labour relations</a:t>
            </a:r>
          </a:p>
          <a:p>
            <a:r>
              <a:rPr lang="en-GB" dirty="0"/>
              <a:t>For government issues, typical approach is based on analysis of primary factors relating to government finance</a:t>
            </a:r>
            <a:endParaRPr lang="en-US" dirty="0"/>
          </a:p>
        </p:txBody>
      </p:sp>
    </p:spTree>
    <p:extLst>
      <p:ext uri="{BB962C8B-B14F-4D97-AF65-F5344CB8AC3E}">
        <p14:creationId xmlns:p14="http://schemas.microsoft.com/office/powerpoint/2010/main" val="411616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Rating Process</a:t>
            </a:r>
            <a:endParaRPr lang="en-US" dirty="0"/>
          </a:p>
        </p:txBody>
      </p:sp>
      <p:sp>
        <p:nvSpPr>
          <p:cNvPr id="3" name="Content Placeholder 2"/>
          <p:cNvSpPr>
            <a:spLocks noGrp="1"/>
          </p:cNvSpPr>
          <p:nvPr>
            <p:ph idx="1"/>
          </p:nvPr>
        </p:nvSpPr>
        <p:spPr/>
        <p:txBody>
          <a:bodyPr/>
          <a:lstStyle/>
          <a:p>
            <a:r>
              <a:rPr lang="en-GB" dirty="0"/>
              <a:t>Include, the economy, overall debt levels, finances (tax revenues and expenses), financial statements and administration/management strategies for government entity</a:t>
            </a:r>
          </a:p>
          <a:p>
            <a:r>
              <a:rPr lang="en-GB" dirty="0"/>
              <a:t>Other factors include, the collateral for the debt and the primary source for repayment (from general taxes or from specific revenues, such as tolls gates</a:t>
            </a:r>
            <a:endParaRPr lang="en-US" dirty="0"/>
          </a:p>
        </p:txBody>
      </p:sp>
    </p:spTree>
    <p:extLst>
      <p:ext uri="{BB962C8B-B14F-4D97-AF65-F5344CB8AC3E}">
        <p14:creationId xmlns:p14="http://schemas.microsoft.com/office/powerpoint/2010/main" val="291773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2578</TotalTime>
  <Words>1803</Words>
  <Application>Microsoft Office PowerPoint</Application>
  <PresentationFormat>On-screen Show (4:3)</PresentationFormat>
  <Paragraphs>189</Paragraphs>
  <Slides>33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Calisto MT</vt:lpstr>
      <vt:lpstr>Wingdings</vt:lpstr>
      <vt:lpstr>Folio</vt:lpstr>
      <vt:lpstr>Treasury Management</vt:lpstr>
      <vt:lpstr>Introduction</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Types of Debt</vt:lpstr>
      <vt:lpstr>Credit Rating Agencies</vt:lpstr>
      <vt:lpstr>Credit Rating Agencies</vt:lpstr>
      <vt:lpstr>Credit Score Comparison</vt:lpstr>
      <vt:lpstr>Credit Score Comparison</vt:lpstr>
      <vt:lpstr>The Rating Process</vt:lpstr>
      <vt:lpstr>The Rating Process</vt:lpstr>
      <vt:lpstr>The Rating Process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164</cp:revision>
  <dcterms:created xsi:type="dcterms:W3CDTF">2018-08-06T09:52:02Z</dcterms:created>
  <dcterms:modified xsi:type="dcterms:W3CDTF">2021-11-08T09:40:14Z</dcterms:modified>
</cp:coreProperties>
</file>