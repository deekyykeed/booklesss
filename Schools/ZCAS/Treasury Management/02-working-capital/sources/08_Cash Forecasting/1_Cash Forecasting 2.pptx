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7" r:id="rId1"/>
  </p:sldMasterIdLst>
  <p:sldIdLst>
    <p:sldId id="256" r:id="rId2"/>
    <p:sldId id="257" r:id="rId3"/>
    <p:sldId id="258" r:id="rId4"/>
    <p:sldId id="259" r:id="rId5"/>
    <p:sldId id="260" r:id="rId6"/>
    <p:sldId id="261" r:id="rId7"/>
    <p:sldId id="262" r:id="rId8"/>
    <p:sldId id="263" r:id="rId9"/>
    <p:sldId id="277" r:id="rId10"/>
    <p:sldId id="283" r:id="rId11"/>
    <p:sldId id="284" r:id="rId12"/>
    <p:sldId id="285" r:id="rId13"/>
    <p:sldId id="286" r:id="rId14"/>
    <p:sldId id="287" r:id="rId15"/>
    <p:sldId id="288" r:id="rId16"/>
    <p:sldId id="291" r:id="rId17"/>
    <p:sldId id="293" r:id="rId18"/>
    <p:sldId id="294" r:id="rId19"/>
    <p:sldId id="296" r:id="rId20"/>
    <p:sldId id="292" r:id="rId21"/>
    <p:sldId id="295" r:id="rId22"/>
    <p:sldId id="289" r:id="rId23"/>
    <p:sldId id="290"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autoAdjust="0"/>
    <p:restoredTop sz="94675" autoAdjust="0"/>
  </p:normalViewPr>
  <p:slideViewPr>
    <p:cSldViewPr snapToGrid="0" snapToObjects="1">
      <p:cViewPr varScale="1">
        <p:scale>
          <a:sx n="65" d="100"/>
          <a:sy n="65" d="100"/>
        </p:scale>
        <p:origin x="1524"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0-10-12T07:09:47.156"/>
    </inkml:context>
    <inkml:brush xml:id="br0">
      <inkml:brushProperty name="width" value="0.05292" units="cm"/>
      <inkml:brushProperty name="height" value="0.05292" units="cm"/>
      <inkml:brushProperty name="color" value="#FF0000"/>
    </inkml:brush>
  </inkml:definitions>
  <inkml:trace contextRef="#ctx0" brushRef="#br0">20038 13101 18 0,'0'0'20'16,"0"0"2"-16,0 0 1 0,-1 0-4 0,1 0 1 16,0 0-4-16,0 0-3 0,0 0-3 0,0 0-3 15,0 0-2-15,0 0-4 0,0 0 1 0,0 0 0 16,0 0-2-16,0 0 0 0,0 0 0 0,0 0 0 16,0 0 0-16,0 0 0 0,0 0 1 15,0 0-1-15,0 0 2 0,0 0-2 0,0 0 1 16,0 0-1-16,0 0 0 0,0 0 0 0,0 0-1 15,0 0 1-15,0 0 0 0,0 0 0 0,0 0-2 16,0 0 2-16,0 0 0 0,0 0 0 0,0 0 0 16,0 0 0-16,0 0 2 0,0 0-2 0,0 0 1 15,0 0-1-15,0 0 0 0,1 0 0 0,-1 0 0 16,0 0 0-16,0-2 0 0,0 2-4 0,1 0 1 16,-1 0 4-16,0 0-1 0,0 0 0 0,0 0 2 15,0 0-2-15,0 0 0 0,0 0 4 0,0 0-4 16,0 0 0-16,0 0-1 0,0 0 1 15,0 0-2-15,0 0 2 0,0 0 0 0,0 0 0 16,0 0 3-16,0 0 4 0,0 0 3 0,0 0 0 16,0 0 5-16,0 0 0 0,-1 0 2 0,1 0-2 15,0 0-1-15,0 0-1 0,0 0-5 0,0 0 0 16,0 0-5-16,0 0 0 0,1 0-1 0,-1 0-2 16,0 0 0-16,0 0 0 0,0 0 0 0,0 0-2 15,0 0 2-15,0 0 0 0,0 0-1 0,0 0 1 16,0 0 0-16,0 0 0 0,0 0-2 0,0 0 2 15,0 0 0-15,0 0 0 0,0 0 2 0,0 0-4 16,0 0 2-16,0 0 0 0,0 0 0 16,0 0 2-16,0 0-1 0,0 0-1 0,0 0 0 15,0 0 2-15,0 0-2 0,0 0 0 0,0 0 0 0,0 0 0 16,0 0 0-16,0 0-2 0,0 0 2 16,0 0-1-16,0 0 1 0,0 0 0 0,0 0 0 15,0 0 0-15,0 0 0 0,0 0 1 0,0 0-1 16,0 0 2-16,0 0-2 0,0 0 0 0,0 0 0 15,0 0 0-15,0 0 0 0,0 0 0 0,0 0 0 16,0 0 0-16,0 0 0 0,0 0 0 0,0-1 0 16,0 1 0-16,2 0 0 0,-2 0-2 15,0 0 1-15,0 0-1 0,0 0 2 0,2 0-2 16,-2 0 2-16,0 0-1 0,0 0-1 0,0 0 2 16,0-2 0-16,0 1 0 0,0 1-1 0,0 0 1 15,0 1 0-15,0-1 0 0,0 0 1 0,0 0-1 16,2 0 0-16,-2 0 0 0,-2 0 0 15,2 0 0-15,0 0 0 0,0 0-1 0,0 0 1 16,0 0 0-16,0 0 0 0,0 0 0 0,0 0 0 16,0 0 0-16,0 0 0 0,2 0 0 0,-2 0 0 15,0 0 0-15,0 0 1 0,0 0-1 0,0 0 2 16,0 0-1-16,0 0-1 0,0 0 0 0,0 0 1 16,0 0-1-16,0 0-1 0,0 0 1 0,0 0-1 15,0 0-1-15,1 0 2 0,-1 0-1 0,0 0 1 16,0 0 0-16,0 0 0 0,0 0 0 0,0 0 0 15,0 0 0-15,0 0 0 0,0 0 0 0,0 0 0 16,0 0 0-16,0 0 0 0,0 0 0 0,0 0 0 16,0 0 1-16,0-1 2 0,0 1-3 0,0 0 2 15,0 0 1-15,0 0-1 0,0 0 0 0,0-2 0 16,2 0 0-16,-2 2-2 0,1-1 2 0,-1 1-2 16,2-1 0-16,0-1 0 0,3-1-2 15,-1 0-9-15,5-1-8 0,-1-2-21 0,1 2-29 16,-1-3-62-16</inkml:trace>
</inkml:ink>
</file>

<file path=ppt/slideLayouts/_rels/slideLayout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627094"/>
            <a:ext cx="7772400" cy="1470025"/>
          </a:xfrm>
        </p:spPr>
        <p:txBody>
          <a:bodyPr anchor="b" anchorCtr="0"/>
          <a:lstStyle>
            <a:lvl1pPr>
              <a:defRPr sz="5400">
                <a:gradFill>
                  <a:gsLst>
                    <a:gs pos="0">
                      <a:schemeClr val="tx2"/>
                    </a:gs>
                    <a:gs pos="100000">
                      <a:schemeClr val="tx2">
                        <a:lumMod val="75000"/>
                      </a:schemeClr>
                    </a:gs>
                  </a:gsLst>
                  <a:lin ang="5400000" scaled="0"/>
                </a:gradFill>
                <a:effectLst>
                  <a:outerShdw blurRad="50800" dist="25400" dir="5400000" algn="t" rotWithShape="0">
                    <a:prstClr val="black">
                      <a:alpha val="40000"/>
                    </a:prstClr>
                  </a:outerShdw>
                </a:effectLst>
              </a:defRPr>
            </a:lvl1pPr>
          </a:lstStyle>
          <a:p>
            <a:r>
              <a:rPr lang="en-US"/>
              <a:t>Click to edit Master title style</a:t>
            </a:r>
            <a:endParaRPr/>
          </a:p>
        </p:txBody>
      </p:sp>
      <p:sp>
        <p:nvSpPr>
          <p:cNvPr id="3" name="Subtitle 2"/>
          <p:cNvSpPr>
            <a:spLocks noGrp="1"/>
          </p:cNvSpPr>
          <p:nvPr>
            <p:ph type="subTitle" idx="1"/>
          </p:nvPr>
        </p:nvSpPr>
        <p:spPr>
          <a:xfrm>
            <a:off x="685801" y="3810000"/>
            <a:ext cx="7770812" cy="1752600"/>
          </a:xfrm>
        </p:spPr>
        <p:txBody>
          <a:bodyPr>
            <a:normAutofit/>
          </a:bodyPr>
          <a:lstStyle>
            <a:lvl1pPr marL="0" indent="0" algn="ctr">
              <a:spcBef>
                <a:spcPts val="300"/>
              </a:spcBef>
              <a:buNone/>
              <a:defRPr sz="1600">
                <a:gradFill>
                  <a:gsLst>
                    <a:gs pos="0">
                      <a:schemeClr val="tx2"/>
                    </a:gs>
                    <a:gs pos="100000">
                      <a:schemeClr val="tx2">
                        <a:lumMod val="75000"/>
                      </a:schemeClr>
                    </a:gs>
                  </a:gsLst>
                  <a:lin ang="5400000" scaled="0"/>
                </a:gradFill>
                <a:effectLst>
                  <a:outerShdw blurRad="50800" dist="38100" dir="5400000" algn="t" rotWithShape="0">
                    <a:prstClr val="black">
                      <a:alpha val="40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fld id="{1CDB690E-D504-EE46-BF09-1B8B105CE4C6}" type="datetimeFigureOut">
              <a:rPr lang="en-US" smtClean="0"/>
              <a:t>3/28/2023</a:t>
            </a:fld>
            <a:endParaRPr lang="en-US"/>
          </a:p>
        </p:txBody>
      </p:sp>
      <p:sp>
        <p:nvSpPr>
          <p:cNvPr id="5" name="Footer Placeholder 4"/>
          <p:cNvSpPr>
            <a:spLocks noGrp="1"/>
          </p:cNvSpPr>
          <p:nvPr>
            <p:ph type="ftr" sz="quarter" idx="11"/>
          </p:nvPr>
        </p:nvSpPr>
        <p:spPr/>
        <p:txBody>
          <a:bodyPr/>
          <a:lstStyle/>
          <a:p>
            <a:endParaRPr lang="en-US"/>
          </a:p>
        </p:txBody>
      </p:sp>
      <p:pic>
        <p:nvPicPr>
          <p:cNvPr id="7" name="Picture 6" descr="CoverGlyph.png"/>
          <p:cNvPicPr>
            <a:picLocks noChangeAspect="1"/>
          </p:cNvPicPr>
          <p:nvPr/>
        </p:nvPicPr>
        <p:blipFill>
          <a:blip r:embed="rId2"/>
          <a:stretch>
            <a:fillRect/>
          </a:stretch>
        </p:blipFill>
        <p:spPr>
          <a:xfrm>
            <a:off x="4010025" y="3048000"/>
            <a:ext cx="1123950" cy="771525"/>
          </a:xfrm>
          <a:prstGeom prst="rect">
            <a:avLst/>
          </a:prstGeom>
        </p:spPr>
      </p:pic>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1CDB690E-D504-EE46-BF09-1B8B105CE4C6}" type="datetimeFigureOut">
              <a:rPr lang="en-US" smtClean="0"/>
              <a:t>3/28/2023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6D9AA8-3163-9341-B184-8747F5D2BF21}" type="slidenum">
              <a:rPr lang="en-US" smtClean="0"/>
              <a:t>‹#›</a:t>
            </a:fld>
            <a:endParaRPr lang="en-US"/>
          </a:p>
        </p:txBody>
      </p:sp>
      <p:pic>
        <p:nvPicPr>
          <p:cNvPr id="8" name="Picture 2" descr="HR-Glyph-R3.png"/>
          <p:cNvPicPr>
            <a:picLocks noChangeAspect="1" noChangeArrowheads="1"/>
          </p:cNvPicPr>
          <p:nvPr/>
        </p:nvPicPr>
        <p:blipFill>
          <a:blip r:embed="rId2" cstate="print"/>
          <a:srcRect/>
          <a:stretch>
            <a:fillRect/>
          </a:stretch>
        </p:blipFill>
        <p:spPr bwMode="auto">
          <a:xfrm>
            <a:off x="3749040" y="1658992"/>
            <a:ext cx="1645920" cy="170411"/>
          </a:xfrm>
          <a:prstGeom prst="rect">
            <a:avLst/>
          </a:prstGeom>
          <a:noFill/>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626440"/>
            <a:ext cx="7770813" cy="1472184"/>
          </a:xfrm>
        </p:spPr>
        <p:txBody>
          <a:bodyPr anchor="b" anchorCtr="0"/>
          <a:lstStyle>
            <a:lvl1pPr algn="ctr">
              <a:defRPr sz="5400" b="0" i="0" cap="none" baseline="0"/>
            </a:lvl1pPr>
          </a:lstStyle>
          <a:p>
            <a:r>
              <a:rPr lang="en-US"/>
              <a:t>Click to edit Master title style</a:t>
            </a:r>
            <a:endParaRPr/>
          </a:p>
        </p:txBody>
      </p:sp>
      <p:sp>
        <p:nvSpPr>
          <p:cNvPr id="3" name="Text Placeholder 2"/>
          <p:cNvSpPr>
            <a:spLocks noGrp="1"/>
          </p:cNvSpPr>
          <p:nvPr>
            <p:ph type="body" idx="1"/>
          </p:nvPr>
        </p:nvSpPr>
        <p:spPr>
          <a:xfrm>
            <a:off x="685800" y="3813048"/>
            <a:ext cx="7770813" cy="1755648"/>
          </a:xfrm>
        </p:spPr>
        <p:txBody>
          <a:bodyPr anchor="t" anchorCtr="0">
            <a:normAutofit/>
          </a:bodyPr>
          <a:lstStyle>
            <a:lvl1pPr marL="0" indent="0" algn="ctr">
              <a:spcBef>
                <a:spcPts val="30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DB690E-D504-EE46-BF09-1B8B105CE4C6}" type="datetimeFigureOut">
              <a:rPr lang="en-US" smtClean="0"/>
              <a:t>3/28/2023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6D9AA8-3163-9341-B184-8747F5D2BF21}" type="slidenum">
              <a:rPr lang="en-US" smtClean="0"/>
              <a:t>‹#›</a:t>
            </a:fld>
            <a:endParaRPr lang="en-US"/>
          </a:p>
        </p:txBody>
      </p:sp>
      <p:pic>
        <p:nvPicPr>
          <p:cNvPr id="7" name="Picture 6" descr="Glyph-SectionHeader.png"/>
          <p:cNvPicPr>
            <a:picLocks noChangeAspect="1"/>
          </p:cNvPicPr>
          <p:nvPr/>
        </p:nvPicPr>
        <p:blipFill>
          <a:blip r:embed="rId2"/>
          <a:stretch>
            <a:fillRect/>
          </a:stretch>
        </p:blipFill>
        <p:spPr>
          <a:xfrm>
            <a:off x="4038600" y="3174066"/>
            <a:ext cx="1066800" cy="59055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85800" y="2209801"/>
            <a:ext cx="3657600" cy="3657600"/>
          </a:xfrm>
        </p:spPr>
        <p:txBody>
          <a:bodyPr>
            <a:normAutofit/>
          </a:bodyPr>
          <a:lstStyle>
            <a:lvl1pPr>
              <a:defRPr sz="2200"/>
            </a:lvl1pPr>
            <a:lvl2pPr>
              <a:defRPr sz="2000"/>
            </a:lvl2pPr>
            <a:lvl3pPr>
              <a:defRPr sz="1800"/>
            </a:lvl3pPr>
            <a:lvl4pPr>
              <a:defRPr sz="1800"/>
            </a:lvl4pPr>
            <a:lvl5pPr>
              <a:defRPr sz="1800"/>
            </a:lvl5pPr>
            <a:lvl6pPr marL="2290763" indent="-461963">
              <a:defRPr sz="1800"/>
            </a:lvl6pPr>
            <a:lvl7pPr marL="2290763" indent="-461963">
              <a:defRPr sz="1800"/>
            </a:lvl7pPr>
            <a:lvl8pPr marL="2290763" indent="-461963">
              <a:defRPr sz="1800"/>
            </a:lvl8pPr>
            <a:lvl9pPr marL="2290763" indent="-461963">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4800600" y="2209801"/>
            <a:ext cx="3657600" cy="3657600"/>
          </a:xfrm>
        </p:spPr>
        <p:txBody>
          <a:bodyPr>
            <a:normAutofit/>
          </a:bodyPr>
          <a:lstStyle>
            <a:lvl1pPr>
              <a:defRPr sz="2200"/>
            </a:lvl1pPr>
            <a:lvl2pPr>
              <a:defRPr sz="2000"/>
            </a:lvl2pPr>
            <a:lvl3pPr>
              <a:defRPr sz="1800"/>
            </a:lvl3pPr>
            <a:lvl4pPr>
              <a:defRPr sz="1800"/>
            </a:lvl4pPr>
            <a:lvl5pPr>
              <a:defRPr sz="1800"/>
            </a:lvl5pPr>
            <a:lvl6pPr marL="2290763" indent="-461963">
              <a:defRPr sz="1800"/>
            </a:lvl6pPr>
            <a:lvl7pPr marL="2290763" indent="-461963">
              <a:defRPr sz="1800"/>
            </a:lvl7pPr>
            <a:lvl8pPr marL="2290763" indent="-461963">
              <a:defRPr sz="1800"/>
            </a:lvl8pPr>
            <a:lvl9pPr marL="2290763" indent="-461963">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1CDB690E-D504-EE46-BF09-1B8B105CE4C6}" type="datetimeFigureOut">
              <a:rPr lang="en-US" smtClean="0"/>
              <a:t>3/28/2023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6D9AA8-3163-9341-B184-8747F5D2BF21}" type="slidenum">
              <a:rPr lang="en-US" smtClean="0"/>
              <a:t>‹#›</a:t>
            </a:fld>
            <a:endParaRPr lang="en-US"/>
          </a:p>
        </p:txBody>
      </p:sp>
      <p:pic>
        <p:nvPicPr>
          <p:cNvPr id="9" name="Picture 2" descr="HR-Glyph-R3.png"/>
          <p:cNvPicPr>
            <a:picLocks noChangeAspect="1" noChangeArrowheads="1"/>
          </p:cNvPicPr>
          <p:nvPr/>
        </p:nvPicPr>
        <p:blipFill>
          <a:blip r:embed="rId2" cstate="print"/>
          <a:srcRect/>
          <a:stretch>
            <a:fillRect/>
          </a:stretch>
        </p:blipFill>
        <p:spPr bwMode="auto">
          <a:xfrm>
            <a:off x="3749040" y="1658992"/>
            <a:ext cx="1645920" cy="170411"/>
          </a:xfrm>
          <a:prstGeom prst="rect">
            <a:avLst/>
          </a:prstGeom>
          <a:noFill/>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685800" y="2027238"/>
            <a:ext cx="3657600" cy="639762"/>
          </a:xfrm>
        </p:spPr>
        <p:txBody>
          <a:bodyPr anchor="ctr" anchorCtr="0"/>
          <a:lstStyle>
            <a:lvl1pPr marL="0" indent="0" algn="ctr">
              <a:spcBef>
                <a:spcPts val="300"/>
              </a:spcBef>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2819400"/>
            <a:ext cx="3657600" cy="3048000"/>
          </a:xfrm>
        </p:spPr>
        <p:txBody>
          <a:bodyPr>
            <a:normAutofit/>
          </a:bodyPr>
          <a:lstStyle>
            <a:lvl1pPr>
              <a:defRPr sz="2000"/>
            </a:lvl1pPr>
            <a:lvl2pPr>
              <a:defRPr sz="1800"/>
            </a:lvl2pPr>
            <a:lvl3pPr>
              <a:defRPr sz="1800"/>
            </a:lvl3pPr>
            <a:lvl4pPr>
              <a:defRPr sz="1800"/>
            </a:lvl4pPr>
            <a:lvl5pPr>
              <a:defRPr sz="1800"/>
            </a:lvl5pPr>
            <a:lvl6pPr marL="2290763" indent="-461963">
              <a:defRPr sz="1600"/>
            </a:lvl6pPr>
            <a:lvl7pPr marL="2290763" indent="-461963">
              <a:defRPr sz="1600"/>
            </a:lvl7pPr>
            <a:lvl8pPr marL="2290763" indent="-461963">
              <a:defRPr sz="1600"/>
            </a:lvl8pPr>
            <a:lvl9pPr marL="2290763" indent="-461963">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4800600" y="2027238"/>
            <a:ext cx="3657600" cy="639762"/>
          </a:xfrm>
        </p:spPr>
        <p:txBody>
          <a:bodyPr anchor="ctr" anchorCtr="0"/>
          <a:lstStyle>
            <a:lvl1pPr marL="0" indent="0" algn="ctr">
              <a:spcBef>
                <a:spcPts val="300"/>
              </a:spcBef>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00600" y="2819400"/>
            <a:ext cx="3657600" cy="3048000"/>
          </a:xfrm>
        </p:spPr>
        <p:txBody>
          <a:bodyPr>
            <a:normAutofit/>
          </a:bodyPr>
          <a:lstStyle>
            <a:lvl1pPr>
              <a:defRPr sz="2000"/>
            </a:lvl1pPr>
            <a:lvl2pPr>
              <a:defRPr sz="1800"/>
            </a:lvl2pPr>
            <a:lvl3pPr>
              <a:defRPr sz="1800"/>
            </a:lvl3pPr>
            <a:lvl4pPr>
              <a:defRPr sz="1800"/>
            </a:lvl4pPr>
            <a:lvl5pPr>
              <a:defRPr sz="1800"/>
            </a:lvl5pPr>
            <a:lvl6pPr marL="2290763" indent="-461963">
              <a:defRPr sz="1600"/>
            </a:lvl6pPr>
            <a:lvl7pPr marL="2290763" indent="-461963">
              <a:defRPr sz="1600"/>
            </a:lvl7pPr>
            <a:lvl8pPr marL="2290763" indent="-461963">
              <a:defRPr sz="1600"/>
            </a:lvl8pPr>
            <a:lvl9pPr marL="2290763" indent="-461963">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1CDB690E-D504-EE46-BF09-1B8B105CE4C6}" type="datetimeFigureOut">
              <a:rPr lang="en-US" smtClean="0"/>
              <a:t>3/28/2023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E6D9AA8-3163-9341-B184-8747F5D2BF21}" type="slidenum">
              <a:rPr lang="en-US" smtClean="0"/>
              <a:t>‹#›</a:t>
            </a:fld>
            <a:endParaRPr lang="en-US"/>
          </a:p>
        </p:txBody>
      </p:sp>
      <p:pic>
        <p:nvPicPr>
          <p:cNvPr id="11" name="Picture 2" descr="HR-Glyph-R3.png"/>
          <p:cNvPicPr>
            <a:picLocks noChangeAspect="1" noChangeArrowheads="1"/>
          </p:cNvPicPr>
          <p:nvPr/>
        </p:nvPicPr>
        <p:blipFill>
          <a:blip r:embed="rId2" cstate="print"/>
          <a:srcRect/>
          <a:stretch>
            <a:fillRect/>
          </a:stretch>
        </p:blipFill>
        <p:spPr bwMode="auto">
          <a:xfrm>
            <a:off x="3749040" y="1658992"/>
            <a:ext cx="1645920" cy="170411"/>
          </a:xfrm>
          <a:prstGeom prst="rect">
            <a:avLst/>
          </a:prstGeom>
          <a:noFill/>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1CDB690E-D504-EE46-BF09-1B8B105CE4C6}" type="datetimeFigureOut">
              <a:rPr lang="en-US" smtClean="0"/>
              <a:t>3/28/2023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E6D9AA8-3163-9341-B184-8747F5D2BF21}" type="slidenum">
              <a:rPr lang="en-US" smtClean="0"/>
              <a:t>‹#›</a:t>
            </a:fld>
            <a:endParaRPr lang="en-US"/>
          </a:p>
        </p:txBody>
      </p:sp>
      <p:pic>
        <p:nvPicPr>
          <p:cNvPr id="8" name="Picture 2" descr="HR-Glyph-R3.png"/>
          <p:cNvPicPr>
            <a:picLocks noChangeAspect="1" noChangeArrowheads="1"/>
          </p:cNvPicPr>
          <p:nvPr/>
        </p:nvPicPr>
        <p:blipFill>
          <a:blip r:embed="rId2" cstate="print"/>
          <a:srcRect/>
          <a:stretch>
            <a:fillRect/>
          </a:stretch>
        </p:blipFill>
        <p:spPr bwMode="auto">
          <a:xfrm>
            <a:off x="3749040" y="1658992"/>
            <a:ext cx="1645920" cy="170411"/>
          </a:xfrm>
          <a:prstGeom prst="rect">
            <a:avLst/>
          </a:prstGeom>
          <a:noFill/>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DB690E-D504-EE46-BF09-1B8B105CE4C6}" type="datetimeFigureOut">
              <a:rPr lang="en-US" smtClean="0"/>
              <a:t>3/28/2023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E6D9AA8-3163-9341-B184-8747F5D2BF2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8906" y="914400"/>
            <a:ext cx="3657600" cy="1162050"/>
          </a:xfrm>
        </p:spPr>
        <p:txBody>
          <a:bodyPr anchor="b"/>
          <a:lstStyle>
            <a:lvl1pPr algn="ctr">
              <a:defRPr sz="3800" b="0"/>
            </a:lvl1pPr>
          </a:lstStyle>
          <a:p>
            <a:r>
              <a:rPr lang="en-US"/>
              <a:t>Click to edit Master title style</a:t>
            </a:r>
            <a:endParaRPr/>
          </a:p>
        </p:txBody>
      </p:sp>
      <p:sp>
        <p:nvSpPr>
          <p:cNvPr id="3" name="Content Placeholder 2"/>
          <p:cNvSpPr>
            <a:spLocks noGrp="1"/>
          </p:cNvSpPr>
          <p:nvPr>
            <p:ph idx="1"/>
          </p:nvPr>
        </p:nvSpPr>
        <p:spPr>
          <a:xfrm>
            <a:off x="4796118" y="457199"/>
            <a:ext cx="3657600" cy="5410201"/>
          </a:xfrm>
        </p:spPr>
        <p:txBody>
          <a:bodyPr>
            <a:normAutofit/>
          </a:bodyPr>
          <a:lstStyle>
            <a:lvl1pPr>
              <a:defRPr sz="2400"/>
            </a:lvl1pPr>
            <a:lvl2pPr>
              <a:defRPr sz="2200"/>
            </a:lvl2pPr>
            <a:lvl3pPr>
              <a:defRPr sz="2000"/>
            </a:lvl3pPr>
            <a:lvl4pPr>
              <a:defRPr sz="1800"/>
            </a:lvl4pPr>
            <a:lvl5pPr>
              <a:defRPr sz="1800"/>
            </a:lvl5pPr>
            <a:lvl6pPr marL="2290763" indent="-461963">
              <a:tabLst/>
              <a:defRPr sz="2000"/>
            </a:lvl6pPr>
            <a:lvl7pPr marL="2290763" indent="-461963">
              <a:tabLst/>
              <a:defRPr sz="2000"/>
            </a:lvl7pPr>
            <a:lvl8pPr marL="2290763" indent="-461963">
              <a:tabLst/>
              <a:defRPr sz="2000"/>
            </a:lvl8pPr>
            <a:lvl9pPr marL="2290763" indent="-461963">
              <a:tabLst/>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658906" y="2590799"/>
            <a:ext cx="3657600" cy="2895601"/>
          </a:xfrm>
        </p:spPr>
        <p:txBody>
          <a:bodyPr>
            <a:normAutofit/>
          </a:bodyPr>
          <a:lstStyle>
            <a:lvl1pPr marL="0" indent="0" algn="ctr">
              <a:lnSpc>
                <a:spcPct val="110000"/>
              </a:lnSpc>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DB690E-D504-EE46-BF09-1B8B105CE4C6}" type="datetimeFigureOut">
              <a:rPr lang="en-US" smtClean="0"/>
              <a:t>3/28/2023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6D9AA8-3163-9341-B184-8747F5D2BF21}" type="slidenum">
              <a:rPr lang="en-US" smtClean="0"/>
              <a:t>‹#›</a:t>
            </a:fld>
            <a:endParaRPr lang="en-US"/>
          </a:p>
        </p:txBody>
      </p:sp>
      <p:pic>
        <p:nvPicPr>
          <p:cNvPr id="10" name="Picture 2" descr="HR-Glyph-R3.png"/>
          <p:cNvPicPr>
            <a:picLocks noChangeAspect="1" noChangeArrowheads="1"/>
          </p:cNvPicPr>
          <p:nvPr/>
        </p:nvPicPr>
        <p:blipFill>
          <a:blip r:embed="rId2" cstate="print"/>
          <a:srcRect/>
          <a:stretch>
            <a:fillRect/>
          </a:stretch>
        </p:blipFill>
        <p:spPr bwMode="auto">
          <a:xfrm>
            <a:off x="1664746" y="2286000"/>
            <a:ext cx="1645920" cy="170411"/>
          </a:xfrm>
          <a:prstGeom prst="rect">
            <a:avLst/>
          </a:prstGeom>
          <a:noFill/>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99013" y="914400"/>
            <a:ext cx="3657600" cy="1161288"/>
          </a:xfrm>
          <a:effectLst/>
        </p:spPr>
        <p:txBody>
          <a:bodyPr vert="horz" lIns="91440" tIns="45720" rIns="91440" bIns="45720" rtlCol="0" anchor="b" anchorCtr="0">
            <a:noAutofit/>
          </a:bodyPr>
          <a:lstStyle>
            <a:lvl1pPr algn="ctr" defTabSz="914400" rtl="0" eaLnBrk="1" latinLnBrk="0" hangingPunct="1">
              <a:spcBef>
                <a:spcPct val="0"/>
              </a:spcBef>
              <a:buNone/>
              <a:defRPr sz="3800" b="0" kern="1200">
                <a:solidFill>
                  <a:schemeClr val="tx2"/>
                </a:solidFill>
                <a:effectLst>
                  <a:outerShdw blurRad="38100" dist="12700" algn="l" rotWithShape="0">
                    <a:prstClr val="black">
                      <a:alpha val="40000"/>
                    </a:prstClr>
                  </a:outerShdw>
                </a:effectLst>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658906" y="457200"/>
            <a:ext cx="3657600" cy="5413248"/>
          </a:xfrm>
          <a:ln w="101600">
            <a:solidFill>
              <a:schemeClr val="tx1"/>
            </a:solidFill>
            <a:miter lim="800000"/>
          </a:ln>
          <a:effectLst>
            <a:outerShdw blurRad="50800" dist="38100" dir="2700000" algn="tl" rotWithShape="0">
              <a:prstClr val="black">
                <a:alpha val="40000"/>
              </a:prstClr>
            </a:outerShdw>
          </a:effectLst>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a:p>
        </p:txBody>
      </p:sp>
      <p:sp>
        <p:nvSpPr>
          <p:cNvPr id="4" name="Text Placeholder 3"/>
          <p:cNvSpPr>
            <a:spLocks noGrp="1"/>
          </p:cNvSpPr>
          <p:nvPr>
            <p:ph type="body" sz="half" idx="2"/>
          </p:nvPr>
        </p:nvSpPr>
        <p:spPr>
          <a:xfrm>
            <a:off x="4799013" y="2587752"/>
            <a:ext cx="3657600" cy="2898648"/>
          </a:xfrm>
        </p:spPr>
        <p:txBody>
          <a:bodyPr vert="horz" lIns="91440" tIns="45720" rIns="91440" bIns="45720" rtlCol="0">
            <a:normAutofit/>
          </a:bodyPr>
          <a:lstStyle>
            <a:lvl1pPr marL="0" indent="0" algn="ctr">
              <a:spcBef>
                <a:spcPts val="600"/>
              </a:spcBef>
              <a:buNone/>
              <a:defRPr sz="180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lnSpc>
                <a:spcPct val="110000"/>
              </a:lnSpc>
              <a:spcBef>
                <a:spcPts val="2000"/>
              </a:spcBef>
              <a:buClr>
                <a:schemeClr val="accent3"/>
              </a:buClr>
              <a:buFont typeface="Wingdings" pitchFamily="2" charset="2"/>
              <a:buNone/>
            </a:pPr>
            <a:r>
              <a:rPr lang="en-US"/>
              <a:t>Click to edit Master text styles</a:t>
            </a:r>
          </a:p>
        </p:txBody>
      </p:sp>
      <p:sp>
        <p:nvSpPr>
          <p:cNvPr id="5" name="Date Placeholder 4"/>
          <p:cNvSpPr>
            <a:spLocks noGrp="1"/>
          </p:cNvSpPr>
          <p:nvPr>
            <p:ph type="dt" sz="half" idx="10"/>
          </p:nvPr>
        </p:nvSpPr>
        <p:spPr/>
        <p:txBody>
          <a:bodyPr/>
          <a:lstStyle/>
          <a:p>
            <a:fld id="{1CDB690E-D504-EE46-BF09-1B8B105CE4C6}" type="datetimeFigureOut">
              <a:rPr lang="en-US" smtClean="0"/>
              <a:t>3/28/2023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6D9AA8-3163-9341-B184-8747F5D2BF21}" type="slidenum">
              <a:rPr lang="en-US" smtClean="0"/>
              <a:t>‹#›</a:t>
            </a:fld>
            <a:endParaRPr lang="en-US"/>
          </a:p>
        </p:txBody>
      </p:sp>
      <p:pic>
        <p:nvPicPr>
          <p:cNvPr id="9" name="Picture 2" descr="HR-Glyph-R3.png"/>
          <p:cNvPicPr>
            <a:picLocks noChangeAspect="1" noChangeArrowheads="1"/>
          </p:cNvPicPr>
          <p:nvPr/>
        </p:nvPicPr>
        <p:blipFill>
          <a:blip r:embed="rId2" cstate="print"/>
          <a:srcRect/>
          <a:stretch>
            <a:fillRect/>
          </a:stretch>
        </p:blipFill>
        <p:spPr bwMode="auto">
          <a:xfrm>
            <a:off x="5804853" y="2286000"/>
            <a:ext cx="1645920" cy="170411"/>
          </a:xfrm>
          <a:prstGeom prst="rect">
            <a:avLst/>
          </a:prstGeom>
          <a:noFill/>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3738282"/>
            <a:ext cx="7770813" cy="1048870"/>
          </a:xfrm>
          <a:effectLst/>
        </p:spPr>
        <p:txBody>
          <a:bodyPr vert="horz" lIns="91440" tIns="45720" rIns="91440" bIns="45720" rtlCol="0" anchor="b" anchorCtr="0">
            <a:noAutofit/>
          </a:bodyPr>
          <a:lstStyle>
            <a:lvl1pPr algn="ctr" defTabSz="914400" rtl="0" eaLnBrk="1" latinLnBrk="0" hangingPunct="1">
              <a:spcBef>
                <a:spcPct val="0"/>
              </a:spcBef>
              <a:buNone/>
              <a:defRPr sz="3800" b="0" kern="1200">
                <a:solidFill>
                  <a:schemeClr val="tx2"/>
                </a:solidFill>
                <a:effectLst>
                  <a:outerShdw blurRad="38100" dist="12700" algn="l" rotWithShape="0">
                    <a:prstClr val="black">
                      <a:alpha val="40000"/>
                    </a:prstClr>
                  </a:outerShdw>
                </a:effectLst>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2286000" y="457200"/>
            <a:ext cx="4572000" cy="3173506"/>
          </a:xfrm>
          <a:ln w="101600">
            <a:solidFill>
              <a:schemeClr val="tx1"/>
            </a:solidFill>
            <a:miter lim="800000"/>
          </a:ln>
          <a:effectLst>
            <a:outerShdw blurRad="50800" dist="38100" dir="2700000" algn="tl" rotWithShape="0">
              <a:prstClr val="black">
                <a:alpha val="40000"/>
              </a:prstClr>
            </a:outerShdw>
          </a:effectLst>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a:p>
        </p:txBody>
      </p:sp>
      <p:sp>
        <p:nvSpPr>
          <p:cNvPr id="4" name="Text Placeholder 3"/>
          <p:cNvSpPr>
            <a:spLocks noGrp="1"/>
          </p:cNvSpPr>
          <p:nvPr>
            <p:ph type="body" sz="half" idx="2"/>
          </p:nvPr>
        </p:nvSpPr>
        <p:spPr>
          <a:xfrm>
            <a:off x="685800" y="5181600"/>
            <a:ext cx="7770813" cy="685800"/>
          </a:xfrm>
        </p:spPr>
        <p:txBody>
          <a:bodyPr vert="horz" lIns="91440" tIns="45720" rIns="91440" bIns="45720" rtlCol="0">
            <a:normAutofit/>
          </a:bodyPr>
          <a:lstStyle>
            <a:lvl1pPr marL="0" indent="0" algn="ctr">
              <a:spcBef>
                <a:spcPts val="300"/>
              </a:spcBef>
              <a:buNone/>
              <a:defRPr sz="180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lnSpc>
                <a:spcPct val="110000"/>
              </a:lnSpc>
              <a:spcBef>
                <a:spcPts val="2000"/>
              </a:spcBef>
              <a:buClr>
                <a:schemeClr val="accent3"/>
              </a:buClr>
              <a:buFont typeface="Wingdings" pitchFamily="2" charset="2"/>
              <a:buNone/>
            </a:pPr>
            <a:r>
              <a:rPr lang="en-US"/>
              <a:t>Click to edit Master text styles</a:t>
            </a:r>
          </a:p>
        </p:txBody>
      </p:sp>
      <p:sp>
        <p:nvSpPr>
          <p:cNvPr id="5" name="Date Placeholder 4"/>
          <p:cNvSpPr>
            <a:spLocks noGrp="1"/>
          </p:cNvSpPr>
          <p:nvPr>
            <p:ph type="dt" sz="half" idx="10"/>
          </p:nvPr>
        </p:nvSpPr>
        <p:spPr/>
        <p:txBody>
          <a:bodyPr/>
          <a:lstStyle/>
          <a:p>
            <a:fld id="{1CDB690E-D504-EE46-BF09-1B8B105CE4C6}" type="datetimeFigureOut">
              <a:rPr lang="en-US" smtClean="0"/>
              <a:t>3/28/2023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6D9AA8-3163-9341-B184-8747F5D2BF21}" type="slidenum">
              <a:rPr lang="en-US" smtClean="0"/>
              <a:t>‹#›</a:t>
            </a:fld>
            <a:endParaRPr lang="en-US"/>
          </a:p>
        </p:txBody>
      </p:sp>
      <p:pic>
        <p:nvPicPr>
          <p:cNvPr id="11" name="Picture 2" descr="HR-Glyph-R3.png"/>
          <p:cNvPicPr>
            <a:picLocks noChangeAspect="1" noChangeArrowheads="1"/>
          </p:cNvPicPr>
          <p:nvPr/>
        </p:nvPicPr>
        <p:blipFill>
          <a:blip r:embed="rId2" cstate="print"/>
          <a:srcRect/>
          <a:stretch>
            <a:fillRect/>
          </a:stretch>
        </p:blipFill>
        <p:spPr bwMode="auto">
          <a:xfrm>
            <a:off x="3749040" y="4890247"/>
            <a:ext cx="1645920" cy="170411"/>
          </a:xfrm>
          <a:prstGeom prst="rect">
            <a:avLst/>
          </a:prstGeom>
          <a:noFill/>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marL="2286000" indent="-457200">
              <a:defRPr/>
            </a:lvl6pPr>
            <a:lvl7pPr marL="2286000" indent="-457200">
              <a:defRPr/>
            </a:lvl7pPr>
            <a:lvl8pPr marL="2286000" indent="-457200">
              <a:defRPr/>
            </a:lvl8pPr>
            <a:lvl9pPr marL="2286000" indent="-45720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1CDB690E-D504-EE46-BF09-1B8B105CE4C6}" type="datetimeFigureOut">
              <a:rPr lang="en-US" smtClean="0"/>
              <a:t>3/28/2023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6D9AA8-3163-9341-B184-8747F5D2BF21}" type="slidenum">
              <a:rPr lang="en-US" smtClean="0"/>
              <a:t>‹#›</a:t>
            </a:fld>
            <a:endParaRPr lang="en-US"/>
          </a:p>
        </p:txBody>
      </p:sp>
      <p:pic>
        <p:nvPicPr>
          <p:cNvPr id="10" name="Picture 2" descr="HR-Glyph-R3.png"/>
          <p:cNvPicPr>
            <a:picLocks noChangeAspect="1" noChangeArrowheads="1"/>
          </p:cNvPicPr>
          <p:nvPr/>
        </p:nvPicPr>
        <p:blipFill>
          <a:blip r:embed="rId2" cstate="print"/>
          <a:srcRect/>
          <a:stretch>
            <a:fillRect/>
          </a:stretch>
        </p:blipFill>
        <p:spPr bwMode="auto">
          <a:xfrm>
            <a:off x="3749040" y="1658992"/>
            <a:ext cx="1645920" cy="170411"/>
          </a:xfrm>
          <a:prstGeom prst="rect">
            <a:avLst/>
          </a:prstGeom>
          <a:noFill/>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62800" y="537882"/>
            <a:ext cx="1524000" cy="5325036"/>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685800" y="537882"/>
            <a:ext cx="5889812" cy="5325036"/>
          </a:xfrm>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1CDB690E-D504-EE46-BF09-1B8B105CE4C6}" type="datetimeFigureOut">
              <a:rPr lang="en-US" smtClean="0"/>
              <a:t>3/28/2023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6D9AA8-3163-9341-B184-8747F5D2BF21}" type="slidenum">
              <a:rPr lang="en-US" smtClean="0"/>
              <a:t>‹#›</a:t>
            </a:fld>
            <a:endParaRPr lang="en-US"/>
          </a:p>
        </p:txBody>
      </p:sp>
      <p:pic>
        <p:nvPicPr>
          <p:cNvPr id="9" name="Picture 2" descr="HR-Glyph-R3.png"/>
          <p:cNvPicPr>
            <a:picLocks noChangeAspect="1" noChangeArrowheads="1"/>
          </p:cNvPicPr>
          <p:nvPr/>
        </p:nvPicPr>
        <p:blipFill>
          <a:blip r:embed="rId2" cstate="print"/>
          <a:srcRect/>
          <a:stretch>
            <a:fillRect/>
          </a:stretch>
        </p:blipFill>
        <p:spPr bwMode="auto">
          <a:xfrm rot="5400000">
            <a:off x="6052928" y="3115195"/>
            <a:ext cx="1645920" cy="170411"/>
          </a:xfrm>
          <a:prstGeom prst="rect">
            <a:avLst/>
          </a:prstGeom>
          <a:noFill/>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4305300" y="6289115"/>
            <a:ext cx="5334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DE6D9AA8-3163-9341-B184-8747F5D2BF21}" type="slidenum">
              <a:rPr lang="en-US" smtClean="0"/>
              <a:t>‹#›</a:t>
            </a:fld>
            <a:endParaRPr lang="en-US"/>
          </a:p>
        </p:txBody>
      </p:sp>
      <p:sp>
        <p:nvSpPr>
          <p:cNvPr id="2" name="Title Placeholder 1"/>
          <p:cNvSpPr>
            <a:spLocks noGrp="1"/>
          </p:cNvSpPr>
          <p:nvPr>
            <p:ph type="title"/>
          </p:nvPr>
        </p:nvSpPr>
        <p:spPr>
          <a:xfrm>
            <a:off x="685800" y="67236"/>
            <a:ext cx="7770813" cy="1371600"/>
          </a:xfrm>
          <a:prstGeom prst="rect">
            <a:avLst/>
          </a:prstGeom>
          <a:effectLst/>
        </p:spPr>
        <p:txBody>
          <a:bodyPr vert="horz" lIns="91440" tIns="45720" rIns="91440" bIns="45720" rtlCol="0" anchor="ctr" anchorCtr="0">
            <a:noAutofit/>
          </a:bodyPr>
          <a:lstStyle/>
          <a:p>
            <a:r>
              <a:rPr lang="en-US"/>
              <a:t>Click to edit Master title style</a:t>
            </a:r>
            <a:endParaRPr/>
          </a:p>
        </p:txBody>
      </p:sp>
      <p:sp>
        <p:nvSpPr>
          <p:cNvPr id="3" name="Text Placeholder 2"/>
          <p:cNvSpPr>
            <a:spLocks noGrp="1"/>
          </p:cNvSpPr>
          <p:nvPr>
            <p:ph type="body" idx="1"/>
          </p:nvPr>
        </p:nvSpPr>
        <p:spPr>
          <a:xfrm>
            <a:off x="685800" y="2209800"/>
            <a:ext cx="7770813" cy="3657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6400800" y="6289115"/>
            <a:ext cx="2375647"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DB690E-D504-EE46-BF09-1B8B105CE4C6}" type="datetimeFigureOut">
              <a:rPr lang="en-US" smtClean="0"/>
              <a:t>3/28/2023</a:t>
            </a:fld>
            <a:endParaRPr lang="en-US"/>
          </a:p>
        </p:txBody>
      </p:sp>
      <p:sp>
        <p:nvSpPr>
          <p:cNvPr id="5" name="Footer Placeholder 4"/>
          <p:cNvSpPr>
            <a:spLocks noGrp="1"/>
          </p:cNvSpPr>
          <p:nvPr>
            <p:ph type="ftr" sz="quarter" idx="3"/>
          </p:nvPr>
        </p:nvSpPr>
        <p:spPr>
          <a:xfrm>
            <a:off x="349624" y="6289115"/>
            <a:ext cx="3155576"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Tree>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Lst>
  <p:txStyles>
    <p:titleStyle>
      <a:lvl1pPr algn="ctr" defTabSz="914400" rtl="0" eaLnBrk="1" latinLnBrk="0" hangingPunct="1">
        <a:spcBef>
          <a:spcPct val="0"/>
        </a:spcBef>
        <a:buNone/>
        <a:defRPr sz="5000" kern="1200">
          <a:solidFill>
            <a:schemeClr val="tx2"/>
          </a:solidFill>
          <a:effectLst>
            <a:outerShdw blurRad="38100" dist="12700" algn="l" rotWithShape="0">
              <a:prstClr val="black">
                <a:alpha val="40000"/>
              </a:prstClr>
            </a:outerShdw>
          </a:effectLst>
          <a:latin typeface="+mj-lt"/>
          <a:ea typeface="+mj-ea"/>
          <a:cs typeface="+mj-cs"/>
        </a:defRPr>
      </a:lvl1pPr>
    </p:titleStyle>
    <p:bodyStyle>
      <a:lvl1pPr marL="457200" indent="-457200" algn="l" defTabSz="914400" rtl="0" eaLnBrk="1" latinLnBrk="0" hangingPunct="1">
        <a:spcBef>
          <a:spcPts val="2000"/>
        </a:spcBef>
        <a:buClr>
          <a:schemeClr val="accent3"/>
        </a:buClr>
        <a:buFont typeface="Wingdings" pitchFamily="2" charset="2"/>
        <a:buChar char=""/>
        <a:defRPr sz="2400" kern="1200">
          <a:solidFill>
            <a:schemeClr val="tx2"/>
          </a:solidFill>
          <a:latin typeface="+mn-lt"/>
          <a:ea typeface="+mn-ea"/>
          <a:cs typeface="+mn-cs"/>
        </a:defRPr>
      </a:lvl1pPr>
      <a:lvl2pPr marL="914400" indent="-457200" algn="l" defTabSz="914400" rtl="0" eaLnBrk="1" latinLnBrk="0" hangingPunct="1">
        <a:spcBef>
          <a:spcPts val="600"/>
        </a:spcBef>
        <a:buClr>
          <a:schemeClr val="accent3">
            <a:lumMod val="50000"/>
          </a:schemeClr>
        </a:buClr>
        <a:buFont typeface="Wingdings" pitchFamily="2" charset="2"/>
        <a:buChar char=""/>
        <a:defRPr sz="2200" kern="1200">
          <a:solidFill>
            <a:schemeClr val="tx2"/>
          </a:solidFill>
          <a:latin typeface="+mn-lt"/>
          <a:ea typeface="+mn-ea"/>
          <a:cs typeface="+mn-cs"/>
        </a:defRPr>
      </a:lvl2pPr>
      <a:lvl3pPr marL="1371600" indent="-457200" algn="l" defTabSz="914400" rtl="0" eaLnBrk="1" latinLnBrk="0" hangingPunct="1">
        <a:spcBef>
          <a:spcPts val="600"/>
        </a:spcBef>
        <a:buClr>
          <a:schemeClr val="accent3"/>
        </a:buClr>
        <a:buFont typeface="Wingdings" pitchFamily="2" charset="2"/>
        <a:buChar char=""/>
        <a:defRPr sz="2000" kern="1200">
          <a:solidFill>
            <a:schemeClr val="tx2"/>
          </a:solidFill>
          <a:latin typeface="+mn-lt"/>
          <a:ea typeface="+mn-ea"/>
          <a:cs typeface="+mn-cs"/>
        </a:defRPr>
      </a:lvl3pPr>
      <a:lvl4pPr marL="1828800" indent="-457200" algn="l" defTabSz="914400" rtl="0" eaLnBrk="1" latinLnBrk="0" hangingPunct="1">
        <a:spcBef>
          <a:spcPts val="600"/>
        </a:spcBef>
        <a:buClr>
          <a:schemeClr val="accent3">
            <a:lumMod val="50000"/>
          </a:schemeClr>
        </a:buClr>
        <a:buFont typeface="Wingdings" pitchFamily="2" charset="2"/>
        <a:buChar char=""/>
        <a:defRPr sz="1800" kern="1200">
          <a:solidFill>
            <a:schemeClr val="tx2"/>
          </a:solidFill>
          <a:latin typeface="+mn-lt"/>
          <a:ea typeface="+mn-ea"/>
          <a:cs typeface="+mn-cs"/>
        </a:defRPr>
      </a:lvl4pPr>
      <a:lvl5pPr marL="2286000" indent="-457200" algn="l" defTabSz="914400" rtl="0" eaLnBrk="1" latinLnBrk="0" hangingPunct="1">
        <a:spcBef>
          <a:spcPts val="600"/>
        </a:spcBef>
        <a:buClr>
          <a:schemeClr val="accent3"/>
        </a:buClr>
        <a:buFont typeface="Wingdings" pitchFamily="2" charset="2"/>
        <a:buChar char=""/>
        <a:defRPr sz="1800" kern="1200">
          <a:solidFill>
            <a:schemeClr val="tx2"/>
          </a:solidFill>
          <a:latin typeface="+mn-lt"/>
          <a:ea typeface="+mn-ea"/>
          <a:cs typeface="+mn-cs"/>
        </a:defRPr>
      </a:lvl5pPr>
      <a:lvl6pPr marL="2743200" indent="-461963" algn="l" defTabSz="914400" rtl="0" eaLnBrk="1" latinLnBrk="0" hangingPunct="1">
        <a:spcBef>
          <a:spcPct val="20000"/>
        </a:spcBef>
        <a:buClr>
          <a:schemeClr val="accent3">
            <a:lumMod val="50000"/>
          </a:schemeClr>
        </a:buClr>
        <a:buFont typeface="Wingdings" pitchFamily="2" charset="2"/>
        <a:buChar char=""/>
        <a:defRPr sz="1800" kern="1200">
          <a:solidFill>
            <a:schemeClr val="tx1"/>
          </a:solidFill>
          <a:latin typeface="+mn-lt"/>
          <a:ea typeface="+mn-ea"/>
          <a:cs typeface="+mn-cs"/>
        </a:defRPr>
      </a:lvl6pPr>
      <a:lvl7pPr marL="3205163" indent="-461963" algn="l" defTabSz="914400" rtl="0" eaLnBrk="1" latinLnBrk="0" hangingPunct="1">
        <a:spcBef>
          <a:spcPct val="20000"/>
        </a:spcBef>
        <a:buClr>
          <a:schemeClr val="accent3"/>
        </a:buClr>
        <a:buFont typeface="Wingdings" pitchFamily="2" charset="2"/>
        <a:buChar char=""/>
        <a:defRPr sz="1800" kern="1200">
          <a:solidFill>
            <a:schemeClr val="tx1"/>
          </a:solidFill>
          <a:latin typeface="+mn-lt"/>
          <a:ea typeface="+mn-ea"/>
          <a:cs typeface="+mn-cs"/>
        </a:defRPr>
      </a:lvl7pPr>
      <a:lvl8pPr marL="3657600" indent="-461963" algn="l" defTabSz="914400" rtl="0" eaLnBrk="1" latinLnBrk="0" hangingPunct="1">
        <a:spcBef>
          <a:spcPct val="20000"/>
        </a:spcBef>
        <a:buClr>
          <a:schemeClr val="accent3">
            <a:lumMod val="50000"/>
          </a:schemeClr>
        </a:buClr>
        <a:buFont typeface="Wingdings" pitchFamily="2" charset="2"/>
        <a:buChar char=""/>
        <a:defRPr sz="1800" kern="1200">
          <a:solidFill>
            <a:schemeClr val="tx1"/>
          </a:solidFill>
          <a:latin typeface="+mn-lt"/>
          <a:ea typeface="+mn-ea"/>
          <a:cs typeface="+mn-cs"/>
        </a:defRPr>
      </a:lvl8pPr>
      <a:lvl9pPr marL="4119563" indent="-461963" algn="l" defTabSz="914400" rtl="0" eaLnBrk="1" latinLnBrk="0" hangingPunct="1">
        <a:spcBef>
          <a:spcPct val="20000"/>
        </a:spcBef>
        <a:buClr>
          <a:schemeClr val="accent3"/>
        </a:buClr>
        <a:buFont typeface="Wingdings" pitchFamily="2" charset="2"/>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Treasury Management</a:t>
            </a:r>
          </a:p>
        </p:txBody>
      </p:sp>
      <p:sp>
        <p:nvSpPr>
          <p:cNvPr id="3" name="Subtitle 2"/>
          <p:cNvSpPr>
            <a:spLocks noGrp="1"/>
          </p:cNvSpPr>
          <p:nvPr>
            <p:ph type="subTitle" idx="1"/>
          </p:nvPr>
        </p:nvSpPr>
        <p:spPr/>
        <p:txBody>
          <a:bodyPr/>
          <a:lstStyle/>
          <a:p>
            <a:r>
              <a:rPr lang="en-US" dirty="0"/>
              <a:t>Cash Forecasting</a:t>
            </a:r>
          </a:p>
        </p:txBody>
      </p:sp>
    </p:spTree>
    <p:extLst>
      <p:ext uri="{BB962C8B-B14F-4D97-AF65-F5344CB8AC3E}">
        <p14:creationId xmlns:p14="http://schemas.microsoft.com/office/powerpoint/2010/main" val="837277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6D9A2-5C5F-4990-BE4D-1D150220DCFB}"/>
              </a:ext>
            </a:extLst>
          </p:cNvPr>
          <p:cNvSpPr>
            <a:spLocks noGrp="1"/>
          </p:cNvSpPr>
          <p:nvPr>
            <p:ph type="title"/>
          </p:nvPr>
        </p:nvSpPr>
        <p:spPr/>
        <p:txBody>
          <a:bodyPr/>
          <a:lstStyle/>
          <a:p>
            <a:r>
              <a:rPr lang="en-GB" dirty="0"/>
              <a:t>Introduction</a:t>
            </a:r>
          </a:p>
        </p:txBody>
      </p:sp>
      <p:sp>
        <p:nvSpPr>
          <p:cNvPr id="3" name="Content Placeholder 2">
            <a:extLst>
              <a:ext uri="{FF2B5EF4-FFF2-40B4-BE49-F238E27FC236}">
                <a16:creationId xmlns:a16="http://schemas.microsoft.com/office/drawing/2014/main" id="{51B76976-54A7-403B-9670-74939335521A}"/>
              </a:ext>
            </a:extLst>
          </p:cNvPr>
          <p:cNvSpPr>
            <a:spLocks noGrp="1"/>
          </p:cNvSpPr>
          <p:nvPr>
            <p:ph idx="1"/>
          </p:nvPr>
        </p:nvSpPr>
        <p:spPr/>
        <p:txBody>
          <a:bodyPr>
            <a:normAutofit/>
          </a:bodyPr>
          <a:lstStyle/>
          <a:p>
            <a:r>
              <a:rPr lang="en-GB" dirty="0"/>
              <a:t>Cash forecasting assists treasury in planning cash management activities such as:</a:t>
            </a:r>
          </a:p>
          <a:p>
            <a:pPr marL="514350" indent="-514350">
              <a:buFont typeface="+mj-lt"/>
              <a:buAutoNum type="romanLcPeriod"/>
            </a:pPr>
            <a:r>
              <a:rPr lang="en-GB" dirty="0"/>
              <a:t> scheduling cash concentration transfers</a:t>
            </a:r>
          </a:p>
          <a:p>
            <a:pPr marL="514350" indent="-514350">
              <a:buFont typeface="+mj-lt"/>
              <a:buAutoNum type="romanLcPeriod"/>
            </a:pPr>
            <a:r>
              <a:rPr lang="en-GB" dirty="0"/>
              <a:t>Funding disbursements accounts</a:t>
            </a:r>
          </a:p>
          <a:p>
            <a:pPr marL="514350" indent="-514350">
              <a:buFont typeface="+mj-lt"/>
              <a:buAutoNum type="romanLcPeriod"/>
            </a:pPr>
            <a:r>
              <a:rPr lang="en-GB" dirty="0"/>
              <a:t>Making short term investing and borrowing decisions</a:t>
            </a:r>
          </a:p>
        </p:txBody>
      </p:sp>
    </p:spTree>
    <p:extLst>
      <p:ext uri="{BB962C8B-B14F-4D97-AF65-F5344CB8AC3E}">
        <p14:creationId xmlns:p14="http://schemas.microsoft.com/office/powerpoint/2010/main" val="1753637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314E8-BBFB-455E-98B3-8B32A7C71A9E}"/>
              </a:ext>
            </a:extLst>
          </p:cNvPr>
          <p:cNvSpPr>
            <a:spLocks noGrp="1"/>
          </p:cNvSpPr>
          <p:nvPr>
            <p:ph type="title"/>
          </p:nvPr>
        </p:nvSpPr>
        <p:spPr/>
        <p:txBody>
          <a:bodyPr/>
          <a:lstStyle/>
          <a:p>
            <a:r>
              <a:rPr lang="en-GB" dirty="0"/>
              <a:t>Introduction</a:t>
            </a:r>
          </a:p>
        </p:txBody>
      </p:sp>
      <p:sp>
        <p:nvSpPr>
          <p:cNvPr id="3" name="Content Placeholder 2">
            <a:extLst>
              <a:ext uri="{FF2B5EF4-FFF2-40B4-BE49-F238E27FC236}">
                <a16:creationId xmlns:a16="http://schemas.microsoft.com/office/drawing/2014/main" id="{BFA061E2-59D4-48EE-BBA3-6FC8636FBA45}"/>
              </a:ext>
            </a:extLst>
          </p:cNvPr>
          <p:cNvSpPr>
            <a:spLocks noGrp="1"/>
          </p:cNvSpPr>
          <p:nvPr>
            <p:ph idx="1"/>
          </p:nvPr>
        </p:nvSpPr>
        <p:spPr/>
        <p:txBody>
          <a:bodyPr>
            <a:normAutofit/>
          </a:bodyPr>
          <a:lstStyle/>
          <a:p>
            <a:pPr marL="0" indent="0">
              <a:buNone/>
            </a:pPr>
            <a:r>
              <a:rPr lang="en-GB" dirty="0"/>
              <a:t>iv. Establishing and managing target balances for purposes of bank compensation, covenant management and regulatory requirements</a:t>
            </a:r>
          </a:p>
          <a:p>
            <a:r>
              <a:rPr lang="en-GB" dirty="0"/>
              <a:t>Cash forecasting requires treasury to take three steps:</a:t>
            </a:r>
          </a:p>
          <a:p>
            <a:pPr marL="514350" indent="-514350">
              <a:buFont typeface="+mj-lt"/>
              <a:buAutoNum type="romanLcPeriod"/>
            </a:pPr>
            <a:r>
              <a:rPr lang="en-GB" dirty="0"/>
              <a:t>Estimate future cash inflows and outflows</a:t>
            </a:r>
          </a:p>
          <a:p>
            <a:pPr marL="514350" indent="-514350">
              <a:buFont typeface="+mj-lt"/>
              <a:buAutoNum type="romanLcPeriod"/>
            </a:pPr>
            <a:r>
              <a:rPr lang="en-GB" dirty="0"/>
              <a:t>Generate a pro forma cash position</a:t>
            </a:r>
          </a:p>
          <a:p>
            <a:pPr marL="0" indent="0">
              <a:buNone/>
            </a:pPr>
            <a:endParaRPr lang="en-GB" dirty="0"/>
          </a:p>
          <a:p>
            <a:endParaRPr lang="en-GB" dirty="0"/>
          </a:p>
        </p:txBody>
      </p:sp>
    </p:spTree>
    <p:extLst>
      <p:ext uri="{BB962C8B-B14F-4D97-AF65-F5344CB8AC3E}">
        <p14:creationId xmlns:p14="http://schemas.microsoft.com/office/powerpoint/2010/main" val="1195243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A1392-3A2B-40B9-A34F-5F298D013AF8}"/>
              </a:ext>
            </a:extLst>
          </p:cNvPr>
          <p:cNvSpPr>
            <a:spLocks noGrp="1"/>
          </p:cNvSpPr>
          <p:nvPr>
            <p:ph type="title"/>
          </p:nvPr>
        </p:nvSpPr>
        <p:spPr/>
        <p:txBody>
          <a:bodyPr/>
          <a:lstStyle/>
          <a:p>
            <a:r>
              <a:rPr lang="en-GB" dirty="0"/>
              <a:t>Introduction</a:t>
            </a:r>
          </a:p>
        </p:txBody>
      </p:sp>
      <p:sp>
        <p:nvSpPr>
          <p:cNvPr id="3" name="Content Placeholder 2">
            <a:extLst>
              <a:ext uri="{FF2B5EF4-FFF2-40B4-BE49-F238E27FC236}">
                <a16:creationId xmlns:a16="http://schemas.microsoft.com/office/drawing/2014/main" id="{B9ADDEAD-C986-4950-9343-E754E6415B2A}"/>
              </a:ext>
            </a:extLst>
          </p:cNvPr>
          <p:cNvSpPr>
            <a:spLocks noGrp="1"/>
          </p:cNvSpPr>
          <p:nvPr>
            <p:ph idx="1"/>
          </p:nvPr>
        </p:nvSpPr>
        <p:spPr/>
        <p:txBody>
          <a:bodyPr/>
          <a:lstStyle/>
          <a:p>
            <a:pPr marL="0" indent="0">
              <a:buNone/>
            </a:pPr>
            <a:r>
              <a:rPr lang="en-GB" dirty="0"/>
              <a:t>iii. Identify how to cover any cash deficits or use any cash surpluses</a:t>
            </a:r>
          </a:p>
          <a:p>
            <a:r>
              <a:rPr lang="en-GB" dirty="0"/>
              <a:t>Cash forecasts should be reviewed and updated frequently</a:t>
            </a:r>
          </a:p>
          <a:p>
            <a:r>
              <a:rPr lang="en-GB" dirty="0"/>
              <a:t>The forecast should be adjusted with the most current and complete information available</a:t>
            </a:r>
          </a:p>
          <a:p>
            <a:endParaRPr lang="en-GB" dirty="0"/>
          </a:p>
        </p:txBody>
      </p:sp>
    </p:spTree>
    <p:extLst>
      <p:ext uri="{BB962C8B-B14F-4D97-AF65-F5344CB8AC3E}">
        <p14:creationId xmlns:p14="http://schemas.microsoft.com/office/powerpoint/2010/main" val="92121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8B0F3-965E-4CD1-A9C8-408119D24814}"/>
              </a:ext>
            </a:extLst>
          </p:cNvPr>
          <p:cNvSpPr>
            <a:spLocks noGrp="1"/>
          </p:cNvSpPr>
          <p:nvPr>
            <p:ph type="title"/>
          </p:nvPr>
        </p:nvSpPr>
        <p:spPr/>
        <p:txBody>
          <a:bodyPr/>
          <a:lstStyle/>
          <a:p>
            <a:r>
              <a:rPr lang="en-GB" dirty="0"/>
              <a:t>Purpose of Cash Forecasting</a:t>
            </a:r>
          </a:p>
        </p:txBody>
      </p:sp>
      <p:sp>
        <p:nvSpPr>
          <p:cNvPr id="3" name="Content Placeholder 2">
            <a:extLst>
              <a:ext uri="{FF2B5EF4-FFF2-40B4-BE49-F238E27FC236}">
                <a16:creationId xmlns:a16="http://schemas.microsoft.com/office/drawing/2014/main" id="{E6E2FED3-B849-446D-87A5-F1741F1570E3}"/>
              </a:ext>
            </a:extLst>
          </p:cNvPr>
          <p:cNvSpPr>
            <a:spLocks noGrp="1"/>
          </p:cNvSpPr>
          <p:nvPr>
            <p:ph idx="1"/>
          </p:nvPr>
        </p:nvSpPr>
        <p:spPr/>
        <p:txBody>
          <a:bodyPr>
            <a:normAutofit fontScale="92500" lnSpcReduction="10000"/>
          </a:bodyPr>
          <a:lstStyle/>
          <a:p>
            <a:pPr>
              <a:buFont typeface="+mj-lt"/>
              <a:buAutoNum type="arabicPeriod"/>
            </a:pPr>
            <a:r>
              <a:rPr lang="en-GB" dirty="0"/>
              <a:t>Managing liquidity</a:t>
            </a:r>
          </a:p>
          <a:p>
            <a:r>
              <a:rPr lang="en-GB" dirty="0"/>
              <a:t>Forecasting a company’s net cash position to identify potential cash excesses or shortages is essential for scheduling investment decisions and anticipating borrowing requirements to meet daily obligations</a:t>
            </a:r>
          </a:p>
          <a:p>
            <a:pPr marL="0" indent="0">
              <a:buNone/>
            </a:pPr>
            <a:r>
              <a:rPr lang="en-GB" dirty="0"/>
              <a:t>2. controlling financial activities</a:t>
            </a:r>
          </a:p>
          <a:p>
            <a:r>
              <a:rPr lang="en-GB" dirty="0"/>
              <a:t>Helps identify problems such as unanticipated inventory changes, delays in A/R collection, mistiming of payments and fraud and embezzlement.</a:t>
            </a:r>
          </a:p>
        </p:txBody>
      </p:sp>
    </p:spTree>
    <p:extLst>
      <p:ext uri="{BB962C8B-B14F-4D97-AF65-F5344CB8AC3E}">
        <p14:creationId xmlns:p14="http://schemas.microsoft.com/office/powerpoint/2010/main" val="2467833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86B2B-A5BF-44FB-A545-14D51208ECCA}"/>
              </a:ext>
            </a:extLst>
          </p:cNvPr>
          <p:cNvSpPr>
            <a:spLocks noGrp="1"/>
          </p:cNvSpPr>
          <p:nvPr>
            <p:ph type="title"/>
          </p:nvPr>
        </p:nvSpPr>
        <p:spPr/>
        <p:txBody>
          <a:bodyPr/>
          <a:lstStyle/>
          <a:p>
            <a:r>
              <a:rPr lang="en-GB" dirty="0"/>
              <a:t>Purpose of Cash Forecasting</a:t>
            </a:r>
          </a:p>
        </p:txBody>
      </p:sp>
      <p:sp>
        <p:nvSpPr>
          <p:cNvPr id="3" name="Content Placeholder 2">
            <a:extLst>
              <a:ext uri="{FF2B5EF4-FFF2-40B4-BE49-F238E27FC236}">
                <a16:creationId xmlns:a16="http://schemas.microsoft.com/office/drawing/2014/main" id="{3E6AABB2-38AE-4CF4-83DD-29442FFFF935}"/>
              </a:ext>
            </a:extLst>
          </p:cNvPr>
          <p:cNvSpPr>
            <a:spLocks noGrp="1"/>
          </p:cNvSpPr>
          <p:nvPr>
            <p:ph idx="1"/>
          </p:nvPr>
        </p:nvSpPr>
        <p:spPr/>
        <p:txBody>
          <a:bodyPr/>
          <a:lstStyle/>
          <a:p>
            <a:pPr marL="0" indent="0">
              <a:buNone/>
            </a:pPr>
            <a:r>
              <a:rPr lang="en-GB" dirty="0"/>
              <a:t>3. Meeting strategic objectives</a:t>
            </a:r>
          </a:p>
          <a:p>
            <a:r>
              <a:rPr lang="en-GB" dirty="0"/>
              <a:t>Used to project future funding requirements and make operating decisions to support a company’s strategic plan</a:t>
            </a:r>
          </a:p>
          <a:p>
            <a:pPr marL="0" indent="0">
              <a:buNone/>
            </a:pPr>
            <a:r>
              <a:rPr lang="en-GB" dirty="0"/>
              <a:t>4. Budgeting capital</a:t>
            </a:r>
          </a:p>
          <a:p>
            <a:r>
              <a:rPr lang="en-GB" dirty="0"/>
              <a:t>Helps in evaluating proposed capital expenditures</a:t>
            </a:r>
          </a:p>
        </p:txBody>
      </p:sp>
    </p:spTree>
    <p:extLst>
      <p:ext uri="{BB962C8B-B14F-4D97-AF65-F5344CB8AC3E}">
        <p14:creationId xmlns:p14="http://schemas.microsoft.com/office/powerpoint/2010/main" val="787849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501FF-6B46-41D4-A496-B96456E44536}"/>
              </a:ext>
            </a:extLst>
          </p:cNvPr>
          <p:cNvSpPr>
            <a:spLocks noGrp="1"/>
          </p:cNvSpPr>
          <p:nvPr>
            <p:ph type="title"/>
          </p:nvPr>
        </p:nvSpPr>
        <p:spPr/>
        <p:txBody>
          <a:bodyPr/>
          <a:lstStyle/>
          <a:p>
            <a:r>
              <a:rPr lang="en-GB" dirty="0"/>
              <a:t>Purpose of Cash Forecasting</a:t>
            </a:r>
          </a:p>
        </p:txBody>
      </p:sp>
      <p:sp>
        <p:nvSpPr>
          <p:cNvPr id="3" name="Content Placeholder 2">
            <a:extLst>
              <a:ext uri="{FF2B5EF4-FFF2-40B4-BE49-F238E27FC236}">
                <a16:creationId xmlns:a16="http://schemas.microsoft.com/office/drawing/2014/main" id="{E21C2AEE-E5A1-48AD-A03A-8FBCC41DEFD4}"/>
              </a:ext>
            </a:extLst>
          </p:cNvPr>
          <p:cNvSpPr>
            <a:spLocks noGrp="1"/>
          </p:cNvSpPr>
          <p:nvPr>
            <p:ph idx="1"/>
          </p:nvPr>
        </p:nvSpPr>
        <p:spPr/>
        <p:txBody>
          <a:bodyPr/>
          <a:lstStyle/>
          <a:p>
            <a:pPr marL="0" indent="0">
              <a:buNone/>
            </a:pPr>
            <a:r>
              <a:rPr lang="en-GB" dirty="0"/>
              <a:t>5. Managing costs</a:t>
            </a:r>
          </a:p>
          <a:p>
            <a:r>
              <a:rPr lang="en-GB" dirty="0"/>
              <a:t>Used to help minimise excess bank balances, reduce short term borrowing costs, and increase short term investment income</a:t>
            </a:r>
          </a:p>
          <a:p>
            <a:pPr marL="0" indent="0">
              <a:buNone/>
            </a:pPr>
            <a:r>
              <a:rPr lang="en-GB" dirty="0"/>
              <a:t>6. Managing currency exposure</a:t>
            </a:r>
          </a:p>
          <a:p>
            <a:r>
              <a:rPr lang="en-GB" dirty="0"/>
              <a:t>Used to assess the degree of FX exposure</a:t>
            </a:r>
          </a:p>
          <a:p>
            <a:endParaRPr lang="en-GB" dirty="0"/>
          </a:p>
        </p:txBody>
      </p:sp>
    </p:spTree>
    <p:extLst>
      <p:ext uri="{BB962C8B-B14F-4D97-AF65-F5344CB8AC3E}">
        <p14:creationId xmlns:p14="http://schemas.microsoft.com/office/powerpoint/2010/main" val="4075621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95CDF-87F9-4BE1-92CE-5FD4469A51FF}"/>
              </a:ext>
            </a:extLst>
          </p:cNvPr>
          <p:cNvSpPr>
            <a:spLocks noGrp="1"/>
          </p:cNvSpPr>
          <p:nvPr>
            <p:ph type="title"/>
          </p:nvPr>
        </p:nvSpPr>
        <p:spPr/>
        <p:txBody>
          <a:bodyPr/>
          <a:lstStyle/>
          <a:p>
            <a:r>
              <a:rPr lang="en-GB" dirty="0"/>
              <a:t>Purpose of Cash Forecasting</a:t>
            </a:r>
          </a:p>
        </p:txBody>
      </p:sp>
      <p:sp>
        <p:nvSpPr>
          <p:cNvPr id="3" name="Content Placeholder 2">
            <a:extLst>
              <a:ext uri="{FF2B5EF4-FFF2-40B4-BE49-F238E27FC236}">
                <a16:creationId xmlns:a16="http://schemas.microsoft.com/office/drawing/2014/main" id="{E77C86CC-B581-4887-929B-0ADA5F71EB67}"/>
              </a:ext>
            </a:extLst>
          </p:cNvPr>
          <p:cNvSpPr>
            <a:spLocks noGrp="1"/>
          </p:cNvSpPr>
          <p:nvPr>
            <p:ph idx="1"/>
          </p:nvPr>
        </p:nvSpPr>
        <p:spPr/>
        <p:txBody>
          <a:bodyPr/>
          <a:lstStyle/>
          <a:p>
            <a:pPr marL="0" indent="0">
              <a:buNone/>
            </a:pPr>
            <a:r>
              <a:rPr lang="en-GB" dirty="0"/>
              <a:t>7. Complying with regulatory requirements </a:t>
            </a:r>
          </a:p>
          <a:p>
            <a:r>
              <a:rPr lang="en-GB" dirty="0"/>
              <a:t>Part of internal control procedures needed to meet various regulatory requirements, such as minimum capital requirements or requirements for </a:t>
            </a:r>
            <a:r>
              <a:rPr lang="en-GB" dirty="0" err="1"/>
              <a:t>imprest</a:t>
            </a:r>
            <a:r>
              <a:rPr lang="en-GB" dirty="0"/>
              <a:t> tax accounts</a:t>
            </a:r>
          </a:p>
        </p:txBody>
      </p:sp>
    </p:spTree>
    <p:extLst>
      <p:ext uri="{BB962C8B-B14F-4D97-AF65-F5344CB8AC3E}">
        <p14:creationId xmlns:p14="http://schemas.microsoft.com/office/powerpoint/2010/main" val="1474219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D7AD1-F6E3-46A6-B562-16936AE9482F}"/>
              </a:ext>
            </a:extLst>
          </p:cNvPr>
          <p:cNvSpPr>
            <a:spLocks noGrp="1"/>
          </p:cNvSpPr>
          <p:nvPr>
            <p:ph type="title"/>
          </p:nvPr>
        </p:nvSpPr>
        <p:spPr/>
        <p:txBody>
          <a:bodyPr/>
          <a:lstStyle/>
          <a:p>
            <a:r>
              <a:rPr lang="en-GB" dirty="0"/>
              <a:t>ASSUMPTIONS</a:t>
            </a:r>
          </a:p>
        </p:txBody>
      </p:sp>
      <p:sp>
        <p:nvSpPr>
          <p:cNvPr id="3" name="Content Placeholder 2">
            <a:extLst>
              <a:ext uri="{FF2B5EF4-FFF2-40B4-BE49-F238E27FC236}">
                <a16:creationId xmlns:a16="http://schemas.microsoft.com/office/drawing/2014/main" id="{FF0669AB-FF92-4120-8198-11A88840E2E4}"/>
              </a:ext>
            </a:extLst>
          </p:cNvPr>
          <p:cNvSpPr>
            <a:spLocks noGrp="1"/>
          </p:cNvSpPr>
          <p:nvPr>
            <p:ph idx="1"/>
          </p:nvPr>
        </p:nvSpPr>
        <p:spPr/>
        <p:txBody>
          <a:bodyPr/>
          <a:lstStyle/>
          <a:p>
            <a:pPr marL="0" indent="0">
              <a:buNone/>
            </a:pPr>
            <a:r>
              <a:rPr lang="en-GB" dirty="0"/>
              <a:t> Assumptions</a:t>
            </a:r>
          </a:p>
          <a:p>
            <a:r>
              <a:rPr lang="en-GB" dirty="0"/>
              <a:t>Basis of assumptions must be understood in order to determine how accurate and useful data is.</a:t>
            </a:r>
          </a:p>
          <a:p>
            <a:r>
              <a:rPr lang="en-GB" dirty="0"/>
              <a:t>Cash flows should be discussed with key participants to gain insights into any issues that need to be included in the forecast e.g. whether payments are made monthly, quarterly or annually.</a:t>
            </a:r>
          </a:p>
        </p:txBody>
      </p:sp>
    </p:spTree>
    <p:extLst>
      <p:ext uri="{BB962C8B-B14F-4D97-AF65-F5344CB8AC3E}">
        <p14:creationId xmlns:p14="http://schemas.microsoft.com/office/powerpoint/2010/main" val="66102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5C84D-7E09-46A2-8F72-48BB41D69C07}"/>
              </a:ext>
            </a:extLst>
          </p:cNvPr>
          <p:cNvSpPr>
            <a:spLocks noGrp="1"/>
          </p:cNvSpPr>
          <p:nvPr>
            <p:ph type="title"/>
          </p:nvPr>
        </p:nvSpPr>
        <p:spPr/>
        <p:txBody>
          <a:bodyPr/>
          <a:lstStyle/>
          <a:p>
            <a:r>
              <a:rPr lang="en-GB" dirty="0"/>
              <a:t>Forecast Methods</a:t>
            </a:r>
          </a:p>
        </p:txBody>
      </p:sp>
      <p:sp>
        <p:nvSpPr>
          <p:cNvPr id="3" name="Content Placeholder 2">
            <a:extLst>
              <a:ext uri="{FF2B5EF4-FFF2-40B4-BE49-F238E27FC236}">
                <a16:creationId xmlns:a16="http://schemas.microsoft.com/office/drawing/2014/main" id="{48374793-10F1-4DBA-BF81-AE6E670E0984}"/>
              </a:ext>
            </a:extLst>
          </p:cNvPr>
          <p:cNvSpPr>
            <a:spLocks noGrp="1"/>
          </p:cNvSpPr>
          <p:nvPr>
            <p:ph idx="1"/>
          </p:nvPr>
        </p:nvSpPr>
        <p:spPr/>
        <p:txBody>
          <a:bodyPr>
            <a:normAutofit lnSpcReduction="10000"/>
          </a:bodyPr>
          <a:lstStyle/>
          <a:p>
            <a:pPr>
              <a:buAutoNum type="alphaUcPeriod"/>
            </a:pPr>
            <a:r>
              <a:rPr lang="en-GB" dirty="0"/>
              <a:t>Short term Forecasting methods</a:t>
            </a:r>
          </a:p>
          <a:p>
            <a:pPr marL="0" indent="0">
              <a:buNone/>
            </a:pPr>
            <a:r>
              <a:rPr lang="en-GB" dirty="0"/>
              <a:t>1. Receipts and Disbursements Forecasts</a:t>
            </a:r>
          </a:p>
          <a:p>
            <a:r>
              <a:rPr lang="en-GB" dirty="0"/>
              <a:t>Many companies use information relating to expected receipts and disbursements in the near future.</a:t>
            </a:r>
          </a:p>
          <a:p>
            <a:r>
              <a:rPr lang="en-GB" dirty="0"/>
              <a:t>Receipts schedule- consists of a projection of collections from customers (e.g. cash sales or payments on A/R) and other cash inflows (e.g. interest or dividends)</a:t>
            </a:r>
          </a:p>
        </p:txBody>
      </p:sp>
    </p:spTree>
    <p:extLst>
      <p:ext uri="{BB962C8B-B14F-4D97-AF65-F5344CB8AC3E}">
        <p14:creationId xmlns:p14="http://schemas.microsoft.com/office/powerpoint/2010/main" val="2656799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62823-9F5E-45CB-9C55-33F90DC6B2BA}"/>
              </a:ext>
            </a:extLst>
          </p:cNvPr>
          <p:cNvSpPr>
            <a:spLocks noGrp="1"/>
          </p:cNvSpPr>
          <p:nvPr>
            <p:ph type="title"/>
          </p:nvPr>
        </p:nvSpPr>
        <p:spPr/>
        <p:txBody>
          <a:bodyPr/>
          <a:lstStyle/>
          <a:p>
            <a:r>
              <a:rPr lang="en-GB" dirty="0"/>
              <a:t>Forecast Methods</a:t>
            </a:r>
          </a:p>
        </p:txBody>
      </p:sp>
      <p:sp>
        <p:nvSpPr>
          <p:cNvPr id="3" name="Content Placeholder 2">
            <a:extLst>
              <a:ext uri="{FF2B5EF4-FFF2-40B4-BE49-F238E27FC236}">
                <a16:creationId xmlns:a16="http://schemas.microsoft.com/office/drawing/2014/main" id="{9C33A4C5-A893-4238-B0CB-03D8EFE60CA1}"/>
              </a:ext>
            </a:extLst>
          </p:cNvPr>
          <p:cNvSpPr>
            <a:spLocks noGrp="1"/>
          </p:cNvSpPr>
          <p:nvPr>
            <p:ph idx="1"/>
          </p:nvPr>
        </p:nvSpPr>
        <p:spPr/>
        <p:txBody>
          <a:bodyPr/>
          <a:lstStyle/>
          <a:p>
            <a:r>
              <a:rPr lang="en-GB" dirty="0"/>
              <a:t>Disbursement schedule- involves forecasting cash disbursements for purchases and other cash outflows such as payroll taxes, interest, dividends, rent and debt repayments etc.</a:t>
            </a:r>
          </a:p>
          <a:p>
            <a:r>
              <a:rPr lang="en-GB" dirty="0"/>
              <a:t>Completed forecasts- combines the receipts and disbursements schedules and compares the result to a desired, minimum cash balance </a:t>
            </a:r>
          </a:p>
        </p:txBody>
      </p:sp>
    </p:spTree>
    <p:extLst>
      <p:ext uri="{BB962C8B-B14F-4D97-AF65-F5344CB8AC3E}">
        <p14:creationId xmlns:p14="http://schemas.microsoft.com/office/powerpoint/2010/main" val="1689177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4B827-5E18-482F-946C-3227ACA1138F}"/>
              </a:ext>
            </a:extLst>
          </p:cNvPr>
          <p:cNvSpPr>
            <a:spLocks noGrp="1"/>
          </p:cNvSpPr>
          <p:nvPr>
            <p:ph type="title"/>
          </p:nvPr>
        </p:nvSpPr>
        <p:spPr/>
        <p:txBody>
          <a:bodyPr/>
          <a:lstStyle/>
          <a:p>
            <a:r>
              <a:rPr lang="en-GB" dirty="0"/>
              <a:t>Exhibit: Receipts and Disbursements Forecast</a:t>
            </a:r>
          </a:p>
        </p:txBody>
      </p:sp>
      <p:graphicFrame>
        <p:nvGraphicFramePr>
          <p:cNvPr id="5" name="Content Placeholder 4">
            <a:extLst>
              <a:ext uri="{FF2B5EF4-FFF2-40B4-BE49-F238E27FC236}">
                <a16:creationId xmlns:a16="http://schemas.microsoft.com/office/drawing/2014/main" id="{F0E5E7FD-8C6E-4A45-AC33-3A1A044EF726}"/>
              </a:ext>
            </a:extLst>
          </p:cNvPr>
          <p:cNvGraphicFramePr>
            <a:graphicFrameLocks noGrp="1"/>
          </p:cNvGraphicFramePr>
          <p:nvPr>
            <p:ph idx="1"/>
            <p:extLst>
              <p:ext uri="{D42A27DB-BD31-4B8C-83A1-F6EECF244321}">
                <p14:modId xmlns:p14="http://schemas.microsoft.com/office/powerpoint/2010/main" val="1355778887"/>
              </p:ext>
            </p:extLst>
          </p:nvPr>
        </p:nvGraphicFramePr>
        <p:xfrm>
          <a:off x="685800" y="2209800"/>
          <a:ext cx="7770812" cy="4414520"/>
        </p:xfrm>
        <a:graphic>
          <a:graphicData uri="http://schemas.openxmlformats.org/drawingml/2006/table">
            <a:tbl>
              <a:tblPr firstRow="1" bandRow="1">
                <a:tableStyleId>{5C22544A-7EE6-4342-B048-85BDC9FD1C3A}</a:tableStyleId>
              </a:tblPr>
              <a:tblGrid>
                <a:gridCol w="1942703">
                  <a:extLst>
                    <a:ext uri="{9D8B030D-6E8A-4147-A177-3AD203B41FA5}">
                      <a16:colId xmlns:a16="http://schemas.microsoft.com/office/drawing/2014/main" val="2496957850"/>
                    </a:ext>
                  </a:extLst>
                </a:gridCol>
                <a:gridCol w="1942703">
                  <a:extLst>
                    <a:ext uri="{9D8B030D-6E8A-4147-A177-3AD203B41FA5}">
                      <a16:colId xmlns:a16="http://schemas.microsoft.com/office/drawing/2014/main" val="2433665942"/>
                    </a:ext>
                  </a:extLst>
                </a:gridCol>
                <a:gridCol w="1942703">
                  <a:extLst>
                    <a:ext uri="{9D8B030D-6E8A-4147-A177-3AD203B41FA5}">
                      <a16:colId xmlns:a16="http://schemas.microsoft.com/office/drawing/2014/main" val="4143891306"/>
                    </a:ext>
                  </a:extLst>
                </a:gridCol>
                <a:gridCol w="1942703">
                  <a:extLst>
                    <a:ext uri="{9D8B030D-6E8A-4147-A177-3AD203B41FA5}">
                      <a16:colId xmlns:a16="http://schemas.microsoft.com/office/drawing/2014/main" val="2127348374"/>
                    </a:ext>
                  </a:extLst>
                </a:gridCol>
              </a:tblGrid>
              <a:tr h="370840">
                <a:tc>
                  <a:txBody>
                    <a:bodyPr/>
                    <a:lstStyle/>
                    <a:p>
                      <a:r>
                        <a:rPr lang="en-GB" dirty="0"/>
                        <a:t>Amounts (000s)</a:t>
                      </a:r>
                    </a:p>
                  </a:txBody>
                  <a:tcPr/>
                </a:tc>
                <a:tc>
                  <a:txBody>
                    <a:bodyPr/>
                    <a:lstStyle/>
                    <a:p>
                      <a:r>
                        <a:rPr lang="en-GB" dirty="0"/>
                        <a:t>Month 1</a:t>
                      </a:r>
                    </a:p>
                  </a:txBody>
                  <a:tcPr/>
                </a:tc>
                <a:tc>
                  <a:txBody>
                    <a:bodyPr/>
                    <a:lstStyle/>
                    <a:p>
                      <a:r>
                        <a:rPr lang="en-GB" dirty="0"/>
                        <a:t>Month 2</a:t>
                      </a:r>
                    </a:p>
                  </a:txBody>
                  <a:tcPr/>
                </a:tc>
                <a:tc>
                  <a:txBody>
                    <a:bodyPr/>
                    <a:lstStyle/>
                    <a:p>
                      <a:r>
                        <a:rPr lang="en-GB" dirty="0"/>
                        <a:t>Month 3</a:t>
                      </a:r>
                    </a:p>
                  </a:txBody>
                  <a:tcPr/>
                </a:tc>
                <a:extLst>
                  <a:ext uri="{0D108BD9-81ED-4DB2-BD59-A6C34878D82A}">
                    <a16:rowId xmlns:a16="http://schemas.microsoft.com/office/drawing/2014/main" val="2973531703"/>
                  </a:ext>
                </a:extLst>
              </a:tr>
              <a:tr h="370840">
                <a:tc>
                  <a:txBody>
                    <a:bodyPr/>
                    <a:lstStyle/>
                    <a:p>
                      <a:r>
                        <a:rPr lang="en-GB" dirty="0"/>
                        <a:t>Cash receipts</a:t>
                      </a:r>
                    </a:p>
                  </a:txBody>
                  <a:tcPr/>
                </a:tc>
                <a:tc>
                  <a:txBody>
                    <a:bodyPr/>
                    <a:lstStyle/>
                    <a:p>
                      <a:r>
                        <a:rPr lang="en-GB" dirty="0"/>
                        <a:t>1,000</a:t>
                      </a:r>
                    </a:p>
                  </a:txBody>
                  <a:tcPr/>
                </a:tc>
                <a:tc>
                  <a:txBody>
                    <a:bodyPr/>
                    <a:lstStyle/>
                    <a:p>
                      <a:r>
                        <a:rPr lang="en-GB" dirty="0"/>
                        <a:t>1,000</a:t>
                      </a:r>
                    </a:p>
                  </a:txBody>
                  <a:tcPr/>
                </a:tc>
                <a:tc>
                  <a:txBody>
                    <a:bodyPr/>
                    <a:lstStyle/>
                    <a:p>
                      <a:r>
                        <a:rPr lang="en-GB" dirty="0"/>
                        <a:t>1,000</a:t>
                      </a:r>
                    </a:p>
                  </a:txBody>
                  <a:tcPr/>
                </a:tc>
                <a:extLst>
                  <a:ext uri="{0D108BD9-81ED-4DB2-BD59-A6C34878D82A}">
                    <a16:rowId xmlns:a16="http://schemas.microsoft.com/office/drawing/2014/main" val="3459641990"/>
                  </a:ext>
                </a:extLst>
              </a:tr>
              <a:tr h="370840">
                <a:tc>
                  <a:txBody>
                    <a:bodyPr/>
                    <a:lstStyle/>
                    <a:p>
                      <a:r>
                        <a:rPr lang="en-GB" dirty="0"/>
                        <a:t>Cash disbursements </a:t>
                      </a:r>
                    </a:p>
                  </a:txBody>
                  <a:tcPr/>
                </a:tc>
                <a:tc>
                  <a:txBody>
                    <a:bodyPr/>
                    <a:lstStyle/>
                    <a:p>
                      <a:r>
                        <a:rPr lang="en-GB" dirty="0"/>
                        <a:t>(870)</a:t>
                      </a:r>
                    </a:p>
                  </a:txBody>
                  <a:tcPr/>
                </a:tc>
                <a:tc>
                  <a:txBody>
                    <a:bodyPr/>
                    <a:lstStyle/>
                    <a:p>
                      <a:r>
                        <a:rPr lang="en-GB" dirty="0"/>
                        <a:t>(1,350)</a:t>
                      </a:r>
                    </a:p>
                  </a:txBody>
                  <a:tcPr/>
                </a:tc>
                <a:tc>
                  <a:txBody>
                    <a:bodyPr/>
                    <a:lstStyle/>
                    <a:p>
                      <a:r>
                        <a:rPr lang="en-GB" dirty="0"/>
                        <a:t>(1,000)</a:t>
                      </a:r>
                    </a:p>
                  </a:txBody>
                  <a:tcPr/>
                </a:tc>
                <a:extLst>
                  <a:ext uri="{0D108BD9-81ED-4DB2-BD59-A6C34878D82A}">
                    <a16:rowId xmlns:a16="http://schemas.microsoft.com/office/drawing/2014/main" val="2238197553"/>
                  </a:ext>
                </a:extLst>
              </a:tr>
              <a:tr h="370840">
                <a:tc>
                  <a:txBody>
                    <a:bodyPr/>
                    <a:lstStyle/>
                    <a:p>
                      <a:r>
                        <a:rPr lang="en-GB" dirty="0"/>
                        <a:t>Net cash flow</a:t>
                      </a:r>
                    </a:p>
                  </a:txBody>
                  <a:tcPr/>
                </a:tc>
                <a:tc>
                  <a:txBody>
                    <a:bodyPr/>
                    <a:lstStyle/>
                    <a:p>
                      <a:r>
                        <a:rPr lang="en-GB" dirty="0"/>
                        <a:t>130</a:t>
                      </a:r>
                    </a:p>
                  </a:txBody>
                  <a:tcPr/>
                </a:tc>
                <a:tc>
                  <a:txBody>
                    <a:bodyPr/>
                    <a:lstStyle/>
                    <a:p>
                      <a:r>
                        <a:rPr lang="en-GB" dirty="0"/>
                        <a:t>(350)</a:t>
                      </a:r>
                    </a:p>
                  </a:txBody>
                  <a:tcPr/>
                </a:tc>
                <a:tc>
                  <a:txBody>
                    <a:bodyPr/>
                    <a:lstStyle/>
                    <a:p>
                      <a:r>
                        <a:rPr lang="en-GB" dirty="0"/>
                        <a:t>(0)</a:t>
                      </a:r>
                    </a:p>
                  </a:txBody>
                  <a:tcPr/>
                </a:tc>
                <a:extLst>
                  <a:ext uri="{0D108BD9-81ED-4DB2-BD59-A6C34878D82A}">
                    <a16:rowId xmlns:a16="http://schemas.microsoft.com/office/drawing/2014/main" val="1606133723"/>
                  </a:ext>
                </a:extLst>
              </a:tr>
              <a:tr h="370840">
                <a:tc>
                  <a:txBody>
                    <a:bodyPr/>
                    <a:lstStyle/>
                    <a:p>
                      <a:r>
                        <a:rPr lang="en-GB" dirty="0"/>
                        <a:t>Beginning cash balance</a:t>
                      </a:r>
                    </a:p>
                  </a:txBody>
                  <a:tcPr/>
                </a:tc>
                <a:tc>
                  <a:txBody>
                    <a:bodyPr/>
                    <a:lstStyle/>
                    <a:p>
                      <a:r>
                        <a:rPr lang="en-GB" dirty="0"/>
                        <a:t>100</a:t>
                      </a:r>
                    </a:p>
                  </a:txBody>
                  <a:tcPr/>
                </a:tc>
                <a:tc>
                  <a:txBody>
                    <a:bodyPr/>
                    <a:lstStyle/>
                    <a:p>
                      <a:r>
                        <a:rPr lang="en-GB" dirty="0"/>
                        <a:t>230</a:t>
                      </a:r>
                    </a:p>
                  </a:txBody>
                  <a:tcPr/>
                </a:tc>
                <a:tc>
                  <a:txBody>
                    <a:bodyPr/>
                    <a:lstStyle/>
                    <a:p>
                      <a:r>
                        <a:rPr lang="en-GB" dirty="0"/>
                        <a:t>(120)</a:t>
                      </a:r>
                    </a:p>
                  </a:txBody>
                  <a:tcPr/>
                </a:tc>
                <a:extLst>
                  <a:ext uri="{0D108BD9-81ED-4DB2-BD59-A6C34878D82A}">
                    <a16:rowId xmlns:a16="http://schemas.microsoft.com/office/drawing/2014/main" val="258058672"/>
                  </a:ext>
                </a:extLst>
              </a:tr>
              <a:tr h="370840">
                <a:tc>
                  <a:txBody>
                    <a:bodyPr/>
                    <a:lstStyle/>
                    <a:p>
                      <a:r>
                        <a:rPr lang="en-GB" dirty="0"/>
                        <a:t>Ending cash balance</a:t>
                      </a:r>
                    </a:p>
                  </a:txBody>
                  <a:tcPr/>
                </a:tc>
                <a:tc>
                  <a:txBody>
                    <a:bodyPr/>
                    <a:lstStyle/>
                    <a:p>
                      <a:r>
                        <a:rPr lang="en-GB" dirty="0"/>
                        <a:t>230</a:t>
                      </a:r>
                    </a:p>
                  </a:txBody>
                  <a:tcPr/>
                </a:tc>
                <a:tc>
                  <a:txBody>
                    <a:bodyPr/>
                    <a:lstStyle/>
                    <a:p>
                      <a:r>
                        <a:rPr lang="en-GB" dirty="0"/>
                        <a:t>(120)</a:t>
                      </a:r>
                    </a:p>
                  </a:txBody>
                  <a:tcPr/>
                </a:tc>
                <a:tc>
                  <a:txBody>
                    <a:bodyPr/>
                    <a:lstStyle/>
                    <a:p>
                      <a:r>
                        <a:rPr lang="en-GB" dirty="0"/>
                        <a:t>(120)</a:t>
                      </a:r>
                    </a:p>
                  </a:txBody>
                  <a:tcPr/>
                </a:tc>
                <a:extLst>
                  <a:ext uri="{0D108BD9-81ED-4DB2-BD59-A6C34878D82A}">
                    <a16:rowId xmlns:a16="http://schemas.microsoft.com/office/drawing/2014/main" val="4245164195"/>
                  </a:ext>
                </a:extLst>
              </a:tr>
              <a:tr h="370840">
                <a:tc>
                  <a:txBody>
                    <a:bodyPr/>
                    <a:lstStyle/>
                    <a:p>
                      <a:r>
                        <a:rPr lang="en-GB" dirty="0"/>
                        <a:t>Minimum cash requirement</a:t>
                      </a:r>
                    </a:p>
                  </a:txBody>
                  <a:tcPr/>
                </a:tc>
                <a:tc>
                  <a:txBody>
                    <a:bodyPr/>
                    <a:lstStyle/>
                    <a:p>
                      <a:r>
                        <a:rPr lang="en-GB" dirty="0"/>
                        <a:t>50</a:t>
                      </a:r>
                    </a:p>
                  </a:txBody>
                  <a:tcPr/>
                </a:tc>
                <a:tc>
                  <a:txBody>
                    <a:bodyPr/>
                    <a:lstStyle/>
                    <a:p>
                      <a:r>
                        <a:rPr lang="en-GB" dirty="0"/>
                        <a:t>50</a:t>
                      </a:r>
                    </a:p>
                  </a:txBody>
                  <a:tcPr/>
                </a:tc>
                <a:tc>
                  <a:txBody>
                    <a:bodyPr/>
                    <a:lstStyle/>
                    <a:p>
                      <a:r>
                        <a:rPr lang="en-GB" dirty="0"/>
                        <a:t>50</a:t>
                      </a:r>
                    </a:p>
                  </a:txBody>
                  <a:tcPr/>
                </a:tc>
                <a:extLst>
                  <a:ext uri="{0D108BD9-81ED-4DB2-BD59-A6C34878D82A}">
                    <a16:rowId xmlns:a16="http://schemas.microsoft.com/office/drawing/2014/main" val="1140865136"/>
                  </a:ext>
                </a:extLst>
              </a:tr>
              <a:tr h="370840">
                <a:tc>
                  <a:txBody>
                    <a:bodyPr/>
                    <a:lstStyle/>
                    <a:p>
                      <a:r>
                        <a:rPr lang="en-GB" dirty="0"/>
                        <a:t>Financing need</a:t>
                      </a:r>
                    </a:p>
                  </a:txBody>
                  <a:tcPr/>
                </a:tc>
                <a:tc>
                  <a:txBody>
                    <a:bodyPr/>
                    <a:lstStyle/>
                    <a:p>
                      <a:endParaRPr lang="en-GB" dirty="0"/>
                    </a:p>
                  </a:txBody>
                  <a:tcPr/>
                </a:tc>
                <a:tc>
                  <a:txBody>
                    <a:bodyPr/>
                    <a:lstStyle/>
                    <a:p>
                      <a:r>
                        <a:rPr lang="en-GB" dirty="0"/>
                        <a:t>170</a:t>
                      </a:r>
                    </a:p>
                  </a:txBody>
                  <a:tcPr/>
                </a:tc>
                <a:tc>
                  <a:txBody>
                    <a:bodyPr/>
                    <a:lstStyle/>
                    <a:p>
                      <a:r>
                        <a:rPr lang="en-GB" dirty="0"/>
                        <a:t>170</a:t>
                      </a:r>
                    </a:p>
                  </a:txBody>
                  <a:tcPr/>
                </a:tc>
                <a:extLst>
                  <a:ext uri="{0D108BD9-81ED-4DB2-BD59-A6C34878D82A}">
                    <a16:rowId xmlns:a16="http://schemas.microsoft.com/office/drawing/2014/main" val="2205012479"/>
                  </a:ext>
                </a:extLst>
              </a:tr>
              <a:tr h="370840">
                <a:tc>
                  <a:txBody>
                    <a:bodyPr/>
                    <a:lstStyle/>
                    <a:p>
                      <a:r>
                        <a:rPr lang="en-GB" dirty="0"/>
                        <a:t>Investable funds</a:t>
                      </a:r>
                    </a:p>
                  </a:txBody>
                  <a:tcPr/>
                </a:tc>
                <a:tc>
                  <a:txBody>
                    <a:bodyPr/>
                    <a:lstStyle/>
                    <a:p>
                      <a:r>
                        <a:rPr lang="en-GB" dirty="0"/>
                        <a:t>180</a:t>
                      </a:r>
                    </a:p>
                  </a:txBody>
                  <a:tcPr/>
                </a:tc>
                <a:tc>
                  <a:txBody>
                    <a:bodyPr/>
                    <a:lstStyle/>
                    <a:p>
                      <a:endParaRPr lang="en-GB"/>
                    </a:p>
                  </a:txBody>
                  <a:tcPr/>
                </a:tc>
                <a:tc>
                  <a:txBody>
                    <a:bodyPr/>
                    <a:lstStyle/>
                    <a:p>
                      <a:endParaRPr lang="en-GB" dirty="0"/>
                    </a:p>
                  </a:txBody>
                  <a:tcPr/>
                </a:tc>
                <a:extLst>
                  <a:ext uri="{0D108BD9-81ED-4DB2-BD59-A6C34878D82A}">
                    <a16:rowId xmlns:a16="http://schemas.microsoft.com/office/drawing/2014/main" val="1695520872"/>
                  </a:ext>
                </a:extLst>
              </a:tr>
            </a:tbl>
          </a:graphicData>
        </a:graphic>
      </p:graphicFrame>
    </p:spTree>
    <p:extLst>
      <p:ext uri="{BB962C8B-B14F-4D97-AF65-F5344CB8AC3E}">
        <p14:creationId xmlns:p14="http://schemas.microsoft.com/office/powerpoint/2010/main" val="16778745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8F9AA-FBA2-4289-B71A-5BF334C00EF9}"/>
              </a:ext>
            </a:extLst>
          </p:cNvPr>
          <p:cNvSpPr>
            <a:spLocks noGrp="1"/>
          </p:cNvSpPr>
          <p:nvPr>
            <p:ph type="title"/>
          </p:nvPr>
        </p:nvSpPr>
        <p:spPr/>
        <p:txBody>
          <a:bodyPr/>
          <a:lstStyle/>
          <a:p>
            <a:r>
              <a:rPr lang="en-GB" dirty="0"/>
              <a:t>Forecast Methods</a:t>
            </a:r>
          </a:p>
        </p:txBody>
      </p:sp>
      <p:sp>
        <p:nvSpPr>
          <p:cNvPr id="3" name="Content Placeholder 2">
            <a:extLst>
              <a:ext uri="{FF2B5EF4-FFF2-40B4-BE49-F238E27FC236}">
                <a16:creationId xmlns:a16="http://schemas.microsoft.com/office/drawing/2014/main" id="{8A174B93-21EE-4FE1-A0FB-D1543021C7A7}"/>
              </a:ext>
            </a:extLst>
          </p:cNvPr>
          <p:cNvSpPr>
            <a:spLocks noGrp="1"/>
          </p:cNvSpPr>
          <p:nvPr>
            <p:ph idx="1"/>
          </p:nvPr>
        </p:nvSpPr>
        <p:spPr/>
        <p:txBody>
          <a:bodyPr/>
          <a:lstStyle/>
          <a:p>
            <a:pPr marL="0" indent="0">
              <a:buNone/>
            </a:pPr>
            <a:r>
              <a:rPr lang="en-GB" dirty="0"/>
              <a:t>2. Distribution Forecasts</a:t>
            </a:r>
          </a:p>
          <a:p>
            <a:r>
              <a:rPr lang="en-GB" dirty="0"/>
              <a:t>Estimates the daily impact that a single event has on cash flows over specified period, based on historical patterns</a:t>
            </a:r>
          </a:p>
          <a:p>
            <a:r>
              <a:rPr lang="en-GB" dirty="0"/>
              <a:t>Distribution percentages can be calculated by simple average or regression analysis</a:t>
            </a:r>
          </a:p>
        </p:txBody>
      </p:sp>
    </p:spTree>
    <p:extLst>
      <p:ext uri="{BB962C8B-B14F-4D97-AF65-F5344CB8AC3E}">
        <p14:creationId xmlns:p14="http://schemas.microsoft.com/office/powerpoint/2010/main" val="4001932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2BCB8-CB8F-48F2-82B9-D1708CF2623D}"/>
              </a:ext>
            </a:extLst>
          </p:cNvPr>
          <p:cNvSpPr>
            <a:spLocks noGrp="1"/>
          </p:cNvSpPr>
          <p:nvPr>
            <p:ph type="title"/>
          </p:nvPr>
        </p:nvSpPr>
        <p:spPr/>
        <p:txBody>
          <a:bodyPr/>
          <a:lstStyle/>
          <a:p>
            <a:r>
              <a:rPr lang="en-GB" dirty="0"/>
              <a:t>Forecast Methods</a:t>
            </a:r>
          </a:p>
        </p:txBody>
      </p:sp>
      <p:sp>
        <p:nvSpPr>
          <p:cNvPr id="3" name="Content Placeholder 2">
            <a:extLst>
              <a:ext uri="{FF2B5EF4-FFF2-40B4-BE49-F238E27FC236}">
                <a16:creationId xmlns:a16="http://schemas.microsoft.com/office/drawing/2014/main" id="{8878EAE7-1948-49C3-9AF5-47BD06BA8A5B}"/>
              </a:ext>
            </a:extLst>
          </p:cNvPr>
          <p:cNvSpPr>
            <a:spLocks noGrp="1"/>
          </p:cNvSpPr>
          <p:nvPr>
            <p:ph idx="1"/>
          </p:nvPr>
        </p:nvSpPr>
        <p:spPr/>
        <p:txBody>
          <a:bodyPr/>
          <a:lstStyle/>
          <a:p>
            <a:pPr marL="0" indent="0">
              <a:buNone/>
            </a:pPr>
            <a:r>
              <a:rPr lang="en-GB" dirty="0"/>
              <a:t>B. Medium and Long Term Forecasting Methods</a:t>
            </a:r>
          </a:p>
          <a:p>
            <a:r>
              <a:rPr lang="en-GB" dirty="0"/>
              <a:t>Involve generating pro forma financial statements and are typically used for strategic planning or FP&amp;A</a:t>
            </a:r>
          </a:p>
          <a:p>
            <a:r>
              <a:rPr lang="en-GB" dirty="0"/>
              <a:t>Projected income statements and balance sheets can be used to forecast cash flows over a longer time horizon</a:t>
            </a:r>
          </a:p>
        </p:txBody>
      </p:sp>
    </p:spTree>
    <p:extLst>
      <p:ext uri="{BB962C8B-B14F-4D97-AF65-F5344CB8AC3E}">
        <p14:creationId xmlns:p14="http://schemas.microsoft.com/office/powerpoint/2010/main" val="3455166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0C35A-4629-4349-9466-FD09F356725A}"/>
              </a:ext>
            </a:extLst>
          </p:cNvPr>
          <p:cNvSpPr>
            <a:spLocks noGrp="1"/>
          </p:cNvSpPr>
          <p:nvPr>
            <p:ph type="title"/>
          </p:nvPr>
        </p:nvSpPr>
        <p:spPr/>
        <p:txBody>
          <a:bodyPr/>
          <a:lstStyle/>
          <a:p>
            <a:r>
              <a:rPr lang="en-GB" dirty="0"/>
              <a:t>Forecast Methods</a:t>
            </a:r>
          </a:p>
        </p:txBody>
      </p:sp>
      <p:sp>
        <p:nvSpPr>
          <p:cNvPr id="3" name="Content Placeholder 2">
            <a:extLst>
              <a:ext uri="{FF2B5EF4-FFF2-40B4-BE49-F238E27FC236}">
                <a16:creationId xmlns:a16="http://schemas.microsoft.com/office/drawing/2014/main" id="{EEB9D5C1-129B-4AFC-AE30-4651E61A1210}"/>
              </a:ext>
            </a:extLst>
          </p:cNvPr>
          <p:cNvSpPr>
            <a:spLocks noGrp="1"/>
          </p:cNvSpPr>
          <p:nvPr>
            <p:ph idx="1"/>
          </p:nvPr>
        </p:nvSpPr>
        <p:spPr/>
        <p:txBody>
          <a:bodyPr>
            <a:normAutofit fontScale="92500" lnSpcReduction="20000"/>
          </a:bodyPr>
          <a:lstStyle/>
          <a:p>
            <a:pPr marL="0" indent="0">
              <a:buNone/>
            </a:pPr>
            <a:r>
              <a:rPr lang="en-GB" dirty="0"/>
              <a:t>C. Statistical Methods in Forecasting</a:t>
            </a:r>
          </a:p>
          <a:p>
            <a:pPr>
              <a:buAutoNum type="arabicPeriod"/>
            </a:pPr>
            <a:r>
              <a:rPr lang="en-GB" dirty="0"/>
              <a:t>Time series forecasting</a:t>
            </a:r>
          </a:p>
          <a:p>
            <a:r>
              <a:rPr lang="en-GB" dirty="0"/>
              <a:t>A serial chain of values for some variable such as sales</a:t>
            </a:r>
          </a:p>
          <a:p>
            <a:pPr marL="514350" indent="-514350">
              <a:buAutoNum type="romanLcPeriod"/>
            </a:pPr>
            <a:r>
              <a:rPr lang="en-GB" dirty="0"/>
              <a:t>Simple moving average- bases forecast on a rolling average of past values for a series </a:t>
            </a:r>
          </a:p>
          <a:p>
            <a:pPr marL="0" indent="0">
              <a:buNone/>
            </a:pPr>
            <a:r>
              <a:rPr lang="en-GB" dirty="0"/>
              <a:t>ii. Exponential smoothing- produces forecasted value based on the most recent actual value, the most recent forecasted value, and a number between zero and one that is used to weight these two values </a:t>
            </a:r>
          </a:p>
        </p:txBody>
      </p:sp>
    </p:spTree>
    <p:extLst>
      <p:ext uri="{BB962C8B-B14F-4D97-AF65-F5344CB8AC3E}">
        <p14:creationId xmlns:p14="http://schemas.microsoft.com/office/powerpoint/2010/main" val="2808777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67721-004C-470F-910C-C837EC4C090E}"/>
              </a:ext>
            </a:extLst>
          </p:cNvPr>
          <p:cNvSpPr>
            <a:spLocks noGrp="1"/>
          </p:cNvSpPr>
          <p:nvPr>
            <p:ph type="title"/>
          </p:nvPr>
        </p:nvSpPr>
        <p:spPr/>
        <p:txBody>
          <a:bodyPr/>
          <a:lstStyle/>
          <a:p>
            <a:r>
              <a:rPr lang="en-GB" dirty="0"/>
              <a:t>Exhibit: Simple moving average forecast</a:t>
            </a:r>
          </a:p>
        </p:txBody>
      </p:sp>
      <p:graphicFrame>
        <p:nvGraphicFramePr>
          <p:cNvPr id="4" name="Content Placeholder 3">
            <a:extLst>
              <a:ext uri="{FF2B5EF4-FFF2-40B4-BE49-F238E27FC236}">
                <a16:creationId xmlns:a16="http://schemas.microsoft.com/office/drawing/2014/main" id="{8711E0B6-3436-425E-A7F9-640B2222CB4C}"/>
              </a:ext>
            </a:extLst>
          </p:cNvPr>
          <p:cNvGraphicFramePr>
            <a:graphicFrameLocks noGrp="1"/>
          </p:cNvGraphicFramePr>
          <p:nvPr>
            <p:ph idx="1"/>
            <p:extLst>
              <p:ext uri="{D42A27DB-BD31-4B8C-83A1-F6EECF244321}">
                <p14:modId xmlns:p14="http://schemas.microsoft.com/office/powerpoint/2010/main" val="2388719052"/>
              </p:ext>
            </p:extLst>
          </p:nvPr>
        </p:nvGraphicFramePr>
        <p:xfrm>
          <a:off x="685800" y="2209800"/>
          <a:ext cx="7770812" cy="3200400"/>
        </p:xfrm>
        <a:graphic>
          <a:graphicData uri="http://schemas.openxmlformats.org/drawingml/2006/table">
            <a:tbl>
              <a:tblPr firstRow="1" bandRow="1">
                <a:tableStyleId>{5C22544A-7EE6-4342-B048-85BDC9FD1C3A}</a:tableStyleId>
              </a:tblPr>
              <a:tblGrid>
                <a:gridCol w="1942703">
                  <a:extLst>
                    <a:ext uri="{9D8B030D-6E8A-4147-A177-3AD203B41FA5}">
                      <a16:colId xmlns:a16="http://schemas.microsoft.com/office/drawing/2014/main" val="3143926225"/>
                    </a:ext>
                  </a:extLst>
                </a:gridCol>
                <a:gridCol w="1942703">
                  <a:extLst>
                    <a:ext uri="{9D8B030D-6E8A-4147-A177-3AD203B41FA5}">
                      <a16:colId xmlns:a16="http://schemas.microsoft.com/office/drawing/2014/main" val="631042265"/>
                    </a:ext>
                  </a:extLst>
                </a:gridCol>
                <a:gridCol w="1942703">
                  <a:extLst>
                    <a:ext uri="{9D8B030D-6E8A-4147-A177-3AD203B41FA5}">
                      <a16:colId xmlns:a16="http://schemas.microsoft.com/office/drawing/2014/main" val="1141044059"/>
                    </a:ext>
                  </a:extLst>
                </a:gridCol>
                <a:gridCol w="1942703">
                  <a:extLst>
                    <a:ext uri="{9D8B030D-6E8A-4147-A177-3AD203B41FA5}">
                      <a16:colId xmlns:a16="http://schemas.microsoft.com/office/drawing/2014/main" val="3337214989"/>
                    </a:ext>
                  </a:extLst>
                </a:gridCol>
              </a:tblGrid>
              <a:tr h="370840">
                <a:tc>
                  <a:txBody>
                    <a:bodyPr/>
                    <a:lstStyle/>
                    <a:p>
                      <a:r>
                        <a:rPr lang="en-GB" dirty="0"/>
                        <a:t>Day</a:t>
                      </a:r>
                    </a:p>
                  </a:txBody>
                  <a:tcPr/>
                </a:tc>
                <a:tc>
                  <a:txBody>
                    <a:bodyPr/>
                    <a:lstStyle/>
                    <a:p>
                      <a:r>
                        <a:rPr lang="en-GB" dirty="0"/>
                        <a:t>Actual Cash flow (</a:t>
                      </a:r>
                      <a:r>
                        <a:rPr lang="en-GB" dirty="0" err="1"/>
                        <a:t>Xt</a:t>
                      </a:r>
                      <a:r>
                        <a:rPr lang="en-GB" dirty="0"/>
                        <a:t>)</a:t>
                      </a:r>
                    </a:p>
                  </a:txBody>
                  <a:tcPr/>
                </a:tc>
                <a:tc>
                  <a:txBody>
                    <a:bodyPr/>
                    <a:lstStyle/>
                    <a:p>
                      <a:r>
                        <a:rPr lang="en-GB" dirty="0"/>
                        <a:t>Forecast (N=5)</a:t>
                      </a:r>
                    </a:p>
                  </a:txBody>
                  <a:tcPr/>
                </a:tc>
                <a:tc>
                  <a:txBody>
                    <a:bodyPr/>
                    <a:lstStyle/>
                    <a:p>
                      <a:r>
                        <a:rPr lang="en-GB" dirty="0"/>
                        <a:t>Error</a:t>
                      </a:r>
                    </a:p>
                  </a:txBody>
                  <a:tcPr/>
                </a:tc>
                <a:extLst>
                  <a:ext uri="{0D108BD9-81ED-4DB2-BD59-A6C34878D82A}">
                    <a16:rowId xmlns:a16="http://schemas.microsoft.com/office/drawing/2014/main" val="2553980768"/>
                  </a:ext>
                </a:extLst>
              </a:tr>
              <a:tr h="370840">
                <a:tc>
                  <a:txBody>
                    <a:bodyPr/>
                    <a:lstStyle/>
                    <a:p>
                      <a:r>
                        <a:rPr lang="en-GB" dirty="0"/>
                        <a:t>1</a:t>
                      </a:r>
                    </a:p>
                    <a:p>
                      <a:r>
                        <a:rPr lang="en-GB" dirty="0"/>
                        <a:t>2</a:t>
                      </a:r>
                    </a:p>
                    <a:p>
                      <a:r>
                        <a:rPr lang="en-GB" dirty="0"/>
                        <a:t>3</a:t>
                      </a:r>
                    </a:p>
                    <a:p>
                      <a:r>
                        <a:rPr lang="en-GB" dirty="0"/>
                        <a:t>4</a:t>
                      </a:r>
                    </a:p>
                    <a:p>
                      <a:r>
                        <a:rPr lang="en-GB" dirty="0"/>
                        <a:t>5</a:t>
                      </a:r>
                    </a:p>
                    <a:p>
                      <a:r>
                        <a:rPr lang="en-GB" dirty="0"/>
                        <a:t>6</a:t>
                      </a:r>
                    </a:p>
                    <a:p>
                      <a:r>
                        <a:rPr lang="en-GB" dirty="0"/>
                        <a:t>7</a:t>
                      </a:r>
                    </a:p>
                    <a:p>
                      <a:r>
                        <a:rPr lang="en-GB" dirty="0"/>
                        <a:t>8</a:t>
                      </a:r>
                    </a:p>
                  </a:txBody>
                  <a:tcPr/>
                </a:tc>
                <a:tc>
                  <a:txBody>
                    <a:bodyPr/>
                    <a:lstStyle/>
                    <a:p>
                      <a:r>
                        <a:rPr lang="en-GB" dirty="0"/>
                        <a:t>K110,000</a:t>
                      </a:r>
                    </a:p>
                    <a:p>
                      <a:r>
                        <a:rPr lang="en-GB" dirty="0"/>
                        <a:t>120,000</a:t>
                      </a:r>
                    </a:p>
                    <a:p>
                      <a:r>
                        <a:rPr lang="en-GB" dirty="0"/>
                        <a:t>115,000</a:t>
                      </a:r>
                    </a:p>
                    <a:p>
                      <a:r>
                        <a:rPr lang="en-GB" dirty="0"/>
                        <a:t>122,000</a:t>
                      </a:r>
                    </a:p>
                    <a:p>
                      <a:r>
                        <a:rPr lang="en-GB" dirty="0"/>
                        <a:t>126,000</a:t>
                      </a:r>
                    </a:p>
                    <a:p>
                      <a:r>
                        <a:rPr lang="en-GB" dirty="0"/>
                        <a:t>124,000</a:t>
                      </a:r>
                    </a:p>
                    <a:p>
                      <a:r>
                        <a:rPr lang="en-GB" dirty="0"/>
                        <a:t>129,000</a:t>
                      </a:r>
                    </a:p>
                    <a:p>
                      <a:r>
                        <a:rPr lang="en-GB" dirty="0"/>
                        <a:t>133,000</a:t>
                      </a:r>
                    </a:p>
                    <a:p>
                      <a:r>
                        <a:rPr lang="en-GB" dirty="0"/>
                        <a:t>132,000</a:t>
                      </a:r>
                    </a:p>
                  </a:txBody>
                  <a:tcPr/>
                </a:tc>
                <a:tc>
                  <a:txBody>
                    <a:bodyPr/>
                    <a:lstStyle/>
                    <a:p>
                      <a:endParaRPr lang="en-GB" dirty="0"/>
                    </a:p>
                    <a:p>
                      <a:endParaRPr lang="en-GB" dirty="0"/>
                    </a:p>
                    <a:p>
                      <a:endParaRPr lang="en-GB" dirty="0"/>
                    </a:p>
                    <a:p>
                      <a:endParaRPr lang="en-GB" dirty="0"/>
                    </a:p>
                    <a:p>
                      <a:endParaRPr lang="en-GB" dirty="0"/>
                    </a:p>
                    <a:p>
                      <a:r>
                        <a:rPr lang="en-GB" dirty="0"/>
                        <a:t>118,600</a:t>
                      </a:r>
                    </a:p>
                    <a:p>
                      <a:r>
                        <a:rPr lang="en-GB" dirty="0"/>
                        <a:t>121,400</a:t>
                      </a:r>
                    </a:p>
                    <a:p>
                      <a:r>
                        <a:rPr lang="en-GB" dirty="0"/>
                        <a:t>123,200</a:t>
                      </a:r>
                    </a:p>
                    <a:p>
                      <a:r>
                        <a:rPr lang="en-GB" dirty="0"/>
                        <a:t>126,800</a:t>
                      </a:r>
                    </a:p>
                  </a:txBody>
                  <a:tcPr/>
                </a:tc>
                <a:tc>
                  <a:txBody>
                    <a:bodyPr/>
                    <a:lstStyle/>
                    <a:p>
                      <a:endParaRPr lang="en-GB" dirty="0"/>
                    </a:p>
                    <a:p>
                      <a:endParaRPr lang="en-GB" dirty="0"/>
                    </a:p>
                    <a:p>
                      <a:endParaRPr lang="en-GB" dirty="0"/>
                    </a:p>
                    <a:p>
                      <a:endParaRPr lang="en-GB" dirty="0"/>
                    </a:p>
                    <a:p>
                      <a:endParaRPr lang="en-GB" dirty="0"/>
                    </a:p>
                    <a:p>
                      <a:r>
                        <a:rPr lang="en-GB" dirty="0"/>
                        <a:t>5,400</a:t>
                      </a:r>
                    </a:p>
                    <a:p>
                      <a:r>
                        <a:rPr lang="en-GB" dirty="0"/>
                        <a:t>7,600</a:t>
                      </a:r>
                    </a:p>
                    <a:p>
                      <a:r>
                        <a:rPr lang="en-GB" dirty="0"/>
                        <a:t>9,800</a:t>
                      </a:r>
                    </a:p>
                    <a:p>
                      <a:r>
                        <a:rPr lang="en-GB" dirty="0"/>
                        <a:t>5.200</a:t>
                      </a:r>
                    </a:p>
                  </a:txBody>
                  <a:tcPr/>
                </a:tc>
                <a:extLst>
                  <a:ext uri="{0D108BD9-81ED-4DB2-BD59-A6C34878D82A}">
                    <a16:rowId xmlns:a16="http://schemas.microsoft.com/office/drawing/2014/main" val="1854358208"/>
                  </a:ext>
                </a:extLst>
              </a:tr>
            </a:tbl>
          </a:graphicData>
        </a:graphic>
      </p:graphicFrame>
    </p:spTree>
    <p:extLst>
      <p:ext uri="{BB962C8B-B14F-4D97-AF65-F5344CB8AC3E}">
        <p14:creationId xmlns:p14="http://schemas.microsoft.com/office/powerpoint/2010/main" val="16697568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B0645-91BD-407E-B03A-4F173C885FA8}"/>
              </a:ext>
            </a:extLst>
          </p:cNvPr>
          <p:cNvSpPr>
            <a:spLocks noGrp="1"/>
          </p:cNvSpPr>
          <p:nvPr>
            <p:ph type="title"/>
          </p:nvPr>
        </p:nvSpPr>
        <p:spPr/>
        <p:txBody>
          <a:bodyPr/>
          <a:lstStyle/>
          <a:p>
            <a:r>
              <a:rPr lang="en-GB" dirty="0"/>
              <a:t>Simple moving average forecast</a:t>
            </a:r>
          </a:p>
        </p:txBody>
      </p:sp>
      <p:sp>
        <p:nvSpPr>
          <p:cNvPr id="3" name="Content Placeholder 2">
            <a:extLst>
              <a:ext uri="{FF2B5EF4-FFF2-40B4-BE49-F238E27FC236}">
                <a16:creationId xmlns:a16="http://schemas.microsoft.com/office/drawing/2014/main" id="{11522AB7-CA53-4627-88E1-B35F12CA48FB}"/>
              </a:ext>
            </a:extLst>
          </p:cNvPr>
          <p:cNvSpPr>
            <a:spLocks noGrp="1"/>
          </p:cNvSpPr>
          <p:nvPr>
            <p:ph idx="1"/>
          </p:nvPr>
        </p:nvSpPr>
        <p:spPr/>
        <p:txBody>
          <a:bodyPr/>
          <a:lstStyle/>
          <a:p>
            <a:pPr marL="0" indent="0">
              <a:buNone/>
            </a:pPr>
            <a:r>
              <a:rPr lang="en-GB" dirty="0"/>
              <a:t>Moving average Forecast:</a:t>
            </a:r>
          </a:p>
          <a:p>
            <a:pPr marL="0" indent="0">
              <a:buNone/>
            </a:pPr>
            <a:r>
              <a:rPr lang="en-GB" dirty="0"/>
              <a:t>Moving average forecast for day 6 is:</a:t>
            </a:r>
          </a:p>
          <a:p>
            <a:pPr marL="0" indent="0">
              <a:buNone/>
            </a:pPr>
            <a:r>
              <a:rPr lang="en-GB" dirty="0"/>
              <a:t>(K110,000+120,000+115,000+122,000+126,000)/5 = 118,600</a:t>
            </a:r>
          </a:p>
          <a:p>
            <a:pPr marL="0" indent="0">
              <a:buNone/>
            </a:pPr>
            <a:r>
              <a:rPr lang="en-GB" dirty="0"/>
              <a:t>Forecast error = 124,000-118,600= K5,400</a:t>
            </a:r>
          </a:p>
        </p:txBody>
      </p:sp>
    </p:spTree>
    <p:extLst>
      <p:ext uri="{BB962C8B-B14F-4D97-AF65-F5344CB8AC3E}">
        <p14:creationId xmlns:p14="http://schemas.microsoft.com/office/powerpoint/2010/main" val="1630793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9FEE5-37DB-494F-85F5-08FFB36F9E3E}"/>
              </a:ext>
            </a:extLst>
          </p:cNvPr>
          <p:cNvSpPr>
            <a:spLocks noGrp="1"/>
          </p:cNvSpPr>
          <p:nvPr>
            <p:ph type="title"/>
          </p:nvPr>
        </p:nvSpPr>
        <p:spPr/>
        <p:txBody>
          <a:bodyPr/>
          <a:lstStyle/>
          <a:p>
            <a:r>
              <a:rPr lang="en-GB" dirty="0"/>
              <a:t>Exponential smoothing forecast</a:t>
            </a:r>
          </a:p>
        </p:txBody>
      </p:sp>
      <p:sp>
        <p:nvSpPr>
          <p:cNvPr id="3" name="Content Placeholder 2">
            <a:extLst>
              <a:ext uri="{FF2B5EF4-FFF2-40B4-BE49-F238E27FC236}">
                <a16:creationId xmlns:a16="http://schemas.microsoft.com/office/drawing/2014/main" id="{48526E71-D0DB-4698-9018-0E625340C59C}"/>
              </a:ext>
            </a:extLst>
          </p:cNvPr>
          <p:cNvSpPr>
            <a:spLocks noGrp="1"/>
          </p:cNvSpPr>
          <p:nvPr>
            <p:ph idx="1"/>
          </p:nvPr>
        </p:nvSpPr>
        <p:spPr/>
        <p:txBody>
          <a:bodyPr>
            <a:normAutofit/>
          </a:bodyPr>
          <a:lstStyle/>
          <a:p>
            <a:pPr marL="0" indent="0">
              <a:buNone/>
            </a:pPr>
            <a:r>
              <a:rPr lang="en-GB" dirty="0"/>
              <a:t>Exponential smoothing forecast:</a:t>
            </a:r>
          </a:p>
          <a:p>
            <a:pPr marL="0" indent="0">
              <a:buNone/>
            </a:pPr>
            <a:r>
              <a:rPr lang="en-GB" dirty="0"/>
              <a:t>Next period forecast = (alpha)(current period actual) + (1-alpha)(current period forecast)</a:t>
            </a:r>
          </a:p>
          <a:p>
            <a:pPr marL="0" indent="0">
              <a:buNone/>
            </a:pPr>
            <a:r>
              <a:rPr lang="en-GB" dirty="0"/>
              <a:t>Or</a:t>
            </a:r>
          </a:p>
          <a:p>
            <a:pPr marL="0" indent="0">
              <a:buNone/>
            </a:pPr>
            <a:r>
              <a:rPr lang="en-GB" dirty="0"/>
              <a:t>F</a:t>
            </a:r>
            <a:r>
              <a:rPr lang="en-GB" baseline="-25000" dirty="0"/>
              <a:t>t+1 = </a:t>
            </a:r>
            <a:r>
              <a:rPr lang="el-GR" dirty="0">
                <a:latin typeface="Times New Roman" panose="02020603050405020304" pitchFamily="18" charset="0"/>
                <a:cs typeface="Times New Roman" panose="02020603050405020304" pitchFamily="18" charset="0"/>
              </a:rPr>
              <a:t>α</a:t>
            </a:r>
            <a:r>
              <a:rPr lang="en-GB" dirty="0" err="1">
                <a:latin typeface="Times New Roman" panose="02020603050405020304" pitchFamily="18" charset="0"/>
                <a:cs typeface="Times New Roman" panose="02020603050405020304" pitchFamily="18" charset="0"/>
              </a:rPr>
              <a:t>x</a:t>
            </a:r>
            <a:r>
              <a:rPr lang="en-GB" baseline="-25000" dirty="0" err="1">
                <a:latin typeface="Times New Roman" panose="02020603050405020304" pitchFamily="18" charset="0"/>
                <a:cs typeface="Times New Roman" panose="02020603050405020304" pitchFamily="18" charset="0"/>
              </a:rPr>
              <a:t>t</a:t>
            </a:r>
            <a:r>
              <a:rPr lang="en-GB" baseline="-25000"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 (1-</a:t>
            </a:r>
            <a:r>
              <a:rPr lang="el-GR" dirty="0">
                <a:latin typeface="Times New Roman" panose="02020603050405020304" pitchFamily="18" charset="0"/>
                <a:cs typeface="Times New Roman" panose="02020603050405020304" pitchFamily="18" charset="0"/>
              </a:rPr>
              <a:t>α</a:t>
            </a:r>
            <a:r>
              <a:rPr lang="en-GB" dirty="0">
                <a:latin typeface="Times New Roman" panose="02020603050405020304" pitchFamily="18" charset="0"/>
                <a:cs typeface="Times New Roman" panose="02020603050405020304" pitchFamily="18" charset="0"/>
              </a:rPr>
              <a:t>)(F</a:t>
            </a:r>
            <a:r>
              <a:rPr lang="en-GB" baseline="-25000" dirty="0">
                <a:latin typeface="Times New Roman" panose="02020603050405020304" pitchFamily="18" charset="0"/>
                <a:cs typeface="Times New Roman" panose="02020603050405020304" pitchFamily="18" charset="0"/>
              </a:rPr>
              <a:t>t</a:t>
            </a:r>
            <a:r>
              <a:rPr lang="en-GB" dirty="0">
                <a:latin typeface="Times New Roman" panose="02020603050405020304" pitchFamily="18" charset="0"/>
                <a:cs typeface="Times New Roman" panose="02020603050405020304" pitchFamily="18" charset="0"/>
              </a:rPr>
              <a:t>)</a:t>
            </a:r>
            <a:endParaRPr lang="en-GB" dirty="0"/>
          </a:p>
          <a:p>
            <a:pPr marL="0" indent="0">
              <a:buNone/>
            </a:pPr>
            <a:endParaRPr lang="en-GB" dirty="0"/>
          </a:p>
        </p:txBody>
      </p:sp>
    </p:spTree>
    <p:extLst>
      <p:ext uri="{BB962C8B-B14F-4D97-AF65-F5344CB8AC3E}">
        <p14:creationId xmlns:p14="http://schemas.microsoft.com/office/powerpoint/2010/main" val="2888170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68C55-062A-4D23-AE13-D1B09D58F9F5}"/>
              </a:ext>
            </a:extLst>
          </p:cNvPr>
          <p:cNvSpPr>
            <a:spLocks noGrp="1"/>
          </p:cNvSpPr>
          <p:nvPr>
            <p:ph type="title"/>
          </p:nvPr>
        </p:nvSpPr>
        <p:spPr/>
        <p:txBody>
          <a:bodyPr/>
          <a:lstStyle/>
          <a:p>
            <a:r>
              <a:rPr lang="en-GB" dirty="0"/>
              <a:t>Exponential smoothing forecast</a:t>
            </a:r>
          </a:p>
        </p:txBody>
      </p:sp>
      <p:sp>
        <p:nvSpPr>
          <p:cNvPr id="3" name="Content Placeholder 2">
            <a:extLst>
              <a:ext uri="{FF2B5EF4-FFF2-40B4-BE49-F238E27FC236}">
                <a16:creationId xmlns:a16="http://schemas.microsoft.com/office/drawing/2014/main" id="{9F52E73F-6CE9-4A71-930E-EE2EC0F26200}"/>
              </a:ext>
            </a:extLst>
          </p:cNvPr>
          <p:cNvSpPr>
            <a:spLocks noGrp="1"/>
          </p:cNvSpPr>
          <p:nvPr>
            <p:ph idx="1"/>
          </p:nvPr>
        </p:nvSpPr>
        <p:spPr/>
        <p:txBody>
          <a:bodyPr/>
          <a:lstStyle/>
          <a:p>
            <a:pPr marL="0" indent="0">
              <a:buNone/>
            </a:pPr>
            <a:r>
              <a:rPr lang="en-GB" dirty="0"/>
              <a:t>Where:</a:t>
            </a:r>
          </a:p>
          <a:p>
            <a:pPr marL="0" indent="0">
              <a:buNone/>
            </a:pPr>
            <a:r>
              <a:rPr lang="en-GB" dirty="0"/>
              <a:t>F</a:t>
            </a:r>
            <a:r>
              <a:rPr lang="en-GB" baseline="-25000" dirty="0"/>
              <a:t>t+1 </a:t>
            </a:r>
            <a:r>
              <a:rPr lang="en-GB" dirty="0"/>
              <a:t>= cash flow forecast for the next period (t+1)</a:t>
            </a:r>
          </a:p>
          <a:p>
            <a:pPr marL="0" indent="0">
              <a:buNone/>
            </a:pPr>
            <a:r>
              <a:rPr lang="en-GB" dirty="0"/>
              <a:t>F</a:t>
            </a:r>
            <a:r>
              <a:rPr lang="en-GB" baseline="-25000" dirty="0"/>
              <a:t>t </a:t>
            </a:r>
            <a:r>
              <a:rPr lang="en-GB" dirty="0"/>
              <a:t>= cash flow forecast for the current period (t)</a:t>
            </a:r>
          </a:p>
          <a:p>
            <a:pPr marL="0" indent="0">
              <a:buNone/>
            </a:pPr>
            <a:r>
              <a:rPr lang="el-GR" dirty="0">
                <a:latin typeface="Times New Roman" panose="02020603050405020304" pitchFamily="18" charset="0"/>
                <a:cs typeface="Times New Roman" panose="02020603050405020304" pitchFamily="18" charset="0"/>
              </a:rPr>
              <a:t>α</a:t>
            </a:r>
            <a:r>
              <a:rPr lang="en-GB" dirty="0">
                <a:latin typeface="Times New Roman" panose="02020603050405020304" pitchFamily="18" charset="0"/>
                <a:cs typeface="Times New Roman" panose="02020603050405020304" pitchFamily="18" charset="0"/>
              </a:rPr>
              <a:t> = smoothing constant (0 &lt; </a:t>
            </a:r>
            <a:r>
              <a:rPr lang="el-GR" dirty="0">
                <a:latin typeface="Times New Roman" panose="02020603050405020304" pitchFamily="18" charset="0"/>
                <a:cs typeface="Times New Roman" panose="02020603050405020304" pitchFamily="18" charset="0"/>
              </a:rPr>
              <a:t>α</a:t>
            </a:r>
            <a:r>
              <a:rPr lang="en-GB" dirty="0">
                <a:latin typeface="Times New Roman" panose="02020603050405020304" pitchFamily="18" charset="0"/>
                <a:cs typeface="Times New Roman" panose="02020603050405020304" pitchFamily="18" charset="0"/>
              </a:rPr>
              <a:t> &lt; 1)</a:t>
            </a:r>
          </a:p>
          <a:p>
            <a:pPr marL="0" indent="0">
              <a:buNone/>
            </a:pPr>
            <a:r>
              <a:rPr lang="en-GB" dirty="0" err="1">
                <a:latin typeface="Times New Roman" panose="02020603050405020304" pitchFamily="18" charset="0"/>
                <a:cs typeface="Times New Roman" panose="02020603050405020304" pitchFamily="18" charset="0"/>
              </a:rPr>
              <a:t>X</a:t>
            </a:r>
            <a:r>
              <a:rPr lang="en-GB" baseline="-25000" dirty="0" err="1">
                <a:latin typeface="Times New Roman" panose="02020603050405020304" pitchFamily="18" charset="0"/>
                <a:cs typeface="Times New Roman" panose="02020603050405020304" pitchFamily="18" charset="0"/>
              </a:rPr>
              <a:t>t</a:t>
            </a:r>
            <a:r>
              <a:rPr lang="en-GB" baseline="-25000"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 actual cash flow for current period (t)  </a:t>
            </a:r>
            <a:endParaRPr lang="en-GB" dirty="0"/>
          </a:p>
        </p:txBody>
      </p:sp>
    </p:spTree>
    <p:extLst>
      <p:ext uri="{BB962C8B-B14F-4D97-AF65-F5344CB8AC3E}">
        <p14:creationId xmlns:p14="http://schemas.microsoft.com/office/powerpoint/2010/main" val="436848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95BC7-E738-4D0D-A413-139CCBABE4E8}"/>
              </a:ext>
            </a:extLst>
          </p:cNvPr>
          <p:cNvSpPr>
            <a:spLocks noGrp="1"/>
          </p:cNvSpPr>
          <p:nvPr>
            <p:ph type="title"/>
          </p:nvPr>
        </p:nvSpPr>
        <p:spPr/>
        <p:txBody>
          <a:bodyPr/>
          <a:lstStyle/>
          <a:p>
            <a:r>
              <a:rPr lang="en-GB" dirty="0"/>
              <a:t>Exhibit: Forecast with exponential smoothing</a:t>
            </a:r>
          </a:p>
        </p:txBody>
      </p:sp>
      <p:graphicFrame>
        <p:nvGraphicFramePr>
          <p:cNvPr id="4" name="Content Placeholder 3">
            <a:extLst>
              <a:ext uri="{FF2B5EF4-FFF2-40B4-BE49-F238E27FC236}">
                <a16:creationId xmlns:a16="http://schemas.microsoft.com/office/drawing/2014/main" id="{F63B5A17-435A-4F8C-8F9B-029009C2E297}"/>
              </a:ext>
            </a:extLst>
          </p:cNvPr>
          <p:cNvGraphicFramePr>
            <a:graphicFrameLocks noGrp="1"/>
          </p:cNvGraphicFramePr>
          <p:nvPr>
            <p:ph idx="1"/>
            <p:extLst>
              <p:ext uri="{D42A27DB-BD31-4B8C-83A1-F6EECF244321}">
                <p14:modId xmlns:p14="http://schemas.microsoft.com/office/powerpoint/2010/main" val="950110219"/>
              </p:ext>
            </p:extLst>
          </p:nvPr>
        </p:nvGraphicFramePr>
        <p:xfrm>
          <a:off x="685800" y="2209800"/>
          <a:ext cx="7770812" cy="3200400"/>
        </p:xfrm>
        <a:graphic>
          <a:graphicData uri="http://schemas.openxmlformats.org/drawingml/2006/table">
            <a:tbl>
              <a:tblPr firstRow="1" bandRow="1">
                <a:tableStyleId>{5C22544A-7EE6-4342-B048-85BDC9FD1C3A}</a:tableStyleId>
              </a:tblPr>
              <a:tblGrid>
                <a:gridCol w="1942703">
                  <a:extLst>
                    <a:ext uri="{9D8B030D-6E8A-4147-A177-3AD203B41FA5}">
                      <a16:colId xmlns:a16="http://schemas.microsoft.com/office/drawing/2014/main" val="360169949"/>
                    </a:ext>
                  </a:extLst>
                </a:gridCol>
                <a:gridCol w="1942703">
                  <a:extLst>
                    <a:ext uri="{9D8B030D-6E8A-4147-A177-3AD203B41FA5}">
                      <a16:colId xmlns:a16="http://schemas.microsoft.com/office/drawing/2014/main" val="3398495178"/>
                    </a:ext>
                  </a:extLst>
                </a:gridCol>
                <a:gridCol w="1942703">
                  <a:extLst>
                    <a:ext uri="{9D8B030D-6E8A-4147-A177-3AD203B41FA5}">
                      <a16:colId xmlns:a16="http://schemas.microsoft.com/office/drawing/2014/main" val="723849632"/>
                    </a:ext>
                  </a:extLst>
                </a:gridCol>
                <a:gridCol w="1942703">
                  <a:extLst>
                    <a:ext uri="{9D8B030D-6E8A-4147-A177-3AD203B41FA5}">
                      <a16:colId xmlns:a16="http://schemas.microsoft.com/office/drawing/2014/main" val="3933401619"/>
                    </a:ext>
                  </a:extLst>
                </a:gridCol>
              </a:tblGrid>
              <a:tr h="370840">
                <a:tc>
                  <a:txBody>
                    <a:bodyPr/>
                    <a:lstStyle/>
                    <a:p>
                      <a:r>
                        <a:rPr lang="en-GB" dirty="0"/>
                        <a:t>Day</a:t>
                      </a:r>
                    </a:p>
                  </a:txBody>
                  <a:tcPr/>
                </a:tc>
                <a:tc>
                  <a:txBody>
                    <a:bodyPr/>
                    <a:lstStyle/>
                    <a:p>
                      <a:r>
                        <a:rPr lang="en-GB" dirty="0"/>
                        <a:t>Actual Cash flow (</a:t>
                      </a:r>
                      <a:r>
                        <a:rPr lang="en-GB" dirty="0" err="1"/>
                        <a:t>Xt</a:t>
                      </a:r>
                      <a:r>
                        <a:rPr lang="en-GB" dirty="0"/>
                        <a:t>)</a:t>
                      </a:r>
                    </a:p>
                  </a:txBody>
                  <a:tcPr/>
                </a:tc>
                <a:tc>
                  <a:txBody>
                    <a:bodyPr/>
                    <a:lstStyle/>
                    <a:p>
                      <a:r>
                        <a:rPr lang="en-GB" dirty="0"/>
                        <a:t>Forecast (</a:t>
                      </a:r>
                      <a:r>
                        <a:rPr lang="el-GR" dirty="0">
                          <a:latin typeface="Times New Roman" panose="02020603050405020304" pitchFamily="18" charset="0"/>
                          <a:cs typeface="Times New Roman" panose="02020603050405020304" pitchFamily="18" charset="0"/>
                        </a:rPr>
                        <a:t>α</a:t>
                      </a:r>
                      <a:r>
                        <a:rPr lang="en-GB" dirty="0">
                          <a:latin typeface="Times New Roman" panose="02020603050405020304" pitchFamily="18" charset="0"/>
                          <a:cs typeface="Times New Roman" panose="02020603050405020304" pitchFamily="18" charset="0"/>
                        </a:rPr>
                        <a:t>=0.40)</a:t>
                      </a:r>
                      <a:endParaRPr lang="en-GB" dirty="0"/>
                    </a:p>
                  </a:txBody>
                  <a:tcPr/>
                </a:tc>
                <a:tc>
                  <a:txBody>
                    <a:bodyPr/>
                    <a:lstStyle/>
                    <a:p>
                      <a:r>
                        <a:rPr lang="en-GB" dirty="0"/>
                        <a:t>Error</a:t>
                      </a:r>
                    </a:p>
                  </a:txBody>
                  <a:tcPr/>
                </a:tc>
                <a:extLst>
                  <a:ext uri="{0D108BD9-81ED-4DB2-BD59-A6C34878D82A}">
                    <a16:rowId xmlns:a16="http://schemas.microsoft.com/office/drawing/2014/main" val="3315386402"/>
                  </a:ext>
                </a:extLst>
              </a:tr>
              <a:tr h="370840">
                <a:tc>
                  <a:txBody>
                    <a:bodyPr/>
                    <a:lstStyle/>
                    <a:p>
                      <a:r>
                        <a:rPr lang="en-GB" dirty="0"/>
                        <a:t>1</a:t>
                      </a:r>
                    </a:p>
                    <a:p>
                      <a:r>
                        <a:rPr lang="en-GB" dirty="0"/>
                        <a:t>2</a:t>
                      </a:r>
                    </a:p>
                    <a:p>
                      <a:r>
                        <a:rPr lang="en-GB" dirty="0"/>
                        <a:t>3</a:t>
                      </a:r>
                    </a:p>
                    <a:p>
                      <a:r>
                        <a:rPr lang="en-GB" dirty="0"/>
                        <a:t>4</a:t>
                      </a:r>
                    </a:p>
                    <a:p>
                      <a:r>
                        <a:rPr lang="en-GB" dirty="0"/>
                        <a:t>5</a:t>
                      </a:r>
                    </a:p>
                    <a:p>
                      <a:r>
                        <a:rPr lang="en-GB" dirty="0"/>
                        <a:t>6</a:t>
                      </a:r>
                    </a:p>
                    <a:p>
                      <a:r>
                        <a:rPr lang="en-GB" dirty="0"/>
                        <a:t>7</a:t>
                      </a:r>
                    </a:p>
                    <a:p>
                      <a:r>
                        <a:rPr lang="en-GB" dirty="0"/>
                        <a:t>8</a:t>
                      </a:r>
                    </a:p>
                    <a:p>
                      <a:r>
                        <a:rPr lang="en-GB" dirty="0"/>
                        <a:t>9</a:t>
                      </a:r>
                    </a:p>
                  </a:txBody>
                  <a:tcPr/>
                </a:tc>
                <a:tc>
                  <a:txBody>
                    <a:bodyPr/>
                    <a:lstStyle/>
                    <a:p>
                      <a:r>
                        <a:rPr lang="en-GB" dirty="0"/>
                        <a:t>110,000</a:t>
                      </a:r>
                    </a:p>
                    <a:p>
                      <a:r>
                        <a:rPr lang="en-GB" dirty="0"/>
                        <a:t>120,000</a:t>
                      </a:r>
                    </a:p>
                    <a:p>
                      <a:r>
                        <a:rPr lang="en-GB" dirty="0"/>
                        <a:t>115,000</a:t>
                      </a:r>
                    </a:p>
                    <a:p>
                      <a:r>
                        <a:rPr lang="en-GB" dirty="0"/>
                        <a:t>122,000</a:t>
                      </a:r>
                    </a:p>
                    <a:p>
                      <a:r>
                        <a:rPr lang="en-GB" dirty="0"/>
                        <a:t>126,000</a:t>
                      </a:r>
                    </a:p>
                    <a:p>
                      <a:r>
                        <a:rPr lang="en-GB" dirty="0"/>
                        <a:t>124,000</a:t>
                      </a:r>
                    </a:p>
                    <a:p>
                      <a:r>
                        <a:rPr lang="en-GB" dirty="0"/>
                        <a:t>129,000</a:t>
                      </a:r>
                    </a:p>
                    <a:p>
                      <a:r>
                        <a:rPr lang="en-GB" dirty="0"/>
                        <a:t>133,000</a:t>
                      </a:r>
                    </a:p>
                    <a:p>
                      <a:r>
                        <a:rPr lang="en-GB" dirty="0"/>
                        <a:t>132,000</a:t>
                      </a:r>
                    </a:p>
                  </a:txBody>
                  <a:tcPr/>
                </a:tc>
                <a:tc>
                  <a:txBody>
                    <a:bodyPr/>
                    <a:lstStyle/>
                    <a:p>
                      <a:endParaRPr lang="en-GB" dirty="0"/>
                    </a:p>
                    <a:p>
                      <a:endParaRPr lang="en-GB" dirty="0"/>
                    </a:p>
                    <a:p>
                      <a:endParaRPr lang="en-GB" dirty="0"/>
                    </a:p>
                    <a:p>
                      <a:endParaRPr lang="en-GB" dirty="0"/>
                    </a:p>
                    <a:p>
                      <a:endParaRPr lang="en-GB" dirty="0"/>
                    </a:p>
                    <a:p>
                      <a:r>
                        <a:rPr lang="en-GB" dirty="0"/>
                        <a:t>118,600</a:t>
                      </a:r>
                    </a:p>
                    <a:p>
                      <a:r>
                        <a:rPr lang="en-GB" dirty="0"/>
                        <a:t>120,760</a:t>
                      </a:r>
                    </a:p>
                    <a:p>
                      <a:r>
                        <a:rPr lang="en-GB" dirty="0"/>
                        <a:t>124,056</a:t>
                      </a:r>
                    </a:p>
                    <a:p>
                      <a:r>
                        <a:rPr lang="en-GB" dirty="0"/>
                        <a:t>127,634</a:t>
                      </a:r>
                    </a:p>
                  </a:txBody>
                  <a:tcPr/>
                </a:tc>
                <a:tc>
                  <a:txBody>
                    <a:bodyPr/>
                    <a:lstStyle/>
                    <a:p>
                      <a:endParaRPr lang="en-GB" dirty="0"/>
                    </a:p>
                    <a:p>
                      <a:endParaRPr lang="en-GB" dirty="0"/>
                    </a:p>
                    <a:p>
                      <a:endParaRPr lang="en-GB" dirty="0"/>
                    </a:p>
                    <a:p>
                      <a:endParaRPr lang="en-GB" dirty="0"/>
                    </a:p>
                    <a:p>
                      <a:endParaRPr lang="en-GB" dirty="0"/>
                    </a:p>
                    <a:p>
                      <a:r>
                        <a:rPr lang="en-GB" dirty="0"/>
                        <a:t>5,400</a:t>
                      </a:r>
                    </a:p>
                    <a:p>
                      <a:r>
                        <a:rPr lang="en-GB" dirty="0"/>
                        <a:t>8,240</a:t>
                      </a:r>
                    </a:p>
                    <a:p>
                      <a:r>
                        <a:rPr lang="en-GB" dirty="0"/>
                        <a:t>8,944</a:t>
                      </a:r>
                    </a:p>
                    <a:p>
                      <a:r>
                        <a:rPr lang="en-GB" dirty="0"/>
                        <a:t>4,366</a:t>
                      </a:r>
                    </a:p>
                  </a:txBody>
                  <a:tcPr/>
                </a:tc>
                <a:extLst>
                  <a:ext uri="{0D108BD9-81ED-4DB2-BD59-A6C34878D82A}">
                    <a16:rowId xmlns:a16="http://schemas.microsoft.com/office/drawing/2014/main" val="41432307"/>
                  </a:ext>
                </a:extLst>
              </a:tr>
            </a:tbl>
          </a:graphicData>
        </a:graphic>
      </p:graphicFrame>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CFBB70E9-DCEB-457D-879A-475AD217D87F}"/>
                  </a:ext>
                </a:extLst>
              </p14:cNvPr>
              <p14:cNvContentPartPr/>
              <p14:nvPr/>
            </p14:nvContentPartPr>
            <p14:xfrm>
              <a:off x="7213320" y="4701600"/>
              <a:ext cx="21600" cy="15120"/>
            </p14:xfrm>
          </p:contentPart>
        </mc:Choice>
        <mc:Fallback xmlns="">
          <p:pic>
            <p:nvPicPr>
              <p:cNvPr id="3" name="Ink 2">
                <a:extLst>
                  <a:ext uri="{FF2B5EF4-FFF2-40B4-BE49-F238E27FC236}">
                    <a16:creationId xmlns:a16="http://schemas.microsoft.com/office/drawing/2014/main" id="{CFBB70E9-DCEB-457D-879A-475AD217D87F}"/>
                  </a:ext>
                </a:extLst>
              </p:cNvPr>
              <p:cNvPicPr/>
              <p:nvPr/>
            </p:nvPicPr>
            <p:blipFill>
              <a:blip r:embed="rId3"/>
              <a:stretch>
                <a:fillRect/>
              </a:stretch>
            </p:blipFill>
            <p:spPr>
              <a:xfrm>
                <a:off x="7203960" y="4692240"/>
                <a:ext cx="40320" cy="33840"/>
              </a:xfrm>
              <a:prstGeom prst="rect">
                <a:avLst/>
              </a:prstGeom>
            </p:spPr>
          </p:pic>
        </mc:Fallback>
      </mc:AlternateContent>
    </p:spTree>
    <p:extLst>
      <p:ext uri="{BB962C8B-B14F-4D97-AF65-F5344CB8AC3E}">
        <p14:creationId xmlns:p14="http://schemas.microsoft.com/office/powerpoint/2010/main" val="17211256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DE6B8-47DB-4F6A-BD32-6AAA90B4444D}"/>
              </a:ext>
            </a:extLst>
          </p:cNvPr>
          <p:cNvSpPr>
            <a:spLocks noGrp="1"/>
          </p:cNvSpPr>
          <p:nvPr>
            <p:ph type="title"/>
          </p:nvPr>
        </p:nvSpPr>
        <p:spPr/>
        <p:txBody>
          <a:bodyPr/>
          <a:lstStyle/>
          <a:p>
            <a:r>
              <a:rPr lang="en-GB" dirty="0"/>
              <a:t>Exponential smoothing forecast</a:t>
            </a:r>
          </a:p>
        </p:txBody>
      </p:sp>
      <p:sp>
        <p:nvSpPr>
          <p:cNvPr id="3" name="Content Placeholder 2">
            <a:extLst>
              <a:ext uri="{FF2B5EF4-FFF2-40B4-BE49-F238E27FC236}">
                <a16:creationId xmlns:a16="http://schemas.microsoft.com/office/drawing/2014/main" id="{5046C43A-74AE-41B5-ADDF-C3838C29F960}"/>
              </a:ext>
            </a:extLst>
          </p:cNvPr>
          <p:cNvSpPr>
            <a:spLocks noGrp="1"/>
          </p:cNvSpPr>
          <p:nvPr>
            <p:ph idx="1"/>
          </p:nvPr>
        </p:nvSpPr>
        <p:spPr>
          <a:xfrm>
            <a:off x="685800" y="2278040"/>
            <a:ext cx="7770813" cy="3657600"/>
          </a:xfrm>
        </p:spPr>
        <p:txBody>
          <a:bodyPr/>
          <a:lstStyle/>
          <a:p>
            <a:endParaRPr lang="en-GB" dirty="0"/>
          </a:p>
        </p:txBody>
      </p:sp>
      <p:sp>
        <p:nvSpPr>
          <p:cNvPr id="4" name="Rectangle 3">
            <a:extLst>
              <a:ext uri="{FF2B5EF4-FFF2-40B4-BE49-F238E27FC236}">
                <a16:creationId xmlns:a16="http://schemas.microsoft.com/office/drawing/2014/main" id="{DD73146A-6121-4177-BEAB-BF53FAA8A252}"/>
              </a:ext>
            </a:extLst>
          </p:cNvPr>
          <p:cNvSpPr/>
          <p:nvPr/>
        </p:nvSpPr>
        <p:spPr>
          <a:xfrm>
            <a:off x="1347537" y="2274838"/>
            <a:ext cx="7109075" cy="2677656"/>
          </a:xfrm>
          <a:prstGeom prst="rect">
            <a:avLst/>
          </a:prstGeom>
        </p:spPr>
        <p:txBody>
          <a:bodyPr wrap="square">
            <a:spAutoFit/>
          </a:bodyPr>
          <a:lstStyle/>
          <a:p>
            <a:endParaRPr lang="en-GB" sz="2400" dirty="0"/>
          </a:p>
          <a:p>
            <a:pPr marL="342900" indent="-342900">
              <a:buFont typeface="Arial" panose="020B0604020202020204" pitchFamily="34" charset="0"/>
              <a:buChar char="•"/>
            </a:pPr>
            <a:r>
              <a:rPr lang="en-GB" sz="2400" dirty="0"/>
              <a:t>Exponential smoothing forecast begins with day 6 forecast of K118,600 based on the moving average forecast.</a:t>
            </a:r>
          </a:p>
          <a:p>
            <a:pPr marL="342900" indent="-342900">
              <a:buFont typeface="Arial" panose="020B0604020202020204" pitchFamily="34" charset="0"/>
              <a:buChar char="•"/>
            </a:pPr>
            <a:r>
              <a:rPr lang="en-GB" sz="2400" dirty="0"/>
              <a:t>Day 7 forecast using exponential smoothing is: </a:t>
            </a:r>
          </a:p>
          <a:p>
            <a:r>
              <a:rPr lang="en-GB" sz="2400" dirty="0"/>
              <a:t>0.40 (K124,000) + (1-0.40)(118,600) = K120, 760</a:t>
            </a:r>
          </a:p>
          <a:p>
            <a:r>
              <a:rPr lang="en-GB" sz="2400" dirty="0"/>
              <a:t>Forecast error = 129,000 – 120,760= 8,240</a:t>
            </a:r>
          </a:p>
        </p:txBody>
      </p:sp>
    </p:spTree>
    <p:extLst>
      <p:ext uri="{BB962C8B-B14F-4D97-AF65-F5344CB8AC3E}">
        <p14:creationId xmlns:p14="http://schemas.microsoft.com/office/powerpoint/2010/main" val="869398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79F71-9F54-48B2-A0AC-246BB20C5971}"/>
              </a:ext>
            </a:extLst>
          </p:cNvPr>
          <p:cNvSpPr>
            <a:spLocks noGrp="1"/>
          </p:cNvSpPr>
          <p:nvPr>
            <p:ph type="title"/>
          </p:nvPr>
        </p:nvSpPr>
        <p:spPr/>
        <p:txBody>
          <a:bodyPr/>
          <a:lstStyle/>
          <a:p>
            <a:r>
              <a:rPr lang="en-GB" dirty="0"/>
              <a:t>Forecast Methods</a:t>
            </a:r>
          </a:p>
        </p:txBody>
      </p:sp>
      <p:sp>
        <p:nvSpPr>
          <p:cNvPr id="3" name="Content Placeholder 2">
            <a:extLst>
              <a:ext uri="{FF2B5EF4-FFF2-40B4-BE49-F238E27FC236}">
                <a16:creationId xmlns:a16="http://schemas.microsoft.com/office/drawing/2014/main" id="{B3D4B3DC-40B3-4991-97DA-BE29081CE8F1}"/>
              </a:ext>
            </a:extLst>
          </p:cNvPr>
          <p:cNvSpPr>
            <a:spLocks noGrp="1"/>
          </p:cNvSpPr>
          <p:nvPr>
            <p:ph idx="1"/>
          </p:nvPr>
        </p:nvSpPr>
        <p:spPr/>
        <p:txBody>
          <a:bodyPr>
            <a:normAutofit lnSpcReduction="10000"/>
          </a:bodyPr>
          <a:lstStyle/>
          <a:p>
            <a:pPr marL="0" indent="0">
              <a:buNone/>
            </a:pPr>
            <a:r>
              <a:rPr lang="en-GB" dirty="0"/>
              <a:t>2. Correlation and regression analysis</a:t>
            </a:r>
          </a:p>
          <a:p>
            <a:r>
              <a:rPr lang="en-GB" dirty="0"/>
              <a:t>Calculations involve a statistical identification of the degree of association between a cash flow and another variable.</a:t>
            </a:r>
          </a:p>
          <a:p>
            <a:r>
              <a:rPr lang="en-GB" dirty="0"/>
              <a:t>This is important to understand in determining what information can or should be used in building a forecast.</a:t>
            </a:r>
          </a:p>
          <a:p>
            <a:r>
              <a:rPr lang="en-GB" dirty="0"/>
              <a:t>Y= b + </a:t>
            </a:r>
            <a:r>
              <a:rPr lang="en-GB" dirty="0" err="1"/>
              <a:t>aX</a:t>
            </a:r>
            <a:r>
              <a:rPr lang="en-GB" dirty="0"/>
              <a:t> </a:t>
            </a:r>
          </a:p>
          <a:p>
            <a:pPr marL="0" indent="0">
              <a:buNone/>
            </a:pPr>
            <a:endParaRPr lang="en-GB" dirty="0"/>
          </a:p>
          <a:p>
            <a:endParaRPr lang="en-GB" dirty="0"/>
          </a:p>
          <a:p>
            <a:endParaRPr lang="en-GB" dirty="0"/>
          </a:p>
        </p:txBody>
      </p:sp>
    </p:spTree>
    <p:extLst>
      <p:ext uri="{BB962C8B-B14F-4D97-AF65-F5344CB8AC3E}">
        <p14:creationId xmlns:p14="http://schemas.microsoft.com/office/powerpoint/2010/main" val="2511830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C5AD1-F296-4D93-B940-F16AB237AD61}"/>
              </a:ext>
            </a:extLst>
          </p:cNvPr>
          <p:cNvSpPr>
            <a:spLocks noGrp="1"/>
          </p:cNvSpPr>
          <p:nvPr>
            <p:ph type="title"/>
          </p:nvPr>
        </p:nvSpPr>
        <p:spPr/>
        <p:txBody>
          <a:bodyPr/>
          <a:lstStyle/>
          <a:p>
            <a:r>
              <a:rPr lang="en-GB" dirty="0"/>
              <a:t>Forecast Methods</a:t>
            </a:r>
          </a:p>
        </p:txBody>
      </p:sp>
      <p:sp>
        <p:nvSpPr>
          <p:cNvPr id="3" name="Content Placeholder 2">
            <a:extLst>
              <a:ext uri="{FF2B5EF4-FFF2-40B4-BE49-F238E27FC236}">
                <a16:creationId xmlns:a16="http://schemas.microsoft.com/office/drawing/2014/main" id="{BA74097E-BC9E-4EA2-BCED-68C67111559F}"/>
              </a:ext>
            </a:extLst>
          </p:cNvPr>
          <p:cNvSpPr>
            <a:spLocks noGrp="1"/>
          </p:cNvSpPr>
          <p:nvPr>
            <p:ph idx="1"/>
          </p:nvPr>
        </p:nvSpPr>
        <p:spPr/>
        <p:txBody>
          <a:bodyPr/>
          <a:lstStyle/>
          <a:p>
            <a:r>
              <a:rPr lang="en-GB" dirty="0"/>
              <a:t>For, example, for many retail companies there is typically a high degree of correlation between prior year cash receipts and current year cash receipts </a:t>
            </a:r>
          </a:p>
          <a:p>
            <a:r>
              <a:rPr lang="en-GB" dirty="0"/>
              <a:t>On the other hand, there may be a much lower correlation between sales forecasts and actual receipts.</a:t>
            </a:r>
          </a:p>
          <a:p>
            <a:r>
              <a:rPr lang="en-GB" dirty="0"/>
              <a:t>As a result the forecast model will be much more likely to use a prior year’s sales than current sales forecasts to create an accurate forecast</a:t>
            </a:r>
          </a:p>
        </p:txBody>
      </p:sp>
    </p:spTree>
    <p:extLst>
      <p:ext uri="{BB962C8B-B14F-4D97-AF65-F5344CB8AC3E}">
        <p14:creationId xmlns:p14="http://schemas.microsoft.com/office/powerpoint/2010/main" val="3426331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_rels/them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 Id="rId5" Type="http://schemas.openxmlformats.org/officeDocument/2006/relationships/image" Target="../media/image5.jpeg"/><Relationship Id="rId4" Type="http://schemas.openxmlformats.org/officeDocument/2006/relationships/image" Target="../media/image4.jpeg"/></Relationships>
</file>

<file path=ppt/theme/theme1.xml><?xml version="1.0" encoding="utf-8"?>
<a:theme xmlns:a="http://schemas.openxmlformats.org/drawingml/2006/main" name="Folio">
  <a:themeElements>
    <a:clrScheme name="Folio">
      <a:dk1>
        <a:sysClr val="windowText" lastClr="000000"/>
      </a:dk1>
      <a:lt1>
        <a:sysClr val="window" lastClr="FFFFFF"/>
      </a:lt1>
      <a:dk2>
        <a:srgbClr val="2D2F2B"/>
      </a:dk2>
      <a:lt2>
        <a:srgbClr val="DEDED7"/>
      </a:lt2>
      <a:accent1>
        <a:srgbClr val="294171"/>
      </a:accent1>
      <a:accent2>
        <a:srgbClr val="748CBC"/>
      </a:accent2>
      <a:accent3>
        <a:srgbClr val="8E887C"/>
      </a:accent3>
      <a:accent4>
        <a:srgbClr val="834736"/>
      </a:accent4>
      <a:accent5>
        <a:srgbClr val="5A1705"/>
      </a:accent5>
      <a:accent6>
        <a:srgbClr val="A0A16A"/>
      </a:accent6>
      <a:hlink>
        <a:srgbClr val="74B6BC"/>
      </a:hlink>
      <a:folHlink>
        <a:srgbClr val="7F95A4"/>
      </a:folHlink>
    </a:clrScheme>
    <a:fontScheme name="Folio">
      <a:majorFont>
        <a:latin typeface="Calisto MT"/>
        <a:ea typeface=""/>
        <a:cs typeface=""/>
        <a:font script="Jpan" typeface="ＭＳ 明朝"/>
        <a:font script="Hans" typeface="宋体"/>
        <a:font script="Hant" typeface="新細明體"/>
      </a:majorFont>
      <a:minorFont>
        <a:latin typeface="Calisto MT"/>
        <a:ea typeface=""/>
        <a:cs typeface=""/>
        <a:font script="Jpan" typeface="ＭＳ 明朝"/>
        <a:font script="Hans" typeface="宋体"/>
        <a:font script="Hant" typeface="新細明體"/>
      </a:minorFont>
    </a:fontScheme>
    <a:fmtScheme name="Folio">
      <a:fillStyleLst>
        <a:solidFill>
          <a:schemeClr val="phClr"/>
        </a:solidFill>
        <a:blipFill rotWithShape="1">
          <a:blip xmlns:r="http://schemas.openxmlformats.org/officeDocument/2006/relationships" r:embed="rId1">
            <a:duotone>
              <a:schemeClr val="phClr">
                <a:shade val="30000"/>
                <a:satMod val="120000"/>
              </a:schemeClr>
              <a:schemeClr val="phClr">
                <a:tint val="70000"/>
                <a:satMod val="350000"/>
                <a:lumMod val="110000"/>
              </a:schemeClr>
            </a:duotone>
          </a:blip>
          <a:stretch/>
        </a:blipFill>
        <a:blipFill rotWithShape="1">
          <a:blip xmlns:r="http://schemas.openxmlformats.org/officeDocument/2006/relationships" r:embed="rId2">
            <a:duotone>
              <a:schemeClr val="phClr">
                <a:shade val="40000"/>
                <a:satMod val="120000"/>
              </a:schemeClr>
              <a:schemeClr val="phClr">
                <a:tint val="70000"/>
                <a:satMod val="300000"/>
                <a:lumMod val="110000"/>
              </a:schemeClr>
            </a:duotone>
          </a:blip>
          <a:tile tx="0" ty="0" sx="50000" sy="50000" flip="none" algn="tl"/>
        </a:blipFill>
      </a:fillStyleLst>
      <a:lnStyleLst>
        <a:ln w="12700" cap="flat" cmpd="sng" algn="ctr">
          <a:solidFill>
            <a:schemeClr val="phClr">
              <a:shade val="95000"/>
              <a:satMod val="105000"/>
            </a:schemeClr>
          </a:solidFill>
          <a:prstDash val="solid"/>
        </a:ln>
        <a:ln w="3175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38100" dist="25400" dir="5400000" algn="br" rotWithShape="0">
              <a:srgbClr val="000000">
                <a:alpha val="50000"/>
              </a:srgbClr>
            </a:outerShdw>
          </a:effectLst>
        </a:effectStyle>
        <a:effectStyle>
          <a:effectLst>
            <a:innerShdw blurRad="190500" dist="25400">
              <a:srgbClr val="000000">
                <a:alpha val="50000"/>
              </a:srgbClr>
            </a:innerShdw>
          </a:effectLst>
        </a:effectStyle>
      </a:effectStyleLst>
      <a:bgFillStyleLst>
        <a:blipFill rotWithShape="1">
          <a:blip xmlns:r="http://schemas.openxmlformats.org/officeDocument/2006/relationships" r:embed="rId3">
            <a:duotone>
              <a:schemeClr val="phClr">
                <a:shade val="10000"/>
                <a:satMod val="125000"/>
              </a:schemeClr>
              <a:schemeClr val="phClr">
                <a:tint val="70000"/>
                <a:satMod val="350000"/>
                <a:lumMod val="110000"/>
              </a:schemeClr>
            </a:duotone>
          </a:blip>
          <a:stretch/>
        </a:blipFill>
        <a:blipFill rotWithShape="1">
          <a:blip xmlns:r="http://schemas.openxmlformats.org/officeDocument/2006/relationships" r:embed="rId4">
            <a:duotone>
              <a:schemeClr val="phClr">
                <a:shade val="10000"/>
                <a:satMod val="125000"/>
              </a:schemeClr>
              <a:schemeClr val="phClr">
                <a:tint val="70000"/>
                <a:satMod val="350000"/>
                <a:lumMod val="110000"/>
              </a:schemeClr>
            </a:duotone>
          </a:blip>
          <a:stretch/>
        </a:blipFill>
        <a:blipFill rotWithShape="1">
          <a:blip xmlns:r="http://schemas.openxmlformats.org/officeDocument/2006/relationships" r:embed="rId5">
            <a:duotone>
              <a:schemeClr val="phClr">
                <a:shade val="3000"/>
                <a:lumMod val="10000"/>
              </a:schemeClr>
              <a:schemeClr val="phClr">
                <a:tint val="91000"/>
                <a:satMod val="500000"/>
                <a:lumMod val="125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Folio.thmx</Template>
  <TotalTime>3219</TotalTime>
  <Words>1062</Words>
  <Application>Microsoft Office PowerPoint</Application>
  <PresentationFormat>On-screen Show (4:3)</PresentationFormat>
  <Paragraphs>207</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Calisto MT</vt:lpstr>
      <vt:lpstr>Times New Roman</vt:lpstr>
      <vt:lpstr>Wingdings</vt:lpstr>
      <vt:lpstr>Folio</vt:lpstr>
      <vt:lpstr>Treasury Management</vt:lpstr>
      <vt:lpstr>Introduction</vt:lpstr>
      <vt:lpstr>Introduction</vt:lpstr>
      <vt:lpstr>Introduction</vt:lpstr>
      <vt:lpstr>Purpose of Cash Forecasting</vt:lpstr>
      <vt:lpstr>Purpose of Cash Forecasting</vt:lpstr>
      <vt:lpstr>Purpose of Cash Forecasting</vt:lpstr>
      <vt:lpstr>Purpose of Cash Forecasting</vt:lpstr>
      <vt:lpstr>ASSUMPTIONS</vt:lpstr>
      <vt:lpstr>Forecast Methods</vt:lpstr>
      <vt:lpstr>Forecast Methods</vt:lpstr>
      <vt:lpstr>Exhibit: Receipts and Disbursements Forecast</vt:lpstr>
      <vt:lpstr>Forecast Methods</vt:lpstr>
      <vt:lpstr>Forecast Methods</vt:lpstr>
      <vt:lpstr>Forecast Methods</vt:lpstr>
      <vt:lpstr>Exhibit: Simple moving average forecast</vt:lpstr>
      <vt:lpstr>Simple moving average forecast</vt:lpstr>
      <vt:lpstr>Exponential smoothing forecast</vt:lpstr>
      <vt:lpstr>Exponential smoothing forecast</vt:lpstr>
      <vt:lpstr>Exhibit: Forecast with exponential smoothing</vt:lpstr>
      <vt:lpstr>Exponential smoothing forecast</vt:lpstr>
      <vt:lpstr>Forecast Methods</vt:lpstr>
      <vt:lpstr>Forecast Methods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BFS 322</dc:title>
  <dc:creator>Webster Sikazwe</dc:creator>
  <cp:lastModifiedBy>Webster Sikazwe</cp:lastModifiedBy>
  <cp:revision>222</cp:revision>
  <dcterms:created xsi:type="dcterms:W3CDTF">2018-08-06T09:52:02Z</dcterms:created>
  <dcterms:modified xsi:type="dcterms:W3CDTF">2023-03-28T09:33:23Z</dcterms:modified>
</cp:coreProperties>
</file>