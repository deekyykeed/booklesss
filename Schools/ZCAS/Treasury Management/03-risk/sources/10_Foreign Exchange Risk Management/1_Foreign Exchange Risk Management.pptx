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sldIdLst>
    <p:sldId id="256" r:id="rId2"/>
    <p:sldId id="324" r:id="rId3"/>
    <p:sldId id="257" r:id="rId4"/>
    <p:sldId id="258" r:id="rId5"/>
    <p:sldId id="259" r:id="rId6"/>
    <p:sldId id="274" r:id="rId7"/>
    <p:sldId id="298" r:id="rId8"/>
    <p:sldId id="299" r:id="rId9"/>
    <p:sldId id="300" r:id="rId10"/>
    <p:sldId id="301" r:id="rId11"/>
    <p:sldId id="260" r:id="rId12"/>
    <p:sldId id="261" r:id="rId13"/>
    <p:sldId id="262" r:id="rId14"/>
    <p:sldId id="302" r:id="rId15"/>
    <p:sldId id="263" r:id="rId16"/>
    <p:sldId id="264" r:id="rId17"/>
    <p:sldId id="304" r:id="rId18"/>
    <p:sldId id="265" r:id="rId19"/>
    <p:sldId id="266" r:id="rId20"/>
    <p:sldId id="267" r:id="rId21"/>
    <p:sldId id="268" r:id="rId22"/>
    <p:sldId id="269" r:id="rId23"/>
    <p:sldId id="270" r:id="rId24"/>
    <p:sldId id="271" r:id="rId25"/>
    <p:sldId id="272" r:id="rId26"/>
    <p:sldId id="273" r:id="rId27"/>
    <p:sldId id="275" r:id="rId28"/>
    <p:sldId id="276" r:id="rId29"/>
    <p:sldId id="277" r:id="rId30"/>
    <p:sldId id="278" r:id="rId31"/>
    <p:sldId id="279" r:id="rId32"/>
    <p:sldId id="280" r:id="rId33"/>
    <p:sldId id="281" r:id="rId34"/>
    <p:sldId id="305" r:id="rId35"/>
    <p:sldId id="282" r:id="rId36"/>
    <p:sldId id="283" r:id="rId37"/>
    <p:sldId id="284" r:id="rId38"/>
    <p:sldId id="323" r:id="rId39"/>
    <p:sldId id="285" r:id="rId40"/>
    <p:sldId id="286" r:id="rId41"/>
    <p:sldId id="306" r:id="rId42"/>
    <p:sldId id="309" r:id="rId43"/>
    <p:sldId id="310" r:id="rId44"/>
    <p:sldId id="311" r:id="rId45"/>
    <p:sldId id="312" r:id="rId46"/>
    <p:sldId id="287" r:id="rId47"/>
    <p:sldId id="288" r:id="rId48"/>
    <p:sldId id="289" r:id="rId49"/>
    <p:sldId id="290" r:id="rId50"/>
    <p:sldId id="291" r:id="rId51"/>
    <p:sldId id="307" r:id="rId52"/>
    <p:sldId id="313" r:id="rId53"/>
    <p:sldId id="314" r:id="rId54"/>
    <p:sldId id="315" r:id="rId55"/>
    <p:sldId id="292" r:id="rId56"/>
    <p:sldId id="293" r:id="rId57"/>
    <p:sldId id="294" r:id="rId58"/>
    <p:sldId id="295" r:id="rId59"/>
    <p:sldId id="308" r:id="rId60"/>
    <p:sldId id="316" r:id="rId61"/>
    <p:sldId id="317" r:id="rId62"/>
    <p:sldId id="318" r:id="rId63"/>
    <p:sldId id="319" r:id="rId64"/>
    <p:sldId id="320" r:id="rId65"/>
    <p:sldId id="321" r:id="rId66"/>
    <p:sldId id="322" r:id="rId67"/>
    <p:sldId id="296" r:id="rId68"/>
    <p:sldId id="297" r:id="rId6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94675" autoAdjust="0"/>
  </p:normalViewPr>
  <p:slideViewPr>
    <p:cSldViewPr snapToGrid="0" snapToObjects="1">
      <p:cViewPr varScale="1">
        <p:scale>
          <a:sx n="65" d="100"/>
          <a:sy n="65" d="100"/>
        </p:scale>
        <p:origin x="153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27094"/>
            <a:ext cx="7772400" cy="1470025"/>
          </a:xfrm>
        </p:spPr>
        <p:txBody>
          <a:bodyPr anchor="b" anchorCtr="0"/>
          <a:lstStyle>
            <a:lvl1pPr>
              <a:defRPr sz="5400">
                <a:gradFill>
                  <a:gsLst>
                    <a:gs pos="0">
                      <a:schemeClr val="tx2"/>
                    </a:gs>
                    <a:gs pos="100000">
                      <a:schemeClr val="tx2">
                        <a:lumMod val="75000"/>
                      </a:schemeClr>
                    </a:gs>
                  </a:gsLst>
                  <a:lin ang="5400000" scaled="0"/>
                </a:gradFill>
                <a:effectLst>
                  <a:outerShdw blurRad="50800" dist="25400" dir="5400000" algn="t" rotWithShape="0">
                    <a:prstClr val="black">
                      <a:alpha val="40000"/>
                    </a:prstClr>
                  </a:outerShdw>
                </a:effectLst>
              </a:defRPr>
            </a:lvl1pPr>
          </a:lstStyle>
          <a:p>
            <a:r>
              <a:rPr lang="en-US"/>
              <a:t>Click to edit Master title style</a:t>
            </a:r>
            <a:endParaRPr/>
          </a:p>
        </p:txBody>
      </p:sp>
      <p:sp>
        <p:nvSpPr>
          <p:cNvPr id="3" name="Subtitle 2"/>
          <p:cNvSpPr>
            <a:spLocks noGrp="1"/>
          </p:cNvSpPr>
          <p:nvPr>
            <p:ph type="subTitle" idx="1"/>
          </p:nvPr>
        </p:nvSpPr>
        <p:spPr>
          <a:xfrm>
            <a:off x="685801" y="3810000"/>
            <a:ext cx="7770812" cy="1752600"/>
          </a:xfrm>
        </p:spPr>
        <p:txBody>
          <a:bodyPr>
            <a:normAutofit/>
          </a:bodyPr>
          <a:lstStyle>
            <a:lvl1pPr marL="0" indent="0" algn="ctr">
              <a:spcBef>
                <a:spcPts val="300"/>
              </a:spcBef>
              <a:buNone/>
              <a:defRPr sz="1600">
                <a:gradFill>
                  <a:gsLst>
                    <a:gs pos="0">
                      <a:schemeClr val="tx2"/>
                    </a:gs>
                    <a:gs pos="100000">
                      <a:schemeClr val="tx2">
                        <a:lumMod val="75000"/>
                      </a:schemeClr>
                    </a:gs>
                  </a:gsLst>
                  <a:lin ang="5400000" scaled="0"/>
                </a:gra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1CDB690E-D504-EE46-BF09-1B8B105CE4C6}" type="datetimeFigureOut">
              <a:rPr lang="en-US" smtClean="0"/>
              <a:t>3/9/2023</a:t>
            </a:fld>
            <a:endParaRPr lang="en-US"/>
          </a:p>
        </p:txBody>
      </p:sp>
      <p:sp>
        <p:nvSpPr>
          <p:cNvPr id="5" name="Footer Placeholder 4"/>
          <p:cNvSpPr>
            <a:spLocks noGrp="1"/>
          </p:cNvSpPr>
          <p:nvPr>
            <p:ph type="ftr" sz="quarter" idx="11"/>
          </p:nvPr>
        </p:nvSpPr>
        <p:spPr/>
        <p:txBody>
          <a:bodyPr/>
          <a:lstStyle/>
          <a:p>
            <a:endParaRPr lang="en-US"/>
          </a:p>
        </p:txBody>
      </p:sp>
      <p:pic>
        <p:nvPicPr>
          <p:cNvPr id="7" name="Picture 6" descr="CoverGlyph.png"/>
          <p:cNvPicPr>
            <a:picLocks noChangeAspect="1"/>
          </p:cNvPicPr>
          <p:nvPr/>
        </p:nvPicPr>
        <p:blipFill>
          <a:blip r:embed="rId2"/>
          <a:stretch>
            <a:fillRect/>
          </a:stretch>
        </p:blipFill>
        <p:spPr>
          <a:xfrm>
            <a:off x="4010025" y="3048000"/>
            <a:ext cx="1123950" cy="771525"/>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3/9/2023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626440"/>
            <a:ext cx="7770813" cy="1472184"/>
          </a:xfrm>
        </p:spPr>
        <p:txBody>
          <a:bodyPr anchor="b" anchorCtr="0"/>
          <a:lstStyle>
            <a:lvl1pPr algn="ctr">
              <a:defRPr sz="5400" b="0" i="0" cap="none" baseline="0"/>
            </a:lvl1pPr>
          </a:lstStyle>
          <a:p>
            <a:r>
              <a:rPr lang="en-US"/>
              <a:t>Click to edit Master title style</a:t>
            </a:r>
            <a:endParaRPr/>
          </a:p>
        </p:txBody>
      </p:sp>
      <p:sp>
        <p:nvSpPr>
          <p:cNvPr id="3" name="Text Placeholder 2"/>
          <p:cNvSpPr>
            <a:spLocks noGrp="1"/>
          </p:cNvSpPr>
          <p:nvPr>
            <p:ph type="body" idx="1"/>
          </p:nvPr>
        </p:nvSpPr>
        <p:spPr>
          <a:xfrm>
            <a:off x="685800" y="3813048"/>
            <a:ext cx="7770813" cy="1755648"/>
          </a:xfrm>
        </p:spPr>
        <p:txBody>
          <a:bodyPr anchor="t" anchorCtr="0">
            <a:normAutofit/>
          </a:bodyPr>
          <a:lstStyle>
            <a:lvl1pPr marL="0" indent="0" algn="ctr">
              <a:spcBef>
                <a:spcPts val="30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DB690E-D504-EE46-BF09-1B8B105CE4C6}" type="datetimeFigureOut">
              <a:rPr lang="en-US" smtClean="0"/>
              <a:t>3/9/2023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7" name="Picture 6" descr="Glyph-SectionHeader.png"/>
          <p:cNvPicPr>
            <a:picLocks noChangeAspect="1"/>
          </p:cNvPicPr>
          <p:nvPr/>
        </p:nvPicPr>
        <p:blipFill>
          <a:blip r:embed="rId2"/>
          <a:stretch>
            <a:fillRect/>
          </a:stretch>
        </p:blipFill>
        <p:spPr>
          <a:xfrm>
            <a:off x="4038600" y="3174066"/>
            <a:ext cx="1066800" cy="5905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858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8006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1CDB690E-D504-EE46-BF09-1B8B105CE4C6}" type="datetimeFigureOut">
              <a:rPr lang="en-US" smtClean="0"/>
              <a:t>3/9/2023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858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8006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006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1CDB690E-D504-EE46-BF09-1B8B105CE4C6}" type="datetimeFigureOut">
              <a:rPr lang="en-US" smtClean="0"/>
              <a:t>3/9/2023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CDB690E-D504-EE46-BF09-1B8B105CE4C6}" type="datetimeFigureOut">
              <a:rPr lang="en-US" smtClean="0"/>
              <a:t>3/9/2023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B690E-D504-EE46-BF09-1B8B105CE4C6}" type="datetimeFigureOut">
              <a:rPr lang="en-US" smtClean="0"/>
              <a:t>3/9/2023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6D9AA8-3163-9341-B184-8747F5D2BF2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906" y="914400"/>
            <a:ext cx="3657600" cy="1162050"/>
          </a:xfrm>
        </p:spPr>
        <p:txBody>
          <a:bodyPr anchor="b"/>
          <a:lstStyle>
            <a:lvl1pPr algn="ctr">
              <a:defRPr sz="3800" b="0"/>
            </a:lvl1pPr>
          </a:lstStyle>
          <a:p>
            <a:r>
              <a:rPr lang="en-US"/>
              <a:t>Click to edit Master title style</a:t>
            </a:r>
            <a:endParaRPr/>
          </a:p>
        </p:txBody>
      </p:sp>
      <p:sp>
        <p:nvSpPr>
          <p:cNvPr id="3" name="Content Placeholder 2"/>
          <p:cNvSpPr>
            <a:spLocks noGrp="1"/>
          </p:cNvSpPr>
          <p:nvPr>
            <p:ph idx="1"/>
          </p:nvPr>
        </p:nvSpPr>
        <p:spPr>
          <a:xfrm>
            <a:off x="4796118" y="457199"/>
            <a:ext cx="3657600" cy="5410201"/>
          </a:xfrm>
        </p:spPr>
        <p:txBody>
          <a:bodyPr>
            <a:normAutofit/>
          </a:bodyPr>
          <a:lstStyle>
            <a:lvl1pPr>
              <a:defRPr sz="2400"/>
            </a:lvl1pPr>
            <a:lvl2pPr>
              <a:defRPr sz="2200"/>
            </a:lvl2pPr>
            <a:lvl3pPr>
              <a:defRPr sz="2000"/>
            </a:lvl3pPr>
            <a:lvl4pPr>
              <a:defRPr sz="1800"/>
            </a:lvl4pPr>
            <a:lvl5pPr>
              <a:defRPr sz="1800"/>
            </a:lvl5pPr>
            <a:lvl6pPr marL="2290763" indent="-461963">
              <a:tabLst/>
              <a:defRPr sz="2000"/>
            </a:lvl6pPr>
            <a:lvl7pPr marL="2290763" indent="-461963">
              <a:tabLst/>
              <a:defRPr sz="2000"/>
            </a:lvl7pPr>
            <a:lvl8pPr marL="2290763" indent="-461963">
              <a:tabLst/>
              <a:defRPr sz="2000"/>
            </a:lvl8pPr>
            <a:lvl9pPr marL="2290763" indent="-461963">
              <a:tabLst/>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58906" y="2590799"/>
            <a:ext cx="3657600" cy="2895601"/>
          </a:xfrm>
        </p:spPr>
        <p:txBody>
          <a:bodyPr>
            <a:normAutofit/>
          </a:bodyPr>
          <a:lstStyle>
            <a:lvl1pPr marL="0" indent="0" algn="ctr">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3/9/2023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1664746" y="2286000"/>
            <a:ext cx="1645920" cy="170411"/>
          </a:xfrm>
          <a:prstGeom prst="rect">
            <a:avLst/>
          </a:prstGeom>
          <a:noFill/>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99013" y="914400"/>
            <a:ext cx="3657600" cy="1161288"/>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658906" y="457200"/>
            <a:ext cx="3657600" cy="5413248"/>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4799013" y="2587752"/>
            <a:ext cx="3657600" cy="2898648"/>
          </a:xfrm>
        </p:spPr>
        <p:txBody>
          <a:bodyPr vert="horz" lIns="91440" tIns="45720" rIns="91440" bIns="45720" rtlCol="0">
            <a:normAutofit/>
          </a:bodyPr>
          <a:lstStyle>
            <a:lvl1pPr marL="0" indent="0" algn="ctr">
              <a:spcBef>
                <a:spcPts val="6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3/9/2023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5804853" y="2286000"/>
            <a:ext cx="1645920" cy="170411"/>
          </a:xfrm>
          <a:prstGeom prst="rect">
            <a:avLst/>
          </a:prstGeom>
          <a:noFill/>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3738282"/>
            <a:ext cx="7770813" cy="1048870"/>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286000" y="457200"/>
            <a:ext cx="4572000" cy="3173506"/>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685800" y="5181600"/>
            <a:ext cx="7770813" cy="685800"/>
          </a:xfrm>
        </p:spPr>
        <p:txBody>
          <a:bodyPr vert="horz" lIns="91440" tIns="45720" rIns="91440" bIns="45720" rtlCol="0">
            <a:normAutofit/>
          </a:bodyPr>
          <a:lstStyle>
            <a:lvl1pPr marL="0" indent="0" algn="ctr">
              <a:spcBef>
                <a:spcPts val="3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3/9/2023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4890247"/>
            <a:ext cx="1645920" cy="170411"/>
          </a:xfrm>
          <a:prstGeom prst="rect">
            <a:avLst/>
          </a:prstGeom>
          <a:noFill/>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286000" indent="-457200">
              <a:defRPr/>
            </a:lvl6pPr>
            <a:lvl7pPr marL="2286000" indent="-457200">
              <a:defRPr/>
            </a:lvl7pPr>
            <a:lvl8pPr marL="2286000" indent="-457200">
              <a:defRPr/>
            </a:lvl8pPr>
            <a:lvl9pPr marL="2286000" indent="-4572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3/9/2023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2800" y="537882"/>
            <a:ext cx="1524000" cy="5325036"/>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85800" y="537882"/>
            <a:ext cx="5889812" cy="5325036"/>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3/9/2023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rot="5400000">
            <a:off x="6052928" y="3115195"/>
            <a:ext cx="1645920" cy="170411"/>
          </a:xfrm>
          <a:prstGeom prst="rect">
            <a:avLst/>
          </a:prstGeom>
          <a:noFill/>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4305300" y="6289115"/>
            <a:ext cx="5334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DE6D9AA8-3163-9341-B184-8747F5D2BF21}" type="slidenum">
              <a:rPr lang="en-US" smtClean="0"/>
              <a:t>‹#›</a:t>
            </a:fld>
            <a:endParaRPr lang="en-US"/>
          </a:p>
        </p:txBody>
      </p:sp>
      <p:sp>
        <p:nvSpPr>
          <p:cNvPr id="2" name="Title Placeholder 1"/>
          <p:cNvSpPr>
            <a:spLocks noGrp="1"/>
          </p:cNvSpPr>
          <p:nvPr>
            <p:ph type="title"/>
          </p:nvPr>
        </p:nvSpPr>
        <p:spPr>
          <a:xfrm>
            <a:off x="685800" y="67236"/>
            <a:ext cx="7770813" cy="1371600"/>
          </a:xfrm>
          <a:prstGeom prst="rect">
            <a:avLst/>
          </a:prstGeom>
          <a:effectLst/>
        </p:spPr>
        <p:txBody>
          <a:bodyPr vert="horz" lIns="91440" tIns="45720" rIns="91440" bIns="45720" rtlCol="0" anchor="ctr" anchorCtr="0">
            <a:noAutofit/>
          </a:bodyPr>
          <a:lstStyle/>
          <a:p>
            <a:r>
              <a:rPr lang="en-US"/>
              <a:t>Click to edit Master title style</a:t>
            </a:r>
            <a:endParaRPr/>
          </a:p>
        </p:txBody>
      </p:sp>
      <p:sp>
        <p:nvSpPr>
          <p:cNvPr id="3" name="Text Placeholder 2"/>
          <p:cNvSpPr>
            <a:spLocks noGrp="1"/>
          </p:cNvSpPr>
          <p:nvPr>
            <p:ph type="body" idx="1"/>
          </p:nvPr>
        </p:nvSpPr>
        <p:spPr>
          <a:xfrm>
            <a:off x="685800" y="2209800"/>
            <a:ext cx="7770813"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400800" y="6289115"/>
            <a:ext cx="237564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DB690E-D504-EE46-BF09-1B8B105CE4C6}" type="datetimeFigureOut">
              <a:rPr lang="en-US" smtClean="0"/>
              <a:t>3/9/2023</a:t>
            </a:fld>
            <a:endParaRPr lang="en-US"/>
          </a:p>
        </p:txBody>
      </p:sp>
      <p:sp>
        <p:nvSpPr>
          <p:cNvPr id="5" name="Footer Placeholder 4"/>
          <p:cNvSpPr>
            <a:spLocks noGrp="1"/>
          </p:cNvSpPr>
          <p:nvPr>
            <p:ph type="ftr" sz="quarter" idx="3"/>
          </p:nvPr>
        </p:nvSpPr>
        <p:spPr>
          <a:xfrm>
            <a:off x="349624" y="6289115"/>
            <a:ext cx="3155576"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5000" kern="1200">
          <a:solidFill>
            <a:schemeClr val="tx2"/>
          </a:solidFill>
          <a:effectLst>
            <a:outerShdw blurRad="38100" dist="12700" algn="l" rotWithShape="0">
              <a:prstClr val="black">
                <a:alpha val="40000"/>
              </a:prstClr>
            </a:outerShdw>
          </a:effectLst>
          <a:latin typeface="+mj-lt"/>
          <a:ea typeface="+mj-ea"/>
          <a:cs typeface="+mj-cs"/>
        </a:defRPr>
      </a:lvl1pPr>
    </p:titleStyle>
    <p:bodyStyle>
      <a:lvl1pPr marL="457200" indent="-457200" algn="l" defTabSz="914400" rtl="0" eaLnBrk="1" latinLnBrk="0" hangingPunct="1">
        <a:spcBef>
          <a:spcPts val="2000"/>
        </a:spcBef>
        <a:buClr>
          <a:schemeClr val="accent3"/>
        </a:buClr>
        <a:buFont typeface="Wingdings" pitchFamily="2" charset="2"/>
        <a:buChar char=""/>
        <a:defRPr sz="2400" kern="1200">
          <a:solidFill>
            <a:schemeClr val="tx2"/>
          </a:solidFill>
          <a:latin typeface="+mn-lt"/>
          <a:ea typeface="+mn-ea"/>
          <a:cs typeface="+mn-cs"/>
        </a:defRPr>
      </a:lvl1pPr>
      <a:lvl2pPr marL="914400" indent="-457200" algn="l" defTabSz="914400" rtl="0" eaLnBrk="1" latinLnBrk="0" hangingPunct="1">
        <a:spcBef>
          <a:spcPts val="600"/>
        </a:spcBef>
        <a:buClr>
          <a:schemeClr val="accent3">
            <a:lumMod val="50000"/>
          </a:schemeClr>
        </a:buClr>
        <a:buFont typeface="Wingdings" pitchFamily="2" charset="2"/>
        <a:buChar char=""/>
        <a:defRPr sz="2200" kern="1200">
          <a:solidFill>
            <a:schemeClr val="tx2"/>
          </a:solidFill>
          <a:latin typeface="+mn-lt"/>
          <a:ea typeface="+mn-ea"/>
          <a:cs typeface="+mn-cs"/>
        </a:defRPr>
      </a:lvl2pPr>
      <a:lvl3pPr marL="1371600" indent="-457200" algn="l" defTabSz="914400" rtl="0" eaLnBrk="1" latinLnBrk="0" hangingPunct="1">
        <a:spcBef>
          <a:spcPts val="600"/>
        </a:spcBef>
        <a:buClr>
          <a:schemeClr val="accent3"/>
        </a:buClr>
        <a:buFont typeface="Wingdings" pitchFamily="2" charset="2"/>
        <a:buChar char=""/>
        <a:defRPr sz="2000" kern="1200">
          <a:solidFill>
            <a:schemeClr val="tx2"/>
          </a:solidFill>
          <a:latin typeface="+mn-lt"/>
          <a:ea typeface="+mn-ea"/>
          <a:cs typeface="+mn-cs"/>
        </a:defRPr>
      </a:lvl3pPr>
      <a:lvl4pPr marL="1828800" indent="-457200" algn="l" defTabSz="914400" rtl="0" eaLnBrk="1" latinLnBrk="0" hangingPunct="1">
        <a:spcBef>
          <a:spcPts val="600"/>
        </a:spcBef>
        <a:buClr>
          <a:schemeClr val="accent3">
            <a:lumMod val="50000"/>
          </a:schemeClr>
        </a:buClr>
        <a:buFont typeface="Wingdings" pitchFamily="2" charset="2"/>
        <a:buChar char=""/>
        <a:defRPr sz="1800" kern="1200">
          <a:solidFill>
            <a:schemeClr val="tx2"/>
          </a:solidFill>
          <a:latin typeface="+mn-lt"/>
          <a:ea typeface="+mn-ea"/>
          <a:cs typeface="+mn-cs"/>
        </a:defRPr>
      </a:lvl4pPr>
      <a:lvl5pPr marL="2286000" indent="-457200" algn="l" defTabSz="914400" rtl="0" eaLnBrk="1" latinLnBrk="0" hangingPunct="1">
        <a:spcBef>
          <a:spcPts val="600"/>
        </a:spcBef>
        <a:buClr>
          <a:schemeClr val="accent3"/>
        </a:buClr>
        <a:buFont typeface="Wingdings" pitchFamily="2" charset="2"/>
        <a:buChar char=""/>
        <a:defRPr sz="1800" kern="1200">
          <a:solidFill>
            <a:schemeClr val="tx2"/>
          </a:solidFill>
          <a:latin typeface="+mn-lt"/>
          <a:ea typeface="+mn-ea"/>
          <a:cs typeface="+mn-cs"/>
        </a:defRPr>
      </a:lvl5pPr>
      <a:lvl6pPr marL="27432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6pPr>
      <a:lvl7pPr marL="32051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7pPr>
      <a:lvl8pPr marL="36576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8pPr>
      <a:lvl9pPr marL="41195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boz.zm/average-exchange-rates.ht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Treasury Management</a:t>
            </a:r>
          </a:p>
        </p:txBody>
      </p:sp>
      <p:sp>
        <p:nvSpPr>
          <p:cNvPr id="3" name="Subtitle 2"/>
          <p:cNvSpPr>
            <a:spLocks noGrp="1"/>
          </p:cNvSpPr>
          <p:nvPr>
            <p:ph type="subTitle" idx="1"/>
          </p:nvPr>
        </p:nvSpPr>
        <p:spPr/>
        <p:txBody>
          <a:bodyPr/>
          <a:lstStyle/>
          <a:p>
            <a:r>
              <a:rPr lang="en-US" dirty="0"/>
              <a:t>Foreign Exchange Risk Management</a:t>
            </a:r>
          </a:p>
        </p:txBody>
      </p:sp>
    </p:spTree>
    <p:extLst>
      <p:ext uri="{BB962C8B-B14F-4D97-AF65-F5344CB8AC3E}">
        <p14:creationId xmlns:p14="http://schemas.microsoft.com/office/powerpoint/2010/main" val="837277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86F6-7B7C-B154-07E3-5C0160C9A5E2}"/>
              </a:ext>
            </a:extLst>
          </p:cNvPr>
          <p:cNvSpPr>
            <a:spLocks noGrp="1"/>
          </p:cNvSpPr>
          <p:nvPr>
            <p:ph type="title"/>
          </p:nvPr>
        </p:nvSpPr>
        <p:spPr/>
        <p:txBody>
          <a:bodyPr/>
          <a:lstStyle/>
          <a:p>
            <a:r>
              <a:rPr lang="en-GB" dirty="0"/>
              <a:t>Outline </a:t>
            </a:r>
          </a:p>
        </p:txBody>
      </p:sp>
      <p:sp>
        <p:nvSpPr>
          <p:cNvPr id="3" name="Content Placeholder 2">
            <a:extLst>
              <a:ext uri="{FF2B5EF4-FFF2-40B4-BE49-F238E27FC236}">
                <a16:creationId xmlns:a16="http://schemas.microsoft.com/office/drawing/2014/main" id="{AF485C6A-9B15-4AF4-8269-222107644CEA}"/>
              </a:ext>
            </a:extLst>
          </p:cNvPr>
          <p:cNvSpPr>
            <a:spLocks noGrp="1"/>
          </p:cNvSpPr>
          <p:nvPr>
            <p:ph idx="1"/>
          </p:nvPr>
        </p:nvSpPr>
        <p:spPr/>
        <p:txBody>
          <a:bodyPr/>
          <a:lstStyle/>
          <a:p>
            <a:r>
              <a:rPr lang="en-GB" dirty="0"/>
              <a:t>Foreign Exchange Terminology</a:t>
            </a:r>
          </a:p>
          <a:p>
            <a:r>
              <a:rPr lang="en-GB" dirty="0"/>
              <a:t>Cross Rates  </a:t>
            </a:r>
          </a:p>
          <a:p>
            <a:r>
              <a:rPr lang="en-GB" dirty="0"/>
              <a:t>Types of Foreign Exchange Risk</a:t>
            </a:r>
          </a:p>
          <a:p>
            <a:r>
              <a:rPr lang="en-GB" dirty="0"/>
              <a:t>Business Practices Strategies </a:t>
            </a:r>
          </a:p>
          <a:p>
            <a:r>
              <a:rPr lang="en-GB" dirty="0"/>
              <a:t>Financial Hedging Instruments </a:t>
            </a:r>
          </a:p>
        </p:txBody>
      </p:sp>
    </p:spTree>
    <p:extLst>
      <p:ext uri="{BB962C8B-B14F-4D97-AF65-F5344CB8AC3E}">
        <p14:creationId xmlns:p14="http://schemas.microsoft.com/office/powerpoint/2010/main" val="152629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endParaRPr lang="en-US" dirty="0"/>
          </a:p>
        </p:txBody>
      </p:sp>
      <p:sp>
        <p:nvSpPr>
          <p:cNvPr id="3" name="Content Placeholder 2"/>
          <p:cNvSpPr>
            <a:spLocks noGrp="1"/>
          </p:cNvSpPr>
          <p:nvPr>
            <p:ph idx="1"/>
          </p:nvPr>
        </p:nvSpPr>
        <p:spPr/>
        <p:txBody>
          <a:bodyPr>
            <a:normAutofit fontScale="92500"/>
          </a:bodyPr>
          <a:lstStyle/>
          <a:p>
            <a:r>
              <a:rPr lang="en-GB" dirty="0"/>
              <a:t>When a company accepts foreign currency in payment for its goods or services, it accepts some level of foreign exchange risk</a:t>
            </a:r>
          </a:p>
          <a:p>
            <a:r>
              <a:rPr lang="en-GB" dirty="0"/>
              <a:t>This is because the value of the foreign currency may fluctuate in relation to the company’s home currency</a:t>
            </a:r>
          </a:p>
          <a:p>
            <a:r>
              <a:rPr lang="en-GB" dirty="0"/>
              <a:t>When dealing in foreign currencies, a company must determine its level of exposure, create a plan on how to mitigate that risk, engage in daily activities to implement the plan and properly account for each transaction</a:t>
            </a:r>
            <a:endParaRPr lang="en-US" dirty="0"/>
          </a:p>
        </p:txBody>
      </p:sp>
    </p:spTree>
    <p:extLst>
      <p:ext uri="{BB962C8B-B14F-4D97-AF65-F5344CB8AC3E}">
        <p14:creationId xmlns:p14="http://schemas.microsoft.com/office/powerpoint/2010/main" val="142290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Foreign Exchange Terminology</a:t>
            </a:r>
            <a:endParaRPr lang="en-US" dirty="0"/>
          </a:p>
        </p:txBody>
      </p:sp>
      <p:sp>
        <p:nvSpPr>
          <p:cNvPr id="3" name="Content Placeholder 2"/>
          <p:cNvSpPr>
            <a:spLocks noGrp="1"/>
          </p:cNvSpPr>
          <p:nvPr>
            <p:ph idx="1"/>
          </p:nvPr>
        </p:nvSpPr>
        <p:spPr/>
        <p:txBody>
          <a:bodyPr/>
          <a:lstStyle/>
          <a:p>
            <a:r>
              <a:rPr lang="en-GB" dirty="0"/>
              <a:t>Base currency is the unit of currency that does not fluctuate in amount</a:t>
            </a:r>
          </a:p>
          <a:p>
            <a:r>
              <a:rPr lang="en-GB" dirty="0"/>
              <a:t>Quoted currency is the unit of currency that is variable or fluctuates.</a:t>
            </a:r>
          </a:p>
          <a:p>
            <a:r>
              <a:rPr lang="en-GB" dirty="0"/>
              <a:t>The U.S. dollar is most commonly the base currency</a:t>
            </a:r>
          </a:p>
          <a:p>
            <a:r>
              <a:rPr lang="en-GB" dirty="0"/>
              <a:t>A indirect quote is where the dollar is the base currency and the home currency is the quoted currency </a:t>
            </a:r>
            <a:endParaRPr lang="en-US" dirty="0"/>
          </a:p>
        </p:txBody>
      </p:sp>
    </p:spTree>
    <p:extLst>
      <p:ext uri="{BB962C8B-B14F-4D97-AF65-F5344CB8AC3E}">
        <p14:creationId xmlns:p14="http://schemas.microsoft.com/office/powerpoint/2010/main" val="1989230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Foreign Exchange Terminology</a:t>
            </a:r>
            <a:endParaRPr lang="en-US" dirty="0"/>
          </a:p>
        </p:txBody>
      </p:sp>
      <p:sp>
        <p:nvSpPr>
          <p:cNvPr id="3" name="Content Placeholder 2"/>
          <p:cNvSpPr>
            <a:spLocks noGrp="1"/>
          </p:cNvSpPr>
          <p:nvPr>
            <p:ph idx="1"/>
          </p:nvPr>
        </p:nvSpPr>
        <p:spPr/>
        <p:txBody>
          <a:bodyPr>
            <a:normAutofit/>
          </a:bodyPr>
          <a:lstStyle/>
          <a:p>
            <a:r>
              <a:rPr lang="en-GB" dirty="0"/>
              <a:t>For example USD/ZMK = 12.3938</a:t>
            </a:r>
          </a:p>
          <a:p>
            <a:r>
              <a:rPr lang="en-GB" dirty="0"/>
              <a:t>A direct quote will be ZMK/USD = 0.0807</a:t>
            </a:r>
          </a:p>
          <a:p>
            <a:r>
              <a:rPr lang="en-GB" dirty="0"/>
              <a:t>The direct quote is the inverse of the indirect quote</a:t>
            </a:r>
          </a:p>
          <a:p>
            <a:pPr marL="0" indent="0">
              <a:buNone/>
            </a:pPr>
            <a:endParaRPr lang="en-GB" dirty="0"/>
          </a:p>
        </p:txBody>
      </p:sp>
    </p:spTree>
    <p:extLst>
      <p:ext uri="{BB962C8B-B14F-4D97-AF65-F5344CB8AC3E}">
        <p14:creationId xmlns:p14="http://schemas.microsoft.com/office/powerpoint/2010/main" val="3698122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Calculation of Cross Rates</a:t>
            </a:r>
            <a:endParaRPr lang="en-US" dirty="0"/>
          </a:p>
        </p:txBody>
      </p:sp>
      <p:sp>
        <p:nvSpPr>
          <p:cNvPr id="3" name="Content Placeholder 2"/>
          <p:cNvSpPr>
            <a:spLocks noGrp="1"/>
          </p:cNvSpPr>
          <p:nvPr>
            <p:ph idx="1"/>
          </p:nvPr>
        </p:nvSpPr>
        <p:spPr/>
        <p:txBody>
          <a:bodyPr/>
          <a:lstStyle/>
          <a:p>
            <a:r>
              <a:rPr lang="en-GB" dirty="0"/>
              <a:t>A cross rate is an exchange rate that is calculated from two other rates.</a:t>
            </a:r>
          </a:p>
          <a:p>
            <a:r>
              <a:rPr lang="en-GB" dirty="0"/>
              <a:t>Most trading is against the dollar and exchange rates involving two currencies, neither of which is the US dollar are referred to as cross rates</a:t>
            </a:r>
          </a:p>
          <a:p>
            <a:r>
              <a:rPr lang="en-GB" dirty="0"/>
              <a:t>The method of calculation depends on whether the currency rates in the calculation are both indirect (or both direct) or one rate is direct and one indirect</a:t>
            </a:r>
            <a:endParaRPr lang="en-US" dirty="0"/>
          </a:p>
        </p:txBody>
      </p:sp>
    </p:spTree>
    <p:extLst>
      <p:ext uri="{BB962C8B-B14F-4D97-AF65-F5344CB8AC3E}">
        <p14:creationId xmlns:p14="http://schemas.microsoft.com/office/powerpoint/2010/main" val="3936154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Calculation of Cross Rates</a:t>
            </a:r>
            <a:endParaRPr lang="en-US" dirty="0"/>
          </a:p>
        </p:txBody>
      </p:sp>
      <p:sp>
        <p:nvSpPr>
          <p:cNvPr id="3" name="Content Placeholder 2"/>
          <p:cNvSpPr>
            <a:spLocks noGrp="1"/>
          </p:cNvSpPr>
          <p:nvPr>
            <p:ph idx="1"/>
          </p:nvPr>
        </p:nvSpPr>
        <p:spPr/>
        <p:txBody>
          <a:bodyPr/>
          <a:lstStyle/>
          <a:p>
            <a:pPr marL="514350" indent="-514350">
              <a:buAutoNum type="romanLcParenBoth"/>
            </a:pPr>
            <a:r>
              <a:rPr lang="en-GB" dirty="0"/>
              <a:t>Both indirect and reciprocal:</a:t>
            </a:r>
          </a:p>
          <a:p>
            <a:pPr marL="0" indent="0">
              <a:buNone/>
            </a:pPr>
            <a:r>
              <a:rPr lang="en-GB" dirty="0"/>
              <a:t>USD 1= NOK7.6484- 7.6548</a:t>
            </a:r>
          </a:p>
          <a:p>
            <a:pPr marL="0" indent="0">
              <a:buNone/>
            </a:pPr>
            <a:r>
              <a:rPr lang="en-GB" dirty="0"/>
              <a:t>USD 1= CHF 1.2965 – 1.2982</a:t>
            </a:r>
          </a:p>
          <a:p>
            <a:r>
              <a:rPr lang="en-GB" dirty="0"/>
              <a:t>You as a trader want a NOK/CHF exchange rate.</a:t>
            </a:r>
          </a:p>
          <a:p>
            <a:r>
              <a:rPr lang="en-GB" dirty="0"/>
              <a:t>NOK will be the base currency</a:t>
            </a:r>
            <a:endParaRPr lang="en-US" dirty="0"/>
          </a:p>
        </p:txBody>
      </p:sp>
    </p:spTree>
    <p:extLst>
      <p:ext uri="{BB962C8B-B14F-4D97-AF65-F5344CB8AC3E}">
        <p14:creationId xmlns:p14="http://schemas.microsoft.com/office/powerpoint/2010/main" val="800463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Calculation of Cross Rates</a:t>
            </a:r>
            <a:endParaRPr lang="en-US" dirty="0"/>
          </a:p>
        </p:txBody>
      </p:sp>
      <p:sp>
        <p:nvSpPr>
          <p:cNvPr id="3" name="Content Placeholder 2"/>
          <p:cNvSpPr>
            <a:spLocks noGrp="1"/>
          </p:cNvSpPr>
          <p:nvPr>
            <p:ph idx="1"/>
          </p:nvPr>
        </p:nvSpPr>
        <p:spPr/>
        <p:txBody>
          <a:bodyPr/>
          <a:lstStyle/>
          <a:p>
            <a:r>
              <a:rPr lang="en-GB" dirty="0"/>
              <a:t>To calculate the rate at which you buy CHF/sell NOK, select the rates quoted by other banks at which you are able to:</a:t>
            </a:r>
          </a:p>
          <a:p>
            <a:pPr>
              <a:buFont typeface="Wingdings" pitchFamily="2" charset="2"/>
              <a:buChar char="§"/>
            </a:pPr>
            <a:r>
              <a:rPr lang="en-GB" dirty="0"/>
              <a:t>Buy the CHF in the market versus USD- use other bank’s bid rate of 1.2965</a:t>
            </a:r>
          </a:p>
          <a:p>
            <a:pPr>
              <a:buFont typeface="Wingdings" pitchFamily="2" charset="2"/>
              <a:buChar char="§"/>
            </a:pPr>
            <a:r>
              <a:rPr lang="en-GB" dirty="0"/>
              <a:t>Sell the NOK in the market versus USD- other bank’s offered rate of 7.6548</a:t>
            </a:r>
            <a:endParaRPr lang="en-US" dirty="0"/>
          </a:p>
        </p:txBody>
      </p:sp>
    </p:spTree>
    <p:extLst>
      <p:ext uri="{BB962C8B-B14F-4D97-AF65-F5344CB8AC3E}">
        <p14:creationId xmlns:p14="http://schemas.microsoft.com/office/powerpoint/2010/main" val="84005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Calculation of Cross Rates</a:t>
            </a:r>
            <a:endParaRPr lang="en-US" dirty="0"/>
          </a:p>
        </p:txBody>
      </p:sp>
      <p:sp>
        <p:nvSpPr>
          <p:cNvPr id="3" name="Content Placeholder 2"/>
          <p:cNvSpPr>
            <a:spLocks noGrp="1"/>
          </p:cNvSpPr>
          <p:nvPr>
            <p:ph idx="1"/>
          </p:nvPr>
        </p:nvSpPr>
        <p:spPr/>
        <p:txBody>
          <a:bodyPr/>
          <a:lstStyle/>
          <a:p>
            <a:r>
              <a:rPr lang="en-GB" dirty="0"/>
              <a:t>The rule is to divide by the new base currency i.e.</a:t>
            </a:r>
          </a:p>
          <a:p>
            <a:pPr marL="0" indent="0">
              <a:buNone/>
            </a:pPr>
            <a:r>
              <a:rPr lang="en-GB" dirty="0"/>
              <a:t>NOK1 = CHF1.2965/NOK7.6548 =  0.1694</a:t>
            </a:r>
          </a:p>
          <a:p>
            <a:r>
              <a:rPr lang="en-GB" dirty="0"/>
              <a:t>to calculate the rate at which you will sell CHF/buy NOK</a:t>
            </a:r>
          </a:p>
          <a:p>
            <a:pPr>
              <a:buFont typeface="Wingdings" pitchFamily="2" charset="2"/>
              <a:buChar char="§"/>
            </a:pPr>
            <a:r>
              <a:rPr lang="en-GB" dirty="0"/>
              <a:t>NOK1 = CHF 1.2982/NOK7.6484 = 0.1697</a:t>
            </a:r>
          </a:p>
          <a:p>
            <a:r>
              <a:rPr lang="en-GB" dirty="0"/>
              <a:t>The cross rate is: NOK 1= 0.1694 – 0.1697</a:t>
            </a:r>
          </a:p>
          <a:p>
            <a:pPr marL="0" indent="0">
              <a:buNone/>
            </a:pPr>
            <a:endParaRPr lang="en-US" dirty="0"/>
          </a:p>
        </p:txBody>
      </p:sp>
    </p:spTree>
    <p:extLst>
      <p:ext uri="{BB962C8B-B14F-4D97-AF65-F5344CB8AC3E}">
        <p14:creationId xmlns:p14="http://schemas.microsoft.com/office/powerpoint/2010/main" val="126281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Calculation of Cross Rates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GB" dirty="0"/>
              <a:t>(ii) Where one currency is quoted directly and the other indirectly, the rule is to multiply the two bid and the two offered rates:</a:t>
            </a:r>
          </a:p>
          <a:p>
            <a:pPr marL="0" indent="0">
              <a:buNone/>
            </a:pPr>
            <a:r>
              <a:rPr lang="en-GB" dirty="0"/>
              <a:t> GBP 1 = USD 1.6000 – 1.6010</a:t>
            </a:r>
          </a:p>
          <a:p>
            <a:pPr marL="0" indent="0">
              <a:buNone/>
            </a:pPr>
            <a:r>
              <a:rPr lang="en-GB" dirty="0"/>
              <a:t>                         x                  </a:t>
            </a:r>
            <a:r>
              <a:rPr lang="en-GB" dirty="0" err="1"/>
              <a:t>x</a:t>
            </a:r>
            <a:endParaRPr lang="en-GB" dirty="0"/>
          </a:p>
          <a:p>
            <a:pPr marL="0" indent="0">
              <a:buNone/>
            </a:pPr>
            <a:r>
              <a:rPr lang="en-GB" dirty="0"/>
              <a:t>USD 1 = ZAR7.8300 -  7.8400</a:t>
            </a:r>
          </a:p>
          <a:p>
            <a:pPr marL="0" indent="0">
              <a:buNone/>
            </a:pPr>
            <a:r>
              <a:rPr lang="en-GB" dirty="0"/>
              <a:t>Cross rate GBP/ZAR = 12.5280 – 12.5518</a:t>
            </a:r>
          </a:p>
          <a:p>
            <a:pPr marL="0" indent="0">
              <a:buNone/>
            </a:pPr>
            <a:endParaRPr lang="en-US" dirty="0"/>
          </a:p>
        </p:txBody>
      </p:sp>
    </p:spTree>
    <p:extLst>
      <p:ext uri="{BB962C8B-B14F-4D97-AF65-F5344CB8AC3E}">
        <p14:creationId xmlns:p14="http://schemas.microsoft.com/office/powerpoint/2010/main" val="72937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Foreign Exchange Terminology</a:t>
            </a:r>
            <a:endParaRPr lang="en-US" dirty="0"/>
          </a:p>
        </p:txBody>
      </p:sp>
      <p:sp>
        <p:nvSpPr>
          <p:cNvPr id="3" name="Content Placeholder 2"/>
          <p:cNvSpPr>
            <a:spLocks noGrp="1"/>
          </p:cNvSpPr>
          <p:nvPr>
            <p:ph idx="1"/>
          </p:nvPr>
        </p:nvSpPr>
        <p:spPr/>
        <p:txBody>
          <a:bodyPr/>
          <a:lstStyle/>
          <a:p>
            <a:r>
              <a:rPr lang="en-GB" dirty="0"/>
              <a:t>Most exchange rates are quoted to four decimals, since the sums involved in currency transactions are so large that the extra few decimals can have a meaningful impact on payments </a:t>
            </a:r>
          </a:p>
          <a:p>
            <a:r>
              <a:rPr lang="en-GB" dirty="0"/>
              <a:t>A point or ‘pip’ is a change of one digit at the fourth decimal place of a quote</a:t>
            </a:r>
          </a:p>
          <a:p>
            <a:r>
              <a:rPr lang="en-GB" dirty="0"/>
              <a:t>A foreign exchange dealer will quote both bid and offer foreign exchange prices</a:t>
            </a:r>
            <a:endParaRPr lang="en-US" dirty="0"/>
          </a:p>
          <a:p>
            <a:endParaRPr lang="en-US" dirty="0"/>
          </a:p>
        </p:txBody>
      </p:sp>
    </p:spTree>
    <p:extLst>
      <p:ext uri="{BB962C8B-B14F-4D97-AF65-F5344CB8AC3E}">
        <p14:creationId xmlns:p14="http://schemas.microsoft.com/office/powerpoint/2010/main" val="1609699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Foreign Exchange Terminology</a:t>
            </a:r>
            <a:endParaRPr lang="en-US" dirty="0"/>
          </a:p>
        </p:txBody>
      </p:sp>
      <p:sp>
        <p:nvSpPr>
          <p:cNvPr id="3" name="Content Placeholder 2"/>
          <p:cNvSpPr>
            <a:spLocks noGrp="1"/>
          </p:cNvSpPr>
          <p:nvPr>
            <p:ph idx="1"/>
          </p:nvPr>
        </p:nvSpPr>
        <p:spPr/>
        <p:txBody>
          <a:bodyPr>
            <a:normAutofit fontScale="92500"/>
          </a:bodyPr>
          <a:lstStyle/>
          <a:p>
            <a:r>
              <a:rPr lang="en-GB" dirty="0"/>
              <a:t>The bid price is the price at which the dealer will purchase a currency, while the ask price at which the dealer will sell a currency</a:t>
            </a:r>
          </a:p>
          <a:p>
            <a:r>
              <a:rPr lang="en-GB" dirty="0"/>
              <a:t>The bank will always buy low and sell high.</a:t>
            </a:r>
          </a:p>
          <a:p>
            <a:r>
              <a:rPr lang="en-GB" dirty="0"/>
              <a:t>Spot rate is the current exchange rate between any two currencies</a:t>
            </a:r>
          </a:p>
          <a:p>
            <a:r>
              <a:rPr lang="en-GB" dirty="0"/>
              <a:t>Delivery date or value date is the date on which two parties to a foreign exchange transaction exchange funds</a:t>
            </a:r>
            <a:endParaRPr lang="en-US" dirty="0"/>
          </a:p>
        </p:txBody>
      </p:sp>
    </p:spTree>
    <p:extLst>
      <p:ext uri="{BB962C8B-B14F-4D97-AF65-F5344CB8AC3E}">
        <p14:creationId xmlns:p14="http://schemas.microsoft.com/office/powerpoint/2010/main" val="2568688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Foreign Exchange Terminology</a:t>
            </a:r>
            <a:endParaRPr lang="en-US" dirty="0"/>
          </a:p>
        </p:txBody>
      </p:sp>
      <p:sp>
        <p:nvSpPr>
          <p:cNvPr id="3" name="Content Placeholder 2"/>
          <p:cNvSpPr>
            <a:spLocks noGrp="1"/>
          </p:cNvSpPr>
          <p:nvPr>
            <p:ph idx="1"/>
          </p:nvPr>
        </p:nvSpPr>
        <p:spPr/>
        <p:txBody>
          <a:bodyPr/>
          <a:lstStyle/>
          <a:p>
            <a:r>
              <a:rPr lang="en-GB" dirty="0"/>
              <a:t>Spot settlement occurs where a company requires foreign exchange immediately, even though in practice final settlement of the transaction will take place after one to two days</a:t>
            </a:r>
            <a:endParaRPr lang="en-US" dirty="0"/>
          </a:p>
        </p:txBody>
      </p:sp>
    </p:spTree>
    <p:extLst>
      <p:ext uri="{BB962C8B-B14F-4D97-AF65-F5344CB8AC3E}">
        <p14:creationId xmlns:p14="http://schemas.microsoft.com/office/powerpoint/2010/main" val="1327419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245F0-2580-4B0A-AC42-EBC48DA25ACB}"/>
              </a:ext>
            </a:extLst>
          </p:cNvPr>
          <p:cNvSpPr>
            <a:spLocks noGrp="1"/>
          </p:cNvSpPr>
          <p:nvPr>
            <p:ph type="title"/>
          </p:nvPr>
        </p:nvSpPr>
        <p:spPr/>
        <p:txBody>
          <a:bodyPr/>
          <a:lstStyle/>
          <a:p>
            <a:r>
              <a:rPr lang="en-GB" dirty="0"/>
              <a:t>Foreign Exchange Terminology</a:t>
            </a:r>
          </a:p>
        </p:txBody>
      </p:sp>
      <p:sp>
        <p:nvSpPr>
          <p:cNvPr id="5" name="Rectangle 1">
            <a:extLst>
              <a:ext uri="{FF2B5EF4-FFF2-40B4-BE49-F238E27FC236}">
                <a16:creationId xmlns:a16="http://schemas.microsoft.com/office/drawing/2014/main" id="{0522F015-3AD3-443C-AE85-91286260367B}"/>
              </a:ext>
            </a:extLst>
          </p:cNvPr>
          <p:cNvSpPr>
            <a:spLocks noChangeArrowheads="1"/>
          </p:cNvSpPr>
          <p:nvPr/>
        </p:nvSpPr>
        <p:spPr bwMode="auto">
          <a:xfrm flipV="1">
            <a:off x="-5979015" y="-258721"/>
            <a:ext cx="193679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7" name="Content Placeholder 6">
            <a:extLst>
              <a:ext uri="{FF2B5EF4-FFF2-40B4-BE49-F238E27FC236}">
                <a16:creationId xmlns:a16="http://schemas.microsoft.com/office/drawing/2014/main" id="{FA461505-D2D7-42E1-8E10-D33DBA800363}"/>
              </a:ext>
            </a:extLst>
          </p:cNvPr>
          <p:cNvGraphicFramePr>
            <a:graphicFrameLocks noGrp="1"/>
          </p:cNvGraphicFramePr>
          <p:nvPr>
            <p:ph idx="1"/>
            <p:extLst>
              <p:ext uri="{D42A27DB-BD31-4B8C-83A1-F6EECF244321}">
                <p14:modId xmlns:p14="http://schemas.microsoft.com/office/powerpoint/2010/main" val="3051572"/>
              </p:ext>
            </p:extLst>
          </p:nvPr>
        </p:nvGraphicFramePr>
        <p:xfrm>
          <a:off x="685800" y="2017486"/>
          <a:ext cx="7770813" cy="4093033"/>
        </p:xfrm>
        <a:graphic>
          <a:graphicData uri="http://schemas.openxmlformats.org/drawingml/2006/table">
            <a:tbl>
              <a:tblPr/>
              <a:tblGrid>
                <a:gridCol w="2590271">
                  <a:extLst>
                    <a:ext uri="{9D8B030D-6E8A-4147-A177-3AD203B41FA5}">
                      <a16:colId xmlns:a16="http://schemas.microsoft.com/office/drawing/2014/main" val="1332962236"/>
                    </a:ext>
                  </a:extLst>
                </a:gridCol>
                <a:gridCol w="2590271">
                  <a:extLst>
                    <a:ext uri="{9D8B030D-6E8A-4147-A177-3AD203B41FA5}">
                      <a16:colId xmlns:a16="http://schemas.microsoft.com/office/drawing/2014/main" val="1712543547"/>
                    </a:ext>
                  </a:extLst>
                </a:gridCol>
                <a:gridCol w="2590271">
                  <a:extLst>
                    <a:ext uri="{9D8B030D-6E8A-4147-A177-3AD203B41FA5}">
                      <a16:colId xmlns:a16="http://schemas.microsoft.com/office/drawing/2014/main" val="719889654"/>
                    </a:ext>
                  </a:extLst>
                </a:gridCol>
              </a:tblGrid>
              <a:tr h="584719">
                <a:tc gridSpan="3">
                  <a:txBody>
                    <a:bodyPr/>
                    <a:lstStyle/>
                    <a:p>
                      <a:pPr algn="l" fontAlgn="b"/>
                      <a:r>
                        <a:rPr lang="en-GB" b="1">
                          <a:solidFill>
                            <a:srgbClr val="FFFFFF"/>
                          </a:solidFill>
                          <a:effectLst/>
                          <a:latin typeface="Raleway"/>
                        </a:rPr>
                        <a:t>verage Exchange rates: 30-09-2021</a:t>
                      </a:r>
                    </a:p>
                  </a:txBody>
                  <a:tcPr marL="19050" marR="19050" marT="19050" marB="19050" anchor="b">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a:noFill/>
                    </a:lnT>
                    <a:lnB w="9525" cap="flat" cmpd="sng" algn="ctr">
                      <a:solidFill>
                        <a:srgbClr val="D3D3D3"/>
                      </a:solidFill>
                      <a:prstDash val="solid"/>
                      <a:round/>
                      <a:headEnd type="none" w="med" len="med"/>
                      <a:tailEnd type="none" w="med" len="med"/>
                    </a:lnB>
                    <a:solidFill>
                      <a:srgbClr val="033F58"/>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02008410"/>
                  </a:ext>
                </a:extLst>
              </a:tr>
              <a:tr h="584719">
                <a:tc>
                  <a:txBody>
                    <a:bodyPr/>
                    <a:lstStyle/>
                    <a:p>
                      <a:pPr algn="l" fontAlgn="b"/>
                      <a:r>
                        <a:rPr lang="en-GB" b="1">
                          <a:solidFill>
                            <a:srgbClr val="033F58"/>
                          </a:solidFill>
                          <a:effectLst/>
                          <a:latin typeface="Raleway"/>
                        </a:rPr>
                        <a:t>Currency</a:t>
                      </a:r>
                    </a:p>
                  </a:txBody>
                  <a:tcPr marL="19050" marR="19050" marT="19050" marB="19050" anchor="b">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DADADA"/>
                    </a:solidFill>
                  </a:tcPr>
                </a:tc>
                <a:tc>
                  <a:txBody>
                    <a:bodyPr/>
                    <a:lstStyle/>
                    <a:p>
                      <a:pPr algn="l" fontAlgn="b"/>
                      <a:r>
                        <a:rPr lang="en-GB" b="1">
                          <a:solidFill>
                            <a:srgbClr val="033F58"/>
                          </a:solidFill>
                          <a:effectLst/>
                          <a:latin typeface="Raleway"/>
                        </a:rPr>
                        <a:t>Buying</a:t>
                      </a:r>
                    </a:p>
                  </a:txBody>
                  <a:tcPr marL="19050" marR="19050" marT="19050" marB="19050" anchor="b">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DADADA"/>
                    </a:solidFill>
                  </a:tcPr>
                </a:tc>
                <a:tc>
                  <a:txBody>
                    <a:bodyPr/>
                    <a:lstStyle/>
                    <a:p>
                      <a:pPr algn="l" fontAlgn="b"/>
                      <a:r>
                        <a:rPr lang="en-GB" b="1">
                          <a:solidFill>
                            <a:srgbClr val="033F58"/>
                          </a:solidFill>
                          <a:effectLst/>
                          <a:latin typeface="Raleway"/>
                        </a:rPr>
                        <a:t>Selling</a:t>
                      </a:r>
                    </a:p>
                  </a:txBody>
                  <a:tcPr marL="19050" marR="19050" marT="19050" marB="19050" anchor="b">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DADADA"/>
                    </a:solidFill>
                  </a:tcPr>
                </a:tc>
                <a:extLst>
                  <a:ext uri="{0D108BD9-81ED-4DB2-BD59-A6C34878D82A}">
                    <a16:rowId xmlns:a16="http://schemas.microsoft.com/office/drawing/2014/main" val="3441486957"/>
                  </a:ext>
                </a:extLst>
              </a:tr>
              <a:tr h="584719">
                <a:tc>
                  <a:txBody>
                    <a:bodyPr/>
                    <a:lstStyle/>
                    <a:p>
                      <a:pPr fontAlgn="t"/>
                      <a:r>
                        <a:rPr lang="en-GB" b="0" i="0">
                          <a:solidFill>
                            <a:srgbClr val="B87333"/>
                          </a:solidFill>
                          <a:effectLst/>
                          <a:latin typeface="FontAwesome"/>
                        </a:rPr>
                        <a:t> USD</a:t>
                      </a:r>
                      <a:endParaRPr lang="en-GB">
                        <a:effectLst/>
                      </a:endParaRP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9F9F9"/>
                    </a:solidFill>
                  </a:tcPr>
                </a:tc>
                <a:tc>
                  <a:txBody>
                    <a:bodyPr/>
                    <a:lstStyle/>
                    <a:p>
                      <a:pPr algn="r" fontAlgn="t"/>
                      <a:r>
                        <a:rPr lang="en-GB">
                          <a:effectLst/>
                        </a:rPr>
                        <a:t>16.7593</a:t>
                      </a: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9F9F9"/>
                    </a:solidFill>
                  </a:tcPr>
                </a:tc>
                <a:tc>
                  <a:txBody>
                    <a:bodyPr/>
                    <a:lstStyle/>
                    <a:p>
                      <a:pPr algn="r" fontAlgn="t"/>
                      <a:r>
                        <a:rPr lang="en-GB">
                          <a:effectLst/>
                        </a:rPr>
                        <a:t>16.8093</a:t>
                      </a: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9F9F9"/>
                    </a:solidFill>
                  </a:tcPr>
                </a:tc>
                <a:extLst>
                  <a:ext uri="{0D108BD9-81ED-4DB2-BD59-A6C34878D82A}">
                    <a16:rowId xmlns:a16="http://schemas.microsoft.com/office/drawing/2014/main" val="1871466037"/>
                  </a:ext>
                </a:extLst>
              </a:tr>
              <a:tr h="584719">
                <a:tc>
                  <a:txBody>
                    <a:bodyPr/>
                    <a:lstStyle/>
                    <a:p>
                      <a:pPr fontAlgn="t"/>
                      <a:r>
                        <a:rPr lang="en-GB" b="0" i="0">
                          <a:solidFill>
                            <a:srgbClr val="B87333"/>
                          </a:solidFill>
                          <a:effectLst/>
                          <a:latin typeface="FontAwesome"/>
                        </a:rPr>
                        <a:t> GBP</a:t>
                      </a:r>
                      <a:endParaRPr lang="en-GB">
                        <a:effectLst/>
                      </a:endParaRP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tcPr>
                </a:tc>
                <a:tc>
                  <a:txBody>
                    <a:bodyPr/>
                    <a:lstStyle/>
                    <a:p>
                      <a:pPr algn="r" fontAlgn="t"/>
                      <a:r>
                        <a:rPr lang="en-GB">
                          <a:effectLst/>
                        </a:rPr>
                        <a:t>22.5648</a:t>
                      </a: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tcPr>
                </a:tc>
                <a:tc>
                  <a:txBody>
                    <a:bodyPr/>
                    <a:lstStyle/>
                    <a:p>
                      <a:pPr algn="r" fontAlgn="t"/>
                      <a:r>
                        <a:rPr lang="en-GB">
                          <a:effectLst/>
                        </a:rPr>
                        <a:t>22.6371</a:t>
                      </a: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576155455"/>
                  </a:ext>
                </a:extLst>
              </a:tr>
              <a:tr h="584719">
                <a:tc>
                  <a:txBody>
                    <a:bodyPr/>
                    <a:lstStyle/>
                    <a:p>
                      <a:pPr fontAlgn="t"/>
                      <a:r>
                        <a:rPr lang="en-GB" b="0" i="0">
                          <a:solidFill>
                            <a:srgbClr val="B87333"/>
                          </a:solidFill>
                          <a:effectLst/>
                          <a:latin typeface="FontAwesome"/>
                        </a:rPr>
                        <a:t> EUR</a:t>
                      </a:r>
                      <a:endParaRPr lang="en-GB">
                        <a:effectLst/>
                      </a:endParaRP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9F9F9"/>
                    </a:solidFill>
                  </a:tcPr>
                </a:tc>
                <a:tc>
                  <a:txBody>
                    <a:bodyPr/>
                    <a:lstStyle/>
                    <a:p>
                      <a:pPr algn="r" fontAlgn="t"/>
                      <a:r>
                        <a:rPr lang="en-GB">
                          <a:effectLst/>
                        </a:rPr>
                        <a:t>19.4106</a:t>
                      </a: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9F9F9"/>
                    </a:solidFill>
                  </a:tcPr>
                </a:tc>
                <a:tc>
                  <a:txBody>
                    <a:bodyPr/>
                    <a:lstStyle/>
                    <a:p>
                      <a:pPr algn="r" fontAlgn="t"/>
                      <a:r>
                        <a:rPr lang="en-GB">
                          <a:effectLst/>
                        </a:rPr>
                        <a:t>19.4736</a:t>
                      </a: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9F9F9"/>
                    </a:solidFill>
                  </a:tcPr>
                </a:tc>
                <a:extLst>
                  <a:ext uri="{0D108BD9-81ED-4DB2-BD59-A6C34878D82A}">
                    <a16:rowId xmlns:a16="http://schemas.microsoft.com/office/drawing/2014/main" val="949745936"/>
                  </a:ext>
                </a:extLst>
              </a:tr>
              <a:tr h="584719">
                <a:tc>
                  <a:txBody>
                    <a:bodyPr/>
                    <a:lstStyle/>
                    <a:p>
                      <a:pPr fontAlgn="t"/>
                      <a:r>
                        <a:rPr lang="en-GB" b="0" i="0">
                          <a:solidFill>
                            <a:srgbClr val="B87333"/>
                          </a:solidFill>
                          <a:effectLst/>
                          <a:latin typeface="FontAwesome"/>
                        </a:rPr>
                        <a:t> ZAR</a:t>
                      </a:r>
                      <a:endParaRPr lang="en-GB">
                        <a:effectLst/>
                      </a:endParaRP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tcPr>
                </a:tc>
                <a:tc>
                  <a:txBody>
                    <a:bodyPr/>
                    <a:lstStyle/>
                    <a:p>
                      <a:pPr algn="r" fontAlgn="t"/>
                      <a:r>
                        <a:rPr lang="en-GB">
                          <a:effectLst/>
                        </a:rPr>
                        <a:t>1.1051</a:t>
                      </a: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tcPr>
                </a:tc>
                <a:tc>
                  <a:txBody>
                    <a:bodyPr/>
                    <a:lstStyle/>
                    <a:p>
                      <a:pPr algn="r" fontAlgn="t"/>
                      <a:r>
                        <a:rPr lang="en-GB">
                          <a:effectLst/>
                        </a:rPr>
                        <a:t>1.1093</a:t>
                      </a: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tcPr>
                </a:tc>
                <a:extLst>
                  <a:ext uri="{0D108BD9-81ED-4DB2-BD59-A6C34878D82A}">
                    <a16:rowId xmlns:a16="http://schemas.microsoft.com/office/drawing/2014/main" val="1755683496"/>
                  </a:ext>
                </a:extLst>
              </a:tr>
              <a:tr h="584719">
                <a:tc gridSpan="3">
                  <a:txBody>
                    <a:bodyPr/>
                    <a:lstStyle/>
                    <a:p>
                      <a:pPr fontAlgn="t"/>
                      <a:r>
                        <a:rPr lang="en-GB" u="none" strike="noStrike" cap="all" dirty="0">
                          <a:solidFill>
                            <a:srgbClr val="B87333"/>
                          </a:solidFill>
                          <a:effectLst/>
                          <a:latin typeface="FontAwesome"/>
                          <a:hlinkClick r:id="rId2"/>
                        </a:rPr>
                        <a:t>  View more</a:t>
                      </a:r>
                      <a:endParaRPr lang="en-GB" cap="all" dirty="0">
                        <a:solidFill>
                          <a:srgbClr val="044A67"/>
                        </a:solidFill>
                        <a:effectLst/>
                      </a:endParaRPr>
                    </a:p>
                  </a:txBody>
                  <a:tcPr marL="19050" marR="19050" marT="19050" marB="1905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698175299"/>
                  </a:ext>
                </a:extLst>
              </a:tr>
            </a:tbl>
          </a:graphicData>
        </a:graphic>
      </p:graphicFrame>
    </p:spTree>
    <p:extLst>
      <p:ext uri="{BB962C8B-B14F-4D97-AF65-F5344CB8AC3E}">
        <p14:creationId xmlns:p14="http://schemas.microsoft.com/office/powerpoint/2010/main" val="1418540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Nature of Foreign Exchange Risk</a:t>
            </a:r>
            <a:endParaRPr lang="en-US" dirty="0"/>
          </a:p>
        </p:txBody>
      </p:sp>
      <p:sp>
        <p:nvSpPr>
          <p:cNvPr id="3" name="Content Placeholder 2"/>
          <p:cNvSpPr>
            <a:spLocks noGrp="1"/>
          </p:cNvSpPr>
          <p:nvPr>
            <p:ph idx="1"/>
          </p:nvPr>
        </p:nvSpPr>
        <p:spPr/>
        <p:txBody>
          <a:bodyPr>
            <a:normAutofit fontScale="92500" lnSpcReduction="10000"/>
          </a:bodyPr>
          <a:lstStyle/>
          <a:p>
            <a:r>
              <a:rPr lang="en-GB" dirty="0"/>
              <a:t>Suppose that a company’s home currency is the Kwacha</a:t>
            </a:r>
          </a:p>
          <a:p>
            <a:r>
              <a:rPr lang="en-GB" dirty="0"/>
              <a:t>The company is expecting a payment in dollars from a foreign supplier</a:t>
            </a:r>
          </a:p>
          <a:p>
            <a:r>
              <a:rPr lang="en-GB" dirty="0"/>
              <a:t>If the kwacha appreciates against the dollar, the company will expect reduced kwacha inflows which causes the company to record a foreign exchange loss</a:t>
            </a:r>
            <a:endParaRPr lang="en-US" dirty="0"/>
          </a:p>
          <a:p>
            <a:r>
              <a:rPr lang="en-GB" dirty="0"/>
              <a:t>There is a possibility that the exchange rates will move in the opposite direction, which creates a gain for the selling company</a:t>
            </a:r>
            <a:endParaRPr lang="en-US" dirty="0"/>
          </a:p>
        </p:txBody>
      </p:sp>
    </p:spTree>
    <p:extLst>
      <p:ext uri="{BB962C8B-B14F-4D97-AF65-F5344CB8AC3E}">
        <p14:creationId xmlns:p14="http://schemas.microsoft.com/office/powerpoint/2010/main" val="41908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Nature of Foreign Exchange Risk</a:t>
            </a:r>
            <a:endParaRPr lang="en-US" dirty="0"/>
          </a:p>
        </p:txBody>
      </p:sp>
      <p:sp>
        <p:nvSpPr>
          <p:cNvPr id="3" name="Content Placeholder 2"/>
          <p:cNvSpPr>
            <a:spLocks noGrp="1"/>
          </p:cNvSpPr>
          <p:nvPr>
            <p:ph idx="1"/>
          </p:nvPr>
        </p:nvSpPr>
        <p:spPr/>
        <p:txBody>
          <a:bodyPr/>
          <a:lstStyle/>
          <a:p>
            <a:r>
              <a:rPr lang="en-GB" dirty="0"/>
              <a:t>Smaller firms that do not engage in much foreign currency trade are more likely to accept gains and losses from changes in the spot rate</a:t>
            </a:r>
          </a:p>
          <a:p>
            <a:r>
              <a:rPr lang="en-GB" dirty="0"/>
              <a:t>However, this can cause wild swings in the profitability of larger firms with substantial multicurrency trading activity</a:t>
            </a:r>
          </a:p>
          <a:p>
            <a:r>
              <a:rPr lang="en-GB" dirty="0"/>
              <a:t>These firms are more likely to seek a solution that reduces their earnings volatility</a:t>
            </a:r>
            <a:endParaRPr lang="en-US" dirty="0"/>
          </a:p>
        </p:txBody>
      </p:sp>
    </p:spTree>
    <p:extLst>
      <p:ext uri="{BB962C8B-B14F-4D97-AF65-F5344CB8AC3E}">
        <p14:creationId xmlns:p14="http://schemas.microsoft.com/office/powerpoint/2010/main" val="3368729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53472-48D0-4273-BD56-AE76E370E86C}"/>
              </a:ext>
            </a:extLst>
          </p:cNvPr>
          <p:cNvSpPr>
            <a:spLocks noGrp="1"/>
          </p:cNvSpPr>
          <p:nvPr>
            <p:ph type="title"/>
          </p:nvPr>
        </p:nvSpPr>
        <p:spPr/>
        <p:txBody>
          <a:bodyPr/>
          <a:lstStyle/>
          <a:p>
            <a:r>
              <a:rPr lang="en-GB" dirty="0"/>
              <a:t>Types of Foreign Exchange Risk</a:t>
            </a:r>
          </a:p>
        </p:txBody>
      </p:sp>
      <p:sp>
        <p:nvSpPr>
          <p:cNvPr id="3" name="Content Placeholder 2">
            <a:extLst>
              <a:ext uri="{FF2B5EF4-FFF2-40B4-BE49-F238E27FC236}">
                <a16:creationId xmlns:a16="http://schemas.microsoft.com/office/drawing/2014/main" id="{79F2A2D9-2F0C-4983-87AA-A0FD7434FDFB}"/>
              </a:ext>
            </a:extLst>
          </p:cNvPr>
          <p:cNvSpPr>
            <a:spLocks noGrp="1"/>
          </p:cNvSpPr>
          <p:nvPr>
            <p:ph idx="1"/>
          </p:nvPr>
        </p:nvSpPr>
        <p:spPr/>
        <p:txBody>
          <a:bodyPr/>
          <a:lstStyle/>
          <a:p>
            <a:r>
              <a:rPr lang="en-GB" dirty="0"/>
              <a:t>Economic risk</a:t>
            </a:r>
          </a:p>
          <a:p>
            <a:r>
              <a:rPr lang="en-GB" dirty="0"/>
              <a:t>Transaction risk</a:t>
            </a:r>
          </a:p>
          <a:p>
            <a:r>
              <a:rPr lang="en-GB" dirty="0"/>
              <a:t>Translation risk</a:t>
            </a:r>
          </a:p>
          <a:p>
            <a:r>
              <a:rPr lang="en-GB"/>
              <a:t>Political risk</a:t>
            </a:r>
            <a:endParaRPr lang="en-GB" dirty="0"/>
          </a:p>
        </p:txBody>
      </p:sp>
    </p:spTree>
    <p:extLst>
      <p:ext uri="{BB962C8B-B14F-4D97-AF65-F5344CB8AC3E}">
        <p14:creationId xmlns:p14="http://schemas.microsoft.com/office/powerpoint/2010/main" val="4151384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Foreign Exchange Hedging Strategies</a:t>
            </a:r>
            <a:endParaRPr lang="en-US" dirty="0"/>
          </a:p>
        </p:txBody>
      </p:sp>
      <p:sp>
        <p:nvSpPr>
          <p:cNvPr id="3" name="Content Placeholder 2"/>
          <p:cNvSpPr>
            <a:spLocks noGrp="1"/>
          </p:cNvSpPr>
          <p:nvPr>
            <p:ph idx="1"/>
          </p:nvPr>
        </p:nvSpPr>
        <p:spPr/>
        <p:txBody>
          <a:bodyPr/>
          <a:lstStyle/>
          <a:p>
            <a:r>
              <a:rPr lang="en-GB" dirty="0"/>
              <a:t>The treasurer can decide on the following hedging strategies”</a:t>
            </a:r>
          </a:p>
          <a:p>
            <a:pPr marL="514350" indent="-514350">
              <a:buFont typeface="+mj-lt"/>
              <a:buAutoNum type="romanLcPeriod"/>
            </a:pPr>
            <a:r>
              <a:rPr lang="en-GB" dirty="0"/>
              <a:t>To not hedge the exposure</a:t>
            </a:r>
          </a:p>
          <a:p>
            <a:pPr marL="514350" indent="-514350">
              <a:buFont typeface="+mj-lt"/>
              <a:buAutoNum type="romanLcPeriod"/>
            </a:pPr>
            <a:r>
              <a:rPr lang="en-GB" dirty="0"/>
              <a:t>To hedge the exposure through business practices</a:t>
            </a:r>
          </a:p>
          <a:p>
            <a:pPr marL="514350" indent="-514350">
              <a:buFont typeface="+mj-lt"/>
              <a:buAutoNum type="romanLcPeriod"/>
            </a:pPr>
            <a:r>
              <a:rPr lang="en-GB" dirty="0"/>
              <a:t>To hedge the exposure with a derivative</a:t>
            </a:r>
            <a:endParaRPr lang="en-US" dirty="0"/>
          </a:p>
        </p:txBody>
      </p:sp>
    </p:spTree>
    <p:extLst>
      <p:ext uri="{BB962C8B-B14F-4D97-AF65-F5344CB8AC3E}">
        <p14:creationId xmlns:p14="http://schemas.microsoft.com/office/powerpoint/2010/main" val="4045451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Accept the risk</a:t>
            </a:r>
            <a:endParaRPr lang="en-US" dirty="0"/>
          </a:p>
        </p:txBody>
      </p:sp>
      <p:sp>
        <p:nvSpPr>
          <p:cNvPr id="3" name="Content Placeholder 2"/>
          <p:cNvSpPr>
            <a:spLocks noGrp="1"/>
          </p:cNvSpPr>
          <p:nvPr>
            <p:ph idx="1"/>
          </p:nvPr>
        </p:nvSpPr>
        <p:spPr/>
        <p:txBody>
          <a:bodyPr>
            <a:normAutofit fontScale="92500" lnSpcReduction="10000"/>
          </a:bodyPr>
          <a:lstStyle/>
          <a:p>
            <a:r>
              <a:rPr lang="en-GB" dirty="0"/>
              <a:t>Not hedging the exposure is the most simplest strategy </a:t>
            </a:r>
          </a:p>
          <a:p>
            <a:r>
              <a:rPr lang="en-GB" dirty="0"/>
              <a:t>A company can accept the foreign exchange risk, and record any gains or losses on changes in the spot rate as they occur.</a:t>
            </a:r>
          </a:p>
          <a:p>
            <a:r>
              <a:rPr lang="en-GB" dirty="0"/>
              <a:t>For a smaller currency position, the expense associated with setting up and monitoring a hedge may be greater than any likely loss from a decline in the spot rate.</a:t>
            </a:r>
          </a:p>
          <a:p>
            <a:r>
              <a:rPr lang="en-GB" dirty="0"/>
              <a:t>Conversely, as a company currency position increases in size, the risk also increases and makes this strategy less palatable </a:t>
            </a:r>
            <a:endParaRPr lang="en-US" dirty="0"/>
          </a:p>
        </p:txBody>
      </p:sp>
    </p:spTree>
    <p:extLst>
      <p:ext uri="{BB962C8B-B14F-4D97-AF65-F5344CB8AC3E}">
        <p14:creationId xmlns:p14="http://schemas.microsoft.com/office/powerpoint/2010/main" val="205906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Business Practice Strategies</a:t>
            </a:r>
            <a:endParaRPr lang="en-US" dirty="0"/>
          </a:p>
        </p:txBody>
      </p:sp>
      <p:sp>
        <p:nvSpPr>
          <p:cNvPr id="3" name="Content Placeholder 2"/>
          <p:cNvSpPr>
            <a:spLocks noGrp="1"/>
          </p:cNvSpPr>
          <p:nvPr>
            <p:ph idx="1"/>
          </p:nvPr>
        </p:nvSpPr>
        <p:spPr/>
        <p:txBody>
          <a:bodyPr/>
          <a:lstStyle/>
          <a:p>
            <a:pPr>
              <a:buFont typeface="+mj-lt"/>
              <a:buAutoNum type="arabicPeriod"/>
            </a:pPr>
            <a:r>
              <a:rPr lang="en-GB" dirty="0"/>
              <a:t>Insist on home currency payment</a:t>
            </a:r>
            <a:endParaRPr lang="en-US" dirty="0"/>
          </a:p>
          <a:p>
            <a:r>
              <a:rPr lang="en-GB" dirty="0"/>
              <a:t>The firm should insist on being paid in the company’s home currency</a:t>
            </a:r>
          </a:p>
          <a:p>
            <a:r>
              <a:rPr lang="en-GB" dirty="0"/>
              <a:t>This shifts the foreign exchange risk entirely to the customer.</a:t>
            </a:r>
          </a:p>
          <a:p>
            <a:r>
              <a:rPr lang="en-GB" dirty="0"/>
              <a:t>This is a likely strategy for a company that is dominant in its industry but less so for a smaller firm</a:t>
            </a:r>
            <a:endParaRPr lang="en-US" dirty="0"/>
          </a:p>
        </p:txBody>
      </p:sp>
    </p:spTree>
    <p:extLst>
      <p:ext uri="{BB962C8B-B14F-4D97-AF65-F5344CB8AC3E}">
        <p14:creationId xmlns:p14="http://schemas.microsoft.com/office/powerpoint/2010/main" val="225444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Business Practice Strategies</a:t>
            </a:r>
            <a:endParaRPr lang="en-US" dirty="0"/>
          </a:p>
        </p:txBody>
      </p:sp>
      <p:sp>
        <p:nvSpPr>
          <p:cNvPr id="3" name="Content Placeholder 2"/>
          <p:cNvSpPr>
            <a:spLocks noGrp="1"/>
          </p:cNvSpPr>
          <p:nvPr>
            <p:ph idx="1"/>
          </p:nvPr>
        </p:nvSpPr>
        <p:spPr/>
        <p:txBody>
          <a:bodyPr/>
          <a:lstStyle/>
          <a:p>
            <a:r>
              <a:rPr lang="en-GB" dirty="0"/>
              <a:t>The worst choice is to offer a customer a choice of currencies in which to make a payment, since it will invariably use the one having the more favourable exchange rate</a:t>
            </a:r>
          </a:p>
          <a:p>
            <a:pPr marL="0" indent="0">
              <a:buNone/>
            </a:pPr>
            <a:endParaRPr lang="en-US" dirty="0"/>
          </a:p>
        </p:txBody>
      </p:sp>
    </p:spTree>
    <p:extLst>
      <p:ext uri="{BB962C8B-B14F-4D97-AF65-F5344CB8AC3E}">
        <p14:creationId xmlns:p14="http://schemas.microsoft.com/office/powerpoint/2010/main" val="1814196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Business Practice Strategies</a:t>
            </a:r>
            <a:endParaRPr lang="en-US" dirty="0"/>
          </a:p>
        </p:txBody>
      </p:sp>
      <p:sp>
        <p:nvSpPr>
          <p:cNvPr id="3" name="Content Placeholder 2"/>
          <p:cNvSpPr>
            <a:spLocks noGrp="1"/>
          </p:cNvSpPr>
          <p:nvPr>
            <p:ph idx="1"/>
          </p:nvPr>
        </p:nvSpPr>
        <p:spPr/>
        <p:txBody>
          <a:bodyPr/>
          <a:lstStyle/>
          <a:p>
            <a:pPr marL="0" indent="0">
              <a:buNone/>
            </a:pPr>
            <a:r>
              <a:rPr lang="en-GB" dirty="0"/>
              <a:t>2. Currency surcharges</a:t>
            </a:r>
          </a:p>
          <a:p>
            <a:r>
              <a:rPr lang="en-GB" dirty="0"/>
              <a:t>The firm can bill the customer a currency surcharge if the company incurs a foreign exchange loss between the time of billing and payment.</a:t>
            </a:r>
          </a:p>
          <a:p>
            <a:r>
              <a:rPr lang="en-GB" dirty="0"/>
              <a:t>The surcharge may not be billed for minor changes in the exchange rate, but is triggered by a significant decline in the exchange rate</a:t>
            </a:r>
            <a:endParaRPr lang="en-US" dirty="0"/>
          </a:p>
        </p:txBody>
      </p:sp>
    </p:spTree>
    <p:extLst>
      <p:ext uri="{BB962C8B-B14F-4D97-AF65-F5344CB8AC3E}">
        <p14:creationId xmlns:p14="http://schemas.microsoft.com/office/powerpoint/2010/main" val="285669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Business Practice Strategies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GB" dirty="0"/>
              <a:t>3. Get paid on time </a:t>
            </a:r>
          </a:p>
          <a:p>
            <a:r>
              <a:rPr lang="en-GB" dirty="0"/>
              <a:t>When a company deals with a counterparty in another country, the payment terms may be quite long</a:t>
            </a:r>
          </a:p>
          <a:p>
            <a:r>
              <a:rPr lang="en-GB" dirty="0"/>
              <a:t>This may expose the company to changes in the spot rate to a much greater extent than would be the case if the payment were compressed</a:t>
            </a:r>
          </a:p>
          <a:p>
            <a:r>
              <a:rPr lang="en-GB" dirty="0"/>
              <a:t>Company staff must constantly strive towards sales agreements with shorter payment terms, while collections staff should be aggressive in collecting from foreign customers</a:t>
            </a:r>
            <a:endParaRPr lang="en-US" dirty="0"/>
          </a:p>
        </p:txBody>
      </p:sp>
    </p:spTree>
    <p:extLst>
      <p:ext uri="{BB962C8B-B14F-4D97-AF65-F5344CB8AC3E}">
        <p14:creationId xmlns:p14="http://schemas.microsoft.com/office/powerpoint/2010/main" val="387648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Business Practice Strategies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GB" dirty="0"/>
              <a:t>4. Foreign currency loans</a:t>
            </a:r>
          </a:p>
          <a:p>
            <a:r>
              <a:rPr lang="en-GB" dirty="0"/>
              <a:t>It is possible to offset a foreign currency risk exposure by creating a counter liability, such as a loan</a:t>
            </a:r>
          </a:p>
          <a:p>
            <a:r>
              <a:rPr lang="en-GB" dirty="0"/>
              <a:t>A company can borrow an amount of money in the foreign currency that matches the amount of the receivable</a:t>
            </a:r>
          </a:p>
          <a:p>
            <a:r>
              <a:rPr lang="en-GB" dirty="0"/>
              <a:t>The company uses the proceeds to pay off the loan- all in the same currency</a:t>
            </a:r>
          </a:p>
          <a:p>
            <a:r>
              <a:rPr lang="en-GB" dirty="0"/>
              <a:t>This is especially attractive option if foreign interest rates are low or there is a tax advantage</a:t>
            </a:r>
          </a:p>
          <a:p>
            <a:endParaRPr lang="en-US" dirty="0"/>
          </a:p>
        </p:txBody>
      </p:sp>
    </p:spTree>
    <p:extLst>
      <p:ext uri="{BB962C8B-B14F-4D97-AF65-F5344CB8AC3E}">
        <p14:creationId xmlns:p14="http://schemas.microsoft.com/office/powerpoint/2010/main" val="463553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Business Practice Strategies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GB" dirty="0"/>
              <a:t>5. Sourcing Changes</a:t>
            </a:r>
          </a:p>
          <a:p>
            <a:r>
              <a:rPr lang="en-GB" dirty="0"/>
              <a:t>If there is a large amount of foreign currency cash flows coming from a specific country, the firm can start using suppliers located in the same country</a:t>
            </a:r>
          </a:p>
          <a:p>
            <a:r>
              <a:rPr lang="en-GB" dirty="0"/>
              <a:t>By doing so, the company can find a ready use for the incoming currency, by turning it around and sending it back to the same country</a:t>
            </a:r>
          </a:p>
          <a:p>
            <a:r>
              <a:rPr lang="en-GB" dirty="0"/>
              <a:t>A more permanent possibility is to either buy or build a facility in that country</a:t>
            </a:r>
            <a:endParaRPr lang="en-US" dirty="0"/>
          </a:p>
        </p:txBody>
      </p:sp>
    </p:spTree>
    <p:extLst>
      <p:ext uri="{BB962C8B-B14F-4D97-AF65-F5344CB8AC3E}">
        <p14:creationId xmlns:p14="http://schemas.microsoft.com/office/powerpoint/2010/main" val="2727797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Business Practice Strategies</a:t>
            </a:r>
            <a:endParaRPr lang="en-US" dirty="0"/>
          </a:p>
        </p:txBody>
      </p:sp>
      <p:sp>
        <p:nvSpPr>
          <p:cNvPr id="3" name="Content Placeholder 2"/>
          <p:cNvSpPr>
            <a:spLocks noGrp="1"/>
          </p:cNvSpPr>
          <p:nvPr>
            <p:ph idx="1"/>
          </p:nvPr>
        </p:nvSpPr>
        <p:spPr/>
        <p:txBody>
          <a:bodyPr>
            <a:normAutofit fontScale="92500"/>
          </a:bodyPr>
          <a:lstStyle/>
          <a:p>
            <a:pPr marL="0" indent="0">
              <a:buNone/>
            </a:pPr>
            <a:r>
              <a:rPr lang="en-GB" dirty="0"/>
              <a:t>6. Foreign Currency Accounts</a:t>
            </a:r>
          </a:p>
          <a:p>
            <a:r>
              <a:rPr lang="en-GB" dirty="0"/>
              <a:t>If a company regularly receives and pays out funds in a particular foreign currency, it may make sense to open a foreign exchange account, in which it maintains a sufficient currency balance to meet its operational needs.</a:t>
            </a:r>
          </a:p>
          <a:p>
            <a:r>
              <a:rPr lang="en-GB" dirty="0"/>
              <a:t>This can be cost effective, because the company would otherwise have to buy the foreign currency in order to pay those suppliers requiring payment in foreign currency and sell the same currency upon receipt</a:t>
            </a:r>
          </a:p>
          <a:p>
            <a:pPr marL="0" indent="0">
              <a:buNone/>
            </a:pPr>
            <a:endParaRPr lang="en-GB" dirty="0"/>
          </a:p>
          <a:p>
            <a:endParaRPr lang="en-GB" dirty="0"/>
          </a:p>
          <a:p>
            <a:pPr marL="0" indent="0">
              <a:buNone/>
            </a:pPr>
            <a:endParaRPr lang="en-US" dirty="0"/>
          </a:p>
        </p:txBody>
      </p:sp>
    </p:spTree>
    <p:extLst>
      <p:ext uri="{BB962C8B-B14F-4D97-AF65-F5344CB8AC3E}">
        <p14:creationId xmlns:p14="http://schemas.microsoft.com/office/powerpoint/2010/main" val="2659356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Business Practice Strategies</a:t>
            </a:r>
            <a:endParaRPr lang="en-US" dirty="0"/>
          </a:p>
        </p:txBody>
      </p:sp>
      <p:sp>
        <p:nvSpPr>
          <p:cNvPr id="3" name="Content Placeholder 2"/>
          <p:cNvSpPr>
            <a:spLocks noGrp="1"/>
          </p:cNvSpPr>
          <p:nvPr>
            <p:ph idx="1"/>
          </p:nvPr>
        </p:nvSpPr>
        <p:spPr/>
        <p:txBody>
          <a:bodyPr/>
          <a:lstStyle/>
          <a:p>
            <a:pPr marL="0" indent="0">
              <a:buNone/>
            </a:pPr>
            <a:r>
              <a:rPr lang="en-GB" dirty="0"/>
              <a:t>7. Unilateral, Bilateral and Multilateral Netting Arrangements</a:t>
            </a:r>
          </a:p>
          <a:p>
            <a:pPr marL="514350" indent="-514350">
              <a:buAutoNum type="romanLcParenBoth"/>
            </a:pPr>
            <a:r>
              <a:rPr lang="en-GB" dirty="0"/>
              <a:t>Unilateral Netting</a:t>
            </a:r>
          </a:p>
          <a:p>
            <a:r>
              <a:rPr lang="en-GB" dirty="0"/>
              <a:t>A company can aggregate the cash flows among its various subsidiaries, to determine if any foreign exchange payments between the subsidiaries can be netted, with only the smaller residual balances being physically shifted.</a:t>
            </a:r>
          </a:p>
          <a:p>
            <a:pPr marL="0" indent="0">
              <a:buNone/>
            </a:pPr>
            <a:endParaRPr lang="en-US" dirty="0"/>
          </a:p>
        </p:txBody>
      </p:sp>
    </p:spTree>
    <p:extLst>
      <p:ext uri="{BB962C8B-B14F-4D97-AF65-F5344CB8AC3E}">
        <p14:creationId xmlns:p14="http://schemas.microsoft.com/office/powerpoint/2010/main" val="367569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Business Practice Strategies</a:t>
            </a:r>
            <a:endParaRPr lang="en-US" dirty="0"/>
          </a:p>
        </p:txBody>
      </p:sp>
      <p:sp>
        <p:nvSpPr>
          <p:cNvPr id="3" name="Content Placeholder 2"/>
          <p:cNvSpPr>
            <a:spLocks noGrp="1"/>
          </p:cNvSpPr>
          <p:nvPr>
            <p:ph idx="1"/>
          </p:nvPr>
        </p:nvSpPr>
        <p:spPr/>
        <p:txBody>
          <a:bodyPr>
            <a:normAutofit lnSpcReduction="10000"/>
          </a:bodyPr>
          <a:lstStyle/>
          <a:p>
            <a:r>
              <a:rPr lang="en-GB" dirty="0"/>
              <a:t>This reduces the volume of foreign exchange cash flows, and therefore the associated foreign exchange risk.</a:t>
            </a:r>
          </a:p>
          <a:p>
            <a:pPr marL="0" indent="0">
              <a:buNone/>
            </a:pPr>
            <a:r>
              <a:rPr lang="en-GB" dirty="0"/>
              <a:t>2. Bilateral spread sheet netting</a:t>
            </a:r>
          </a:p>
          <a:p>
            <a:r>
              <a:rPr lang="en-GB" dirty="0"/>
              <a:t>if two companies located in different countries transact a great deal of business with each other, then they can track the payables owed to each other and net out the balances at the end of each month and one party pays the other the net remaining balance</a:t>
            </a:r>
            <a:endParaRPr lang="en-US" dirty="0"/>
          </a:p>
        </p:txBody>
      </p:sp>
    </p:spTree>
    <p:extLst>
      <p:ext uri="{BB962C8B-B14F-4D97-AF65-F5344CB8AC3E}">
        <p14:creationId xmlns:p14="http://schemas.microsoft.com/office/powerpoint/2010/main" val="2021387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Business Practice Strategies</a:t>
            </a:r>
            <a:endParaRPr lang="en-US" dirty="0"/>
          </a:p>
        </p:txBody>
      </p:sp>
      <p:sp>
        <p:nvSpPr>
          <p:cNvPr id="3" name="Content Placeholder 2"/>
          <p:cNvSpPr>
            <a:spLocks noGrp="1"/>
          </p:cNvSpPr>
          <p:nvPr>
            <p:ph idx="1"/>
          </p:nvPr>
        </p:nvSpPr>
        <p:spPr/>
        <p:txBody>
          <a:bodyPr>
            <a:normAutofit fontScale="92500"/>
          </a:bodyPr>
          <a:lstStyle/>
          <a:p>
            <a:pPr marL="0" indent="0">
              <a:buNone/>
            </a:pPr>
            <a:r>
              <a:rPr lang="en-GB" dirty="0"/>
              <a:t>3. Multilateral centralized netting</a:t>
            </a:r>
          </a:p>
          <a:p>
            <a:r>
              <a:rPr lang="en-GB" dirty="0"/>
              <a:t>When there are multiple parties wishing to net transactions, it becomes too complex to manage with a spread sheet</a:t>
            </a:r>
          </a:p>
          <a:p>
            <a:r>
              <a:rPr lang="en-GB" dirty="0"/>
              <a:t>Instead, the common approach is to net transactions through a centralized exchange such as </a:t>
            </a:r>
            <a:r>
              <a:rPr lang="en-GB" dirty="0" err="1"/>
              <a:t>EuroNetting</a:t>
            </a:r>
            <a:r>
              <a:rPr lang="en-GB" dirty="0"/>
              <a:t>.</a:t>
            </a:r>
          </a:p>
          <a:p>
            <a:r>
              <a:rPr lang="en-GB" dirty="0"/>
              <a:t>Under a centralized netting system, each participant enters its payables into a centralized data-base through an internet browser or some other file upload system </a:t>
            </a:r>
            <a:endParaRPr lang="en-US" dirty="0"/>
          </a:p>
        </p:txBody>
      </p:sp>
    </p:spTree>
    <p:extLst>
      <p:ext uri="{BB962C8B-B14F-4D97-AF65-F5344CB8AC3E}">
        <p14:creationId xmlns:p14="http://schemas.microsoft.com/office/powerpoint/2010/main" val="274752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Business Practice Strategies</a:t>
            </a:r>
            <a:endParaRPr lang="en-US" dirty="0"/>
          </a:p>
        </p:txBody>
      </p:sp>
      <p:sp>
        <p:nvSpPr>
          <p:cNvPr id="3" name="Content Placeholder 2"/>
          <p:cNvSpPr>
            <a:spLocks noGrp="1"/>
          </p:cNvSpPr>
          <p:nvPr>
            <p:ph idx="1"/>
          </p:nvPr>
        </p:nvSpPr>
        <p:spPr/>
        <p:txBody>
          <a:bodyPr/>
          <a:lstStyle/>
          <a:p>
            <a:r>
              <a:rPr lang="en-GB" dirty="0"/>
              <a:t>The netting service converts each participant’s net cash flows to an equivalent amount in each participant’s base currency, and then uses actual traded exchange rates to determine the final net position of each participant</a:t>
            </a:r>
          </a:p>
          <a:p>
            <a:r>
              <a:rPr lang="en-GB" dirty="0"/>
              <a:t>The exchange operator then pays or receives each participant’s net position, and uses the proceeds to offset the required foreign exchange trades</a:t>
            </a:r>
            <a:endParaRPr lang="en-US" dirty="0"/>
          </a:p>
        </p:txBody>
      </p:sp>
    </p:spTree>
    <p:extLst>
      <p:ext uri="{BB962C8B-B14F-4D97-AF65-F5344CB8AC3E}">
        <p14:creationId xmlns:p14="http://schemas.microsoft.com/office/powerpoint/2010/main" val="641554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Forward Exchange Contracts </a:t>
            </a:r>
            <a:endParaRPr lang="en-US" dirty="0"/>
          </a:p>
        </p:txBody>
      </p:sp>
      <p:sp>
        <p:nvSpPr>
          <p:cNvPr id="3" name="Content Placeholder 2"/>
          <p:cNvSpPr>
            <a:spLocks noGrp="1"/>
          </p:cNvSpPr>
          <p:nvPr>
            <p:ph idx="1"/>
          </p:nvPr>
        </p:nvSpPr>
        <p:spPr/>
        <p:txBody>
          <a:bodyPr/>
          <a:lstStyle/>
          <a:p>
            <a:r>
              <a:rPr lang="en-GB" dirty="0"/>
              <a:t>Under a forward exchange contract, a company agrees to purchase a fixed amount of a foreign currency on a specific date, and at a predetermined rate</a:t>
            </a:r>
          </a:p>
          <a:p>
            <a:r>
              <a:rPr lang="en-GB" dirty="0"/>
              <a:t>This allows it to lock in the rate of exchange up front for settlement at a specified date in the future</a:t>
            </a:r>
          </a:p>
          <a:p>
            <a:r>
              <a:rPr lang="en-GB" dirty="0"/>
              <a:t>The counterparty is typically a bank, which requires a deposit to secure the contract, with a final payment due in time to be cleared by the settlement date</a:t>
            </a:r>
            <a:endParaRPr lang="en-US" dirty="0"/>
          </a:p>
        </p:txBody>
      </p:sp>
    </p:spTree>
    <p:extLst>
      <p:ext uri="{BB962C8B-B14F-4D97-AF65-F5344CB8AC3E}">
        <p14:creationId xmlns:p14="http://schemas.microsoft.com/office/powerpoint/2010/main" val="166386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Forward Exchange Contracts </a:t>
            </a:r>
            <a:endParaRPr lang="en-US" dirty="0"/>
          </a:p>
        </p:txBody>
      </p:sp>
      <p:sp>
        <p:nvSpPr>
          <p:cNvPr id="3" name="Content Placeholder 2"/>
          <p:cNvSpPr>
            <a:spLocks noGrp="1"/>
          </p:cNvSpPr>
          <p:nvPr>
            <p:ph idx="1"/>
          </p:nvPr>
        </p:nvSpPr>
        <p:spPr/>
        <p:txBody>
          <a:bodyPr/>
          <a:lstStyle/>
          <a:p>
            <a:r>
              <a:rPr lang="en-GB" dirty="0"/>
              <a:t>The forward exchange contract is considered to be an over-the-counter transaction, because there is no centralized trading locations, and customised transactions are created directly between the parties</a:t>
            </a:r>
          </a:p>
          <a:p>
            <a:r>
              <a:rPr lang="en-GB" dirty="0"/>
              <a:t>The price of a currency on the maturity date (its forward price) is composed of the spot price, plus a transaction fee, plus or minus points that represent the interest rate differential between the two currencies</a:t>
            </a:r>
            <a:endParaRPr lang="en-US" dirty="0"/>
          </a:p>
        </p:txBody>
      </p:sp>
    </p:spTree>
    <p:extLst>
      <p:ext uri="{BB962C8B-B14F-4D97-AF65-F5344CB8AC3E}">
        <p14:creationId xmlns:p14="http://schemas.microsoft.com/office/powerpoint/2010/main" val="305821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Forward Exchange Contracts </a:t>
            </a:r>
            <a:endParaRPr lang="en-US" dirty="0"/>
          </a:p>
        </p:txBody>
      </p:sp>
      <p:sp>
        <p:nvSpPr>
          <p:cNvPr id="3" name="Content Placeholder 2"/>
          <p:cNvSpPr>
            <a:spLocks noGrp="1"/>
          </p:cNvSpPr>
          <p:nvPr>
            <p:ph idx="1"/>
          </p:nvPr>
        </p:nvSpPr>
        <p:spPr/>
        <p:txBody>
          <a:bodyPr>
            <a:normAutofit/>
          </a:bodyPr>
          <a:lstStyle/>
          <a:p>
            <a:r>
              <a:rPr lang="en-GB" dirty="0"/>
              <a:t>The currency of the country having a higher interest rate trades at a </a:t>
            </a:r>
            <a:r>
              <a:rPr lang="en-GB" dirty="0">
                <a:solidFill>
                  <a:srgbClr val="FF0000"/>
                </a:solidFill>
              </a:rPr>
              <a:t>discount</a:t>
            </a:r>
            <a:r>
              <a:rPr lang="en-GB" dirty="0"/>
              <a:t>.</a:t>
            </a:r>
          </a:p>
          <a:p>
            <a:r>
              <a:rPr lang="en-GB" dirty="0"/>
              <a:t>The currency of the country having a lower interest rate trades at a </a:t>
            </a:r>
            <a:r>
              <a:rPr lang="en-GB" dirty="0">
                <a:solidFill>
                  <a:srgbClr val="FF0000"/>
                </a:solidFill>
              </a:rPr>
              <a:t>premium</a:t>
            </a:r>
          </a:p>
          <a:p>
            <a:r>
              <a:rPr lang="en-GB" dirty="0"/>
              <a:t>It is said to be at a </a:t>
            </a:r>
            <a:r>
              <a:rPr lang="en-GB" dirty="0">
                <a:solidFill>
                  <a:srgbClr val="FF0000"/>
                </a:solidFill>
              </a:rPr>
              <a:t>forward discount </a:t>
            </a:r>
            <a:r>
              <a:rPr lang="en-GB" dirty="0"/>
              <a:t>if the forward exchange rate quotation for that currency represents a </a:t>
            </a:r>
            <a:r>
              <a:rPr lang="en-GB" dirty="0">
                <a:solidFill>
                  <a:srgbClr val="FF0000"/>
                </a:solidFill>
              </a:rPr>
              <a:t>depreciation</a:t>
            </a:r>
            <a:r>
              <a:rPr lang="en-GB" dirty="0"/>
              <a:t> compared to the spot quotation</a:t>
            </a:r>
          </a:p>
          <a:p>
            <a:endParaRPr lang="en-GB" dirty="0">
              <a:solidFill>
                <a:srgbClr val="FF0000"/>
              </a:solidFill>
            </a:endParaRPr>
          </a:p>
          <a:p>
            <a:endParaRPr lang="en-GB" dirty="0">
              <a:solidFill>
                <a:srgbClr val="FF0000"/>
              </a:solidFill>
            </a:endParaRPr>
          </a:p>
        </p:txBody>
      </p:sp>
    </p:spTree>
    <p:extLst>
      <p:ext uri="{BB962C8B-B14F-4D97-AF65-F5344CB8AC3E}">
        <p14:creationId xmlns:p14="http://schemas.microsoft.com/office/powerpoint/2010/main" val="1053887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E6CBD-77BA-4164-B057-0C8EB889DEB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B33EFAE-8E54-4ED2-923E-ED717F13BA22}"/>
              </a:ext>
            </a:extLst>
          </p:cNvPr>
          <p:cNvSpPr>
            <a:spLocks noGrp="1"/>
          </p:cNvSpPr>
          <p:nvPr>
            <p:ph idx="1"/>
          </p:nvPr>
        </p:nvSpPr>
        <p:spPr/>
        <p:txBody>
          <a:bodyPr>
            <a:normAutofit/>
          </a:bodyPr>
          <a:lstStyle/>
          <a:p>
            <a:r>
              <a:rPr lang="en-GB" dirty="0"/>
              <a:t>A currency is said to be at a </a:t>
            </a:r>
            <a:r>
              <a:rPr lang="en-GB" dirty="0">
                <a:solidFill>
                  <a:srgbClr val="FF0000"/>
                </a:solidFill>
              </a:rPr>
              <a:t>forward premium </a:t>
            </a:r>
            <a:r>
              <a:rPr lang="en-GB" dirty="0"/>
              <a:t>if the forward exchange rate quotation for that currency represents an </a:t>
            </a:r>
            <a:r>
              <a:rPr lang="en-GB" dirty="0">
                <a:solidFill>
                  <a:srgbClr val="FF0000"/>
                </a:solidFill>
              </a:rPr>
              <a:t>appreciation</a:t>
            </a:r>
            <a:r>
              <a:rPr lang="en-GB" dirty="0"/>
              <a:t> for that currency compared to the spot quotation</a:t>
            </a:r>
          </a:p>
          <a:p>
            <a:pPr marL="0" indent="0">
              <a:buNone/>
            </a:pPr>
            <a:br>
              <a:rPr lang="en-GB" dirty="0"/>
            </a:br>
            <a:endParaRPr lang="en-GB" dirty="0"/>
          </a:p>
          <a:p>
            <a:endParaRPr lang="en-GB" dirty="0"/>
          </a:p>
        </p:txBody>
      </p:sp>
    </p:spTree>
    <p:extLst>
      <p:ext uri="{BB962C8B-B14F-4D97-AF65-F5344CB8AC3E}">
        <p14:creationId xmlns:p14="http://schemas.microsoft.com/office/powerpoint/2010/main" val="341868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Forward </a:t>
            </a:r>
            <a:r>
              <a:rPr lang="en-GB" dirty="0"/>
              <a:t>Exchange Contracts </a:t>
            </a:r>
            <a:endParaRPr lang="en-US" dirty="0"/>
          </a:p>
        </p:txBody>
      </p:sp>
      <p:sp>
        <p:nvSpPr>
          <p:cNvPr id="3" name="Content Placeholder 2"/>
          <p:cNvSpPr>
            <a:spLocks noGrp="1"/>
          </p:cNvSpPr>
          <p:nvPr>
            <p:ph idx="1"/>
          </p:nvPr>
        </p:nvSpPr>
        <p:spPr/>
        <p:txBody>
          <a:bodyPr>
            <a:normAutofit lnSpcReduction="10000"/>
          </a:bodyPr>
          <a:lstStyle/>
          <a:p>
            <a:r>
              <a:rPr lang="en-GB" dirty="0"/>
              <a:t>The calculation of the discount/premium points is as follows:</a:t>
            </a:r>
          </a:p>
          <a:p>
            <a:pPr marL="0" indent="0">
              <a:buNone/>
            </a:pPr>
            <a:r>
              <a:rPr lang="en-GB" dirty="0"/>
              <a:t>F = spot rate x </a:t>
            </a:r>
            <a:r>
              <a:rPr lang="en-GB" u="sng" dirty="0"/>
              <a:t>1+iq</a:t>
            </a:r>
          </a:p>
          <a:p>
            <a:pPr marL="0" indent="0">
              <a:buNone/>
            </a:pPr>
            <a:r>
              <a:rPr lang="en-GB" dirty="0"/>
              <a:t>                         1+ib</a:t>
            </a:r>
          </a:p>
          <a:p>
            <a:pPr marL="0" indent="0">
              <a:buNone/>
            </a:pPr>
            <a:r>
              <a:rPr lang="en-GB" dirty="0"/>
              <a:t>Where: F= forward rate, </a:t>
            </a:r>
            <a:r>
              <a:rPr lang="en-GB" dirty="0" err="1"/>
              <a:t>iq</a:t>
            </a:r>
            <a:r>
              <a:rPr lang="en-GB" dirty="0"/>
              <a:t>= interest rate of the quoted currency, </a:t>
            </a:r>
            <a:r>
              <a:rPr lang="en-GB" dirty="0" err="1"/>
              <a:t>ib</a:t>
            </a:r>
            <a:r>
              <a:rPr lang="en-GB" dirty="0"/>
              <a:t>= interest rate of the base currency</a:t>
            </a:r>
          </a:p>
          <a:p>
            <a:pPr marL="0" indent="0">
              <a:buNone/>
            </a:pPr>
            <a:r>
              <a:rPr lang="en-GB" dirty="0"/>
              <a:t>              </a:t>
            </a:r>
          </a:p>
          <a:p>
            <a:pPr marL="0" indent="0">
              <a:buNone/>
            </a:pPr>
            <a:endParaRPr lang="en-US" dirty="0"/>
          </a:p>
        </p:txBody>
      </p:sp>
    </p:spTree>
    <p:extLst>
      <p:ext uri="{BB962C8B-B14F-4D97-AF65-F5344CB8AC3E}">
        <p14:creationId xmlns:p14="http://schemas.microsoft.com/office/powerpoint/2010/main" val="173228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US" dirty="0"/>
          </a:p>
        </p:txBody>
      </p:sp>
      <p:sp>
        <p:nvSpPr>
          <p:cNvPr id="3" name="Content Placeholder 2"/>
          <p:cNvSpPr>
            <a:spLocks noGrp="1"/>
          </p:cNvSpPr>
          <p:nvPr>
            <p:ph idx="1"/>
          </p:nvPr>
        </p:nvSpPr>
        <p:spPr/>
        <p:txBody>
          <a:bodyPr/>
          <a:lstStyle/>
          <a:p>
            <a:r>
              <a:rPr lang="en-GB" dirty="0"/>
              <a:t>The spot rate for </a:t>
            </a:r>
            <a:r>
              <a:rPr lang="en-GB"/>
              <a:t>the £/ZMK </a:t>
            </a:r>
            <a:r>
              <a:rPr lang="en-GB" dirty="0"/>
              <a:t>exchange </a:t>
            </a:r>
            <a:r>
              <a:rPr lang="en-GB"/>
              <a:t>is K11.7700 </a:t>
            </a:r>
            <a:r>
              <a:rPr lang="en-GB" dirty="0"/>
              <a:t>per £</a:t>
            </a:r>
          </a:p>
          <a:p>
            <a:r>
              <a:rPr lang="en-GB" dirty="0"/>
              <a:t> Interest rates in London are 4% </a:t>
            </a:r>
            <a:r>
              <a:rPr lang="en-GB" dirty="0" err="1"/>
              <a:t>p.a</a:t>
            </a:r>
            <a:r>
              <a:rPr lang="en-GB" dirty="0"/>
              <a:t> and in Lusaka interest is 12% </a:t>
            </a:r>
            <a:r>
              <a:rPr lang="en-GB" dirty="0" err="1"/>
              <a:t>p.a</a:t>
            </a:r>
            <a:r>
              <a:rPr lang="en-GB" dirty="0"/>
              <a:t> </a:t>
            </a:r>
          </a:p>
          <a:p>
            <a:r>
              <a:rPr lang="en-GB" dirty="0"/>
              <a:t>Calculate the rate at which a bank will sell the ZMW in (</a:t>
            </a:r>
            <a:r>
              <a:rPr lang="en-GB" dirty="0" err="1"/>
              <a:t>i</a:t>
            </a:r>
            <a:r>
              <a:rPr lang="en-GB" dirty="0"/>
              <a:t>) 6 months forward   (ii) 3 months forward</a:t>
            </a:r>
            <a:endParaRPr lang="en-US" dirty="0"/>
          </a:p>
        </p:txBody>
      </p:sp>
    </p:spTree>
    <p:extLst>
      <p:ext uri="{BB962C8B-B14F-4D97-AF65-F5344CB8AC3E}">
        <p14:creationId xmlns:p14="http://schemas.microsoft.com/office/powerpoint/2010/main" val="231902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a:t>
            </a:r>
            <a:br>
              <a:rPr lang="en-GB" dirty="0"/>
            </a:br>
            <a:endParaRPr lang="en-US" dirty="0"/>
          </a:p>
        </p:txBody>
      </p:sp>
      <p:sp>
        <p:nvSpPr>
          <p:cNvPr id="3" name="Content Placeholder 2"/>
          <p:cNvSpPr>
            <a:spLocks noGrp="1"/>
          </p:cNvSpPr>
          <p:nvPr>
            <p:ph idx="1"/>
          </p:nvPr>
        </p:nvSpPr>
        <p:spPr/>
        <p:txBody>
          <a:bodyPr>
            <a:normAutofit/>
          </a:bodyPr>
          <a:lstStyle/>
          <a:p>
            <a:r>
              <a:rPr lang="en-GB" dirty="0"/>
              <a:t>F =11.77 x  </a:t>
            </a:r>
            <a:r>
              <a:rPr lang="en-GB" u="sng" dirty="0"/>
              <a:t>(1+ 0.12/2) </a:t>
            </a:r>
            <a:endParaRPr lang="en-GB" dirty="0"/>
          </a:p>
          <a:p>
            <a:pPr marL="0" indent="0">
              <a:buNone/>
            </a:pPr>
            <a:r>
              <a:rPr lang="en-GB" dirty="0"/>
              <a:t>                          (1+ 0.04/2)</a:t>
            </a:r>
          </a:p>
          <a:p>
            <a:pPr marL="0" indent="0">
              <a:buNone/>
            </a:pPr>
            <a:r>
              <a:rPr lang="en-GB" dirty="0"/>
              <a:t>             = 11.77 x 1.0392</a:t>
            </a:r>
          </a:p>
          <a:p>
            <a:pPr marL="0" indent="0">
              <a:buNone/>
            </a:pPr>
            <a:r>
              <a:rPr lang="en-GB" dirty="0"/>
              <a:t>             = 12.2316</a:t>
            </a:r>
          </a:p>
          <a:p>
            <a:pPr marL="0" indent="0">
              <a:buNone/>
            </a:pPr>
            <a:r>
              <a:rPr lang="en-GB" dirty="0"/>
              <a:t>                 </a:t>
            </a:r>
          </a:p>
          <a:p>
            <a:pPr marL="0" indent="0">
              <a:buNone/>
            </a:pPr>
            <a:endParaRPr lang="en-GB" dirty="0"/>
          </a:p>
          <a:p>
            <a:endParaRPr lang="en-GB" dirty="0"/>
          </a:p>
        </p:txBody>
      </p:sp>
    </p:spTree>
    <p:extLst>
      <p:ext uri="{BB962C8B-B14F-4D97-AF65-F5344CB8AC3E}">
        <p14:creationId xmlns:p14="http://schemas.microsoft.com/office/powerpoint/2010/main" val="397623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F03D7-3AF7-4A0E-A153-C047D6314CB9}"/>
              </a:ext>
            </a:extLst>
          </p:cNvPr>
          <p:cNvSpPr>
            <a:spLocks noGrp="1"/>
          </p:cNvSpPr>
          <p:nvPr>
            <p:ph type="title"/>
          </p:nvPr>
        </p:nvSpPr>
        <p:spPr/>
        <p:txBody>
          <a:bodyPr/>
          <a:lstStyle/>
          <a:p>
            <a:r>
              <a:rPr lang="en-GB" dirty="0"/>
              <a:t>Solution</a:t>
            </a:r>
          </a:p>
        </p:txBody>
      </p:sp>
      <p:sp>
        <p:nvSpPr>
          <p:cNvPr id="3" name="Content Placeholder 2">
            <a:extLst>
              <a:ext uri="{FF2B5EF4-FFF2-40B4-BE49-F238E27FC236}">
                <a16:creationId xmlns:a16="http://schemas.microsoft.com/office/drawing/2014/main" id="{2F8B8826-BAFE-4EC1-8A17-E16E922EA245}"/>
              </a:ext>
            </a:extLst>
          </p:cNvPr>
          <p:cNvSpPr>
            <a:spLocks noGrp="1"/>
          </p:cNvSpPr>
          <p:nvPr>
            <p:ph idx="1"/>
          </p:nvPr>
        </p:nvSpPr>
        <p:spPr/>
        <p:txBody>
          <a:bodyPr/>
          <a:lstStyle/>
          <a:p>
            <a:r>
              <a:rPr lang="en-GB" dirty="0"/>
              <a:t>Forward trading points:</a:t>
            </a:r>
          </a:p>
          <a:p>
            <a:pPr marL="0" indent="0">
              <a:buNone/>
            </a:pPr>
            <a:r>
              <a:rPr lang="en-GB" dirty="0"/>
              <a:t>F-S = 12.2316 – 11.77</a:t>
            </a:r>
          </a:p>
          <a:p>
            <a:pPr marL="0" indent="0">
              <a:buNone/>
            </a:pPr>
            <a:r>
              <a:rPr lang="en-GB" dirty="0"/>
              <a:t>        = 0.4616</a:t>
            </a:r>
          </a:p>
        </p:txBody>
      </p:sp>
    </p:spTree>
    <p:extLst>
      <p:ext uri="{BB962C8B-B14F-4D97-AF65-F5344CB8AC3E}">
        <p14:creationId xmlns:p14="http://schemas.microsoft.com/office/powerpoint/2010/main" val="126924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Currency Futures</a:t>
            </a:r>
            <a:endParaRPr lang="en-US" dirty="0"/>
          </a:p>
        </p:txBody>
      </p:sp>
      <p:sp>
        <p:nvSpPr>
          <p:cNvPr id="3" name="Content Placeholder 2"/>
          <p:cNvSpPr>
            <a:spLocks noGrp="1"/>
          </p:cNvSpPr>
          <p:nvPr>
            <p:ph idx="1"/>
          </p:nvPr>
        </p:nvSpPr>
        <p:spPr/>
        <p:txBody>
          <a:bodyPr>
            <a:normAutofit fontScale="92500" lnSpcReduction="10000"/>
          </a:bodyPr>
          <a:lstStyle/>
          <a:p>
            <a:r>
              <a:rPr lang="en-GB" dirty="0"/>
              <a:t>A currency future is the same as a forward exchange contract, except that it trades on an exchange.</a:t>
            </a:r>
          </a:p>
          <a:p>
            <a:r>
              <a:rPr lang="en-GB" dirty="0"/>
              <a:t>Each contract has a standardized size, expiry date, and settlement rules</a:t>
            </a:r>
          </a:p>
          <a:p>
            <a:r>
              <a:rPr lang="en-GB" dirty="0"/>
              <a:t>The contracts are normally handled through a broker, who charges a commission</a:t>
            </a:r>
          </a:p>
          <a:p>
            <a:r>
              <a:rPr lang="en-GB" dirty="0"/>
              <a:t>There is also a margin requirement, so that the buyer may be called on to submit additional funds over time, if the underlying futures contract declines in value</a:t>
            </a:r>
            <a:endParaRPr lang="en-US" dirty="0"/>
          </a:p>
        </p:txBody>
      </p:sp>
    </p:spTree>
    <p:extLst>
      <p:ext uri="{BB962C8B-B14F-4D97-AF65-F5344CB8AC3E}">
        <p14:creationId xmlns:p14="http://schemas.microsoft.com/office/powerpoint/2010/main" val="3994386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Currency Futures</a:t>
            </a:r>
            <a:endParaRPr lang="en-US" dirty="0"/>
          </a:p>
        </p:txBody>
      </p:sp>
      <p:sp>
        <p:nvSpPr>
          <p:cNvPr id="3" name="Content Placeholder 2"/>
          <p:cNvSpPr>
            <a:spLocks noGrp="1"/>
          </p:cNvSpPr>
          <p:nvPr>
            <p:ph idx="1"/>
          </p:nvPr>
        </p:nvSpPr>
        <p:spPr/>
        <p:txBody>
          <a:bodyPr/>
          <a:lstStyle/>
          <a:p>
            <a:r>
              <a:rPr lang="en-GB" dirty="0"/>
              <a:t>Part of the margin is an initial deposit whose size is based on the contract size and the type of position being acquired</a:t>
            </a:r>
          </a:p>
          <a:p>
            <a:r>
              <a:rPr lang="en-GB" dirty="0"/>
              <a:t>All futures contracts are marked to market daily, with the underlying margin accounts being credited or debited with the day’s gains or losses.</a:t>
            </a:r>
          </a:p>
          <a:p>
            <a:endParaRPr lang="en-US" dirty="0"/>
          </a:p>
        </p:txBody>
      </p:sp>
    </p:spTree>
    <p:extLst>
      <p:ext uri="{BB962C8B-B14F-4D97-AF65-F5344CB8AC3E}">
        <p14:creationId xmlns:p14="http://schemas.microsoft.com/office/powerpoint/2010/main" val="88801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04235-CC04-4E24-A16C-CDFA784C24EF}"/>
              </a:ext>
            </a:extLst>
          </p:cNvPr>
          <p:cNvSpPr>
            <a:spLocks noGrp="1"/>
          </p:cNvSpPr>
          <p:nvPr>
            <p:ph type="title"/>
          </p:nvPr>
        </p:nvSpPr>
        <p:spPr/>
        <p:txBody>
          <a:bodyPr/>
          <a:lstStyle/>
          <a:p>
            <a:r>
              <a:rPr lang="en-GB" dirty="0"/>
              <a:t>Currency Futures Example</a:t>
            </a:r>
          </a:p>
        </p:txBody>
      </p:sp>
      <p:sp>
        <p:nvSpPr>
          <p:cNvPr id="3" name="Content Placeholder 2">
            <a:extLst>
              <a:ext uri="{FF2B5EF4-FFF2-40B4-BE49-F238E27FC236}">
                <a16:creationId xmlns:a16="http://schemas.microsoft.com/office/drawing/2014/main" id="{4B516E29-B8D1-42F9-BD4B-34C1C448B98B}"/>
              </a:ext>
            </a:extLst>
          </p:cNvPr>
          <p:cNvSpPr>
            <a:spLocks noGrp="1"/>
          </p:cNvSpPr>
          <p:nvPr>
            <p:ph idx="1"/>
          </p:nvPr>
        </p:nvSpPr>
        <p:spPr/>
        <p:txBody>
          <a:bodyPr/>
          <a:lstStyle/>
          <a:p>
            <a:r>
              <a:rPr lang="en-GB" dirty="0"/>
              <a:t>A Zambian company XYZ Ltd sells goods to Smith in the USA to the value of $2,650,000</a:t>
            </a:r>
          </a:p>
          <a:p>
            <a:r>
              <a:rPr lang="en-GB" dirty="0"/>
              <a:t>The Sale takes place in June with payment due in August</a:t>
            </a:r>
          </a:p>
          <a:p>
            <a:r>
              <a:rPr lang="en-GB" dirty="0"/>
              <a:t>The Finance Director of XYZ is concerned that the Kwacha with appreciate against the dollar</a:t>
            </a:r>
          </a:p>
          <a:p>
            <a:r>
              <a:rPr lang="en-GB" dirty="0"/>
              <a:t>The spot rate in June is US$/ZMK10.1100</a:t>
            </a:r>
          </a:p>
        </p:txBody>
      </p:sp>
    </p:spTree>
    <p:extLst>
      <p:ext uri="{BB962C8B-B14F-4D97-AF65-F5344CB8AC3E}">
        <p14:creationId xmlns:p14="http://schemas.microsoft.com/office/powerpoint/2010/main" val="335201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4CD2-4865-4F1B-8C15-CF120D811682}"/>
              </a:ext>
            </a:extLst>
          </p:cNvPr>
          <p:cNvSpPr>
            <a:spLocks noGrp="1"/>
          </p:cNvSpPr>
          <p:nvPr>
            <p:ph type="title"/>
          </p:nvPr>
        </p:nvSpPr>
        <p:spPr/>
        <p:txBody>
          <a:bodyPr/>
          <a:lstStyle/>
          <a:p>
            <a:r>
              <a:rPr lang="en-GB" dirty="0"/>
              <a:t>Currency Futures Example</a:t>
            </a:r>
          </a:p>
        </p:txBody>
      </p:sp>
      <p:sp>
        <p:nvSpPr>
          <p:cNvPr id="3" name="Content Placeholder 2">
            <a:extLst>
              <a:ext uri="{FF2B5EF4-FFF2-40B4-BE49-F238E27FC236}">
                <a16:creationId xmlns:a16="http://schemas.microsoft.com/office/drawing/2014/main" id="{0737757D-C307-4505-84EB-9F8FD6A6AA25}"/>
              </a:ext>
            </a:extLst>
          </p:cNvPr>
          <p:cNvSpPr>
            <a:spLocks noGrp="1"/>
          </p:cNvSpPr>
          <p:nvPr>
            <p:ph idx="1"/>
          </p:nvPr>
        </p:nvSpPr>
        <p:spPr/>
        <p:txBody>
          <a:bodyPr/>
          <a:lstStyle/>
          <a:p>
            <a:r>
              <a:rPr lang="en-GB" dirty="0"/>
              <a:t>Assume that in June a September Dollar/Kwacha futures contract is quoted at US$/ZMK9.9200</a:t>
            </a:r>
          </a:p>
          <a:p>
            <a:r>
              <a:rPr lang="en-GB" dirty="0"/>
              <a:t>XYZ would need to buy Dollars/Kwacha futures contract to protect against an appreciation of the Kwacha</a:t>
            </a:r>
          </a:p>
          <a:p>
            <a:r>
              <a:rPr lang="en-GB" dirty="0"/>
              <a:t>Dollar/Kwacha futures are $62,500 </a:t>
            </a:r>
          </a:p>
        </p:txBody>
      </p:sp>
    </p:spTree>
    <p:extLst>
      <p:ext uri="{BB962C8B-B14F-4D97-AF65-F5344CB8AC3E}">
        <p14:creationId xmlns:p14="http://schemas.microsoft.com/office/powerpoint/2010/main" val="3038158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D6F7E-0264-4257-8B6B-65F5E3180238}"/>
              </a:ext>
            </a:extLst>
          </p:cNvPr>
          <p:cNvSpPr>
            <a:spLocks noGrp="1"/>
          </p:cNvSpPr>
          <p:nvPr>
            <p:ph type="title"/>
          </p:nvPr>
        </p:nvSpPr>
        <p:spPr/>
        <p:txBody>
          <a:bodyPr/>
          <a:lstStyle/>
          <a:p>
            <a:r>
              <a:rPr lang="en-GB" dirty="0"/>
              <a:t>Currency Futures Example</a:t>
            </a:r>
          </a:p>
        </p:txBody>
      </p:sp>
      <p:sp>
        <p:nvSpPr>
          <p:cNvPr id="3" name="Content Placeholder 2">
            <a:extLst>
              <a:ext uri="{FF2B5EF4-FFF2-40B4-BE49-F238E27FC236}">
                <a16:creationId xmlns:a16="http://schemas.microsoft.com/office/drawing/2014/main" id="{D5CE0F74-E8BC-46F9-B1B8-7F883C4F265A}"/>
              </a:ext>
            </a:extLst>
          </p:cNvPr>
          <p:cNvSpPr>
            <a:spLocks noGrp="1"/>
          </p:cNvSpPr>
          <p:nvPr>
            <p:ph idx="1"/>
          </p:nvPr>
        </p:nvSpPr>
        <p:spPr/>
        <p:txBody>
          <a:bodyPr/>
          <a:lstStyle/>
          <a:p>
            <a:r>
              <a:rPr lang="en-GB" dirty="0"/>
              <a:t>The number of contracts that XYZ would need to buy is:</a:t>
            </a:r>
          </a:p>
          <a:p>
            <a:pPr marL="0" indent="0">
              <a:buNone/>
            </a:pPr>
            <a:r>
              <a:rPr lang="en-GB" dirty="0"/>
              <a:t> $2,650,000 / $62,500 = 42</a:t>
            </a:r>
          </a:p>
          <a:p>
            <a:r>
              <a:rPr lang="en-GB" dirty="0"/>
              <a:t>If in August the spot rate has moved to US$/ZMK8.2500</a:t>
            </a:r>
          </a:p>
          <a:p>
            <a:r>
              <a:rPr lang="en-GB" dirty="0"/>
              <a:t>XYZ will close out its position in the futures contracts by selling the futures contract</a:t>
            </a:r>
          </a:p>
        </p:txBody>
      </p:sp>
    </p:spTree>
    <p:extLst>
      <p:ext uri="{BB962C8B-B14F-4D97-AF65-F5344CB8AC3E}">
        <p14:creationId xmlns:p14="http://schemas.microsoft.com/office/powerpoint/2010/main" val="220593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357DF-342E-47F8-8819-E776EB97493A}"/>
              </a:ext>
            </a:extLst>
          </p:cNvPr>
          <p:cNvSpPr>
            <a:spLocks noGrp="1"/>
          </p:cNvSpPr>
          <p:nvPr>
            <p:ph type="title"/>
          </p:nvPr>
        </p:nvSpPr>
        <p:spPr/>
        <p:txBody>
          <a:bodyPr/>
          <a:lstStyle/>
          <a:p>
            <a:r>
              <a:rPr lang="en-GB" dirty="0"/>
              <a:t>Currency Futures Example</a:t>
            </a:r>
          </a:p>
        </p:txBody>
      </p:sp>
      <p:sp>
        <p:nvSpPr>
          <p:cNvPr id="3" name="Content Placeholder 2">
            <a:extLst>
              <a:ext uri="{FF2B5EF4-FFF2-40B4-BE49-F238E27FC236}">
                <a16:creationId xmlns:a16="http://schemas.microsoft.com/office/drawing/2014/main" id="{0996279D-0F6F-41A8-AC70-27E35974AC2D}"/>
              </a:ext>
            </a:extLst>
          </p:cNvPr>
          <p:cNvSpPr>
            <a:spLocks noGrp="1"/>
          </p:cNvSpPr>
          <p:nvPr>
            <p:ph idx="1"/>
          </p:nvPr>
        </p:nvSpPr>
        <p:spPr/>
        <p:txBody>
          <a:bodyPr/>
          <a:lstStyle/>
          <a:p>
            <a:r>
              <a:rPr lang="en-GB" dirty="0"/>
              <a:t>Receipt in 3 months = $2,650,000</a:t>
            </a:r>
          </a:p>
          <a:p>
            <a:r>
              <a:rPr lang="en-GB" dirty="0"/>
              <a:t>3 month rate = US$/ZMK9.9200</a:t>
            </a:r>
          </a:p>
          <a:p>
            <a:r>
              <a:rPr lang="en-GB" dirty="0"/>
              <a:t>Sell: 42x $62500 = $2,625,000 x9.9200</a:t>
            </a:r>
          </a:p>
          <a:p>
            <a:r>
              <a:rPr lang="en-GB" dirty="0"/>
              <a:t>                             = ZMK26,040,000</a:t>
            </a:r>
          </a:p>
          <a:p>
            <a:pPr marL="0" indent="0">
              <a:buNone/>
            </a:pPr>
            <a:endParaRPr lang="en-GB" dirty="0"/>
          </a:p>
        </p:txBody>
      </p:sp>
    </p:spTree>
    <p:extLst>
      <p:ext uri="{BB962C8B-B14F-4D97-AF65-F5344CB8AC3E}">
        <p14:creationId xmlns:p14="http://schemas.microsoft.com/office/powerpoint/2010/main" val="1127205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C6F74-C051-4231-8042-01F928453DBA}"/>
              </a:ext>
            </a:extLst>
          </p:cNvPr>
          <p:cNvSpPr>
            <a:spLocks noGrp="1"/>
          </p:cNvSpPr>
          <p:nvPr>
            <p:ph type="title"/>
          </p:nvPr>
        </p:nvSpPr>
        <p:spPr/>
        <p:txBody>
          <a:bodyPr/>
          <a:lstStyle/>
          <a:p>
            <a:r>
              <a:rPr lang="en-GB" dirty="0"/>
              <a:t>Currency Futures Example</a:t>
            </a:r>
          </a:p>
        </p:txBody>
      </p:sp>
      <p:sp>
        <p:nvSpPr>
          <p:cNvPr id="3" name="Content Placeholder 2">
            <a:extLst>
              <a:ext uri="{FF2B5EF4-FFF2-40B4-BE49-F238E27FC236}">
                <a16:creationId xmlns:a16="http://schemas.microsoft.com/office/drawing/2014/main" id="{E4A3CFAE-8C55-4926-961A-C527DF2E4D6C}"/>
              </a:ext>
            </a:extLst>
          </p:cNvPr>
          <p:cNvSpPr>
            <a:spLocks noGrp="1"/>
          </p:cNvSpPr>
          <p:nvPr>
            <p:ph idx="1"/>
          </p:nvPr>
        </p:nvSpPr>
        <p:spPr/>
        <p:txBody>
          <a:bodyPr>
            <a:normAutofit lnSpcReduction="10000"/>
          </a:bodyPr>
          <a:lstStyle/>
          <a:p>
            <a:r>
              <a:rPr lang="en-GB" dirty="0"/>
              <a:t>In 3 months time:</a:t>
            </a:r>
          </a:p>
          <a:p>
            <a:r>
              <a:rPr lang="en-GB" dirty="0"/>
              <a:t>Close out the futures contract by Buying $ @ $8.2500</a:t>
            </a:r>
          </a:p>
          <a:p>
            <a:r>
              <a:rPr lang="en-GB" dirty="0"/>
              <a:t>Profit = (9.9200-8.2500) x 42 @ $62,500 = ZMK4,383,750</a:t>
            </a:r>
          </a:p>
          <a:p>
            <a:r>
              <a:rPr lang="en-GB" dirty="0"/>
              <a:t>Plus: proceeds in spot $2,650,000 x 8.2500= ZMK21,862,500</a:t>
            </a:r>
          </a:p>
          <a:p>
            <a:r>
              <a:rPr lang="en-GB" dirty="0"/>
              <a:t>Total = K4,383,750+21,862,500 = K26,246,250</a:t>
            </a:r>
          </a:p>
        </p:txBody>
      </p:sp>
    </p:spTree>
    <p:extLst>
      <p:ext uri="{BB962C8B-B14F-4D97-AF65-F5344CB8AC3E}">
        <p14:creationId xmlns:p14="http://schemas.microsoft.com/office/powerpoint/2010/main" val="2247426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Currency options</a:t>
            </a:r>
            <a:endParaRPr lang="en-US" dirty="0"/>
          </a:p>
        </p:txBody>
      </p:sp>
      <p:sp>
        <p:nvSpPr>
          <p:cNvPr id="3" name="Content Placeholder 2"/>
          <p:cNvSpPr>
            <a:spLocks noGrp="1"/>
          </p:cNvSpPr>
          <p:nvPr>
            <p:ph idx="1"/>
          </p:nvPr>
        </p:nvSpPr>
        <p:spPr/>
        <p:txBody>
          <a:bodyPr/>
          <a:lstStyle/>
          <a:p>
            <a:r>
              <a:rPr lang="en-GB" dirty="0"/>
              <a:t>A foreign currency option requires the payment of a premium in exchange for a right to use one currency to buy another currency at a specified price on or before a specified date</a:t>
            </a:r>
          </a:p>
          <a:p>
            <a:r>
              <a:rPr lang="en-GB" dirty="0"/>
              <a:t>A </a:t>
            </a:r>
            <a:r>
              <a:rPr lang="en-GB" dirty="0">
                <a:solidFill>
                  <a:srgbClr val="FF0000"/>
                </a:solidFill>
              </a:rPr>
              <a:t>call</a:t>
            </a:r>
            <a:r>
              <a:rPr lang="en-GB" dirty="0"/>
              <a:t> option permits the buyer to </a:t>
            </a:r>
            <a:r>
              <a:rPr lang="en-GB" dirty="0">
                <a:solidFill>
                  <a:srgbClr val="FF0000"/>
                </a:solidFill>
              </a:rPr>
              <a:t>buy</a:t>
            </a:r>
            <a:r>
              <a:rPr lang="en-GB" dirty="0"/>
              <a:t> the underlying currency at the strike price, while a </a:t>
            </a:r>
            <a:r>
              <a:rPr lang="en-GB" dirty="0">
                <a:solidFill>
                  <a:srgbClr val="FF0000"/>
                </a:solidFill>
              </a:rPr>
              <a:t>put</a:t>
            </a:r>
            <a:r>
              <a:rPr lang="en-GB" dirty="0"/>
              <a:t> option allows the buyer to </a:t>
            </a:r>
            <a:r>
              <a:rPr lang="en-GB" dirty="0">
                <a:solidFill>
                  <a:srgbClr val="FF0000"/>
                </a:solidFill>
              </a:rPr>
              <a:t>sell</a:t>
            </a:r>
            <a:r>
              <a:rPr lang="en-GB" dirty="0"/>
              <a:t> the underlying currency at the strike price</a:t>
            </a:r>
            <a:endParaRPr lang="en-US" dirty="0"/>
          </a:p>
        </p:txBody>
      </p:sp>
    </p:spTree>
    <p:extLst>
      <p:ext uri="{BB962C8B-B14F-4D97-AF65-F5344CB8AC3E}">
        <p14:creationId xmlns:p14="http://schemas.microsoft.com/office/powerpoint/2010/main" val="186922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Currency options</a:t>
            </a:r>
            <a:endParaRPr lang="en-US" dirty="0"/>
          </a:p>
        </p:txBody>
      </p:sp>
      <p:sp>
        <p:nvSpPr>
          <p:cNvPr id="3" name="Content Placeholder 2"/>
          <p:cNvSpPr>
            <a:spLocks noGrp="1"/>
          </p:cNvSpPr>
          <p:nvPr>
            <p:ph idx="1"/>
          </p:nvPr>
        </p:nvSpPr>
        <p:spPr/>
        <p:txBody>
          <a:bodyPr>
            <a:normAutofit lnSpcReduction="10000"/>
          </a:bodyPr>
          <a:lstStyle/>
          <a:p>
            <a:r>
              <a:rPr lang="en-GB" dirty="0"/>
              <a:t>Unlike a forward, the company can choose not to exercise its option to sell currency if a customer does not pay it</a:t>
            </a:r>
          </a:p>
          <a:p>
            <a:r>
              <a:rPr lang="en-GB" dirty="0"/>
              <a:t>Not exercising an option is also useful when it becomes apparent that a company can realize a gain on changes in the exchange rate</a:t>
            </a:r>
          </a:p>
          <a:p>
            <a:r>
              <a:rPr lang="en-GB" dirty="0"/>
              <a:t>In an option agreement, the cost to the buyer is fixed upfront, while the cost to the seller is potentially unlimited</a:t>
            </a:r>
            <a:endParaRPr lang="en-US" dirty="0"/>
          </a:p>
        </p:txBody>
      </p:sp>
    </p:spTree>
    <p:extLst>
      <p:ext uri="{BB962C8B-B14F-4D97-AF65-F5344CB8AC3E}">
        <p14:creationId xmlns:p14="http://schemas.microsoft.com/office/powerpoint/2010/main" val="3028858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Currency options</a:t>
            </a:r>
            <a:endParaRPr lang="en-US" dirty="0"/>
          </a:p>
        </p:txBody>
      </p:sp>
      <p:sp>
        <p:nvSpPr>
          <p:cNvPr id="3" name="Content Placeholder 2"/>
          <p:cNvSpPr>
            <a:spLocks noGrp="1"/>
          </p:cNvSpPr>
          <p:nvPr>
            <p:ph idx="1"/>
          </p:nvPr>
        </p:nvSpPr>
        <p:spPr/>
        <p:txBody>
          <a:bodyPr>
            <a:normAutofit fontScale="92500"/>
          </a:bodyPr>
          <a:lstStyle/>
          <a:p>
            <a:r>
              <a:rPr lang="en-GB" dirty="0"/>
              <a:t>From the seller’s  perspective, the amount of an option premium is based on the </a:t>
            </a:r>
            <a:r>
              <a:rPr lang="en-GB" dirty="0">
                <a:solidFill>
                  <a:srgbClr val="FF0000"/>
                </a:solidFill>
              </a:rPr>
              <a:t>strike price</a:t>
            </a:r>
            <a:r>
              <a:rPr lang="en-GB" dirty="0"/>
              <a:t>, </a:t>
            </a:r>
            <a:r>
              <a:rPr lang="en-GB" dirty="0">
                <a:solidFill>
                  <a:srgbClr val="FF0000"/>
                </a:solidFill>
              </a:rPr>
              <a:t>time to expiration</a:t>
            </a:r>
            <a:r>
              <a:rPr lang="en-GB" dirty="0"/>
              <a:t>, and the </a:t>
            </a:r>
            <a:r>
              <a:rPr lang="en-GB" dirty="0">
                <a:solidFill>
                  <a:srgbClr val="FF0000"/>
                </a:solidFill>
              </a:rPr>
              <a:t>volatility</a:t>
            </a:r>
            <a:r>
              <a:rPr lang="en-GB" dirty="0"/>
              <a:t> of the underlying currency</a:t>
            </a:r>
          </a:p>
          <a:p>
            <a:r>
              <a:rPr lang="en-GB" dirty="0"/>
              <a:t>Within an option agreement, the </a:t>
            </a:r>
            <a:r>
              <a:rPr lang="en-GB" dirty="0">
                <a:solidFill>
                  <a:srgbClr val="FF0000"/>
                </a:solidFill>
              </a:rPr>
              <a:t>strike price </a:t>
            </a:r>
            <a:r>
              <a:rPr lang="en-GB" dirty="0"/>
              <a:t>states the exchange rate at which the underlying currency can be bought or sold</a:t>
            </a:r>
          </a:p>
          <a:p>
            <a:r>
              <a:rPr lang="en-GB" dirty="0"/>
              <a:t>The </a:t>
            </a:r>
            <a:r>
              <a:rPr lang="en-GB" dirty="0">
                <a:solidFill>
                  <a:srgbClr val="FF0000"/>
                </a:solidFill>
              </a:rPr>
              <a:t>notional</a:t>
            </a:r>
            <a:r>
              <a:rPr lang="en-GB" dirty="0"/>
              <a:t> contract amount is the amount of currency that can be bought or sold at the option of the buyer</a:t>
            </a:r>
            <a:endParaRPr lang="en-US" dirty="0"/>
          </a:p>
        </p:txBody>
      </p:sp>
    </p:spTree>
    <p:extLst>
      <p:ext uri="{BB962C8B-B14F-4D97-AF65-F5344CB8AC3E}">
        <p14:creationId xmlns:p14="http://schemas.microsoft.com/office/powerpoint/2010/main" val="287872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Currency options</a:t>
            </a:r>
            <a:endParaRPr lang="en-US" dirty="0"/>
          </a:p>
        </p:txBody>
      </p:sp>
      <p:sp>
        <p:nvSpPr>
          <p:cNvPr id="3" name="Content Placeholder 2"/>
          <p:cNvSpPr>
            <a:spLocks noGrp="1"/>
          </p:cNvSpPr>
          <p:nvPr>
            <p:ph idx="1"/>
          </p:nvPr>
        </p:nvSpPr>
        <p:spPr/>
        <p:txBody>
          <a:bodyPr>
            <a:normAutofit fontScale="92500"/>
          </a:bodyPr>
          <a:lstStyle/>
          <a:p>
            <a:r>
              <a:rPr lang="en-GB" dirty="0"/>
              <a:t>The </a:t>
            </a:r>
            <a:r>
              <a:rPr lang="en-GB" dirty="0">
                <a:solidFill>
                  <a:srgbClr val="FF0000"/>
                </a:solidFill>
              </a:rPr>
              <a:t>expiry date </a:t>
            </a:r>
            <a:r>
              <a:rPr lang="en-GB" dirty="0"/>
              <a:t>is the date when the contract will expire, if not previously exercised</a:t>
            </a:r>
          </a:p>
          <a:p>
            <a:r>
              <a:rPr lang="en-GB" dirty="0"/>
              <a:t>If the option is </a:t>
            </a:r>
            <a:r>
              <a:rPr lang="en-GB" i="1" dirty="0">
                <a:solidFill>
                  <a:srgbClr val="FF0000"/>
                </a:solidFill>
              </a:rPr>
              <a:t>in the money</a:t>
            </a:r>
            <a:r>
              <a:rPr lang="en-GB" dirty="0"/>
              <a:t>, then the buyer can exercise it at a better price than the current exchange rate</a:t>
            </a:r>
          </a:p>
          <a:p>
            <a:r>
              <a:rPr lang="en-GB" dirty="0"/>
              <a:t>If the option is </a:t>
            </a:r>
            <a:r>
              <a:rPr lang="en-GB" i="1" dirty="0">
                <a:solidFill>
                  <a:srgbClr val="FF0000"/>
                </a:solidFill>
              </a:rPr>
              <a:t>at the money</a:t>
            </a:r>
            <a:r>
              <a:rPr lang="en-GB" i="1" dirty="0"/>
              <a:t>, </a:t>
            </a:r>
            <a:r>
              <a:rPr lang="en-GB" dirty="0"/>
              <a:t>then the buyer can exercise it at the current market price</a:t>
            </a:r>
          </a:p>
          <a:p>
            <a:r>
              <a:rPr lang="en-GB" dirty="0"/>
              <a:t>If the option is </a:t>
            </a:r>
            <a:r>
              <a:rPr lang="en-GB" i="1" dirty="0">
                <a:solidFill>
                  <a:srgbClr val="FF0000"/>
                </a:solidFill>
              </a:rPr>
              <a:t>out of the money</a:t>
            </a:r>
            <a:r>
              <a:rPr lang="en-GB" dirty="0"/>
              <a:t>, the buyer can exercise it only at an exchange rate that is worse than the market rate</a:t>
            </a:r>
            <a:endParaRPr lang="en-US" dirty="0"/>
          </a:p>
        </p:txBody>
      </p:sp>
    </p:spTree>
    <p:extLst>
      <p:ext uri="{BB962C8B-B14F-4D97-AF65-F5344CB8AC3E}">
        <p14:creationId xmlns:p14="http://schemas.microsoft.com/office/powerpoint/2010/main" val="1134820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Currency options</a:t>
            </a:r>
            <a:endParaRPr lang="en-US" dirty="0"/>
          </a:p>
        </p:txBody>
      </p:sp>
      <p:sp>
        <p:nvSpPr>
          <p:cNvPr id="3" name="Content Placeholder 2"/>
          <p:cNvSpPr>
            <a:spLocks noGrp="1"/>
          </p:cNvSpPr>
          <p:nvPr>
            <p:ph idx="1"/>
          </p:nvPr>
        </p:nvSpPr>
        <p:spPr/>
        <p:txBody>
          <a:bodyPr>
            <a:normAutofit fontScale="92500"/>
          </a:bodyPr>
          <a:lstStyle/>
          <a:p>
            <a:r>
              <a:rPr lang="en-GB" dirty="0"/>
              <a:t>A </a:t>
            </a:r>
            <a:r>
              <a:rPr lang="en-GB" dirty="0">
                <a:solidFill>
                  <a:srgbClr val="FF0000"/>
                </a:solidFill>
              </a:rPr>
              <a:t>European style </a:t>
            </a:r>
            <a:r>
              <a:rPr lang="en-GB" dirty="0"/>
              <a:t>option is only exercisable on the expiry date</a:t>
            </a:r>
          </a:p>
          <a:p>
            <a:r>
              <a:rPr lang="en-GB" dirty="0"/>
              <a:t>An </a:t>
            </a:r>
            <a:r>
              <a:rPr lang="en-GB" dirty="0">
                <a:solidFill>
                  <a:srgbClr val="FF0000"/>
                </a:solidFill>
              </a:rPr>
              <a:t>American style </a:t>
            </a:r>
            <a:r>
              <a:rPr lang="en-GB" dirty="0"/>
              <a:t>option can be exercised at any time prior to and including the expiry date</a:t>
            </a:r>
          </a:p>
          <a:p>
            <a:r>
              <a:rPr lang="en-GB" dirty="0"/>
              <a:t>With a foreign exchange collar, a company buys one option and sells another at the same time, using the same expiry date and the same currency</a:t>
            </a:r>
          </a:p>
          <a:p>
            <a:r>
              <a:rPr lang="en-GB" dirty="0"/>
              <a:t>Doing so establishes an exchange rate range for a company</a:t>
            </a:r>
            <a:endParaRPr lang="en-US" dirty="0"/>
          </a:p>
        </p:txBody>
      </p:sp>
    </p:spTree>
    <p:extLst>
      <p:ext uri="{BB962C8B-B14F-4D97-AF65-F5344CB8AC3E}">
        <p14:creationId xmlns:p14="http://schemas.microsoft.com/office/powerpoint/2010/main" val="1568993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B79F7-BDA6-4F1A-A6EF-D8DC3392BC1B}"/>
              </a:ext>
            </a:extLst>
          </p:cNvPr>
          <p:cNvSpPr>
            <a:spLocks noGrp="1"/>
          </p:cNvSpPr>
          <p:nvPr>
            <p:ph type="title"/>
          </p:nvPr>
        </p:nvSpPr>
        <p:spPr/>
        <p:txBody>
          <a:bodyPr/>
          <a:lstStyle/>
          <a:p>
            <a:r>
              <a:rPr lang="en-GB" dirty="0"/>
              <a:t>Currency Option Example</a:t>
            </a:r>
          </a:p>
        </p:txBody>
      </p:sp>
      <p:sp>
        <p:nvSpPr>
          <p:cNvPr id="3" name="Content Placeholder 2">
            <a:extLst>
              <a:ext uri="{FF2B5EF4-FFF2-40B4-BE49-F238E27FC236}">
                <a16:creationId xmlns:a16="http://schemas.microsoft.com/office/drawing/2014/main" id="{E78E9C68-57B8-4852-806C-3077C5D6CEB8}"/>
              </a:ext>
            </a:extLst>
          </p:cNvPr>
          <p:cNvSpPr>
            <a:spLocks noGrp="1"/>
          </p:cNvSpPr>
          <p:nvPr>
            <p:ph idx="1"/>
          </p:nvPr>
        </p:nvSpPr>
        <p:spPr/>
        <p:txBody>
          <a:bodyPr/>
          <a:lstStyle/>
          <a:p>
            <a:r>
              <a:rPr lang="en-GB" dirty="0"/>
              <a:t>A Zambian company is tendering for the sale of equipment to a South African company for ZAR3 million</a:t>
            </a:r>
          </a:p>
          <a:p>
            <a:r>
              <a:rPr lang="en-GB" dirty="0"/>
              <a:t>Settlement is in three months’ time </a:t>
            </a:r>
          </a:p>
          <a:p>
            <a:r>
              <a:rPr lang="en-GB" dirty="0"/>
              <a:t>Current spot rate is ZAR/ZMK=0.70</a:t>
            </a:r>
          </a:p>
          <a:p>
            <a:r>
              <a:rPr lang="en-GB" dirty="0"/>
              <a:t>The company is worried about the rand depreciating </a:t>
            </a:r>
          </a:p>
        </p:txBody>
      </p:sp>
    </p:spTree>
    <p:extLst>
      <p:ext uri="{BB962C8B-B14F-4D97-AF65-F5344CB8AC3E}">
        <p14:creationId xmlns:p14="http://schemas.microsoft.com/office/powerpoint/2010/main" val="3027870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AE94-783B-436B-9874-F6AFAA4E0635}"/>
              </a:ext>
            </a:extLst>
          </p:cNvPr>
          <p:cNvSpPr>
            <a:spLocks noGrp="1"/>
          </p:cNvSpPr>
          <p:nvPr>
            <p:ph type="title"/>
          </p:nvPr>
        </p:nvSpPr>
        <p:spPr/>
        <p:txBody>
          <a:bodyPr/>
          <a:lstStyle/>
          <a:p>
            <a:r>
              <a:rPr lang="en-GB" dirty="0"/>
              <a:t>Currency Option Example</a:t>
            </a:r>
          </a:p>
        </p:txBody>
      </p:sp>
      <p:sp>
        <p:nvSpPr>
          <p:cNvPr id="3" name="Content Placeholder 2">
            <a:extLst>
              <a:ext uri="{FF2B5EF4-FFF2-40B4-BE49-F238E27FC236}">
                <a16:creationId xmlns:a16="http://schemas.microsoft.com/office/drawing/2014/main" id="{8A535BFF-AA76-4DD2-895A-FF33C87472B9}"/>
              </a:ext>
            </a:extLst>
          </p:cNvPr>
          <p:cNvSpPr>
            <a:spLocks noGrp="1"/>
          </p:cNvSpPr>
          <p:nvPr>
            <p:ph idx="1"/>
          </p:nvPr>
        </p:nvSpPr>
        <p:spPr/>
        <p:txBody>
          <a:bodyPr/>
          <a:lstStyle/>
          <a:p>
            <a:r>
              <a:rPr lang="en-GB" dirty="0"/>
              <a:t>The company has been offered a three-month put option on rand at ZAR/ZMK=0.72 </a:t>
            </a:r>
          </a:p>
          <a:p>
            <a:r>
              <a:rPr lang="en-GB" dirty="0"/>
              <a:t>The cost is 0.02 cents per kwacha</a:t>
            </a:r>
          </a:p>
          <a:p>
            <a:r>
              <a:rPr lang="en-GB" dirty="0"/>
              <a:t>Calculate the proceeds from the transaction when:</a:t>
            </a:r>
          </a:p>
          <a:p>
            <a:pPr marL="514350" indent="-514350">
              <a:buAutoNum type="romanLcParenBoth"/>
            </a:pPr>
            <a:r>
              <a:rPr lang="en-GB" dirty="0"/>
              <a:t>ZAR/ZMK=0.50</a:t>
            </a:r>
          </a:p>
          <a:p>
            <a:pPr marL="514350" indent="-514350">
              <a:buAutoNum type="romanLcParenBoth"/>
            </a:pPr>
            <a:r>
              <a:rPr lang="en-GB" dirty="0"/>
              <a:t>ZAR/ZMK</a:t>
            </a:r>
            <a:r>
              <a:rPr lang="en-GB"/>
              <a:t>= 0.80</a:t>
            </a:r>
            <a:endParaRPr lang="en-GB" dirty="0"/>
          </a:p>
        </p:txBody>
      </p:sp>
    </p:spTree>
    <p:extLst>
      <p:ext uri="{BB962C8B-B14F-4D97-AF65-F5344CB8AC3E}">
        <p14:creationId xmlns:p14="http://schemas.microsoft.com/office/powerpoint/2010/main" val="60902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D18F-0B5D-4ED5-8B87-61B98B94813F}"/>
              </a:ext>
            </a:extLst>
          </p:cNvPr>
          <p:cNvSpPr>
            <a:spLocks noGrp="1"/>
          </p:cNvSpPr>
          <p:nvPr>
            <p:ph type="title"/>
          </p:nvPr>
        </p:nvSpPr>
        <p:spPr/>
        <p:txBody>
          <a:bodyPr/>
          <a:lstStyle/>
          <a:p>
            <a:r>
              <a:rPr lang="en-GB" dirty="0"/>
              <a:t>Currency Option Example</a:t>
            </a:r>
          </a:p>
        </p:txBody>
      </p:sp>
      <p:sp>
        <p:nvSpPr>
          <p:cNvPr id="3" name="Content Placeholder 2">
            <a:extLst>
              <a:ext uri="{FF2B5EF4-FFF2-40B4-BE49-F238E27FC236}">
                <a16:creationId xmlns:a16="http://schemas.microsoft.com/office/drawing/2014/main" id="{308991C2-6AA0-4DE3-9CCD-7DCC4F816FB4}"/>
              </a:ext>
            </a:extLst>
          </p:cNvPr>
          <p:cNvSpPr>
            <a:spLocks noGrp="1"/>
          </p:cNvSpPr>
          <p:nvPr>
            <p:ph idx="1"/>
          </p:nvPr>
        </p:nvSpPr>
        <p:spPr/>
        <p:txBody>
          <a:bodyPr/>
          <a:lstStyle/>
          <a:p>
            <a:r>
              <a:rPr lang="en-GB" dirty="0"/>
              <a:t>Solution:</a:t>
            </a:r>
          </a:p>
          <a:p>
            <a:r>
              <a:rPr lang="en-GB" dirty="0"/>
              <a:t>Kwacha amount received if option is exercised:</a:t>
            </a:r>
          </a:p>
          <a:p>
            <a:r>
              <a:rPr lang="en-GB" dirty="0"/>
              <a:t>ZAR3,000,000 x 0.72 = K2,160,000</a:t>
            </a:r>
          </a:p>
          <a:p>
            <a:r>
              <a:rPr lang="en-GB" dirty="0"/>
              <a:t>Cost of option = 0.02 x ZAR3m x 0.72= K43,200</a:t>
            </a:r>
          </a:p>
          <a:p>
            <a:r>
              <a:rPr lang="en-GB" dirty="0"/>
              <a:t>The premium is payable whether or not the option is exercised</a:t>
            </a:r>
          </a:p>
        </p:txBody>
      </p:sp>
    </p:spTree>
    <p:extLst>
      <p:ext uri="{BB962C8B-B14F-4D97-AF65-F5344CB8AC3E}">
        <p14:creationId xmlns:p14="http://schemas.microsoft.com/office/powerpoint/2010/main" val="2303304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ACE60-0A42-4F5C-BEF9-58529B2D6EF7}"/>
              </a:ext>
            </a:extLst>
          </p:cNvPr>
          <p:cNvSpPr>
            <a:spLocks noGrp="1"/>
          </p:cNvSpPr>
          <p:nvPr>
            <p:ph type="title"/>
          </p:nvPr>
        </p:nvSpPr>
        <p:spPr/>
        <p:txBody>
          <a:bodyPr/>
          <a:lstStyle/>
          <a:p>
            <a:r>
              <a:rPr lang="en-GB" dirty="0"/>
              <a:t>Currency Option Example</a:t>
            </a:r>
          </a:p>
        </p:txBody>
      </p:sp>
      <p:sp>
        <p:nvSpPr>
          <p:cNvPr id="3" name="Content Placeholder 2">
            <a:extLst>
              <a:ext uri="{FF2B5EF4-FFF2-40B4-BE49-F238E27FC236}">
                <a16:creationId xmlns:a16="http://schemas.microsoft.com/office/drawing/2014/main" id="{22A6BADE-2B10-4785-BF90-97A52B202E4B}"/>
              </a:ext>
            </a:extLst>
          </p:cNvPr>
          <p:cNvSpPr>
            <a:spLocks noGrp="1"/>
          </p:cNvSpPr>
          <p:nvPr>
            <p:ph idx="1"/>
          </p:nvPr>
        </p:nvSpPr>
        <p:spPr/>
        <p:txBody>
          <a:bodyPr/>
          <a:lstStyle/>
          <a:p>
            <a:r>
              <a:rPr lang="en-GB" dirty="0"/>
              <a:t>Net Kwacha amount</a:t>
            </a:r>
          </a:p>
          <a:p>
            <a:pPr marL="0" indent="0">
              <a:buNone/>
            </a:pPr>
            <a:r>
              <a:rPr lang="en-GB" dirty="0"/>
              <a:t> Option to sell ZAR3 million                   K2,160,000</a:t>
            </a:r>
          </a:p>
          <a:p>
            <a:pPr marL="0" indent="0">
              <a:buNone/>
            </a:pPr>
            <a:r>
              <a:rPr lang="en-GB" dirty="0"/>
              <a:t>Cost of option (at spot) 43,200 x0.72            </a:t>
            </a:r>
            <a:r>
              <a:rPr lang="en-GB" u="sng" dirty="0"/>
              <a:t>(43,200)</a:t>
            </a:r>
          </a:p>
          <a:p>
            <a:pPr marL="0" indent="0">
              <a:buNone/>
            </a:pPr>
            <a:r>
              <a:rPr lang="en-GB" dirty="0"/>
              <a:t>					         K2,116,800</a:t>
            </a:r>
          </a:p>
        </p:txBody>
      </p:sp>
    </p:spTree>
    <p:extLst>
      <p:ext uri="{BB962C8B-B14F-4D97-AF65-F5344CB8AC3E}">
        <p14:creationId xmlns:p14="http://schemas.microsoft.com/office/powerpoint/2010/main" val="2297373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Currency Swaps</a:t>
            </a:r>
            <a:endParaRPr lang="en-US" dirty="0"/>
          </a:p>
        </p:txBody>
      </p:sp>
      <p:sp>
        <p:nvSpPr>
          <p:cNvPr id="3" name="Content Placeholder 2"/>
          <p:cNvSpPr>
            <a:spLocks noGrp="1"/>
          </p:cNvSpPr>
          <p:nvPr>
            <p:ph idx="1"/>
          </p:nvPr>
        </p:nvSpPr>
        <p:spPr/>
        <p:txBody>
          <a:bodyPr/>
          <a:lstStyle/>
          <a:p>
            <a:r>
              <a:rPr lang="en-GB" dirty="0"/>
              <a:t>A currency swap is a spot transaction on the over-the-counter market that is executed at the same time as a forward transaction, with currencies being exchanged at both the spot date and the forward date</a:t>
            </a:r>
          </a:p>
          <a:p>
            <a:r>
              <a:rPr lang="en-GB" dirty="0"/>
              <a:t>One currency is bought at the spot rate and date, while the transaction is reversed at the forward date and rate.</a:t>
            </a:r>
          </a:p>
          <a:p>
            <a:r>
              <a:rPr lang="en-GB" dirty="0"/>
              <a:t>Once the swap expires, both parties return to  their original positions</a:t>
            </a:r>
            <a:endParaRPr lang="en-US" dirty="0"/>
          </a:p>
        </p:txBody>
      </p:sp>
    </p:spTree>
    <p:extLst>
      <p:ext uri="{BB962C8B-B14F-4D97-AF65-F5344CB8AC3E}">
        <p14:creationId xmlns:p14="http://schemas.microsoft.com/office/powerpoint/2010/main" val="219243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Currency Swaps</a:t>
            </a:r>
            <a:endParaRPr lang="en-US" dirty="0"/>
          </a:p>
        </p:txBody>
      </p:sp>
      <p:sp>
        <p:nvSpPr>
          <p:cNvPr id="3" name="Content Placeholder 2"/>
          <p:cNvSpPr>
            <a:spLocks noGrp="1"/>
          </p:cNvSpPr>
          <p:nvPr>
            <p:ph idx="1"/>
          </p:nvPr>
        </p:nvSpPr>
        <p:spPr/>
        <p:txBody>
          <a:bodyPr>
            <a:normAutofit fontScale="92500" lnSpcReduction="10000"/>
          </a:bodyPr>
          <a:lstStyle/>
          <a:p>
            <a:r>
              <a:rPr lang="en-GB" dirty="0"/>
              <a:t>The currency swap acts as an investment in one currency and a loan in another. </a:t>
            </a:r>
          </a:p>
          <a:p>
            <a:r>
              <a:rPr lang="en-GB" dirty="0"/>
              <a:t>The exchange rates of both transactions are set at the time of the initial transaction, so the difference between the two rates is caused by the interest differential between the two currencies over the duration of the swap.</a:t>
            </a:r>
          </a:p>
          <a:p>
            <a:r>
              <a:rPr lang="en-GB" dirty="0"/>
              <a:t>The currency swap is useful when a company forecasts a short term liquidity shortfall in a specific currency and has sufficient funds in a different currency to effect a swap into the currency where funds are needed</a:t>
            </a:r>
            <a:endParaRPr lang="en-US" dirty="0"/>
          </a:p>
        </p:txBody>
      </p:sp>
    </p:spTree>
    <p:extLst>
      <p:ext uri="{BB962C8B-B14F-4D97-AF65-F5344CB8AC3E}">
        <p14:creationId xmlns:p14="http://schemas.microsoft.com/office/powerpoint/2010/main" val="3515680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Currency Swaps</a:t>
            </a:r>
            <a:endParaRPr lang="en-US" dirty="0"/>
          </a:p>
        </p:txBody>
      </p:sp>
      <p:sp>
        <p:nvSpPr>
          <p:cNvPr id="3" name="Content Placeholder 2"/>
          <p:cNvSpPr>
            <a:spLocks noGrp="1"/>
          </p:cNvSpPr>
          <p:nvPr>
            <p:ph idx="1"/>
          </p:nvPr>
        </p:nvSpPr>
        <p:spPr/>
        <p:txBody>
          <a:bodyPr/>
          <a:lstStyle/>
          <a:p>
            <a:r>
              <a:rPr lang="en-GB" dirty="0"/>
              <a:t>In addition, the company off-sets what is likely to be a high interest rate on the short-term debt with the lower interest rate that it was earning on funds in a different currency</a:t>
            </a:r>
          </a:p>
          <a:p>
            <a:r>
              <a:rPr lang="en-GB" dirty="0"/>
              <a:t>The currency swap is also useful when a foreign currency cash flow is delayed and a company would normally be obliged to sell the currency on the expected receipt date, as per terms of a forward exchange contract</a:t>
            </a:r>
            <a:endParaRPr lang="en-US" dirty="0"/>
          </a:p>
        </p:txBody>
      </p:sp>
    </p:spTree>
    <p:extLst>
      <p:ext uri="{BB962C8B-B14F-4D97-AF65-F5344CB8AC3E}">
        <p14:creationId xmlns:p14="http://schemas.microsoft.com/office/powerpoint/2010/main" val="90115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Currency Swaps</a:t>
            </a:r>
            <a:endParaRPr lang="en-US" dirty="0"/>
          </a:p>
        </p:txBody>
      </p:sp>
      <p:sp>
        <p:nvSpPr>
          <p:cNvPr id="3" name="Content Placeholder 2"/>
          <p:cNvSpPr>
            <a:spLocks noGrp="1"/>
          </p:cNvSpPr>
          <p:nvPr>
            <p:ph idx="1"/>
          </p:nvPr>
        </p:nvSpPr>
        <p:spPr/>
        <p:txBody>
          <a:bodyPr/>
          <a:lstStyle/>
          <a:p>
            <a:r>
              <a:rPr lang="en-GB" dirty="0"/>
              <a:t>To meet this contractually obligated payment, a company can swap its other currency reserves into the currency that must be sold, and reverse the transaction later, when the expected cash flow eventually arrives</a:t>
            </a:r>
            <a:endParaRPr lang="en-US" dirty="0"/>
          </a:p>
        </p:txBody>
      </p:sp>
    </p:spTree>
    <p:extLst>
      <p:ext uri="{BB962C8B-B14F-4D97-AF65-F5344CB8AC3E}">
        <p14:creationId xmlns:p14="http://schemas.microsoft.com/office/powerpoint/2010/main" val="2928110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E1BBB-241D-49BA-AC12-7299B8F29A29}"/>
              </a:ext>
            </a:extLst>
          </p:cNvPr>
          <p:cNvSpPr>
            <a:spLocks noGrp="1"/>
          </p:cNvSpPr>
          <p:nvPr>
            <p:ph type="title"/>
          </p:nvPr>
        </p:nvSpPr>
        <p:spPr/>
        <p:txBody>
          <a:bodyPr/>
          <a:lstStyle/>
          <a:p>
            <a:r>
              <a:rPr lang="en-GB" dirty="0"/>
              <a:t>Currency Swap Example</a:t>
            </a:r>
          </a:p>
        </p:txBody>
      </p:sp>
      <p:sp>
        <p:nvSpPr>
          <p:cNvPr id="3" name="Content Placeholder 2">
            <a:extLst>
              <a:ext uri="{FF2B5EF4-FFF2-40B4-BE49-F238E27FC236}">
                <a16:creationId xmlns:a16="http://schemas.microsoft.com/office/drawing/2014/main" id="{0F367C63-FD78-4382-93E3-101076E980ED}"/>
              </a:ext>
            </a:extLst>
          </p:cNvPr>
          <p:cNvSpPr>
            <a:spLocks noGrp="1"/>
          </p:cNvSpPr>
          <p:nvPr>
            <p:ph idx="1"/>
          </p:nvPr>
        </p:nvSpPr>
        <p:spPr/>
        <p:txBody>
          <a:bodyPr/>
          <a:lstStyle/>
          <a:p>
            <a:r>
              <a:rPr lang="en-GB" dirty="0"/>
              <a:t>A British company wants to raise $150m for 10 years at a </a:t>
            </a:r>
            <a:r>
              <a:rPr lang="en-GB" dirty="0">
                <a:solidFill>
                  <a:srgbClr val="FF0000"/>
                </a:solidFill>
              </a:rPr>
              <a:t>floating rate </a:t>
            </a:r>
            <a:r>
              <a:rPr lang="en-GB" dirty="0"/>
              <a:t>of interest for investment in the USA</a:t>
            </a:r>
          </a:p>
          <a:p>
            <a:r>
              <a:rPr lang="en-GB" dirty="0"/>
              <a:t>A US company wants to raise £100m for 10 years at a </a:t>
            </a:r>
            <a:r>
              <a:rPr lang="en-GB" dirty="0">
                <a:solidFill>
                  <a:srgbClr val="FF0000"/>
                </a:solidFill>
              </a:rPr>
              <a:t>fixed rate </a:t>
            </a:r>
            <a:r>
              <a:rPr lang="en-GB" dirty="0"/>
              <a:t>of interest for investment in the UK</a:t>
            </a:r>
          </a:p>
          <a:p>
            <a:r>
              <a:rPr lang="en-GB" dirty="0"/>
              <a:t>Assume that spot exchange rate is $1.50/ £1</a:t>
            </a:r>
          </a:p>
          <a:p>
            <a:r>
              <a:rPr lang="en-GB" dirty="0"/>
              <a:t>British company can borrow $150m at Libor plus 0.75%</a:t>
            </a:r>
          </a:p>
        </p:txBody>
      </p:sp>
    </p:spTree>
    <p:extLst>
      <p:ext uri="{BB962C8B-B14F-4D97-AF65-F5344CB8AC3E}">
        <p14:creationId xmlns:p14="http://schemas.microsoft.com/office/powerpoint/2010/main" val="370251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ABCDF-F389-4977-A266-79D9FDBA89C1}"/>
              </a:ext>
            </a:extLst>
          </p:cNvPr>
          <p:cNvSpPr>
            <a:spLocks noGrp="1"/>
          </p:cNvSpPr>
          <p:nvPr>
            <p:ph type="title"/>
          </p:nvPr>
        </p:nvSpPr>
        <p:spPr/>
        <p:txBody>
          <a:bodyPr/>
          <a:lstStyle/>
          <a:p>
            <a:r>
              <a:rPr lang="en-GB" dirty="0"/>
              <a:t>Currency Swap Example</a:t>
            </a:r>
          </a:p>
        </p:txBody>
      </p:sp>
      <p:sp>
        <p:nvSpPr>
          <p:cNvPr id="3" name="Content Placeholder 2">
            <a:extLst>
              <a:ext uri="{FF2B5EF4-FFF2-40B4-BE49-F238E27FC236}">
                <a16:creationId xmlns:a16="http://schemas.microsoft.com/office/drawing/2014/main" id="{955DF3FC-3C15-41C9-9FBF-F751A5A0CEE6}"/>
              </a:ext>
            </a:extLst>
          </p:cNvPr>
          <p:cNvSpPr>
            <a:spLocks noGrp="1"/>
          </p:cNvSpPr>
          <p:nvPr>
            <p:ph idx="1"/>
          </p:nvPr>
        </p:nvSpPr>
        <p:spPr/>
        <p:txBody>
          <a:bodyPr/>
          <a:lstStyle/>
          <a:p>
            <a:r>
              <a:rPr lang="en-GB" dirty="0"/>
              <a:t>The US company can borrow £100m at fixed rate of 8.50%</a:t>
            </a:r>
          </a:p>
          <a:p>
            <a:r>
              <a:rPr lang="en-GB" dirty="0"/>
              <a:t>The UK company can also borrow £100m on the London market at a fixed rate of 8%</a:t>
            </a:r>
          </a:p>
          <a:p>
            <a:r>
              <a:rPr lang="en-GB" dirty="0"/>
              <a:t>The US company can also borrow $150m at Libor plus 0.25%</a:t>
            </a:r>
          </a:p>
        </p:txBody>
      </p:sp>
    </p:spTree>
    <p:extLst>
      <p:ext uri="{BB962C8B-B14F-4D97-AF65-F5344CB8AC3E}">
        <p14:creationId xmlns:p14="http://schemas.microsoft.com/office/powerpoint/2010/main" val="146278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C6A3-B193-4DDC-A743-316E20BF25C0}"/>
              </a:ext>
            </a:extLst>
          </p:cNvPr>
          <p:cNvSpPr>
            <a:spLocks noGrp="1"/>
          </p:cNvSpPr>
          <p:nvPr>
            <p:ph type="title"/>
          </p:nvPr>
        </p:nvSpPr>
        <p:spPr/>
        <p:txBody>
          <a:bodyPr/>
          <a:lstStyle/>
          <a:p>
            <a:r>
              <a:rPr lang="en-GB" dirty="0"/>
              <a:t>Currency Swap Example</a:t>
            </a:r>
          </a:p>
        </p:txBody>
      </p:sp>
      <p:graphicFrame>
        <p:nvGraphicFramePr>
          <p:cNvPr id="4" name="Content Placeholder 3">
            <a:extLst>
              <a:ext uri="{FF2B5EF4-FFF2-40B4-BE49-F238E27FC236}">
                <a16:creationId xmlns:a16="http://schemas.microsoft.com/office/drawing/2014/main" id="{10B34E04-9B36-40B2-B76C-ABE1CAF27551}"/>
              </a:ext>
            </a:extLst>
          </p:cNvPr>
          <p:cNvGraphicFramePr>
            <a:graphicFrameLocks noGrp="1"/>
          </p:cNvGraphicFramePr>
          <p:nvPr>
            <p:ph idx="1"/>
            <p:extLst>
              <p:ext uri="{D42A27DB-BD31-4B8C-83A1-F6EECF244321}">
                <p14:modId xmlns:p14="http://schemas.microsoft.com/office/powerpoint/2010/main" val="3186743723"/>
              </p:ext>
            </p:extLst>
          </p:nvPr>
        </p:nvGraphicFramePr>
        <p:xfrm>
          <a:off x="685800" y="2518117"/>
          <a:ext cx="7770813" cy="2968284"/>
        </p:xfrm>
        <a:graphic>
          <a:graphicData uri="http://schemas.openxmlformats.org/drawingml/2006/table">
            <a:tbl>
              <a:tblPr firstRow="1" bandRow="1">
                <a:tableStyleId>{5C22544A-7EE6-4342-B048-85BDC9FD1C3A}</a:tableStyleId>
              </a:tblPr>
              <a:tblGrid>
                <a:gridCol w="2591972">
                  <a:extLst>
                    <a:ext uri="{9D8B030D-6E8A-4147-A177-3AD203B41FA5}">
                      <a16:colId xmlns:a16="http://schemas.microsoft.com/office/drawing/2014/main" val="2897402699"/>
                    </a:ext>
                  </a:extLst>
                </a:gridCol>
                <a:gridCol w="2588570">
                  <a:extLst>
                    <a:ext uri="{9D8B030D-6E8A-4147-A177-3AD203B41FA5}">
                      <a16:colId xmlns:a16="http://schemas.microsoft.com/office/drawing/2014/main" val="4259385044"/>
                    </a:ext>
                  </a:extLst>
                </a:gridCol>
                <a:gridCol w="2590271">
                  <a:extLst>
                    <a:ext uri="{9D8B030D-6E8A-4147-A177-3AD203B41FA5}">
                      <a16:colId xmlns:a16="http://schemas.microsoft.com/office/drawing/2014/main" val="10612763"/>
                    </a:ext>
                  </a:extLst>
                </a:gridCol>
              </a:tblGrid>
              <a:tr h="1375014">
                <a:tc>
                  <a:txBody>
                    <a:bodyPr/>
                    <a:lstStyle/>
                    <a:p>
                      <a:endParaRPr lang="en-GB" dirty="0"/>
                    </a:p>
                  </a:txBody>
                  <a:tcPr/>
                </a:tc>
                <a:tc>
                  <a:txBody>
                    <a:bodyPr/>
                    <a:lstStyle/>
                    <a:p>
                      <a:r>
                        <a:rPr lang="en-GB" dirty="0"/>
                        <a:t>UK sterling </a:t>
                      </a:r>
                    </a:p>
                    <a:p>
                      <a:r>
                        <a:rPr lang="en-GB" dirty="0"/>
                        <a:t>Fixed rate</a:t>
                      </a:r>
                    </a:p>
                  </a:txBody>
                  <a:tcPr/>
                </a:tc>
                <a:tc>
                  <a:txBody>
                    <a:bodyPr/>
                    <a:lstStyle/>
                    <a:p>
                      <a:r>
                        <a:rPr lang="en-GB" dirty="0"/>
                        <a:t>US dollar </a:t>
                      </a:r>
                    </a:p>
                    <a:p>
                      <a:r>
                        <a:rPr lang="en-GB" dirty="0"/>
                        <a:t>Floating rate</a:t>
                      </a:r>
                    </a:p>
                  </a:txBody>
                  <a:tcPr/>
                </a:tc>
                <a:extLst>
                  <a:ext uri="{0D108BD9-81ED-4DB2-BD59-A6C34878D82A}">
                    <a16:rowId xmlns:a16="http://schemas.microsoft.com/office/drawing/2014/main" val="3234863157"/>
                  </a:ext>
                </a:extLst>
              </a:tr>
              <a:tr h="796635">
                <a:tc>
                  <a:txBody>
                    <a:bodyPr/>
                    <a:lstStyle/>
                    <a:p>
                      <a:r>
                        <a:rPr lang="en-GB" dirty="0"/>
                        <a:t>British company</a:t>
                      </a:r>
                    </a:p>
                  </a:txBody>
                  <a:tcPr/>
                </a:tc>
                <a:tc>
                  <a:txBody>
                    <a:bodyPr/>
                    <a:lstStyle/>
                    <a:p>
                      <a:r>
                        <a:rPr lang="en-GB" dirty="0"/>
                        <a:t>8%</a:t>
                      </a:r>
                    </a:p>
                  </a:txBody>
                  <a:tcPr/>
                </a:tc>
                <a:tc>
                  <a:txBody>
                    <a:bodyPr/>
                    <a:lstStyle/>
                    <a:p>
                      <a:r>
                        <a:rPr lang="en-GB" dirty="0">
                          <a:solidFill>
                            <a:srgbClr val="FF0000"/>
                          </a:solidFill>
                        </a:rPr>
                        <a:t>$LIBOR+0.75%</a:t>
                      </a:r>
                    </a:p>
                  </a:txBody>
                  <a:tcPr/>
                </a:tc>
                <a:extLst>
                  <a:ext uri="{0D108BD9-81ED-4DB2-BD59-A6C34878D82A}">
                    <a16:rowId xmlns:a16="http://schemas.microsoft.com/office/drawing/2014/main" val="1204946118"/>
                  </a:ext>
                </a:extLst>
              </a:tr>
              <a:tr h="796635">
                <a:tc>
                  <a:txBody>
                    <a:bodyPr/>
                    <a:lstStyle/>
                    <a:p>
                      <a:r>
                        <a:rPr lang="en-GB"/>
                        <a:t>US </a:t>
                      </a:r>
                      <a:r>
                        <a:rPr lang="en-GB" dirty="0"/>
                        <a:t>company</a:t>
                      </a:r>
                    </a:p>
                  </a:txBody>
                  <a:tcPr/>
                </a:tc>
                <a:tc>
                  <a:txBody>
                    <a:bodyPr/>
                    <a:lstStyle/>
                    <a:p>
                      <a:r>
                        <a:rPr lang="en-GB" dirty="0">
                          <a:solidFill>
                            <a:srgbClr val="FF0000"/>
                          </a:solidFill>
                        </a:rPr>
                        <a:t>8.5%</a:t>
                      </a:r>
                    </a:p>
                  </a:txBody>
                  <a:tcPr/>
                </a:tc>
                <a:tc>
                  <a:txBody>
                    <a:bodyPr/>
                    <a:lstStyle/>
                    <a:p>
                      <a:r>
                        <a:rPr lang="en-GB" dirty="0"/>
                        <a:t>$LIBOR+0.25%</a:t>
                      </a:r>
                    </a:p>
                  </a:txBody>
                  <a:tcPr/>
                </a:tc>
                <a:extLst>
                  <a:ext uri="{0D108BD9-81ED-4DB2-BD59-A6C34878D82A}">
                    <a16:rowId xmlns:a16="http://schemas.microsoft.com/office/drawing/2014/main" val="4036321513"/>
                  </a:ext>
                </a:extLst>
              </a:tr>
            </a:tbl>
          </a:graphicData>
        </a:graphic>
      </p:graphicFrame>
    </p:spTree>
    <p:extLst>
      <p:ext uri="{BB962C8B-B14F-4D97-AF65-F5344CB8AC3E}">
        <p14:creationId xmlns:p14="http://schemas.microsoft.com/office/powerpoint/2010/main" val="14036223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A4031-7BD3-4A34-8124-5F796EF52B7A}"/>
              </a:ext>
            </a:extLst>
          </p:cNvPr>
          <p:cNvSpPr>
            <a:spLocks noGrp="1"/>
          </p:cNvSpPr>
          <p:nvPr>
            <p:ph type="title"/>
          </p:nvPr>
        </p:nvSpPr>
        <p:spPr/>
        <p:txBody>
          <a:bodyPr/>
          <a:lstStyle/>
          <a:p>
            <a:r>
              <a:rPr lang="en-GB" dirty="0"/>
              <a:t>Currency Swap Example</a:t>
            </a:r>
          </a:p>
        </p:txBody>
      </p:sp>
      <p:sp>
        <p:nvSpPr>
          <p:cNvPr id="3" name="Content Placeholder 2">
            <a:extLst>
              <a:ext uri="{FF2B5EF4-FFF2-40B4-BE49-F238E27FC236}">
                <a16:creationId xmlns:a16="http://schemas.microsoft.com/office/drawing/2014/main" id="{05216E64-F3C8-4285-B2AC-349DA53F45F6}"/>
              </a:ext>
            </a:extLst>
          </p:cNvPr>
          <p:cNvSpPr>
            <a:spLocks noGrp="1"/>
          </p:cNvSpPr>
          <p:nvPr>
            <p:ph idx="1"/>
          </p:nvPr>
        </p:nvSpPr>
        <p:spPr/>
        <p:txBody>
          <a:bodyPr/>
          <a:lstStyle/>
          <a:p>
            <a:r>
              <a:rPr lang="en-GB" dirty="0"/>
              <a:t>In a swap transaction, the UK company would be able to gain dollar finance at LIBOR plus 0.25%, saving 50 basis points</a:t>
            </a:r>
          </a:p>
          <a:p>
            <a:r>
              <a:rPr lang="en-GB" dirty="0"/>
              <a:t>The US company would be able to gain sterling finance at 8% saving 50 basis points</a:t>
            </a:r>
          </a:p>
          <a:p>
            <a:pPr marL="0" indent="0">
              <a:buNone/>
            </a:pPr>
            <a:r>
              <a:rPr lang="en-GB" dirty="0"/>
              <a:t> </a:t>
            </a:r>
          </a:p>
        </p:txBody>
      </p:sp>
    </p:spTree>
    <p:extLst>
      <p:ext uri="{BB962C8B-B14F-4D97-AF65-F5344CB8AC3E}">
        <p14:creationId xmlns:p14="http://schemas.microsoft.com/office/powerpoint/2010/main" val="2290564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B82BA-A0F4-4136-9419-7069C7EE0BF9}"/>
              </a:ext>
            </a:extLst>
          </p:cNvPr>
          <p:cNvSpPr>
            <a:spLocks noGrp="1"/>
          </p:cNvSpPr>
          <p:nvPr>
            <p:ph type="title"/>
          </p:nvPr>
        </p:nvSpPr>
        <p:spPr/>
        <p:txBody>
          <a:bodyPr/>
          <a:lstStyle/>
          <a:p>
            <a:r>
              <a:rPr lang="en-GB" dirty="0"/>
              <a:t>Currency Swap Example</a:t>
            </a:r>
          </a:p>
        </p:txBody>
      </p:sp>
      <p:sp>
        <p:nvSpPr>
          <p:cNvPr id="3" name="Content Placeholder 2">
            <a:extLst>
              <a:ext uri="{FF2B5EF4-FFF2-40B4-BE49-F238E27FC236}">
                <a16:creationId xmlns:a16="http://schemas.microsoft.com/office/drawing/2014/main" id="{A6346E4F-7914-4B76-A3FE-07CA5EA73F79}"/>
              </a:ext>
            </a:extLst>
          </p:cNvPr>
          <p:cNvSpPr>
            <a:spLocks noGrp="1"/>
          </p:cNvSpPr>
          <p:nvPr>
            <p:ph idx="1"/>
          </p:nvPr>
        </p:nvSpPr>
        <p:spPr>
          <a:xfrm>
            <a:off x="685800" y="2209800"/>
            <a:ext cx="7770813" cy="4580964"/>
          </a:xfrm>
        </p:spPr>
        <p:txBody>
          <a:bodyPr>
            <a:normAutofit lnSpcReduction="10000"/>
          </a:bodyPr>
          <a:lstStyle/>
          <a:p>
            <a:pPr marL="0" indent="0">
              <a:buNone/>
            </a:pPr>
            <a:r>
              <a:rPr lang="en-GB" dirty="0"/>
              <a:t>Prelude to the swap:</a:t>
            </a:r>
          </a:p>
          <a:p>
            <a:r>
              <a:rPr lang="en-GB" dirty="0"/>
              <a:t>The UK company issues £100m in the UK at fixed rate of 8%</a:t>
            </a:r>
          </a:p>
          <a:p>
            <a:r>
              <a:rPr lang="en-GB" dirty="0"/>
              <a:t>The US company raises $150m in the USA at floating rate of LIBOR plus 0.25%</a:t>
            </a:r>
          </a:p>
          <a:p>
            <a:pPr marL="0" indent="0">
              <a:buNone/>
            </a:pPr>
            <a:r>
              <a:rPr lang="en-GB" dirty="0"/>
              <a:t>The SWAP:</a:t>
            </a:r>
          </a:p>
          <a:p>
            <a:r>
              <a:rPr lang="en-GB" dirty="0"/>
              <a:t>The UK company gives the German company the £100m </a:t>
            </a:r>
          </a:p>
          <a:p>
            <a:r>
              <a:rPr lang="en-GB" dirty="0"/>
              <a:t>The US company gives the UK company $150m</a:t>
            </a:r>
          </a:p>
        </p:txBody>
      </p:sp>
    </p:spTree>
    <p:extLst>
      <p:ext uri="{BB962C8B-B14F-4D97-AF65-F5344CB8AC3E}">
        <p14:creationId xmlns:p14="http://schemas.microsoft.com/office/powerpoint/2010/main" val="1197528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F797F-B67F-49DE-9091-EE409D5637E6}"/>
              </a:ext>
            </a:extLst>
          </p:cNvPr>
          <p:cNvSpPr>
            <a:spLocks noGrp="1"/>
          </p:cNvSpPr>
          <p:nvPr>
            <p:ph type="title"/>
          </p:nvPr>
        </p:nvSpPr>
        <p:spPr/>
        <p:txBody>
          <a:bodyPr/>
          <a:lstStyle/>
          <a:p>
            <a:r>
              <a:rPr lang="en-GB" dirty="0"/>
              <a:t>Currency Swap Example</a:t>
            </a:r>
          </a:p>
        </p:txBody>
      </p:sp>
      <p:sp>
        <p:nvSpPr>
          <p:cNvPr id="3" name="Content Placeholder 2">
            <a:extLst>
              <a:ext uri="{FF2B5EF4-FFF2-40B4-BE49-F238E27FC236}">
                <a16:creationId xmlns:a16="http://schemas.microsoft.com/office/drawing/2014/main" id="{0A8A5260-7FD9-48C6-A456-3BF3FF067A94}"/>
              </a:ext>
            </a:extLst>
          </p:cNvPr>
          <p:cNvSpPr>
            <a:spLocks noGrp="1"/>
          </p:cNvSpPr>
          <p:nvPr>
            <p:ph idx="1"/>
          </p:nvPr>
        </p:nvSpPr>
        <p:spPr/>
        <p:txBody>
          <a:bodyPr/>
          <a:lstStyle/>
          <a:p>
            <a:pPr marL="0" indent="0">
              <a:buNone/>
            </a:pPr>
            <a:r>
              <a:rPr lang="en-GB" dirty="0"/>
              <a:t>Interest payments:</a:t>
            </a:r>
          </a:p>
          <a:p>
            <a:r>
              <a:rPr lang="en-GB" dirty="0"/>
              <a:t>The UK company pays dollar LIBOR plus 0.25% to the US company which is used to pay holders of the $ bonds</a:t>
            </a:r>
          </a:p>
          <a:p>
            <a:r>
              <a:rPr lang="en-GB" dirty="0"/>
              <a:t>The US company pays the UK company 8% sterling which is used to pay its sterling bondholders  </a:t>
            </a:r>
          </a:p>
        </p:txBody>
      </p:sp>
    </p:spTree>
    <p:extLst>
      <p:ext uri="{BB962C8B-B14F-4D97-AF65-F5344CB8AC3E}">
        <p14:creationId xmlns:p14="http://schemas.microsoft.com/office/powerpoint/2010/main" val="211335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B4121-ACDB-48D8-9778-417E3F151449}"/>
              </a:ext>
            </a:extLst>
          </p:cNvPr>
          <p:cNvSpPr>
            <a:spLocks noGrp="1"/>
          </p:cNvSpPr>
          <p:nvPr>
            <p:ph type="title"/>
          </p:nvPr>
        </p:nvSpPr>
        <p:spPr/>
        <p:txBody>
          <a:bodyPr/>
          <a:lstStyle/>
          <a:p>
            <a:r>
              <a:rPr lang="en-GB" dirty="0"/>
              <a:t>Currency Swap Example</a:t>
            </a:r>
          </a:p>
        </p:txBody>
      </p:sp>
      <p:sp>
        <p:nvSpPr>
          <p:cNvPr id="3" name="Content Placeholder 2">
            <a:extLst>
              <a:ext uri="{FF2B5EF4-FFF2-40B4-BE49-F238E27FC236}">
                <a16:creationId xmlns:a16="http://schemas.microsoft.com/office/drawing/2014/main" id="{435E6013-8397-466F-B0BA-4D337EED4902}"/>
              </a:ext>
            </a:extLst>
          </p:cNvPr>
          <p:cNvSpPr>
            <a:spLocks noGrp="1"/>
          </p:cNvSpPr>
          <p:nvPr>
            <p:ph idx="1"/>
          </p:nvPr>
        </p:nvSpPr>
        <p:spPr/>
        <p:txBody>
          <a:bodyPr/>
          <a:lstStyle/>
          <a:p>
            <a:pPr marL="0" indent="0">
              <a:buNone/>
            </a:pPr>
            <a:r>
              <a:rPr lang="en-GB" dirty="0"/>
              <a:t>At maturity:</a:t>
            </a:r>
          </a:p>
          <a:p>
            <a:r>
              <a:rPr lang="en-GB" dirty="0"/>
              <a:t>The UK company pays the US company $150m so that it can pay back its US bond upon maturity</a:t>
            </a:r>
          </a:p>
          <a:p>
            <a:r>
              <a:rPr lang="en-GB" dirty="0"/>
              <a:t>The US company pays the UK company £100m so that it can pay its UK bond holders upon maturity</a:t>
            </a:r>
          </a:p>
          <a:p>
            <a:pPr marL="0" indent="0">
              <a:buNone/>
            </a:pPr>
            <a:endParaRPr lang="en-GB" dirty="0"/>
          </a:p>
        </p:txBody>
      </p:sp>
    </p:spTree>
    <p:extLst>
      <p:ext uri="{BB962C8B-B14F-4D97-AF65-F5344CB8AC3E}">
        <p14:creationId xmlns:p14="http://schemas.microsoft.com/office/powerpoint/2010/main" val="1246968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EC65-64CA-49C0-9D43-A22BC6B93953}"/>
              </a:ext>
            </a:extLst>
          </p:cNvPr>
          <p:cNvSpPr>
            <a:spLocks noGrp="1"/>
          </p:cNvSpPr>
          <p:nvPr>
            <p:ph type="title"/>
          </p:nvPr>
        </p:nvSpPr>
        <p:spPr/>
        <p:txBody>
          <a:bodyPr/>
          <a:lstStyle/>
          <a:p>
            <a:r>
              <a:rPr lang="en-GB" dirty="0"/>
              <a:t>Currency Swap Example</a:t>
            </a:r>
          </a:p>
        </p:txBody>
      </p:sp>
      <p:sp>
        <p:nvSpPr>
          <p:cNvPr id="3" name="Content Placeholder 2">
            <a:extLst>
              <a:ext uri="{FF2B5EF4-FFF2-40B4-BE49-F238E27FC236}">
                <a16:creationId xmlns:a16="http://schemas.microsoft.com/office/drawing/2014/main" id="{CE97F090-6587-483A-8A0F-600DAD1F33A8}"/>
              </a:ext>
            </a:extLst>
          </p:cNvPr>
          <p:cNvSpPr>
            <a:spLocks noGrp="1"/>
          </p:cNvSpPr>
          <p:nvPr>
            <p:ph idx="1"/>
          </p:nvPr>
        </p:nvSpPr>
        <p:spPr/>
        <p:txBody>
          <a:bodyPr/>
          <a:lstStyle/>
          <a:p>
            <a:pPr marL="0" indent="0">
              <a:buNone/>
            </a:pPr>
            <a:r>
              <a:rPr lang="en-GB" dirty="0"/>
              <a:t>Effects of swap:</a:t>
            </a:r>
          </a:p>
          <a:p>
            <a:r>
              <a:rPr lang="en-GB" dirty="0"/>
              <a:t>The UK company manages to raise the $150m at dollar Libor plus 0.25% (i.e. saving of 50 basis points over what it would cost to raise funds in the USA)</a:t>
            </a:r>
          </a:p>
          <a:p>
            <a:r>
              <a:rPr lang="en-GB" dirty="0"/>
              <a:t>The US company manages to raise the £100m it requires at 8% (i.e. saving 0.5% over what it would cost to raise funds in the UK)</a:t>
            </a:r>
          </a:p>
        </p:txBody>
      </p:sp>
    </p:spTree>
    <p:extLst>
      <p:ext uri="{BB962C8B-B14F-4D97-AF65-F5344CB8AC3E}">
        <p14:creationId xmlns:p14="http://schemas.microsoft.com/office/powerpoint/2010/main" val="403781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Proxy Hedging</a:t>
            </a:r>
            <a:endParaRPr lang="en-US" dirty="0"/>
          </a:p>
        </p:txBody>
      </p:sp>
      <p:sp>
        <p:nvSpPr>
          <p:cNvPr id="3" name="Content Placeholder 2"/>
          <p:cNvSpPr>
            <a:spLocks noGrp="1"/>
          </p:cNvSpPr>
          <p:nvPr>
            <p:ph idx="1"/>
          </p:nvPr>
        </p:nvSpPr>
        <p:spPr/>
        <p:txBody>
          <a:bodyPr>
            <a:normAutofit lnSpcReduction="10000"/>
          </a:bodyPr>
          <a:lstStyle/>
          <a:p>
            <a:r>
              <a:rPr lang="en-GB" dirty="0"/>
              <a:t>If a company decides to receive a currency that is not actively traded, then it may have a difficult time locating a hedge in the same currency</a:t>
            </a:r>
          </a:p>
          <a:p>
            <a:r>
              <a:rPr lang="en-GB" dirty="0"/>
              <a:t>However changes in the value of the currencies of a large economic area, such as Southeast Asia, tend to be closely correlated with each other</a:t>
            </a:r>
          </a:p>
          <a:p>
            <a:r>
              <a:rPr lang="en-GB" dirty="0"/>
              <a:t>If the treasurer feels that this correlation will continue, then it may make sense to instead hedge through a highly correlated currency</a:t>
            </a:r>
            <a:endParaRPr lang="en-US" dirty="0"/>
          </a:p>
        </p:txBody>
      </p:sp>
    </p:spTree>
    <p:extLst>
      <p:ext uri="{BB962C8B-B14F-4D97-AF65-F5344CB8AC3E}">
        <p14:creationId xmlns:p14="http://schemas.microsoft.com/office/powerpoint/2010/main" val="1981012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Proxy Hedging</a:t>
            </a:r>
            <a:endParaRPr lang="en-US" dirty="0"/>
          </a:p>
        </p:txBody>
      </p:sp>
      <p:sp>
        <p:nvSpPr>
          <p:cNvPr id="3" name="Content Placeholder 2"/>
          <p:cNvSpPr>
            <a:spLocks noGrp="1"/>
          </p:cNvSpPr>
          <p:nvPr>
            <p:ph idx="1"/>
          </p:nvPr>
        </p:nvSpPr>
        <p:spPr/>
        <p:txBody>
          <a:bodyPr/>
          <a:lstStyle/>
          <a:p>
            <a:r>
              <a:rPr lang="en-GB" dirty="0"/>
              <a:t>However, just because the respective values of a currency pair were highly correlated in the past does not mean that they will continue to be in the future, since a multitude of political and economic issues can break the correlation </a:t>
            </a:r>
            <a:endParaRPr lang="en-US" dirty="0"/>
          </a:p>
        </p:txBody>
      </p:sp>
    </p:spTree>
    <p:extLst>
      <p:ext uri="{BB962C8B-B14F-4D97-AF65-F5344CB8AC3E}">
        <p14:creationId xmlns:p14="http://schemas.microsoft.com/office/powerpoint/2010/main" val="3292041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Folio">
  <a:themeElements>
    <a:clrScheme name="Folio">
      <a:dk1>
        <a:sysClr val="windowText" lastClr="000000"/>
      </a:dk1>
      <a:lt1>
        <a:sysClr val="window" lastClr="FFFFFF"/>
      </a:lt1>
      <a:dk2>
        <a:srgbClr val="2D2F2B"/>
      </a:dk2>
      <a:lt2>
        <a:srgbClr val="DEDED7"/>
      </a:lt2>
      <a:accent1>
        <a:srgbClr val="294171"/>
      </a:accent1>
      <a:accent2>
        <a:srgbClr val="748CBC"/>
      </a:accent2>
      <a:accent3>
        <a:srgbClr val="8E887C"/>
      </a:accent3>
      <a:accent4>
        <a:srgbClr val="834736"/>
      </a:accent4>
      <a:accent5>
        <a:srgbClr val="5A1705"/>
      </a:accent5>
      <a:accent6>
        <a:srgbClr val="A0A16A"/>
      </a:accent6>
      <a:hlink>
        <a:srgbClr val="74B6BC"/>
      </a:hlink>
      <a:folHlink>
        <a:srgbClr val="7F95A4"/>
      </a:folHlink>
    </a:clrScheme>
    <a:fontScheme name="Folio">
      <a:majorFont>
        <a:latin typeface="Calisto MT"/>
        <a:ea typeface=""/>
        <a:cs typeface=""/>
        <a:font script="Jpan" typeface="ＭＳ 明朝"/>
        <a:font script="Hans" typeface="宋体"/>
        <a:font script="Hant" typeface="新細明體"/>
      </a:majorFont>
      <a:minorFont>
        <a:latin typeface="Calisto MT"/>
        <a:ea typeface=""/>
        <a:cs typeface=""/>
        <a:font script="Jpan" typeface="ＭＳ 明朝"/>
        <a:font script="Hans" typeface="宋体"/>
        <a:font script="Hant" typeface="新細明體"/>
      </a:minorFont>
    </a:fontScheme>
    <a:fmtScheme name="Folio">
      <a:fillStyleLst>
        <a:solidFill>
          <a:schemeClr val="phClr"/>
        </a:solidFill>
        <a:blipFill rotWithShape="1">
          <a:blip xmlns:r="http://schemas.openxmlformats.org/officeDocument/2006/relationships" r:embed="rId1">
            <a:duotone>
              <a:schemeClr val="phClr">
                <a:shade val="30000"/>
                <a:satMod val="120000"/>
              </a:schemeClr>
              <a:schemeClr val="phClr">
                <a:tint val="70000"/>
                <a:satMod val="350000"/>
                <a:lumMod val="110000"/>
              </a:schemeClr>
            </a:duotone>
          </a:blip>
          <a:stretch/>
        </a:blipFill>
        <a:blipFill rotWithShape="1">
          <a:blip xmlns:r="http://schemas.openxmlformats.org/officeDocument/2006/relationships" r:embed="rId2">
            <a:duotone>
              <a:schemeClr val="phClr">
                <a:shade val="40000"/>
                <a:satMod val="120000"/>
              </a:schemeClr>
              <a:schemeClr val="phClr">
                <a:tint val="70000"/>
                <a:satMod val="300000"/>
                <a:lumMod val="110000"/>
              </a:schemeClr>
            </a:duotone>
          </a:blip>
          <a:tile tx="0" ty="0" sx="50000" sy="50000" flip="none" algn="tl"/>
        </a:blipFill>
      </a:fillStyleLst>
      <a:lnStyleLst>
        <a:ln w="12700" cap="flat" cmpd="sng" algn="ctr">
          <a:solidFill>
            <a:schemeClr val="phClr">
              <a:shade val="95000"/>
              <a:satMod val="105000"/>
            </a:schemeClr>
          </a:solidFill>
          <a:prstDash val="solid"/>
        </a:ln>
        <a:ln w="3175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38100" dist="25400" dir="5400000" algn="br" rotWithShape="0">
              <a:srgbClr val="000000">
                <a:alpha val="50000"/>
              </a:srgbClr>
            </a:outerShdw>
          </a:effectLst>
        </a:effectStyle>
        <a:effectStyle>
          <a:effectLst>
            <a:innerShdw blurRad="190500" dist="25400">
              <a:srgbClr val="000000">
                <a:alpha val="50000"/>
              </a:srgbClr>
            </a:innerShdw>
          </a:effectLst>
        </a:effectStyle>
      </a:effectStyleLst>
      <a:bgFillStyleLst>
        <a:blipFill rotWithShape="1">
          <a:blip xmlns:r="http://schemas.openxmlformats.org/officeDocument/2006/relationships" r:embed="rId3">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4">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5">
            <a:duotone>
              <a:schemeClr val="phClr">
                <a:shade val="3000"/>
                <a:lumMod val="10000"/>
              </a:schemeClr>
              <a:schemeClr val="phClr">
                <a:tint val="91000"/>
                <a:satMod val="500000"/>
                <a:lumMod val="125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Folio.thmx</Template>
  <TotalTime>5086</TotalTime>
  <Words>3775</Words>
  <Application>Microsoft Office PowerPoint</Application>
  <PresentationFormat>On-screen Show (4:3)</PresentationFormat>
  <Paragraphs>320</Paragraphs>
  <Slides>68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Calisto MT</vt:lpstr>
      <vt:lpstr>FontAwesome</vt:lpstr>
      <vt:lpstr>Raleway</vt:lpstr>
      <vt:lpstr>Wingdings</vt:lpstr>
      <vt:lpstr>Folio</vt:lpstr>
      <vt:lpstr>Treasury Management</vt:lpstr>
      <vt:lpstr>Outline </vt:lpstr>
      <vt:lpstr>Introduction</vt:lpstr>
      <vt:lpstr>Foreign Exchange Terminology</vt:lpstr>
      <vt:lpstr>Foreign Exchange Terminology</vt:lpstr>
      <vt:lpstr>Calculation of Cross Rates</vt:lpstr>
      <vt:lpstr>Calculation of Cross Rates</vt:lpstr>
      <vt:lpstr>Calculation of Cross Rates</vt:lpstr>
      <vt:lpstr>Calculation of Cross Rates</vt:lpstr>
      <vt:lpstr>Calculation of Cross Rates</vt:lpstr>
      <vt:lpstr>Foreign Exchange Terminology</vt:lpstr>
      <vt:lpstr>Foreign Exchange Terminology</vt:lpstr>
      <vt:lpstr>Foreign Exchange Terminology</vt:lpstr>
      <vt:lpstr>Foreign Exchange Terminology</vt:lpstr>
      <vt:lpstr>The Nature of Foreign Exchange Risk</vt:lpstr>
      <vt:lpstr>The Nature of Foreign Exchange Risk</vt:lpstr>
      <vt:lpstr>Types of Foreign Exchange Risk</vt:lpstr>
      <vt:lpstr>Foreign Exchange Hedging Strategies</vt:lpstr>
      <vt:lpstr>Accept the risk</vt:lpstr>
      <vt:lpstr>Business Practice Strategies</vt:lpstr>
      <vt:lpstr>Business Practice Strategies</vt:lpstr>
      <vt:lpstr>Business Practice Strategies</vt:lpstr>
      <vt:lpstr>Business Practice Strategies</vt:lpstr>
      <vt:lpstr>Business Practice Strategies</vt:lpstr>
      <vt:lpstr>Business Practice Strategies</vt:lpstr>
      <vt:lpstr>Business Practice Strategies</vt:lpstr>
      <vt:lpstr>Business Practice Strategies</vt:lpstr>
      <vt:lpstr>Business Practice Strategies</vt:lpstr>
      <vt:lpstr>Business Practice Strategies</vt:lpstr>
      <vt:lpstr>Business Practice Strategies</vt:lpstr>
      <vt:lpstr>Forward Exchange Contracts </vt:lpstr>
      <vt:lpstr>Forward Exchange Contracts </vt:lpstr>
      <vt:lpstr>Forward Exchange Contracts </vt:lpstr>
      <vt:lpstr>PowerPoint Presentation</vt:lpstr>
      <vt:lpstr>Forward Exchange Contracts </vt:lpstr>
      <vt:lpstr>Example</vt:lpstr>
      <vt:lpstr>Solution </vt:lpstr>
      <vt:lpstr>Solution</vt:lpstr>
      <vt:lpstr>Currency Futures</vt:lpstr>
      <vt:lpstr>Currency Futures</vt:lpstr>
      <vt:lpstr>Currency Futures Example</vt:lpstr>
      <vt:lpstr>Currency Futures Example</vt:lpstr>
      <vt:lpstr>Currency Futures Example</vt:lpstr>
      <vt:lpstr>Currency Futures Example</vt:lpstr>
      <vt:lpstr>Currency Futures Example</vt:lpstr>
      <vt:lpstr>Currency options</vt:lpstr>
      <vt:lpstr>Currency options</vt:lpstr>
      <vt:lpstr>Currency options</vt:lpstr>
      <vt:lpstr>Currency options</vt:lpstr>
      <vt:lpstr>Currency options</vt:lpstr>
      <vt:lpstr>Currency Option Example</vt:lpstr>
      <vt:lpstr>Currency Option Example</vt:lpstr>
      <vt:lpstr>Currency Option Example</vt:lpstr>
      <vt:lpstr>Currency Option Example</vt:lpstr>
      <vt:lpstr>Currency Swaps</vt:lpstr>
      <vt:lpstr>Currency Swaps</vt:lpstr>
      <vt:lpstr>Currency Swaps</vt:lpstr>
      <vt:lpstr>Currency Swaps</vt:lpstr>
      <vt:lpstr>Currency Swap Example</vt:lpstr>
      <vt:lpstr>Currency Swap Example</vt:lpstr>
      <vt:lpstr>Currency Swap Example</vt:lpstr>
      <vt:lpstr>Currency Swap Example</vt:lpstr>
      <vt:lpstr>Currency Swap Example</vt:lpstr>
      <vt:lpstr>Currency Swap Example</vt:lpstr>
      <vt:lpstr>Currency Swap Example</vt:lpstr>
      <vt:lpstr>Currency Swap Example</vt:lpstr>
      <vt:lpstr>Proxy Hedging</vt:lpstr>
      <vt:lpstr>Proxy Hedging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BFS 322</dc:title>
  <dc:creator>Webster Sikazwe</dc:creator>
  <cp:lastModifiedBy>Webster Sikazwe</cp:lastModifiedBy>
  <cp:revision>403</cp:revision>
  <dcterms:created xsi:type="dcterms:W3CDTF">2018-08-06T09:52:02Z</dcterms:created>
  <dcterms:modified xsi:type="dcterms:W3CDTF">2023-03-09T12:12:46Z</dcterms:modified>
</cp:coreProperties>
</file>