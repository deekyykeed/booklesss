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75" autoAdjust="0"/>
  </p:normalViewPr>
  <p:slideViewPr>
    <p:cSldViewPr snapToGrid="0" snapToObjects="1">
      <p:cViewPr varScale="1">
        <p:scale>
          <a:sx n="68" d="100"/>
          <a:sy n="68" d="100"/>
        </p:scale>
        <p:origin x="14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11/19/2021</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11/19/2021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11/19/2021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11/19/2021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11/19/2021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11/19/2021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11/19/2021</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treasurysystems.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normAutofit/>
          </a:bodyPr>
          <a:lstStyle/>
          <a:p>
            <a:r>
              <a:rPr lang="en-GB" sz="4400" dirty="0"/>
              <a:t>Treasury Systems</a:t>
            </a:r>
            <a:endParaRPr lang="en-US" sz="4400" dirty="0"/>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US" dirty="0"/>
          </a:p>
        </p:txBody>
      </p:sp>
      <p:sp>
        <p:nvSpPr>
          <p:cNvPr id="3" name="Content Placeholder 2"/>
          <p:cNvSpPr>
            <a:spLocks noGrp="1"/>
          </p:cNvSpPr>
          <p:nvPr>
            <p:ph idx="1"/>
          </p:nvPr>
        </p:nvSpPr>
        <p:spPr>
          <a:xfrm>
            <a:off x="685800" y="2209800"/>
            <a:ext cx="7770813" cy="4580964"/>
          </a:xfrm>
        </p:spPr>
        <p:txBody>
          <a:bodyPr>
            <a:normAutofit lnSpcReduction="10000"/>
          </a:bodyPr>
          <a:lstStyle/>
          <a:p>
            <a:r>
              <a:rPr lang="en-GB" dirty="0"/>
              <a:t>Treasurer requires information that is not normally available through a company’s standard accounting system or even its Enterprise Resources Planning (ERP) systems</a:t>
            </a:r>
          </a:p>
          <a:p>
            <a:r>
              <a:rPr lang="en-GB" dirty="0"/>
              <a:t>Treasury systems are needed so as to integrate information from a variety of sources, yielding real-time information that the treasury staff can use to efficiently perform their tasks.</a:t>
            </a:r>
          </a:p>
          <a:p>
            <a:r>
              <a:rPr lang="en-GB" dirty="0"/>
              <a:t>A treasury management system (TMS) is </a:t>
            </a:r>
            <a:r>
              <a:rPr lang="en-GB" b="1" dirty="0"/>
              <a:t>a software application which automates the process of managing a company's financial operations</a:t>
            </a:r>
            <a:endParaRPr lang="en-US" dirty="0"/>
          </a:p>
        </p:txBody>
      </p:sp>
    </p:spTree>
    <p:extLst>
      <p:ext uri="{BB962C8B-B14F-4D97-AF65-F5344CB8AC3E}">
        <p14:creationId xmlns:p14="http://schemas.microsoft.com/office/powerpoint/2010/main" val="2149508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Since treasury is relatively a small department, it may not command the resources that larger departments command</a:t>
            </a:r>
          </a:p>
          <a:p>
            <a:r>
              <a:rPr lang="en-GB" dirty="0"/>
              <a:t>Consequently, the treasurer must prioritize information needs.</a:t>
            </a:r>
          </a:p>
          <a:p>
            <a:r>
              <a:rPr lang="en-GB" dirty="0"/>
              <a:t>The following list establishes a set of priorities:</a:t>
            </a:r>
          </a:p>
          <a:p>
            <a:endParaRPr lang="en-US" dirty="0"/>
          </a:p>
        </p:txBody>
      </p:sp>
    </p:spTree>
    <p:extLst>
      <p:ext uri="{BB962C8B-B14F-4D97-AF65-F5344CB8AC3E}">
        <p14:creationId xmlns:p14="http://schemas.microsoft.com/office/powerpoint/2010/main" val="3549169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pPr>
              <a:buAutoNum type="arabicPeriod"/>
            </a:pPr>
            <a:r>
              <a:rPr lang="en-GB" dirty="0"/>
              <a:t>Cash position: treasurer overriding obligation is to ensure that the company has adequate cash to fund operations. The following technology needs are critical:</a:t>
            </a:r>
          </a:p>
          <a:p>
            <a:r>
              <a:rPr lang="en-GB" dirty="0"/>
              <a:t>Cashbook balance tracking</a:t>
            </a:r>
          </a:p>
          <a:p>
            <a:r>
              <a:rPr lang="en-GB" dirty="0"/>
              <a:t>Multibank reporting of balance information</a:t>
            </a:r>
          </a:p>
          <a:p>
            <a:r>
              <a:rPr lang="en-GB" dirty="0"/>
              <a:t>Cash pooling management</a:t>
            </a:r>
          </a:p>
          <a:p>
            <a:endParaRPr lang="en-GB" dirty="0"/>
          </a:p>
          <a:p>
            <a:pPr marL="0" indent="0">
              <a:buNone/>
            </a:pPr>
            <a:endParaRPr lang="en-US" dirty="0"/>
          </a:p>
        </p:txBody>
      </p:sp>
    </p:spTree>
    <p:extLst>
      <p:ext uri="{BB962C8B-B14F-4D97-AF65-F5344CB8AC3E}">
        <p14:creationId xmlns:p14="http://schemas.microsoft.com/office/powerpoint/2010/main" val="653907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normAutofit fontScale="92500"/>
          </a:bodyPr>
          <a:lstStyle/>
          <a:p>
            <a:r>
              <a:rPr lang="en-GB" dirty="0"/>
              <a:t>Cash forecasting and reconciliation</a:t>
            </a:r>
          </a:p>
          <a:p>
            <a:r>
              <a:rPr lang="en-GB" dirty="0"/>
              <a:t>Funds transfer capability</a:t>
            </a:r>
          </a:p>
          <a:p>
            <a:r>
              <a:rPr lang="en-GB" dirty="0"/>
              <a:t>Investment management, including money market dealing </a:t>
            </a:r>
          </a:p>
          <a:p>
            <a:r>
              <a:rPr lang="en-GB" dirty="0"/>
              <a:t>Interest income calculation</a:t>
            </a:r>
          </a:p>
          <a:p>
            <a:r>
              <a:rPr lang="en-GB" dirty="0"/>
              <a:t>Debt management</a:t>
            </a:r>
          </a:p>
          <a:p>
            <a:r>
              <a:rPr lang="en-GB" dirty="0"/>
              <a:t>Payment processing</a:t>
            </a:r>
            <a:endParaRPr lang="en-US" dirty="0"/>
          </a:p>
        </p:txBody>
      </p:sp>
    </p:spTree>
    <p:extLst>
      <p:ext uri="{BB962C8B-B14F-4D97-AF65-F5344CB8AC3E}">
        <p14:creationId xmlns:p14="http://schemas.microsoft.com/office/powerpoint/2010/main" val="385794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Intercompany transactions settlement with notional accounts</a:t>
            </a:r>
          </a:p>
          <a:p>
            <a:endParaRPr lang="en-US" dirty="0"/>
          </a:p>
        </p:txBody>
      </p:sp>
    </p:spTree>
    <p:extLst>
      <p:ext uri="{BB962C8B-B14F-4D97-AF65-F5344CB8AC3E}">
        <p14:creationId xmlns:p14="http://schemas.microsoft.com/office/powerpoint/2010/main" val="742340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pPr marL="0" indent="0">
              <a:buNone/>
            </a:pPr>
            <a:r>
              <a:rPr lang="en-GB" dirty="0"/>
              <a:t>2. Foreign exchange transactions: some companies have little foreign business that FX transactions are negligible. Larger firms with established treasury operations will likely need </a:t>
            </a:r>
            <a:r>
              <a:rPr lang="en-GB" dirty="0" err="1"/>
              <a:t>ongoing</a:t>
            </a:r>
            <a:r>
              <a:rPr lang="en-GB" dirty="0"/>
              <a:t> purchase and sale of multiple currencies. The following technology needs arise:</a:t>
            </a:r>
          </a:p>
          <a:p>
            <a:r>
              <a:rPr lang="en-GB" dirty="0"/>
              <a:t>Rate feeds from Bloomberg or Reuters</a:t>
            </a:r>
          </a:p>
          <a:p>
            <a:r>
              <a:rPr lang="en-GB" dirty="0"/>
              <a:t>Intercompany netting capability</a:t>
            </a:r>
            <a:endParaRPr lang="en-US" dirty="0"/>
          </a:p>
        </p:txBody>
      </p:sp>
    </p:spTree>
    <p:extLst>
      <p:ext uri="{BB962C8B-B14F-4D97-AF65-F5344CB8AC3E}">
        <p14:creationId xmlns:p14="http://schemas.microsoft.com/office/powerpoint/2010/main" val="57479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Foreign exchange forecasting and position analysis</a:t>
            </a:r>
          </a:p>
          <a:p>
            <a:r>
              <a:rPr lang="en-GB" dirty="0"/>
              <a:t>Foreign exchange bid summarization</a:t>
            </a:r>
          </a:p>
          <a:p>
            <a:r>
              <a:rPr lang="en-GB" dirty="0"/>
              <a:t>Foreign exchange deal-making capability</a:t>
            </a:r>
          </a:p>
          <a:p>
            <a:r>
              <a:rPr lang="en-GB" dirty="0"/>
              <a:t>Foreign exchange confirmation processing</a:t>
            </a:r>
            <a:endParaRPr lang="en-US" dirty="0"/>
          </a:p>
        </p:txBody>
      </p:sp>
    </p:spTree>
    <p:extLst>
      <p:ext uri="{BB962C8B-B14F-4D97-AF65-F5344CB8AC3E}">
        <p14:creationId xmlns:p14="http://schemas.microsoft.com/office/powerpoint/2010/main" val="1021287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GB" dirty="0"/>
              <a:t>3. Hedging: for those companies that choose to hedge their interest rates or foreign exchange rate positions, the following technology requirements maybe needed</a:t>
            </a:r>
          </a:p>
          <a:p>
            <a:r>
              <a:rPr lang="en-GB" dirty="0"/>
              <a:t>Rate feeds from Bloomberg or Reuters</a:t>
            </a:r>
          </a:p>
          <a:p>
            <a:r>
              <a:rPr lang="en-GB" dirty="0"/>
              <a:t>Exposure </a:t>
            </a:r>
            <a:r>
              <a:rPr lang="en-GB" dirty="0" err="1"/>
              <a:t>modeling</a:t>
            </a:r>
            <a:r>
              <a:rPr lang="en-GB" dirty="0"/>
              <a:t> capability</a:t>
            </a:r>
          </a:p>
          <a:p>
            <a:r>
              <a:rPr lang="en-GB" dirty="0"/>
              <a:t>Hedge deal-making capability</a:t>
            </a:r>
          </a:p>
          <a:p>
            <a:r>
              <a:rPr lang="en-GB" dirty="0"/>
              <a:t>Hedge confirmation processing</a:t>
            </a:r>
          </a:p>
          <a:p>
            <a:r>
              <a:rPr lang="en-GB" dirty="0"/>
              <a:t>Hedge documentation capability </a:t>
            </a:r>
            <a:endParaRPr lang="en-US" dirty="0"/>
          </a:p>
        </p:txBody>
      </p:sp>
    </p:spTree>
    <p:extLst>
      <p:ext uri="{BB962C8B-B14F-4D97-AF65-F5344CB8AC3E}">
        <p14:creationId xmlns:p14="http://schemas.microsoft.com/office/powerpoint/2010/main" val="288281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normAutofit lnSpcReduction="10000"/>
          </a:bodyPr>
          <a:lstStyle/>
          <a:p>
            <a:r>
              <a:rPr lang="en-GB" dirty="0"/>
              <a:t>In addition to these three core areas, the treasurer also needs a reporting system that reveals the global cash position, investment portfolio, debt portfolio, cash forecast, and foreign exchange transactions </a:t>
            </a:r>
          </a:p>
          <a:p>
            <a:r>
              <a:rPr lang="en-GB" dirty="0"/>
              <a:t>The system should also provide mark-to-market valuations, scenario analysis and counter party risk summaries</a:t>
            </a:r>
          </a:p>
          <a:p>
            <a:r>
              <a:rPr lang="en-GB" dirty="0"/>
              <a:t>This information can be presented through a customised dashboard that is updated in real time</a:t>
            </a:r>
            <a:endParaRPr lang="en-US" dirty="0"/>
          </a:p>
        </p:txBody>
      </p:sp>
    </p:spTree>
    <p:extLst>
      <p:ext uri="{BB962C8B-B14F-4D97-AF65-F5344CB8AC3E}">
        <p14:creationId xmlns:p14="http://schemas.microsoft.com/office/powerpoint/2010/main" val="3740741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The treasurer’s technology needs to extend to the efficiency of and control over treasury activities:</a:t>
            </a:r>
          </a:p>
          <a:p>
            <a:pPr>
              <a:buFont typeface="+mj-lt"/>
              <a:buAutoNum type="alphaLcParenR"/>
            </a:pPr>
            <a:r>
              <a:rPr lang="en-GB" dirty="0"/>
              <a:t>Efficiency Issues</a:t>
            </a:r>
          </a:p>
          <a:p>
            <a:r>
              <a:rPr lang="en-GB" dirty="0"/>
              <a:t>Minimise data entry- system should never require manual entry of a transaction into the system more than once and ideally should involve automated data collection and posting</a:t>
            </a:r>
            <a:endParaRPr lang="en-US" dirty="0"/>
          </a:p>
        </p:txBody>
      </p:sp>
    </p:spTree>
    <p:extLst>
      <p:ext uri="{BB962C8B-B14F-4D97-AF65-F5344CB8AC3E}">
        <p14:creationId xmlns:p14="http://schemas.microsoft.com/office/powerpoint/2010/main" val="217702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Work flow processing- if supervisory approval is required, the system should electronically route transaction to correct supervisor for approval</a:t>
            </a:r>
          </a:p>
          <a:p>
            <a:pPr marL="0" indent="0">
              <a:buNone/>
            </a:pPr>
            <a:r>
              <a:rPr lang="en-GB" dirty="0"/>
              <a:t>b) Control Issues</a:t>
            </a:r>
          </a:p>
          <a:p>
            <a:r>
              <a:rPr lang="en-GB" dirty="0"/>
              <a:t>Audit trail- all treasury transactions should result in a clearly defined audit trail that identifies who made a transaction and the date, amount and accounts impacted by the transaction </a:t>
            </a:r>
            <a:endParaRPr lang="en-US" dirty="0"/>
          </a:p>
        </p:txBody>
      </p:sp>
    </p:spTree>
    <p:extLst>
      <p:ext uri="{BB962C8B-B14F-4D97-AF65-F5344CB8AC3E}">
        <p14:creationId xmlns:p14="http://schemas.microsoft.com/office/powerpoint/2010/main" val="1811759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Treasurer’s Technology Needs</a:t>
            </a:r>
            <a:endParaRPr lang="en-US" dirty="0"/>
          </a:p>
        </p:txBody>
      </p:sp>
      <p:sp>
        <p:nvSpPr>
          <p:cNvPr id="3" name="Content Placeholder 2"/>
          <p:cNvSpPr>
            <a:spLocks noGrp="1"/>
          </p:cNvSpPr>
          <p:nvPr>
            <p:ph idx="1"/>
          </p:nvPr>
        </p:nvSpPr>
        <p:spPr/>
        <p:txBody>
          <a:bodyPr/>
          <a:lstStyle/>
          <a:p>
            <a:r>
              <a:rPr lang="en-GB" dirty="0"/>
              <a:t>Segregation of duties- the system should limit access to certain modules and require approval of key transactions</a:t>
            </a:r>
          </a:p>
          <a:p>
            <a:r>
              <a:rPr lang="en-GB" dirty="0"/>
              <a:t>Warning indicators- the system should automatically notify users if transaction confirmations have not been received, if hedging policies are being violated, if there are negative cash balances </a:t>
            </a:r>
            <a:r>
              <a:rPr lang="en-GB" dirty="0" err="1"/>
              <a:t>etc</a:t>
            </a:r>
            <a:endParaRPr lang="en-US" dirty="0"/>
          </a:p>
        </p:txBody>
      </p:sp>
    </p:spTree>
    <p:extLst>
      <p:ext uri="{BB962C8B-B14F-4D97-AF65-F5344CB8AC3E}">
        <p14:creationId xmlns:p14="http://schemas.microsoft.com/office/powerpoint/2010/main" val="344899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Treasury Management System</a:t>
            </a:r>
            <a:endParaRPr lang="en-US" dirty="0"/>
          </a:p>
        </p:txBody>
      </p:sp>
      <p:sp>
        <p:nvSpPr>
          <p:cNvPr id="3" name="Content Placeholder 2"/>
          <p:cNvSpPr>
            <a:spLocks noGrp="1"/>
          </p:cNvSpPr>
          <p:nvPr>
            <p:ph idx="1"/>
          </p:nvPr>
        </p:nvSpPr>
        <p:spPr/>
        <p:txBody>
          <a:bodyPr/>
          <a:lstStyle/>
          <a:p>
            <a:r>
              <a:rPr lang="en-GB" dirty="0"/>
              <a:t>Treasury management systems is costly</a:t>
            </a:r>
          </a:p>
          <a:p>
            <a:r>
              <a:rPr lang="en-GB" dirty="0"/>
              <a:t>The expense can be justified by the fact that it automates many rote treasury tasks</a:t>
            </a:r>
          </a:p>
          <a:p>
            <a:r>
              <a:rPr lang="en-GB" dirty="0"/>
              <a:t>The system will be less expensive and easier to install if the treasurer reduces the number of outside banking relations that the company has, so that there are fewer customised interfaces to construct</a:t>
            </a:r>
            <a:endParaRPr lang="en-US" dirty="0"/>
          </a:p>
        </p:txBody>
      </p:sp>
    </p:spTree>
    <p:extLst>
      <p:ext uri="{BB962C8B-B14F-4D97-AF65-F5344CB8AC3E}">
        <p14:creationId xmlns:p14="http://schemas.microsoft.com/office/powerpoint/2010/main" val="1872681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Treasury Management System</a:t>
            </a:r>
            <a:endParaRPr lang="en-US" dirty="0"/>
          </a:p>
        </p:txBody>
      </p:sp>
      <p:sp>
        <p:nvSpPr>
          <p:cNvPr id="3" name="Content Placeholder 2"/>
          <p:cNvSpPr>
            <a:spLocks noGrp="1"/>
          </p:cNvSpPr>
          <p:nvPr>
            <p:ph idx="1"/>
          </p:nvPr>
        </p:nvSpPr>
        <p:spPr/>
        <p:txBody>
          <a:bodyPr>
            <a:normAutofit lnSpcReduction="10000"/>
          </a:bodyPr>
          <a:lstStyle/>
          <a:p>
            <a:r>
              <a:rPr lang="en-GB" dirty="0"/>
              <a:t>The system can be complex such that there is a risk that it will not be fully utilized as employees will only gain expertise in specific functions that they were performing prior to system installation</a:t>
            </a:r>
          </a:p>
          <a:p>
            <a:r>
              <a:rPr lang="en-GB" dirty="0"/>
              <a:t>The firm can schedule training for all affected personnel in all functions of the system </a:t>
            </a:r>
          </a:p>
          <a:p>
            <a:r>
              <a:rPr lang="en-GB" dirty="0"/>
              <a:t>They can also schedule an audit of system usage months after installation to determine which features are not being used</a:t>
            </a:r>
            <a:endParaRPr lang="en-US" dirty="0"/>
          </a:p>
        </p:txBody>
      </p:sp>
    </p:spTree>
    <p:extLst>
      <p:ext uri="{BB962C8B-B14F-4D97-AF65-F5344CB8AC3E}">
        <p14:creationId xmlns:p14="http://schemas.microsoft.com/office/powerpoint/2010/main" val="164866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Treasury Management System</a:t>
            </a:r>
            <a:endParaRPr lang="en-US" dirty="0"/>
          </a:p>
        </p:txBody>
      </p:sp>
      <p:sp>
        <p:nvSpPr>
          <p:cNvPr id="3" name="Content Placeholder 2"/>
          <p:cNvSpPr>
            <a:spLocks noGrp="1"/>
          </p:cNvSpPr>
          <p:nvPr>
            <p:ph idx="1"/>
          </p:nvPr>
        </p:nvSpPr>
        <p:spPr/>
        <p:txBody>
          <a:bodyPr/>
          <a:lstStyle/>
          <a:p>
            <a:r>
              <a:rPr lang="en-GB" dirty="0"/>
              <a:t>The firm can justify the cost of acquiring the system by looking at the cost of a failed manual system, such as a spread sheet error</a:t>
            </a:r>
          </a:p>
          <a:p>
            <a:r>
              <a:rPr lang="en-GB" dirty="0"/>
              <a:t>Another option is to enlist the internal auditors, who can argue that the risk of a transactional error may result in a Sarbanes-Oxley control breach that would have to be revealed in a company’s filings </a:t>
            </a:r>
            <a:endParaRPr lang="en-US" dirty="0"/>
          </a:p>
        </p:txBody>
      </p:sp>
    </p:spTree>
    <p:extLst>
      <p:ext uri="{BB962C8B-B14F-4D97-AF65-F5344CB8AC3E}">
        <p14:creationId xmlns:p14="http://schemas.microsoft.com/office/powerpoint/2010/main" val="1254534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Treasury Management System</a:t>
            </a:r>
            <a:endParaRPr lang="en-US" dirty="0"/>
          </a:p>
        </p:txBody>
      </p:sp>
      <p:sp>
        <p:nvSpPr>
          <p:cNvPr id="3" name="Content Placeholder 2"/>
          <p:cNvSpPr>
            <a:spLocks noGrp="1"/>
          </p:cNvSpPr>
          <p:nvPr>
            <p:ph idx="1"/>
          </p:nvPr>
        </p:nvSpPr>
        <p:spPr/>
        <p:txBody>
          <a:bodyPr>
            <a:normAutofit fontScale="92500"/>
          </a:bodyPr>
          <a:lstStyle/>
          <a:p>
            <a:r>
              <a:rPr lang="en-GB" dirty="0"/>
              <a:t>Third alternative is to explore a third party hosting solution, which substitutes the large up-front capital cost of a treasury management system for an on going monthly fee.</a:t>
            </a:r>
          </a:p>
          <a:p>
            <a:r>
              <a:rPr lang="en-GB" dirty="0"/>
              <a:t>In none of the above work, the treasurer should attempt to at least install those portions of a treasury management system that reduce the amount of data entry and repetitive work by the treasury staff so that they concentrate on value adding tasks </a:t>
            </a:r>
          </a:p>
          <a:p>
            <a:r>
              <a:rPr lang="en-GB" dirty="0">
                <a:hlinkClick r:id="rId2"/>
              </a:rPr>
              <a:t>https://treasurysystems.com/</a:t>
            </a:r>
            <a:endParaRPr lang="en-GB" dirty="0"/>
          </a:p>
          <a:p>
            <a:pPr marL="0" indent="0">
              <a:buNone/>
            </a:pPr>
            <a:endParaRPr lang="en-GB" dirty="0"/>
          </a:p>
          <a:p>
            <a:endParaRPr lang="en-US" dirty="0"/>
          </a:p>
        </p:txBody>
      </p:sp>
    </p:spTree>
    <p:extLst>
      <p:ext uri="{BB962C8B-B14F-4D97-AF65-F5344CB8AC3E}">
        <p14:creationId xmlns:p14="http://schemas.microsoft.com/office/powerpoint/2010/main" val="4075516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0B06C-3169-4BFC-9298-912BC25DD82F}"/>
              </a:ext>
            </a:extLst>
          </p:cNvPr>
          <p:cNvSpPr>
            <a:spLocks noGrp="1"/>
          </p:cNvSpPr>
          <p:nvPr>
            <p:ph type="title"/>
          </p:nvPr>
        </p:nvSpPr>
        <p:spPr/>
        <p:txBody>
          <a:bodyPr/>
          <a:lstStyle/>
          <a:p>
            <a:endParaRPr lang="en-GB"/>
          </a:p>
        </p:txBody>
      </p:sp>
      <p:pic>
        <p:nvPicPr>
          <p:cNvPr id="4" name="Content Placeholder 3">
            <a:extLst>
              <a:ext uri="{FF2B5EF4-FFF2-40B4-BE49-F238E27FC236}">
                <a16:creationId xmlns:a16="http://schemas.microsoft.com/office/drawing/2014/main" id="{C24880ED-1850-4D2B-9D68-9428DF691105}"/>
              </a:ext>
            </a:extLst>
          </p:cNvPr>
          <p:cNvPicPr>
            <a:picLocks noGrp="1" noChangeAspect="1"/>
          </p:cNvPicPr>
          <p:nvPr>
            <p:ph idx="1"/>
          </p:nvPr>
        </p:nvPicPr>
        <p:blipFill>
          <a:blip r:embed="rId2"/>
          <a:stretch>
            <a:fillRect/>
          </a:stretch>
        </p:blipFill>
        <p:spPr>
          <a:xfrm>
            <a:off x="2020381" y="1814732"/>
            <a:ext cx="6082609" cy="4052668"/>
          </a:xfrm>
          <a:prstGeom prst="rect">
            <a:avLst/>
          </a:prstGeom>
        </p:spPr>
      </p:pic>
    </p:spTree>
    <p:extLst>
      <p:ext uri="{BB962C8B-B14F-4D97-AF65-F5344CB8AC3E}">
        <p14:creationId xmlns:p14="http://schemas.microsoft.com/office/powerpoint/2010/main" val="2228403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SWIFT Connectivity</a:t>
            </a:r>
            <a:endParaRPr lang="en-US" dirty="0"/>
          </a:p>
        </p:txBody>
      </p:sp>
      <p:sp>
        <p:nvSpPr>
          <p:cNvPr id="3" name="Content Placeholder 2"/>
          <p:cNvSpPr>
            <a:spLocks noGrp="1"/>
          </p:cNvSpPr>
          <p:nvPr>
            <p:ph idx="1"/>
          </p:nvPr>
        </p:nvSpPr>
        <p:spPr/>
        <p:txBody>
          <a:bodyPr>
            <a:normAutofit lnSpcReduction="10000"/>
          </a:bodyPr>
          <a:lstStyle/>
          <a:p>
            <a:r>
              <a:rPr lang="en-GB" dirty="0"/>
              <a:t>The Society for Worldwide Interbank Financial Telecommunications (SWIFT) operates a worldwide network that banks use to exchange standardised electronic messages that are known as SWIFT MT codes.</a:t>
            </a:r>
          </a:p>
          <a:p>
            <a:r>
              <a:rPr lang="en-GB" dirty="0"/>
              <a:t>Most banks around the world are part of the SWIFT system, including Zambian banks.</a:t>
            </a:r>
          </a:p>
          <a:p>
            <a:r>
              <a:rPr lang="en-GB" dirty="0"/>
              <a:t>The SWIFT network is highly secure and is designed strictly to transport messages between participants </a:t>
            </a:r>
            <a:endParaRPr lang="en-US" dirty="0"/>
          </a:p>
        </p:txBody>
      </p:sp>
    </p:spTree>
    <p:extLst>
      <p:ext uri="{BB962C8B-B14F-4D97-AF65-F5344CB8AC3E}">
        <p14:creationId xmlns:p14="http://schemas.microsoft.com/office/powerpoint/2010/main" val="3491284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SWIFT Connectivity</a:t>
            </a:r>
            <a:endParaRPr lang="en-US" dirty="0"/>
          </a:p>
        </p:txBody>
      </p:sp>
      <p:sp>
        <p:nvSpPr>
          <p:cNvPr id="3" name="Content Placeholder 2"/>
          <p:cNvSpPr>
            <a:spLocks noGrp="1"/>
          </p:cNvSpPr>
          <p:nvPr>
            <p:ph idx="1"/>
          </p:nvPr>
        </p:nvSpPr>
        <p:spPr/>
        <p:txBody>
          <a:bodyPr/>
          <a:lstStyle/>
          <a:p>
            <a:r>
              <a:rPr lang="en-GB" dirty="0"/>
              <a:t>Companies are now able to access the SWIFT network by an number of methods.</a:t>
            </a:r>
          </a:p>
          <a:p>
            <a:r>
              <a:rPr lang="en-GB" dirty="0"/>
              <a:t>However the company cannot deal directly with another corporation, it can only send messages through the bank intermediaries.</a:t>
            </a:r>
          </a:p>
          <a:p>
            <a:r>
              <a:rPr lang="en-GB" dirty="0"/>
              <a:t>Large companies can link their treasury management systems directly into the SWIFT network.</a:t>
            </a:r>
            <a:endParaRPr lang="en-US" dirty="0"/>
          </a:p>
        </p:txBody>
      </p:sp>
    </p:spTree>
    <p:extLst>
      <p:ext uri="{BB962C8B-B14F-4D97-AF65-F5344CB8AC3E}">
        <p14:creationId xmlns:p14="http://schemas.microsoft.com/office/powerpoint/2010/main" val="1746379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SWIFT Connectivity</a:t>
            </a:r>
            <a:endParaRPr lang="en-US" dirty="0"/>
          </a:p>
        </p:txBody>
      </p:sp>
      <p:pic>
        <p:nvPicPr>
          <p:cNvPr id="102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2072" y="1637731"/>
            <a:ext cx="6359856" cy="4177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4911636"/>
      </p:ext>
    </p:extLst>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3123</TotalTime>
  <Words>932</Words>
  <Application>Microsoft Office PowerPoint</Application>
  <PresentationFormat>On-screen Show (4:3)</PresentationFormat>
  <Paragraphs>79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Calisto MT</vt:lpstr>
      <vt:lpstr>Wingdings</vt:lpstr>
      <vt:lpstr>Folio</vt:lpstr>
      <vt:lpstr>Treasury Management</vt:lpstr>
      <vt:lpstr>Introduction</vt:lpstr>
      <vt:lpstr>Treasurer’s Technology Needs</vt:lpstr>
      <vt:lpstr>Treasurer’s Technology Needs</vt:lpstr>
      <vt:lpstr>Treasurer’s Technology Needs</vt:lpstr>
      <vt:lpstr>Treasurer’s Technology Needs</vt:lpstr>
      <vt:lpstr>Treasurer’s Technology Needs</vt:lpstr>
      <vt:lpstr>Treasurer’s Technology Needs</vt:lpstr>
      <vt:lpstr>Treasurer’s Technology Needs</vt:lpstr>
      <vt:lpstr>Treasurer’s Technology Needs</vt:lpstr>
      <vt:lpstr>Treasurer’s Technology Needs</vt:lpstr>
      <vt:lpstr>Treasurer’s Technology Needs</vt:lpstr>
      <vt:lpstr>Treasurer’s Technology Needs</vt:lpstr>
      <vt:lpstr>Treasury Management System</vt:lpstr>
      <vt:lpstr>Treasury Management System</vt:lpstr>
      <vt:lpstr>Treasury Management System</vt:lpstr>
      <vt:lpstr>Treasury Management System</vt:lpstr>
      <vt:lpstr>PowerPoint Presentation</vt:lpstr>
      <vt:lpstr>SWIFT Connectivity</vt:lpstr>
      <vt:lpstr>SWIFT Connectivity</vt:lpstr>
      <vt:lpstr>SWIFT Connectivity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206</cp:revision>
  <dcterms:created xsi:type="dcterms:W3CDTF">2018-08-06T09:52:02Z</dcterms:created>
  <dcterms:modified xsi:type="dcterms:W3CDTF">2021-11-19T15:23:34Z</dcterms:modified>
</cp:coreProperties>
</file>