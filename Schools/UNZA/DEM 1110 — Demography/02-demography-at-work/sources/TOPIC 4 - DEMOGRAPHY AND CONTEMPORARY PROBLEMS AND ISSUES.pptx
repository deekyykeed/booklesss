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470" r:id="rId3"/>
    <p:sldId id="472" r:id="rId4"/>
    <p:sldId id="483" r:id="rId5"/>
    <p:sldId id="474" r:id="rId6"/>
    <p:sldId id="475" r:id="rId7"/>
    <p:sldId id="476" r:id="rId8"/>
    <p:sldId id="484" r:id="rId9"/>
    <p:sldId id="478" r:id="rId10"/>
    <p:sldId id="485" r:id="rId11"/>
    <p:sldId id="482" r:id="rId12"/>
    <p:sldId id="486" r:id="rId13"/>
    <p:sldId id="487" r:id="rId14"/>
    <p:sldId id="496" r:id="rId15"/>
    <p:sldId id="481" r:id="rId16"/>
  </p:sldIdLst>
  <p:sldSz cx="12192000" cy="6858000"/>
  <p:notesSz cx="6858000" cy="9144000"/>
  <p:defaultTextStyle>
    <a:defPPr>
      <a:defRPr lang="en-ZM"/>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M"/>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9BFFDD-188B-46DD-B738-50E59205BEAB}" type="datetimeFigureOut">
              <a:rPr lang="en-ZM" smtClean="0"/>
              <a:t>02/03/2020</a:t>
            </a:fld>
            <a:endParaRPr lang="en-ZM"/>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M"/>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M"/>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B2FA30-BB66-42A5-A67D-42C2DB9ADF71}" type="slidenum">
              <a:rPr lang="en-ZM" smtClean="0"/>
              <a:t>‹#›</a:t>
            </a:fld>
            <a:endParaRPr lang="en-ZM"/>
          </a:p>
        </p:txBody>
      </p:sp>
    </p:spTree>
    <p:extLst>
      <p:ext uri="{BB962C8B-B14F-4D97-AF65-F5344CB8AC3E}">
        <p14:creationId xmlns:p14="http://schemas.microsoft.com/office/powerpoint/2010/main" val="1481014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An </a:t>
            </a:r>
            <a:r>
              <a:rPr lang="en-GB" sz="1200" i="1" kern="1200" dirty="0">
                <a:solidFill>
                  <a:schemeClr val="tx1"/>
                </a:solidFill>
                <a:effectLst/>
                <a:latin typeface="+mn-lt"/>
                <a:ea typeface="+mn-ea"/>
                <a:cs typeface="+mn-cs"/>
              </a:rPr>
              <a:t>ecosystem</a:t>
            </a:r>
            <a:r>
              <a:rPr lang="en-GB" sz="1200" kern="1200" dirty="0">
                <a:solidFill>
                  <a:schemeClr val="tx1"/>
                </a:solidFill>
                <a:effectLst/>
                <a:latin typeface="+mn-lt"/>
                <a:ea typeface="+mn-ea"/>
                <a:cs typeface="+mn-cs"/>
              </a:rPr>
              <a:t> includes all of the living things (plants, animals and organisms) in a given area, interacting with each other, and also with their non-living environments (weather, earth, sun, soil, climate, atmosphere). In an </a:t>
            </a:r>
            <a:r>
              <a:rPr lang="en-GB" sz="1200" i="1" kern="1200" dirty="0">
                <a:solidFill>
                  <a:schemeClr val="tx1"/>
                </a:solidFill>
                <a:effectLst/>
                <a:latin typeface="+mn-lt"/>
                <a:ea typeface="+mn-ea"/>
                <a:cs typeface="+mn-cs"/>
              </a:rPr>
              <a:t>ecosystem</a:t>
            </a:r>
            <a:r>
              <a:rPr lang="en-GB" sz="1200" kern="1200" dirty="0">
                <a:solidFill>
                  <a:schemeClr val="tx1"/>
                </a:solidFill>
                <a:effectLst/>
                <a:latin typeface="+mn-lt"/>
                <a:ea typeface="+mn-ea"/>
                <a:cs typeface="+mn-cs"/>
              </a:rPr>
              <a:t>, each organism has its' own niche or role to play.</a:t>
            </a:r>
          </a:p>
          <a:p>
            <a:endParaRPr lang="en-GB" dirty="0"/>
          </a:p>
        </p:txBody>
      </p:sp>
      <p:sp>
        <p:nvSpPr>
          <p:cNvPr id="4" name="Slide Number Placeholder 3"/>
          <p:cNvSpPr>
            <a:spLocks noGrp="1"/>
          </p:cNvSpPr>
          <p:nvPr>
            <p:ph type="sldNum" sz="quarter" idx="10"/>
          </p:nvPr>
        </p:nvSpPr>
        <p:spPr/>
        <p:txBody>
          <a:bodyPr/>
          <a:lstStyle/>
          <a:p>
            <a:fld id="{087D132D-4604-466E-9F6D-719526BB2D77}" type="slidenum">
              <a:rPr lang="en-GB" smtClean="0"/>
              <a:t>4</a:t>
            </a:fld>
            <a:endParaRPr lang="en-GB"/>
          </a:p>
        </p:txBody>
      </p:sp>
    </p:spTree>
    <p:extLst>
      <p:ext uri="{BB962C8B-B14F-4D97-AF65-F5344CB8AC3E}">
        <p14:creationId xmlns:p14="http://schemas.microsoft.com/office/powerpoint/2010/main" val="25167076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382BA-1B02-40B8-A9C3-1DA4FFA1EAF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M"/>
          </a:p>
        </p:txBody>
      </p:sp>
      <p:sp>
        <p:nvSpPr>
          <p:cNvPr id="3" name="Subtitle 2">
            <a:extLst>
              <a:ext uri="{FF2B5EF4-FFF2-40B4-BE49-F238E27FC236}">
                <a16:creationId xmlns:a16="http://schemas.microsoft.com/office/drawing/2014/main" id="{C522FC5D-38C9-445C-A967-F9EA63B42A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M"/>
          </a:p>
        </p:txBody>
      </p:sp>
      <p:sp>
        <p:nvSpPr>
          <p:cNvPr id="4" name="Date Placeholder 3">
            <a:extLst>
              <a:ext uri="{FF2B5EF4-FFF2-40B4-BE49-F238E27FC236}">
                <a16:creationId xmlns:a16="http://schemas.microsoft.com/office/drawing/2014/main" id="{9F34D62B-1CE8-4880-9BE9-0B659F095DC7}"/>
              </a:ext>
            </a:extLst>
          </p:cNvPr>
          <p:cNvSpPr>
            <a:spLocks noGrp="1"/>
          </p:cNvSpPr>
          <p:nvPr>
            <p:ph type="dt" sz="half" idx="10"/>
          </p:nvPr>
        </p:nvSpPr>
        <p:spPr/>
        <p:txBody>
          <a:bodyPr/>
          <a:lstStyle/>
          <a:p>
            <a:fld id="{682BF4FD-164A-4D25-B83B-BD42F12ED4AC}" type="datetimeFigureOut">
              <a:rPr lang="en-ZM" smtClean="0"/>
              <a:t>02/03/2020</a:t>
            </a:fld>
            <a:endParaRPr lang="en-ZM"/>
          </a:p>
        </p:txBody>
      </p:sp>
      <p:sp>
        <p:nvSpPr>
          <p:cNvPr id="5" name="Footer Placeholder 4">
            <a:extLst>
              <a:ext uri="{FF2B5EF4-FFF2-40B4-BE49-F238E27FC236}">
                <a16:creationId xmlns:a16="http://schemas.microsoft.com/office/drawing/2014/main" id="{D6FE7165-E9C0-46FE-89BB-74B5AA282AEE}"/>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74C43EFF-3C6A-4218-8989-DD08EB6905B1}"/>
              </a:ext>
            </a:extLst>
          </p:cNvPr>
          <p:cNvSpPr>
            <a:spLocks noGrp="1"/>
          </p:cNvSpPr>
          <p:nvPr>
            <p:ph type="sldNum" sz="quarter" idx="12"/>
          </p:nvPr>
        </p:nvSpPr>
        <p:spPr/>
        <p:txBody>
          <a:bodyPr/>
          <a:lstStyle/>
          <a:p>
            <a:fld id="{C1383C66-6017-43AC-AA76-89336E961EA0}" type="slidenum">
              <a:rPr lang="en-ZM" smtClean="0"/>
              <a:t>‹#›</a:t>
            </a:fld>
            <a:endParaRPr lang="en-ZM"/>
          </a:p>
        </p:txBody>
      </p:sp>
    </p:spTree>
    <p:extLst>
      <p:ext uri="{BB962C8B-B14F-4D97-AF65-F5344CB8AC3E}">
        <p14:creationId xmlns:p14="http://schemas.microsoft.com/office/powerpoint/2010/main" val="2505256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86C3C-0BF5-4F6D-8481-7CD71359F0C5}"/>
              </a:ext>
            </a:extLst>
          </p:cNvPr>
          <p:cNvSpPr>
            <a:spLocks noGrp="1"/>
          </p:cNvSpPr>
          <p:nvPr>
            <p:ph type="title"/>
          </p:nvPr>
        </p:nvSpPr>
        <p:spPr/>
        <p:txBody>
          <a:bodyPr/>
          <a:lstStyle/>
          <a:p>
            <a:r>
              <a:rPr lang="en-US"/>
              <a:t>Click to edit Master title style</a:t>
            </a:r>
            <a:endParaRPr lang="en-ZM"/>
          </a:p>
        </p:txBody>
      </p:sp>
      <p:sp>
        <p:nvSpPr>
          <p:cNvPr id="3" name="Content Placeholder 2">
            <a:extLst>
              <a:ext uri="{FF2B5EF4-FFF2-40B4-BE49-F238E27FC236}">
                <a16:creationId xmlns:a16="http://schemas.microsoft.com/office/drawing/2014/main" id="{DD899B2D-A93A-485E-9E93-BC3BAB5D1A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6264B4F6-E36D-4E90-85F8-5E613015FC87}"/>
              </a:ext>
            </a:extLst>
          </p:cNvPr>
          <p:cNvSpPr>
            <a:spLocks noGrp="1"/>
          </p:cNvSpPr>
          <p:nvPr>
            <p:ph type="dt" sz="half" idx="10"/>
          </p:nvPr>
        </p:nvSpPr>
        <p:spPr/>
        <p:txBody>
          <a:bodyPr/>
          <a:lstStyle/>
          <a:p>
            <a:fld id="{682BF4FD-164A-4D25-B83B-BD42F12ED4AC}" type="datetimeFigureOut">
              <a:rPr lang="en-ZM" smtClean="0"/>
              <a:t>02/03/2020</a:t>
            </a:fld>
            <a:endParaRPr lang="en-ZM"/>
          </a:p>
        </p:txBody>
      </p:sp>
      <p:sp>
        <p:nvSpPr>
          <p:cNvPr id="5" name="Footer Placeholder 4">
            <a:extLst>
              <a:ext uri="{FF2B5EF4-FFF2-40B4-BE49-F238E27FC236}">
                <a16:creationId xmlns:a16="http://schemas.microsoft.com/office/drawing/2014/main" id="{0A85E08D-D063-46FB-99AA-83885030A32E}"/>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27758B81-7100-472F-962E-4FD64D6313FA}"/>
              </a:ext>
            </a:extLst>
          </p:cNvPr>
          <p:cNvSpPr>
            <a:spLocks noGrp="1"/>
          </p:cNvSpPr>
          <p:nvPr>
            <p:ph type="sldNum" sz="quarter" idx="12"/>
          </p:nvPr>
        </p:nvSpPr>
        <p:spPr/>
        <p:txBody>
          <a:bodyPr/>
          <a:lstStyle/>
          <a:p>
            <a:fld id="{C1383C66-6017-43AC-AA76-89336E961EA0}" type="slidenum">
              <a:rPr lang="en-ZM" smtClean="0"/>
              <a:t>‹#›</a:t>
            </a:fld>
            <a:endParaRPr lang="en-ZM"/>
          </a:p>
        </p:txBody>
      </p:sp>
    </p:spTree>
    <p:extLst>
      <p:ext uri="{BB962C8B-B14F-4D97-AF65-F5344CB8AC3E}">
        <p14:creationId xmlns:p14="http://schemas.microsoft.com/office/powerpoint/2010/main" val="4066339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AA37C-A207-4FCB-8ADB-61DAF54949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M"/>
          </a:p>
        </p:txBody>
      </p:sp>
      <p:sp>
        <p:nvSpPr>
          <p:cNvPr id="3" name="Text Placeholder 2">
            <a:extLst>
              <a:ext uri="{FF2B5EF4-FFF2-40B4-BE49-F238E27FC236}">
                <a16:creationId xmlns:a16="http://schemas.microsoft.com/office/drawing/2014/main" id="{EF72C7ED-092E-48F7-8259-E388DF56E98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C3F695-1A00-4E98-A3E3-A2DA54A0CDC4}"/>
              </a:ext>
            </a:extLst>
          </p:cNvPr>
          <p:cNvSpPr>
            <a:spLocks noGrp="1"/>
          </p:cNvSpPr>
          <p:nvPr>
            <p:ph type="dt" sz="half" idx="10"/>
          </p:nvPr>
        </p:nvSpPr>
        <p:spPr/>
        <p:txBody>
          <a:bodyPr/>
          <a:lstStyle/>
          <a:p>
            <a:fld id="{682BF4FD-164A-4D25-B83B-BD42F12ED4AC}" type="datetimeFigureOut">
              <a:rPr lang="en-ZM" smtClean="0"/>
              <a:t>02/03/2020</a:t>
            </a:fld>
            <a:endParaRPr lang="en-ZM"/>
          </a:p>
        </p:txBody>
      </p:sp>
      <p:sp>
        <p:nvSpPr>
          <p:cNvPr id="5" name="Footer Placeholder 4">
            <a:extLst>
              <a:ext uri="{FF2B5EF4-FFF2-40B4-BE49-F238E27FC236}">
                <a16:creationId xmlns:a16="http://schemas.microsoft.com/office/drawing/2014/main" id="{CBFDB2A2-5084-4215-B0F1-AE553255F00C}"/>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0E24382A-042F-401A-A6B1-001A9875B2B5}"/>
              </a:ext>
            </a:extLst>
          </p:cNvPr>
          <p:cNvSpPr>
            <a:spLocks noGrp="1"/>
          </p:cNvSpPr>
          <p:nvPr>
            <p:ph type="sldNum" sz="quarter" idx="12"/>
          </p:nvPr>
        </p:nvSpPr>
        <p:spPr/>
        <p:txBody>
          <a:bodyPr/>
          <a:lstStyle/>
          <a:p>
            <a:fld id="{C1383C66-6017-43AC-AA76-89336E961EA0}" type="slidenum">
              <a:rPr lang="en-ZM" smtClean="0"/>
              <a:t>‹#›</a:t>
            </a:fld>
            <a:endParaRPr lang="en-ZM"/>
          </a:p>
        </p:txBody>
      </p:sp>
    </p:spTree>
    <p:extLst>
      <p:ext uri="{BB962C8B-B14F-4D97-AF65-F5344CB8AC3E}">
        <p14:creationId xmlns:p14="http://schemas.microsoft.com/office/powerpoint/2010/main" val="6312217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78446-DA23-4E7C-9391-0A67B9DA8DC9}"/>
              </a:ext>
            </a:extLst>
          </p:cNvPr>
          <p:cNvSpPr>
            <a:spLocks noGrp="1"/>
          </p:cNvSpPr>
          <p:nvPr>
            <p:ph type="title"/>
          </p:nvPr>
        </p:nvSpPr>
        <p:spPr/>
        <p:txBody>
          <a:bodyPr/>
          <a:lstStyle/>
          <a:p>
            <a:r>
              <a:rPr lang="en-US"/>
              <a:t>Click to edit Master title style</a:t>
            </a:r>
            <a:endParaRPr lang="en-ZM"/>
          </a:p>
        </p:txBody>
      </p:sp>
      <p:sp>
        <p:nvSpPr>
          <p:cNvPr id="3" name="Content Placeholder 2">
            <a:extLst>
              <a:ext uri="{FF2B5EF4-FFF2-40B4-BE49-F238E27FC236}">
                <a16:creationId xmlns:a16="http://schemas.microsoft.com/office/drawing/2014/main" id="{2AA92063-CF40-48FF-8825-2E2BBA06D5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Content Placeholder 3">
            <a:extLst>
              <a:ext uri="{FF2B5EF4-FFF2-40B4-BE49-F238E27FC236}">
                <a16:creationId xmlns:a16="http://schemas.microsoft.com/office/drawing/2014/main" id="{20DB7C1C-D131-4000-B0FC-4FF7EDF959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5" name="Date Placeholder 4">
            <a:extLst>
              <a:ext uri="{FF2B5EF4-FFF2-40B4-BE49-F238E27FC236}">
                <a16:creationId xmlns:a16="http://schemas.microsoft.com/office/drawing/2014/main" id="{4C2F3EF0-F35D-47D5-AE8C-D5742DBCF66E}"/>
              </a:ext>
            </a:extLst>
          </p:cNvPr>
          <p:cNvSpPr>
            <a:spLocks noGrp="1"/>
          </p:cNvSpPr>
          <p:nvPr>
            <p:ph type="dt" sz="half" idx="10"/>
          </p:nvPr>
        </p:nvSpPr>
        <p:spPr/>
        <p:txBody>
          <a:bodyPr/>
          <a:lstStyle/>
          <a:p>
            <a:fld id="{682BF4FD-164A-4D25-B83B-BD42F12ED4AC}" type="datetimeFigureOut">
              <a:rPr lang="en-ZM" smtClean="0"/>
              <a:t>02/03/2020</a:t>
            </a:fld>
            <a:endParaRPr lang="en-ZM"/>
          </a:p>
        </p:txBody>
      </p:sp>
      <p:sp>
        <p:nvSpPr>
          <p:cNvPr id="6" name="Footer Placeholder 5">
            <a:extLst>
              <a:ext uri="{FF2B5EF4-FFF2-40B4-BE49-F238E27FC236}">
                <a16:creationId xmlns:a16="http://schemas.microsoft.com/office/drawing/2014/main" id="{7D13728B-7024-4D19-8CD4-13FCAB165F64}"/>
              </a:ext>
            </a:extLst>
          </p:cNvPr>
          <p:cNvSpPr>
            <a:spLocks noGrp="1"/>
          </p:cNvSpPr>
          <p:nvPr>
            <p:ph type="ftr" sz="quarter" idx="11"/>
          </p:nvPr>
        </p:nvSpPr>
        <p:spPr/>
        <p:txBody>
          <a:bodyPr/>
          <a:lstStyle/>
          <a:p>
            <a:endParaRPr lang="en-ZM"/>
          </a:p>
        </p:txBody>
      </p:sp>
      <p:sp>
        <p:nvSpPr>
          <p:cNvPr id="7" name="Slide Number Placeholder 6">
            <a:extLst>
              <a:ext uri="{FF2B5EF4-FFF2-40B4-BE49-F238E27FC236}">
                <a16:creationId xmlns:a16="http://schemas.microsoft.com/office/drawing/2014/main" id="{C717216B-F4DE-463F-A709-FC7E59EC8B2B}"/>
              </a:ext>
            </a:extLst>
          </p:cNvPr>
          <p:cNvSpPr>
            <a:spLocks noGrp="1"/>
          </p:cNvSpPr>
          <p:nvPr>
            <p:ph type="sldNum" sz="quarter" idx="12"/>
          </p:nvPr>
        </p:nvSpPr>
        <p:spPr/>
        <p:txBody>
          <a:bodyPr/>
          <a:lstStyle/>
          <a:p>
            <a:fld id="{C1383C66-6017-43AC-AA76-89336E961EA0}" type="slidenum">
              <a:rPr lang="en-ZM" smtClean="0"/>
              <a:t>‹#›</a:t>
            </a:fld>
            <a:endParaRPr lang="en-ZM"/>
          </a:p>
        </p:txBody>
      </p:sp>
    </p:spTree>
    <p:extLst>
      <p:ext uri="{BB962C8B-B14F-4D97-AF65-F5344CB8AC3E}">
        <p14:creationId xmlns:p14="http://schemas.microsoft.com/office/powerpoint/2010/main" val="1362488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05067-FC6F-4C18-AF4A-6D9527562DB8}"/>
              </a:ext>
            </a:extLst>
          </p:cNvPr>
          <p:cNvSpPr>
            <a:spLocks noGrp="1"/>
          </p:cNvSpPr>
          <p:nvPr>
            <p:ph type="title"/>
          </p:nvPr>
        </p:nvSpPr>
        <p:spPr>
          <a:xfrm>
            <a:off x="839788" y="365125"/>
            <a:ext cx="10515600" cy="1325563"/>
          </a:xfrm>
        </p:spPr>
        <p:txBody>
          <a:bodyPr/>
          <a:lstStyle/>
          <a:p>
            <a:r>
              <a:rPr lang="en-US"/>
              <a:t>Click to edit Master title style</a:t>
            </a:r>
            <a:endParaRPr lang="en-ZM"/>
          </a:p>
        </p:txBody>
      </p:sp>
      <p:sp>
        <p:nvSpPr>
          <p:cNvPr id="3" name="Text Placeholder 2">
            <a:extLst>
              <a:ext uri="{FF2B5EF4-FFF2-40B4-BE49-F238E27FC236}">
                <a16:creationId xmlns:a16="http://schemas.microsoft.com/office/drawing/2014/main" id="{1F1810F8-B85A-41B6-8A61-5C6B961479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E79369-238F-4A49-BE0A-DBBF3DCFB5E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5" name="Text Placeholder 4">
            <a:extLst>
              <a:ext uri="{FF2B5EF4-FFF2-40B4-BE49-F238E27FC236}">
                <a16:creationId xmlns:a16="http://schemas.microsoft.com/office/drawing/2014/main" id="{7EB52E03-F32E-47C8-BB0E-11F620F7C1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645277-26BB-42EA-98E7-AAA1DBD745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7" name="Date Placeholder 6">
            <a:extLst>
              <a:ext uri="{FF2B5EF4-FFF2-40B4-BE49-F238E27FC236}">
                <a16:creationId xmlns:a16="http://schemas.microsoft.com/office/drawing/2014/main" id="{E4CE97B1-F87D-4EE6-BDD1-AE70E582EB0A}"/>
              </a:ext>
            </a:extLst>
          </p:cNvPr>
          <p:cNvSpPr>
            <a:spLocks noGrp="1"/>
          </p:cNvSpPr>
          <p:nvPr>
            <p:ph type="dt" sz="half" idx="10"/>
          </p:nvPr>
        </p:nvSpPr>
        <p:spPr/>
        <p:txBody>
          <a:bodyPr/>
          <a:lstStyle/>
          <a:p>
            <a:fld id="{682BF4FD-164A-4D25-B83B-BD42F12ED4AC}" type="datetimeFigureOut">
              <a:rPr lang="en-ZM" smtClean="0"/>
              <a:t>02/03/2020</a:t>
            </a:fld>
            <a:endParaRPr lang="en-ZM"/>
          </a:p>
        </p:txBody>
      </p:sp>
      <p:sp>
        <p:nvSpPr>
          <p:cNvPr id="8" name="Footer Placeholder 7">
            <a:extLst>
              <a:ext uri="{FF2B5EF4-FFF2-40B4-BE49-F238E27FC236}">
                <a16:creationId xmlns:a16="http://schemas.microsoft.com/office/drawing/2014/main" id="{E126B2FF-12ED-450E-A9B9-BBB3165F1F6F}"/>
              </a:ext>
            </a:extLst>
          </p:cNvPr>
          <p:cNvSpPr>
            <a:spLocks noGrp="1"/>
          </p:cNvSpPr>
          <p:nvPr>
            <p:ph type="ftr" sz="quarter" idx="11"/>
          </p:nvPr>
        </p:nvSpPr>
        <p:spPr/>
        <p:txBody>
          <a:bodyPr/>
          <a:lstStyle/>
          <a:p>
            <a:endParaRPr lang="en-ZM"/>
          </a:p>
        </p:txBody>
      </p:sp>
      <p:sp>
        <p:nvSpPr>
          <p:cNvPr id="9" name="Slide Number Placeholder 8">
            <a:extLst>
              <a:ext uri="{FF2B5EF4-FFF2-40B4-BE49-F238E27FC236}">
                <a16:creationId xmlns:a16="http://schemas.microsoft.com/office/drawing/2014/main" id="{75A7581B-1C29-46F3-9FB0-36A16A0A1A19}"/>
              </a:ext>
            </a:extLst>
          </p:cNvPr>
          <p:cNvSpPr>
            <a:spLocks noGrp="1"/>
          </p:cNvSpPr>
          <p:nvPr>
            <p:ph type="sldNum" sz="quarter" idx="12"/>
          </p:nvPr>
        </p:nvSpPr>
        <p:spPr/>
        <p:txBody>
          <a:bodyPr/>
          <a:lstStyle/>
          <a:p>
            <a:fld id="{C1383C66-6017-43AC-AA76-89336E961EA0}" type="slidenum">
              <a:rPr lang="en-ZM" smtClean="0"/>
              <a:t>‹#›</a:t>
            </a:fld>
            <a:endParaRPr lang="en-ZM"/>
          </a:p>
        </p:txBody>
      </p:sp>
    </p:spTree>
    <p:extLst>
      <p:ext uri="{BB962C8B-B14F-4D97-AF65-F5344CB8AC3E}">
        <p14:creationId xmlns:p14="http://schemas.microsoft.com/office/powerpoint/2010/main" val="2548779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D7B4B-6FEC-462D-AEE5-C2E8E7DCADD8}"/>
              </a:ext>
            </a:extLst>
          </p:cNvPr>
          <p:cNvSpPr>
            <a:spLocks noGrp="1"/>
          </p:cNvSpPr>
          <p:nvPr>
            <p:ph type="title"/>
          </p:nvPr>
        </p:nvSpPr>
        <p:spPr/>
        <p:txBody>
          <a:bodyPr/>
          <a:lstStyle/>
          <a:p>
            <a:r>
              <a:rPr lang="en-US"/>
              <a:t>Click to edit Master title style</a:t>
            </a:r>
            <a:endParaRPr lang="en-ZM"/>
          </a:p>
        </p:txBody>
      </p:sp>
      <p:sp>
        <p:nvSpPr>
          <p:cNvPr id="3" name="Date Placeholder 2">
            <a:extLst>
              <a:ext uri="{FF2B5EF4-FFF2-40B4-BE49-F238E27FC236}">
                <a16:creationId xmlns:a16="http://schemas.microsoft.com/office/drawing/2014/main" id="{8B19A2CF-B3A0-4EEA-8039-67BCE6981403}"/>
              </a:ext>
            </a:extLst>
          </p:cNvPr>
          <p:cNvSpPr>
            <a:spLocks noGrp="1"/>
          </p:cNvSpPr>
          <p:nvPr>
            <p:ph type="dt" sz="half" idx="10"/>
          </p:nvPr>
        </p:nvSpPr>
        <p:spPr/>
        <p:txBody>
          <a:bodyPr/>
          <a:lstStyle/>
          <a:p>
            <a:fld id="{682BF4FD-164A-4D25-B83B-BD42F12ED4AC}" type="datetimeFigureOut">
              <a:rPr lang="en-ZM" smtClean="0"/>
              <a:t>02/03/2020</a:t>
            </a:fld>
            <a:endParaRPr lang="en-ZM"/>
          </a:p>
        </p:txBody>
      </p:sp>
      <p:sp>
        <p:nvSpPr>
          <p:cNvPr id="4" name="Footer Placeholder 3">
            <a:extLst>
              <a:ext uri="{FF2B5EF4-FFF2-40B4-BE49-F238E27FC236}">
                <a16:creationId xmlns:a16="http://schemas.microsoft.com/office/drawing/2014/main" id="{5B193F8C-B53C-4EA1-9435-A2E7EF4CBF0B}"/>
              </a:ext>
            </a:extLst>
          </p:cNvPr>
          <p:cNvSpPr>
            <a:spLocks noGrp="1"/>
          </p:cNvSpPr>
          <p:nvPr>
            <p:ph type="ftr" sz="quarter" idx="11"/>
          </p:nvPr>
        </p:nvSpPr>
        <p:spPr/>
        <p:txBody>
          <a:bodyPr/>
          <a:lstStyle/>
          <a:p>
            <a:endParaRPr lang="en-ZM"/>
          </a:p>
        </p:txBody>
      </p:sp>
      <p:sp>
        <p:nvSpPr>
          <p:cNvPr id="5" name="Slide Number Placeholder 4">
            <a:extLst>
              <a:ext uri="{FF2B5EF4-FFF2-40B4-BE49-F238E27FC236}">
                <a16:creationId xmlns:a16="http://schemas.microsoft.com/office/drawing/2014/main" id="{C9C066A1-F528-4537-9794-6B12E0EE8646}"/>
              </a:ext>
            </a:extLst>
          </p:cNvPr>
          <p:cNvSpPr>
            <a:spLocks noGrp="1"/>
          </p:cNvSpPr>
          <p:nvPr>
            <p:ph type="sldNum" sz="quarter" idx="12"/>
          </p:nvPr>
        </p:nvSpPr>
        <p:spPr/>
        <p:txBody>
          <a:bodyPr/>
          <a:lstStyle/>
          <a:p>
            <a:fld id="{C1383C66-6017-43AC-AA76-89336E961EA0}" type="slidenum">
              <a:rPr lang="en-ZM" smtClean="0"/>
              <a:t>‹#›</a:t>
            </a:fld>
            <a:endParaRPr lang="en-ZM"/>
          </a:p>
        </p:txBody>
      </p:sp>
    </p:spTree>
    <p:extLst>
      <p:ext uri="{BB962C8B-B14F-4D97-AF65-F5344CB8AC3E}">
        <p14:creationId xmlns:p14="http://schemas.microsoft.com/office/powerpoint/2010/main" val="34837230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9B6D2F-6367-4466-AFAE-816EC23D99AE}"/>
              </a:ext>
            </a:extLst>
          </p:cNvPr>
          <p:cNvSpPr>
            <a:spLocks noGrp="1"/>
          </p:cNvSpPr>
          <p:nvPr>
            <p:ph type="dt" sz="half" idx="10"/>
          </p:nvPr>
        </p:nvSpPr>
        <p:spPr/>
        <p:txBody>
          <a:bodyPr/>
          <a:lstStyle/>
          <a:p>
            <a:fld id="{682BF4FD-164A-4D25-B83B-BD42F12ED4AC}" type="datetimeFigureOut">
              <a:rPr lang="en-ZM" smtClean="0"/>
              <a:t>02/03/2020</a:t>
            </a:fld>
            <a:endParaRPr lang="en-ZM"/>
          </a:p>
        </p:txBody>
      </p:sp>
      <p:sp>
        <p:nvSpPr>
          <p:cNvPr id="3" name="Footer Placeholder 2">
            <a:extLst>
              <a:ext uri="{FF2B5EF4-FFF2-40B4-BE49-F238E27FC236}">
                <a16:creationId xmlns:a16="http://schemas.microsoft.com/office/drawing/2014/main" id="{14D9F466-0AD4-4579-B570-7AAA6A44264E}"/>
              </a:ext>
            </a:extLst>
          </p:cNvPr>
          <p:cNvSpPr>
            <a:spLocks noGrp="1"/>
          </p:cNvSpPr>
          <p:nvPr>
            <p:ph type="ftr" sz="quarter" idx="11"/>
          </p:nvPr>
        </p:nvSpPr>
        <p:spPr/>
        <p:txBody>
          <a:bodyPr/>
          <a:lstStyle/>
          <a:p>
            <a:endParaRPr lang="en-ZM"/>
          </a:p>
        </p:txBody>
      </p:sp>
      <p:sp>
        <p:nvSpPr>
          <p:cNvPr id="4" name="Slide Number Placeholder 3">
            <a:extLst>
              <a:ext uri="{FF2B5EF4-FFF2-40B4-BE49-F238E27FC236}">
                <a16:creationId xmlns:a16="http://schemas.microsoft.com/office/drawing/2014/main" id="{DEBA27BE-D127-4292-95D9-A055C6EE0B57}"/>
              </a:ext>
            </a:extLst>
          </p:cNvPr>
          <p:cNvSpPr>
            <a:spLocks noGrp="1"/>
          </p:cNvSpPr>
          <p:nvPr>
            <p:ph type="sldNum" sz="quarter" idx="12"/>
          </p:nvPr>
        </p:nvSpPr>
        <p:spPr/>
        <p:txBody>
          <a:bodyPr/>
          <a:lstStyle/>
          <a:p>
            <a:fld id="{C1383C66-6017-43AC-AA76-89336E961EA0}" type="slidenum">
              <a:rPr lang="en-ZM" smtClean="0"/>
              <a:t>‹#›</a:t>
            </a:fld>
            <a:endParaRPr lang="en-ZM"/>
          </a:p>
        </p:txBody>
      </p:sp>
    </p:spTree>
    <p:extLst>
      <p:ext uri="{BB962C8B-B14F-4D97-AF65-F5344CB8AC3E}">
        <p14:creationId xmlns:p14="http://schemas.microsoft.com/office/powerpoint/2010/main" val="1666567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EC7B1-2225-43A3-B520-A044FC41C3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M"/>
          </a:p>
        </p:txBody>
      </p:sp>
      <p:sp>
        <p:nvSpPr>
          <p:cNvPr id="3" name="Content Placeholder 2">
            <a:extLst>
              <a:ext uri="{FF2B5EF4-FFF2-40B4-BE49-F238E27FC236}">
                <a16:creationId xmlns:a16="http://schemas.microsoft.com/office/drawing/2014/main" id="{BF6FA827-E70D-419E-8F1B-1AD8B28270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Text Placeholder 3">
            <a:extLst>
              <a:ext uri="{FF2B5EF4-FFF2-40B4-BE49-F238E27FC236}">
                <a16:creationId xmlns:a16="http://schemas.microsoft.com/office/drawing/2014/main" id="{F7BD24CE-D9FC-4E8D-A997-4D1DE9CD2A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2956C6-75B6-4329-834A-74F11170AD9E}"/>
              </a:ext>
            </a:extLst>
          </p:cNvPr>
          <p:cNvSpPr>
            <a:spLocks noGrp="1"/>
          </p:cNvSpPr>
          <p:nvPr>
            <p:ph type="dt" sz="half" idx="10"/>
          </p:nvPr>
        </p:nvSpPr>
        <p:spPr/>
        <p:txBody>
          <a:bodyPr/>
          <a:lstStyle/>
          <a:p>
            <a:fld id="{682BF4FD-164A-4D25-B83B-BD42F12ED4AC}" type="datetimeFigureOut">
              <a:rPr lang="en-ZM" smtClean="0"/>
              <a:t>02/03/2020</a:t>
            </a:fld>
            <a:endParaRPr lang="en-ZM"/>
          </a:p>
        </p:txBody>
      </p:sp>
      <p:sp>
        <p:nvSpPr>
          <p:cNvPr id="6" name="Footer Placeholder 5">
            <a:extLst>
              <a:ext uri="{FF2B5EF4-FFF2-40B4-BE49-F238E27FC236}">
                <a16:creationId xmlns:a16="http://schemas.microsoft.com/office/drawing/2014/main" id="{B62F5897-9B7B-4FB9-B215-354945FCC0D4}"/>
              </a:ext>
            </a:extLst>
          </p:cNvPr>
          <p:cNvSpPr>
            <a:spLocks noGrp="1"/>
          </p:cNvSpPr>
          <p:nvPr>
            <p:ph type="ftr" sz="quarter" idx="11"/>
          </p:nvPr>
        </p:nvSpPr>
        <p:spPr/>
        <p:txBody>
          <a:bodyPr/>
          <a:lstStyle/>
          <a:p>
            <a:endParaRPr lang="en-ZM"/>
          </a:p>
        </p:txBody>
      </p:sp>
      <p:sp>
        <p:nvSpPr>
          <p:cNvPr id="7" name="Slide Number Placeholder 6">
            <a:extLst>
              <a:ext uri="{FF2B5EF4-FFF2-40B4-BE49-F238E27FC236}">
                <a16:creationId xmlns:a16="http://schemas.microsoft.com/office/drawing/2014/main" id="{A74326B3-49E9-4059-A1B2-B9E0D2E044C6}"/>
              </a:ext>
            </a:extLst>
          </p:cNvPr>
          <p:cNvSpPr>
            <a:spLocks noGrp="1"/>
          </p:cNvSpPr>
          <p:nvPr>
            <p:ph type="sldNum" sz="quarter" idx="12"/>
          </p:nvPr>
        </p:nvSpPr>
        <p:spPr/>
        <p:txBody>
          <a:bodyPr/>
          <a:lstStyle/>
          <a:p>
            <a:fld id="{C1383C66-6017-43AC-AA76-89336E961EA0}" type="slidenum">
              <a:rPr lang="en-ZM" smtClean="0"/>
              <a:t>‹#›</a:t>
            </a:fld>
            <a:endParaRPr lang="en-ZM"/>
          </a:p>
        </p:txBody>
      </p:sp>
    </p:spTree>
    <p:extLst>
      <p:ext uri="{BB962C8B-B14F-4D97-AF65-F5344CB8AC3E}">
        <p14:creationId xmlns:p14="http://schemas.microsoft.com/office/powerpoint/2010/main" val="3794096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54110-1699-45F8-8457-8C3E04059F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M"/>
          </a:p>
        </p:txBody>
      </p:sp>
      <p:sp>
        <p:nvSpPr>
          <p:cNvPr id="3" name="Picture Placeholder 2">
            <a:extLst>
              <a:ext uri="{FF2B5EF4-FFF2-40B4-BE49-F238E27FC236}">
                <a16:creationId xmlns:a16="http://schemas.microsoft.com/office/drawing/2014/main" id="{C2D88673-076A-4D1C-9CB9-C34FD2F341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M"/>
          </a:p>
        </p:txBody>
      </p:sp>
      <p:sp>
        <p:nvSpPr>
          <p:cNvPr id="4" name="Text Placeholder 3">
            <a:extLst>
              <a:ext uri="{FF2B5EF4-FFF2-40B4-BE49-F238E27FC236}">
                <a16:creationId xmlns:a16="http://schemas.microsoft.com/office/drawing/2014/main" id="{4A024ED0-60EC-43FD-99F0-F9BECA3834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65BF20-6F55-4D94-BCA1-D0EE9DE90F90}"/>
              </a:ext>
            </a:extLst>
          </p:cNvPr>
          <p:cNvSpPr>
            <a:spLocks noGrp="1"/>
          </p:cNvSpPr>
          <p:nvPr>
            <p:ph type="dt" sz="half" idx="10"/>
          </p:nvPr>
        </p:nvSpPr>
        <p:spPr/>
        <p:txBody>
          <a:bodyPr/>
          <a:lstStyle/>
          <a:p>
            <a:fld id="{682BF4FD-164A-4D25-B83B-BD42F12ED4AC}" type="datetimeFigureOut">
              <a:rPr lang="en-ZM" smtClean="0"/>
              <a:t>02/03/2020</a:t>
            </a:fld>
            <a:endParaRPr lang="en-ZM"/>
          </a:p>
        </p:txBody>
      </p:sp>
      <p:sp>
        <p:nvSpPr>
          <p:cNvPr id="6" name="Footer Placeholder 5">
            <a:extLst>
              <a:ext uri="{FF2B5EF4-FFF2-40B4-BE49-F238E27FC236}">
                <a16:creationId xmlns:a16="http://schemas.microsoft.com/office/drawing/2014/main" id="{580362E2-1B6B-417C-8EB9-A89976CD71DF}"/>
              </a:ext>
            </a:extLst>
          </p:cNvPr>
          <p:cNvSpPr>
            <a:spLocks noGrp="1"/>
          </p:cNvSpPr>
          <p:nvPr>
            <p:ph type="ftr" sz="quarter" idx="11"/>
          </p:nvPr>
        </p:nvSpPr>
        <p:spPr/>
        <p:txBody>
          <a:bodyPr/>
          <a:lstStyle/>
          <a:p>
            <a:endParaRPr lang="en-ZM"/>
          </a:p>
        </p:txBody>
      </p:sp>
      <p:sp>
        <p:nvSpPr>
          <p:cNvPr id="7" name="Slide Number Placeholder 6">
            <a:extLst>
              <a:ext uri="{FF2B5EF4-FFF2-40B4-BE49-F238E27FC236}">
                <a16:creationId xmlns:a16="http://schemas.microsoft.com/office/drawing/2014/main" id="{BCF57779-36F1-4C83-9056-4DB4000B764F}"/>
              </a:ext>
            </a:extLst>
          </p:cNvPr>
          <p:cNvSpPr>
            <a:spLocks noGrp="1"/>
          </p:cNvSpPr>
          <p:nvPr>
            <p:ph type="sldNum" sz="quarter" idx="12"/>
          </p:nvPr>
        </p:nvSpPr>
        <p:spPr/>
        <p:txBody>
          <a:bodyPr/>
          <a:lstStyle/>
          <a:p>
            <a:fld id="{C1383C66-6017-43AC-AA76-89336E961EA0}" type="slidenum">
              <a:rPr lang="en-ZM" smtClean="0"/>
              <a:t>‹#›</a:t>
            </a:fld>
            <a:endParaRPr lang="en-ZM"/>
          </a:p>
        </p:txBody>
      </p:sp>
    </p:spTree>
    <p:extLst>
      <p:ext uri="{BB962C8B-B14F-4D97-AF65-F5344CB8AC3E}">
        <p14:creationId xmlns:p14="http://schemas.microsoft.com/office/powerpoint/2010/main" val="2911351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AF33A-24AA-446E-8EDF-215620D5F099}"/>
              </a:ext>
            </a:extLst>
          </p:cNvPr>
          <p:cNvSpPr>
            <a:spLocks noGrp="1"/>
          </p:cNvSpPr>
          <p:nvPr>
            <p:ph type="title"/>
          </p:nvPr>
        </p:nvSpPr>
        <p:spPr/>
        <p:txBody>
          <a:bodyPr/>
          <a:lstStyle/>
          <a:p>
            <a:r>
              <a:rPr lang="en-US"/>
              <a:t>Click to edit Master title style</a:t>
            </a:r>
            <a:endParaRPr lang="en-ZM"/>
          </a:p>
        </p:txBody>
      </p:sp>
      <p:sp>
        <p:nvSpPr>
          <p:cNvPr id="3" name="Vertical Text Placeholder 2">
            <a:extLst>
              <a:ext uri="{FF2B5EF4-FFF2-40B4-BE49-F238E27FC236}">
                <a16:creationId xmlns:a16="http://schemas.microsoft.com/office/drawing/2014/main" id="{171D5B13-947D-4E9D-903E-A6EE01E8F0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3DA47CFF-199C-463D-A5FC-9159061B542F}"/>
              </a:ext>
            </a:extLst>
          </p:cNvPr>
          <p:cNvSpPr>
            <a:spLocks noGrp="1"/>
          </p:cNvSpPr>
          <p:nvPr>
            <p:ph type="dt" sz="half" idx="10"/>
          </p:nvPr>
        </p:nvSpPr>
        <p:spPr/>
        <p:txBody>
          <a:bodyPr/>
          <a:lstStyle/>
          <a:p>
            <a:fld id="{682BF4FD-164A-4D25-B83B-BD42F12ED4AC}" type="datetimeFigureOut">
              <a:rPr lang="en-ZM" smtClean="0"/>
              <a:t>02/03/2020</a:t>
            </a:fld>
            <a:endParaRPr lang="en-ZM"/>
          </a:p>
        </p:txBody>
      </p:sp>
      <p:sp>
        <p:nvSpPr>
          <p:cNvPr id="5" name="Footer Placeholder 4">
            <a:extLst>
              <a:ext uri="{FF2B5EF4-FFF2-40B4-BE49-F238E27FC236}">
                <a16:creationId xmlns:a16="http://schemas.microsoft.com/office/drawing/2014/main" id="{C2CAF9A4-1E6D-45BE-B6C4-0808E7AC727B}"/>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544142A7-A8BD-455B-B4CC-9867F5E11E16}"/>
              </a:ext>
            </a:extLst>
          </p:cNvPr>
          <p:cNvSpPr>
            <a:spLocks noGrp="1"/>
          </p:cNvSpPr>
          <p:nvPr>
            <p:ph type="sldNum" sz="quarter" idx="12"/>
          </p:nvPr>
        </p:nvSpPr>
        <p:spPr/>
        <p:txBody>
          <a:bodyPr/>
          <a:lstStyle/>
          <a:p>
            <a:fld id="{C1383C66-6017-43AC-AA76-89336E961EA0}" type="slidenum">
              <a:rPr lang="en-ZM" smtClean="0"/>
              <a:t>‹#›</a:t>
            </a:fld>
            <a:endParaRPr lang="en-ZM"/>
          </a:p>
        </p:txBody>
      </p:sp>
    </p:spTree>
    <p:extLst>
      <p:ext uri="{BB962C8B-B14F-4D97-AF65-F5344CB8AC3E}">
        <p14:creationId xmlns:p14="http://schemas.microsoft.com/office/powerpoint/2010/main" val="1392453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0A144D-E7CF-4E2E-A58D-B24604E8FE2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M"/>
          </a:p>
        </p:txBody>
      </p:sp>
      <p:sp>
        <p:nvSpPr>
          <p:cNvPr id="3" name="Vertical Text Placeholder 2">
            <a:extLst>
              <a:ext uri="{FF2B5EF4-FFF2-40B4-BE49-F238E27FC236}">
                <a16:creationId xmlns:a16="http://schemas.microsoft.com/office/drawing/2014/main" id="{832ECC0F-3FE9-47E1-8B47-B7B84FC181E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602A50C6-8CBB-4B52-AABA-B4DE811B5DAC}"/>
              </a:ext>
            </a:extLst>
          </p:cNvPr>
          <p:cNvSpPr>
            <a:spLocks noGrp="1"/>
          </p:cNvSpPr>
          <p:nvPr>
            <p:ph type="dt" sz="half" idx="10"/>
          </p:nvPr>
        </p:nvSpPr>
        <p:spPr/>
        <p:txBody>
          <a:bodyPr/>
          <a:lstStyle/>
          <a:p>
            <a:fld id="{682BF4FD-164A-4D25-B83B-BD42F12ED4AC}" type="datetimeFigureOut">
              <a:rPr lang="en-ZM" smtClean="0"/>
              <a:t>02/03/2020</a:t>
            </a:fld>
            <a:endParaRPr lang="en-ZM"/>
          </a:p>
        </p:txBody>
      </p:sp>
      <p:sp>
        <p:nvSpPr>
          <p:cNvPr id="5" name="Footer Placeholder 4">
            <a:extLst>
              <a:ext uri="{FF2B5EF4-FFF2-40B4-BE49-F238E27FC236}">
                <a16:creationId xmlns:a16="http://schemas.microsoft.com/office/drawing/2014/main" id="{DBDAB9A2-38FD-49F1-958C-3DE08D0D4812}"/>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E9FFDD40-9EEF-46E5-925A-36D9A4942196}"/>
              </a:ext>
            </a:extLst>
          </p:cNvPr>
          <p:cNvSpPr>
            <a:spLocks noGrp="1"/>
          </p:cNvSpPr>
          <p:nvPr>
            <p:ph type="sldNum" sz="quarter" idx="12"/>
          </p:nvPr>
        </p:nvSpPr>
        <p:spPr/>
        <p:txBody>
          <a:bodyPr/>
          <a:lstStyle/>
          <a:p>
            <a:fld id="{C1383C66-6017-43AC-AA76-89336E961EA0}" type="slidenum">
              <a:rPr lang="en-ZM" smtClean="0"/>
              <a:t>‹#›</a:t>
            </a:fld>
            <a:endParaRPr lang="en-ZM"/>
          </a:p>
        </p:txBody>
      </p:sp>
    </p:spTree>
    <p:extLst>
      <p:ext uri="{BB962C8B-B14F-4D97-AF65-F5344CB8AC3E}">
        <p14:creationId xmlns:p14="http://schemas.microsoft.com/office/powerpoint/2010/main" val="900946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1B87F9-6E13-45F2-85D2-BDB0845D39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M"/>
          </a:p>
        </p:txBody>
      </p:sp>
      <p:sp>
        <p:nvSpPr>
          <p:cNvPr id="3" name="Text Placeholder 2">
            <a:extLst>
              <a:ext uri="{FF2B5EF4-FFF2-40B4-BE49-F238E27FC236}">
                <a16:creationId xmlns:a16="http://schemas.microsoft.com/office/drawing/2014/main" id="{68A2B041-EFD4-4A22-B8B3-DC3C3C21DB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4B2D53C6-2003-4DFC-B179-74F4E5A012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2BF4FD-164A-4D25-B83B-BD42F12ED4AC}" type="datetimeFigureOut">
              <a:rPr lang="en-ZM" smtClean="0"/>
              <a:t>02/03/2020</a:t>
            </a:fld>
            <a:endParaRPr lang="en-ZM"/>
          </a:p>
        </p:txBody>
      </p:sp>
      <p:sp>
        <p:nvSpPr>
          <p:cNvPr id="5" name="Footer Placeholder 4">
            <a:extLst>
              <a:ext uri="{FF2B5EF4-FFF2-40B4-BE49-F238E27FC236}">
                <a16:creationId xmlns:a16="http://schemas.microsoft.com/office/drawing/2014/main" id="{27DA7D5E-554A-4C8B-9912-F04DC0DFBA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M"/>
          </a:p>
        </p:txBody>
      </p:sp>
      <p:sp>
        <p:nvSpPr>
          <p:cNvPr id="6" name="Slide Number Placeholder 5">
            <a:extLst>
              <a:ext uri="{FF2B5EF4-FFF2-40B4-BE49-F238E27FC236}">
                <a16:creationId xmlns:a16="http://schemas.microsoft.com/office/drawing/2014/main" id="{ED17CBCF-992A-4243-A6AF-D8510DEF45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383C66-6017-43AC-AA76-89336E961EA0}" type="slidenum">
              <a:rPr lang="en-ZM" smtClean="0"/>
              <a:t>‹#›</a:t>
            </a:fld>
            <a:endParaRPr lang="en-ZM"/>
          </a:p>
        </p:txBody>
      </p:sp>
    </p:spTree>
    <p:extLst>
      <p:ext uri="{BB962C8B-B14F-4D97-AF65-F5344CB8AC3E}">
        <p14:creationId xmlns:p14="http://schemas.microsoft.com/office/powerpoint/2010/main" val="34459941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ZM"/>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D529F-EAF7-41A4-8FEF-0E44C2BD029F}"/>
              </a:ext>
            </a:extLst>
          </p:cNvPr>
          <p:cNvSpPr>
            <a:spLocks noGrp="1"/>
          </p:cNvSpPr>
          <p:nvPr>
            <p:ph type="ctrTitle"/>
          </p:nvPr>
        </p:nvSpPr>
        <p:spPr/>
        <p:txBody>
          <a:bodyPr/>
          <a:lstStyle/>
          <a:p>
            <a:endParaRPr lang="en-ZM"/>
          </a:p>
        </p:txBody>
      </p:sp>
      <p:sp>
        <p:nvSpPr>
          <p:cNvPr id="3" name="Subtitle 2">
            <a:extLst>
              <a:ext uri="{FF2B5EF4-FFF2-40B4-BE49-F238E27FC236}">
                <a16:creationId xmlns:a16="http://schemas.microsoft.com/office/drawing/2014/main" id="{6632ABE8-4B42-4E58-BBCF-D63B18C24A53}"/>
              </a:ext>
            </a:extLst>
          </p:cNvPr>
          <p:cNvSpPr>
            <a:spLocks noGrp="1"/>
          </p:cNvSpPr>
          <p:nvPr>
            <p:ph type="subTitle" idx="1"/>
          </p:nvPr>
        </p:nvSpPr>
        <p:spPr/>
        <p:txBody>
          <a:bodyPr/>
          <a:lstStyle/>
          <a:p>
            <a:endParaRPr lang="en-ZM"/>
          </a:p>
        </p:txBody>
      </p:sp>
    </p:spTree>
    <p:extLst>
      <p:ext uri="{BB962C8B-B14F-4D97-AF65-F5344CB8AC3E}">
        <p14:creationId xmlns:p14="http://schemas.microsoft.com/office/powerpoint/2010/main" val="22197743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t>CONTEMPORARY POPULATION PROBLEMS AND ISSUES </a:t>
            </a:r>
            <a:br>
              <a:rPr lang="en-GB" sz="2000" b="1" dirty="0"/>
            </a:br>
            <a:endParaRPr lang="en-GB" sz="2000" dirty="0"/>
          </a:p>
        </p:txBody>
      </p:sp>
      <p:sp>
        <p:nvSpPr>
          <p:cNvPr id="3" name="Content Placeholder 2"/>
          <p:cNvSpPr>
            <a:spLocks noGrp="1"/>
          </p:cNvSpPr>
          <p:nvPr>
            <p:ph idx="1"/>
          </p:nvPr>
        </p:nvSpPr>
        <p:spPr/>
        <p:txBody>
          <a:bodyPr>
            <a:normAutofit/>
          </a:bodyPr>
          <a:lstStyle/>
          <a:p>
            <a:pPr marL="0" indent="0">
              <a:buNone/>
            </a:pPr>
            <a:endParaRPr lang="en-GB" dirty="0"/>
          </a:p>
          <a:p>
            <a:r>
              <a:rPr lang="en-US" b="1" dirty="0"/>
              <a:t>Lester Brown and his associates at the </a:t>
            </a:r>
            <a:r>
              <a:rPr lang="en-US" b="1" dirty="0" err="1"/>
              <a:t>Worldwatch</a:t>
            </a:r>
            <a:r>
              <a:rPr lang="en-US" b="1" dirty="0"/>
              <a:t> Institute</a:t>
            </a:r>
            <a:endParaRPr lang="en-GB" dirty="0"/>
          </a:p>
          <a:p>
            <a:pPr marL="0" indent="0">
              <a:buNone/>
            </a:pPr>
            <a:endParaRPr lang="en-GB" dirty="0"/>
          </a:p>
          <a:p>
            <a:pPr algn="just"/>
            <a:r>
              <a:rPr lang="en-US" b="1" dirty="0"/>
              <a:t>Population growth can compound and magnify, if not, create a wide variety of social, economic, and political problem. </a:t>
            </a:r>
            <a:endParaRPr lang="en-GB" b="1" dirty="0"/>
          </a:p>
          <a:p>
            <a:pPr algn="just"/>
            <a:r>
              <a:rPr lang="en-US" b="1" dirty="0"/>
              <a:t> </a:t>
            </a:r>
            <a:endParaRPr lang="en-GB" b="1" dirty="0"/>
          </a:p>
          <a:p>
            <a:pPr algn="just"/>
            <a:r>
              <a:rPr lang="en-US" b="1" dirty="0"/>
              <a:t>Because of its interdisciplinary nature, demography in population studies deals with diverse issues from other fields. </a:t>
            </a:r>
            <a:endParaRPr lang="en-GB" b="1" dirty="0"/>
          </a:p>
          <a:p>
            <a:pPr algn="just"/>
            <a:r>
              <a:rPr lang="en-US" b="1" dirty="0"/>
              <a:t> </a:t>
            </a:r>
            <a:endParaRPr lang="en-GB" b="1" dirty="0"/>
          </a:p>
          <a:p>
            <a:endParaRPr lang="en-GB" dirty="0"/>
          </a:p>
        </p:txBody>
      </p:sp>
    </p:spTree>
    <p:extLst>
      <p:ext uri="{BB962C8B-B14F-4D97-AF65-F5344CB8AC3E}">
        <p14:creationId xmlns:p14="http://schemas.microsoft.com/office/powerpoint/2010/main" val="952675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t>CONTEMPORARY POPULATION PROBLEMS AND ISSUES </a:t>
            </a:r>
            <a:br>
              <a:rPr lang="en-GB" sz="2000" b="1" dirty="0"/>
            </a:br>
            <a:endParaRPr lang="en-GB" sz="2000" dirty="0"/>
          </a:p>
        </p:txBody>
      </p:sp>
      <p:sp>
        <p:nvSpPr>
          <p:cNvPr id="3" name="Content Placeholder 2"/>
          <p:cNvSpPr>
            <a:spLocks noGrp="1"/>
          </p:cNvSpPr>
          <p:nvPr>
            <p:ph idx="1"/>
          </p:nvPr>
        </p:nvSpPr>
        <p:spPr/>
        <p:txBody>
          <a:bodyPr>
            <a:normAutofit fontScale="92500" lnSpcReduction="20000"/>
          </a:bodyPr>
          <a:lstStyle/>
          <a:p>
            <a:pPr marL="0" indent="0" algn="just" eaLnBrk="0" fontAlgn="base" hangingPunct="0">
              <a:spcBef>
                <a:spcPct val="0"/>
              </a:spcBef>
              <a:spcAft>
                <a:spcPct val="0"/>
              </a:spcAft>
              <a:buNone/>
            </a:pPr>
            <a:r>
              <a:rPr lang="en-US" altLang="en-US" b="1" dirty="0">
                <a:cs typeface="Times New Roman" panose="02020603050405020304" pitchFamily="18" charset="0"/>
              </a:rPr>
              <a:t>FOOD SECURITY</a:t>
            </a:r>
          </a:p>
          <a:p>
            <a:pPr marL="0" indent="0" algn="just" eaLnBrk="0" fontAlgn="base" hangingPunct="0">
              <a:spcBef>
                <a:spcPct val="0"/>
              </a:spcBef>
              <a:spcAft>
                <a:spcPct val="0"/>
              </a:spcAft>
              <a:buNone/>
            </a:pPr>
            <a:r>
              <a:rPr lang="en-US" altLang="en-US" dirty="0">
                <a:ea typeface="Times New Roman" panose="02020603050405020304" pitchFamily="18" charset="0"/>
                <a:cs typeface="Tahoma" panose="020B0604030504040204" pitchFamily="34" charset="0"/>
              </a:rPr>
              <a:t> </a:t>
            </a:r>
            <a:endParaRPr lang="en-GB" altLang="en-US" sz="1400" dirty="0"/>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Food supply must keep pace with population growth.</a:t>
            </a:r>
          </a:p>
          <a:p>
            <a:pPr algn="just" eaLnBrk="0" fontAlgn="base" hangingPunct="0">
              <a:spcBef>
                <a:spcPct val="0"/>
              </a:spcBef>
              <a:spcAft>
                <a:spcPct val="0"/>
              </a:spcAft>
              <a:buClrTx/>
              <a:buSzTx/>
            </a:pPr>
            <a:endParaRPr lang="en-US" altLang="en-US"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If population growth exceeds food supply, a country falls into the Malthusian trap of having more mouths to feed with limited food supplies.</a:t>
            </a:r>
          </a:p>
          <a:p>
            <a:pPr algn="just" eaLnBrk="0" fontAlgn="base" hangingPunct="0">
              <a:spcBef>
                <a:spcPct val="0"/>
              </a:spcBef>
              <a:spcAft>
                <a:spcPct val="0"/>
              </a:spcAft>
              <a:buClrTx/>
              <a:buSzTx/>
            </a:pPr>
            <a:endParaRPr lang="en-GB" altLang="en-US" sz="1400" b="1" dirty="0"/>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As a counterweight, a country must adequate resources required to expand food output – land, water, energy, fertilizer; otherwise famine and starvation may be the outcome.</a:t>
            </a:r>
          </a:p>
          <a:p>
            <a:pPr algn="just" eaLnBrk="0" fontAlgn="base" hangingPunct="0">
              <a:spcBef>
                <a:spcPct val="0"/>
              </a:spcBef>
              <a:spcAft>
                <a:spcPct val="0"/>
              </a:spcAft>
              <a:buClrTx/>
              <a:buSzTx/>
            </a:pPr>
            <a:endParaRPr lang="en-US" altLang="en-US"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endParaRPr lang="en-US" altLang="en-US" b="1" dirty="0">
              <a:ea typeface="Times New Roman" panose="02020603050405020304" pitchFamily="18" charset="0"/>
              <a:cs typeface="Tahoma" panose="020B0604030504040204" pitchFamily="34" charset="0"/>
            </a:endParaRPr>
          </a:p>
          <a:p>
            <a:pPr marL="0" indent="0" algn="just" eaLnBrk="0" fontAlgn="base" hangingPunct="0">
              <a:spcBef>
                <a:spcPct val="0"/>
              </a:spcBef>
              <a:spcAft>
                <a:spcPct val="0"/>
              </a:spcAft>
              <a:buNone/>
            </a:pPr>
            <a:r>
              <a:rPr lang="en-US" altLang="en-US" b="1" dirty="0">
                <a:ea typeface="Times New Roman" panose="02020603050405020304" pitchFamily="18" charset="0"/>
                <a:cs typeface="Tahoma" panose="020B0604030504040204" pitchFamily="34" charset="0"/>
              </a:rPr>
              <a:t> </a:t>
            </a:r>
            <a:endParaRPr lang="en-US" altLang="en-US" b="1" dirty="0">
              <a:cs typeface="Times New Roman" panose="02020603050405020304" pitchFamily="18" charset="0"/>
            </a:endParaRPr>
          </a:p>
          <a:p>
            <a:endParaRPr lang="en-GB" dirty="0"/>
          </a:p>
        </p:txBody>
      </p:sp>
    </p:spTree>
    <p:extLst>
      <p:ext uri="{BB962C8B-B14F-4D97-AF65-F5344CB8AC3E}">
        <p14:creationId xmlns:p14="http://schemas.microsoft.com/office/powerpoint/2010/main" val="2894935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t>CONTEMPORARY POPULATION PROBLEMS AND ISSUES </a:t>
            </a:r>
            <a:br>
              <a:rPr lang="en-GB" sz="2000" b="1" dirty="0"/>
            </a:br>
            <a:endParaRPr lang="en-GB" sz="2000" dirty="0"/>
          </a:p>
        </p:txBody>
      </p:sp>
      <p:sp>
        <p:nvSpPr>
          <p:cNvPr id="3" name="Content Placeholder 2"/>
          <p:cNvSpPr>
            <a:spLocks noGrp="1"/>
          </p:cNvSpPr>
          <p:nvPr>
            <p:ph idx="1"/>
          </p:nvPr>
        </p:nvSpPr>
        <p:spPr/>
        <p:txBody>
          <a:bodyPr>
            <a:normAutofit fontScale="25000" lnSpcReduction="20000"/>
          </a:bodyPr>
          <a:lstStyle/>
          <a:p>
            <a:pPr marL="0" indent="0" algn="just" eaLnBrk="0" fontAlgn="base" hangingPunct="0">
              <a:spcBef>
                <a:spcPct val="0"/>
              </a:spcBef>
              <a:spcAft>
                <a:spcPct val="0"/>
              </a:spcAft>
              <a:buNone/>
            </a:pPr>
            <a:r>
              <a:rPr lang="en-US" altLang="en-US" sz="6400" b="1" dirty="0">
                <a:cs typeface="Times New Roman" panose="02020603050405020304" pitchFamily="18" charset="0"/>
              </a:rPr>
              <a:t>POLLUTION</a:t>
            </a:r>
          </a:p>
          <a:p>
            <a:pPr marL="0" indent="0" algn="just" eaLnBrk="0" fontAlgn="base" hangingPunct="0">
              <a:spcBef>
                <a:spcPct val="0"/>
              </a:spcBef>
              <a:spcAft>
                <a:spcPct val="0"/>
              </a:spcAft>
              <a:buNone/>
            </a:pPr>
            <a:endParaRPr lang="en-US" altLang="en-US" sz="3300" b="1" dirty="0">
              <a:cs typeface="Times New Roman" panose="02020603050405020304" pitchFamily="18" charset="0"/>
            </a:endParaRPr>
          </a:p>
          <a:p>
            <a:pPr marL="0" indent="0" algn="just" eaLnBrk="0" fontAlgn="base" hangingPunct="0">
              <a:spcBef>
                <a:spcPct val="0"/>
              </a:spcBef>
              <a:spcAft>
                <a:spcPct val="0"/>
              </a:spcAft>
              <a:buNone/>
            </a:pPr>
            <a:r>
              <a:rPr lang="en-US" altLang="en-US" sz="3300" b="1" dirty="0">
                <a:cs typeface="Times New Roman" panose="02020603050405020304" pitchFamily="18" charset="0"/>
              </a:rPr>
              <a:t> </a:t>
            </a:r>
          </a:p>
          <a:p>
            <a:pPr algn="just" eaLnBrk="0" fontAlgn="base" hangingPunct="0">
              <a:spcBef>
                <a:spcPct val="0"/>
              </a:spcBef>
              <a:spcAft>
                <a:spcPct val="0"/>
              </a:spcAft>
              <a:buClrTx/>
              <a:buSzTx/>
            </a:pPr>
            <a:r>
              <a:rPr lang="en-US" altLang="en-US" sz="8000" b="1" dirty="0">
                <a:ea typeface="Times New Roman" panose="02020603050405020304" pitchFamily="18" charset="0"/>
                <a:cs typeface="Tahoma" panose="020B0604030504040204" pitchFamily="34" charset="0"/>
              </a:rPr>
              <a:t>Increase in population size increases the potential for disrupting the ecosystem or the  – the balance of nature.</a:t>
            </a:r>
          </a:p>
          <a:p>
            <a:pPr algn="just" eaLnBrk="0" fontAlgn="base" hangingPunct="0">
              <a:spcBef>
                <a:spcPct val="0"/>
              </a:spcBef>
              <a:spcAft>
                <a:spcPct val="0"/>
              </a:spcAft>
              <a:buClrTx/>
              <a:buSzTx/>
            </a:pPr>
            <a:endParaRPr lang="en-US" altLang="en-US" sz="8000"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endParaRPr lang="en-GB" sz="8000" b="1" dirty="0"/>
          </a:p>
          <a:p>
            <a:pPr algn="just" eaLnBrk="0" fontAlgn="base" hangingPunct="0">
              <a:spcBef>
                <a:spcPct val="0"/>
              </a:spcBef>
              <a:spcAft>
                <a:spcPct val="0"/>
              </a:spcAft>
              <a:buClrTx/>
              <a:buSzTx/>
            </a:pPr>
            <a:r>
              <a:rPr lang="en-GB" sz="8000" b="1" dirty="0"/>
              <a:t>An </a:t>
            </a:r>
            <a:r>
              <a:rPr lang="en-GB" sz="8000" b="1" i="1" dirty="0"/>
              <a:t>ecosystem</a:t>
            </a:r>
            <a:r>
              <a:rPr lang="en-GB" sz="8000" b="1" dirty="0"/>
              <a:t> includes all of the living things (plants, animals and organisms) in a given area, interacting with each other, and also with their non-living environments (weather, earth, sun, soil, climate, atmosphere). </a:t>
            </a:r>
          </a:p>
          <a:p>
            <a:pPr algn="just" eaLnBrk="0" fontAlgn="base" hangingPunct="0">
              <a:spcBef>
                <a:spcPct val="0"/>
              </a:spcBef>
              <a:spcAft>
                <a:spcPct val="0"/>
              </a:spcAft>
              <a:buClrTx/>
              <a:buSzTx/>
            </a:pPr>
            <a:endParaRPr lang="en-GB" sz="8000" b="1" dirty="0"/>
          </a:p>
          <a:p>
            <a:pPr algn="just" eaLnBrk="0" fontAlgn="base" hangingPunct="0">
              <a:spcBef>
                <a:spcPct val="0"/>
              </a:spcBef>
              <a:spcAft>
                <a:spcPct val="0"/>
              </a:spcAft>
              <a:buClrTx/>
              <a:buSzTx/>
            </a:pPr>
            <a:r>
              <a:rPr lang="en-GB" sz="8000" b="1" dirty="0"/>
              <a:t>In an </a:t>
            </a:r>
            <a:r>
              <a:rPr lang="en-GB" sz="8000" b="1" i="1" dirty="0"/>
              <a:t>ecosystem</a:t>
            </a:r>
            <a:r>
              <a:rPr lang="en-GB" sz="8000" b="1" dirty="0"/>
              <a:t>, each organism has its' own role to play.</a:t>
            </a:r>
          </a:p>
          <a:p>
            <a:pPr marL="0" indent="0" algn="just" eaLnBrk="0" fontAlgn="base" hangingPunct="0">
              <a:spcBef>
                <a:spcPct val="0"/>
              </a:spcBef>
              <a:spcAft>
                <a:spcPct val="0"/>
              </a:spcAft>
              <a:buNone/>
            </a:pPr>
            <a:endParaRPr lang="en-US" altLang="en-US" sz="8000"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r>
              <a:rPr lang="en-US" altLang="en-US" sz="8000" b="1" dirty="0">
                <a:ea typeface="Times New Roman" panose="02020603050405020304" pitchFamily="18" charset="0"/>
                <a:cs typeface="Tahoma" panose="020B0604030504040204" pitchFamily="34" charset="0"/>
              </a:rPr>
              <a:t>As population increases, human activities such as industrialization,  habitation,  mining and deforestation have the potential of disrupting this balance of nature.</a:t>
            </a:r>
          </a:p>
          <a:p>
            <a:pPr algn="just" eaLnBrk="0" fontAlgn="base" hangingPunct="0">
              <a:spcBef>
                <a:spcPct val="0"/>
              </a:spcBef>
              <a:spcAft>
                <a:spcPct val="0"/>
              </a:spcAft>
              <a:buClrTx/>
              <a:buSzTx/>
            </a:pPr>
            <a:endParaRPr lang="en-US" altLang="en-US" sz="8000"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r>
              <a:rPr lang="en-US" altLang="en-US" sz="8000" b="1" dirty="0">
                <a:ea typeface="Times New Roman" panose="02020603050405020304" pitchFamily="18" charset="0"/>
                <a:cs typeface="Tahoma" panose="020B0604030504040204" pitchFamily="34" charset="0"/>
              </a:rPr>
              <a:t>These activities ultimately pose a threat to human life.</a:t>
            </a:r>
            <a:endParaRPr lang="en-GB" altLang="en-US" sz="8000" b="1" dirty="0"/>
          </a:p>
          <a:p>
            <a:pPr marL="0" indent="0" algn="just" eaLnBrk="0" fontAlgn="base" hangingPunct="0">
              <a:spcBef>
                <a:spcPct val="0"/>
              </a:spcBef>
              <a:spcAft>
                <a:spcPct val="0"/>
              </a:spcAft>
              <a:buNone/>
            </a:pPr>
            <a:r>
              <a:rPr lang="en-US" altLang="en-US" sz="8000" b="1" dirty="0">
                <a:ea typeface="Times New Roman" panose="02020603050405020304" pitchFamily="18" charset="0"/>
                <a:cs typeface="Tahoma" panose="020B0604030504040204" pitchFamily="34" charset="0"/>
              </a:rPr>
              <a:t> </a:t>
            </a:r>
            <a:endParaRPr lang="en-GB" altLang="en-US" sz="8000" b="1" dirty="0"/>
          </a:p>
          <a:p>
            <a:pPr algn="just" eaLnBrk="0" fontAlgn="base" hangingPunct="0">
              <a:spcBef>
                <a:spcPct val="0"/>
              </a:spcBef>
              <a:spcAft>
                <a:spcPct val="0"/>
              </a:spcAft>
              <a:buClrTx/>
              <a:buSzTx/>
            </a:pPr>
            <a:r>
              <a:rPr lang="en-US" altLang="en-US" sz="8000" b="1" dirty="0">
                <a:ea typeface="Times New Roman" panose="02020603050405020304" pitchFamily="18" charset="0"/>
                <a:cs typeface="Tahoma" panose="020B0604030504040204" pitchFamily="34" charset="0"/>
              </a:rPr>
              <a:t>In Zambia, water pollution especially on the Kafue River has increased due to effluents from Nitrogen Chemicals and mines. </a:t>
            </a:r>
            <a:endParaRPr lang="en-GB" altLang="en-US" sz="8000" b="1" dirty="0"/>
          </a:p>
          <a:p>
            <a:pPr marL="0" indent="0" algn="just" eaLnBrk="0" fontAlgn="base" hangingPunct="0">
              <a:spcBef>
                <a:spcPct val="0"/>
              </a:spcBef>
              <a:spcAft>
                <a:spcPct val="0"/>
              </a:spcAft>
              <a:buNone/>
            </a:pPr>
            <a:r>
              <a:rPr lang="en-US" altLang="en-US" sz="8000" b="1" dirty="0">
                <a:ea typeface="Times New Roman" panose="02020603050405020304" pitchFamily="18" charset="0"/>
                <a:cs typeface="Tahoma" panose="020B0604030504040204" pitchFamily="34" charset="0"/>
              </a:rPr>
              <a:t> </a:t>
            </a:r>
            <a:endParaRPr lang="en-US" altLang="en-US" sz="8000" b="1" dirty="0"/>
          </a:p>
          <a:p>
            <a:pPr marL="0" indent="0">
              <a:buNone/>
            </a:pPr>
            <a:endParaRPr lang="en-GB" dirty="0"/>
          </a:p>
        </p:txBody>
      </p:sp>
    </p:spTree>
    <p:extLst>
      <p:ext uri="{BB962C8B-B14F-4D97-AF65-F5344CB8AC3E}">
        <p14:creationId xmlns:p14="http://schemas.microsoft.com/office/powerpoint/2010/main" val="747249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t>CONTEMPORARY POPULATION PROBLEMS AND ISSUES </a:t>
            </a:r>
            <a:br>
              <a:rPr lang="en-GB" sz="2000" b="1" dirty="0"/>
            </a:br>
            <a:endParaRPr lang="en-GB" sz="2000" dirty="0"/>
          </a:p>
        </p:txBody>
      </p:sp>
      <p:sp>
        <p:nvSpPr>
          <p:cNvPr id="3" name="Content Placeholder 2"/>
          <p:cNvSpPr>
            <a:spLocks noGrp="1"/>
          </p:cNvSpPr>
          <p:nvPr>
            <p:ph idx="1"/>
          </p:nvPr>
        </p:nvSpPr>
        <p:spPr/>
        <p:txBody>
          <a:bodyPr/>
          <a:lstStyle/>
          <a:p>
            <a:pPr marL="0" indent="0" algn="just" eaLnBrk="0" fontAlgn="base" hangingPunct="0">
              <a:spcBef>
                <a:spcPct val="0"/>
              </a:spcBef>
              <a:spcAft>
                <a:spcPct val="0"/>
              </a:spcAft>
              <a:buNone/>
            </a:pPr>
            <a:r>
              <a:rPr lang="en-US" altLang="en-US" b="1" dirty="0">
                <a:cs typeface="Times New Roman" panose="02020603050405020304" pitchFamily="18" charset="0"/>
              </a:rPr>
              <a:t>INFLATION </a:t>
            </a:r>
          </a:p>
          <a:p>
            <a:pPr marL="0" indent="0" algn="just" eaLnBrk="0" fontAlgn="base" hangingPunct="0">
              <a:spcBef>
                <a:spcPct val="0"/>
              </a:spcBef>
              <a:spcAft>
                <a:spcPct val="0"/>
              </a:spcAft>
              <a:buNone/>
            </a:pPr>
            <a:r>
              <a:rPr lang="en-US" altLang="en-US" dirty="0">
                <a:ea typeface="Times New Roman" panose="02020603050405020304" pitchFamily="18" charset="0"/>
              </a:rPr>
              <a:t> </a:t>
            </a:r>
            <a:endParaRPr lang="en-GB" altLang="en-US" sz="1400" dirty="0"/>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Inflation results when demand exceeds supply or when too much money is chasing too few goods. </a:t>
            </a:r>
            <a:endParaRPr lang="en-GB" altLang="en-US" sz="1400" b="1" dirty="0"/>
          </a:p>
          <a:p>
            <a:pPr marL="0" indent="0" algn="just" eaLnBrk="0" fontAlgn="base" hangingPunct="0">
              <a:spcBef>
                <a:spcPct val="0"/>
              </a:spcBef>
              <a:spcAft>
                <a:spcPct val="0"/>
              </a:spcAft>
              <a:buNone/>
            </a:pPr>
            <a:r>
              <a:rPr lang="en-US" altLang="en-US" b="1" dirty="0">
                <a:ea typeface="Times New Roman" panose="02020603050405020304" pitchFamily="18" charset="0"/>
                <a:cs typeface="Tahoma" panose="020B0604030504040204" pitchFamily="34" charset="0"/>
              </a:rPr>
              <a:t> </a:t>
            </a:r>
            <a:endParaRPr lang="en-GB" altLang="en-US" sz="1400" b="1" dirty="0"/>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Scarcity induced inflation when population increases without corresponding increases in production. </a:t>
            </a:r>
          </a:p>
          <a:p>
            <a:pPr marL="0" indent="0" algn="just" eaLnBrk="0" fontAlgn="base" hangingPunct="0">
              <a:spcBef>
                <a:spcPct val="0"/>
              </a:spcBef>
              <a:spcAft>
                <a:spcPct val="0"/>
              </a:spcAft>
              <a:buNone/>
            </a:pPr>
            <a:endParaRPr lang="en-US" altLang="en-US"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Population increases in the context of a scarcity of goods and services.</a:t>
            </a:r>
            <a:endParaRPr lang="en-GB" altLang="en-US" sz="1400" b="1" dirty="0"/>
          </a:p>
          <a:p>
            <a:pPr marL="0" indent="0" algn="just" eaLnBrk="0" fontAlgn="base" hangingPunct="0">
              <a:spcBef>
                <a:spcPct val="0"/>
              </a:spcBef>
              <a:spcAft>
                <a:spcPct val="0"/>
              </a:spcAft>
              <a:buNone/>
            </a:pPr>
            <a:r>
              <a:rPr lang="en-US" altLang="en-US" b="1" dirty="0">
                <a:ea typeface="Times New Roman" panose="02020603050405020304" pitchFamily="18" charset="0"/>
                <a:cs typeface="Tahoma" panose="020B0604030504040204" pitchFamily="34" charset="0"/>
              </a:rPr>
              <a:t> </a:t>
            </a:r>
            <a:endParaRPr lang="en-GB" altLang="en-US" sz="1400" b="1" dirty="0"/>
          </a:p>
          <a:p>
            <a:endParaRPr lang="en-GB" dirty="0"/>
          </a:p>
        </p:txBody>
      </p:sp>
    </p:spTree>
    <p:extLst>
      <p:ext uri="{BB962C8B-B14F-4D97-AF65-F5344CB8AC3E}">
        <p14:creationId xmlns:p14="http://schemas.microsoft.com/office/powerpoint/2010/main" val="4065463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t>CONTEMPORARY POPULATION PROBLEMS AND ISSUES </a:t>
            </a:r>
            <a:br>
              <a:rPr lang="en-GB" sz="2000" b="1" dirty="0"/>
            </a:br>
            <a:endParaRPr lang="en-GB" sz="2000" dirty="0"/>
          </a:p>
        </p:txBody>
      </p:sp>
      <p:sp>
        <p:nvSpPr>
          <p:cNvPr id="3" name="Content Placeholder 2"/>
          <p:cNvSpPr>
            <a:spLocks noGrp="1"/>
          </p:cNvSpPr>
          <p:nvPr>
            <p:ph idx="1"/>
          </p:nvPr>
        </p:nvSpPr>
        <p:spPr/>
        <p:txBody>
          <a:bodyPr>
            <a:normAutofit fontScale="92500" lnSpcReduction="10000"/>
          </a:bodyPr>
          <a:lstStyle/>
          <a:p>
            <a:pPr marL="0" indent="0">
              <a:buNone/>
            </a:pPr>
            <a:r>
              <a:rPr lang="en-US" b="1" dirty="0"/>
              <a:t> INCOME</a:t>
            </a:r>
            <a:endParaRPr lang="en-GB" b="1" dirty="0"/>
          </a:p>
          <a:p>
            <a:pPr marL="0" indent="0">
              <a:buNone/>
            </a:pPr>
            <a:endParaRPr lang="en-GB" b="1" dirty="0"/>
          </a:p>
          <a:p>
            <a:pPr algn="just"/>
            <a:r>
              <a:rPr lang="en-US" b="1" dirty="0"/>
              <a:t>Rapid population growth offsets economic growth. </a:t>
            </a:r>
          </a:p>
          <a:p>
            <a:pPr algn="just"/>
            <a:endParaRPr lang="en-US" b="1" dirty="0"/>
          </a:p>
          <a:p>
            <a:pPr algn="just"/>
            <a:r>
              <a:rPr lang="en-US" b="1" dirty="0"/>
              <a:t>If the rate of population growth exceeds the rate of economic growth, it will reduce the amount of goods and services available to the population because there will be more people in relation to the available wealth. </a:t>
            </a:r>
          </a:p>
          <a:p>
            <a:pPr algn="just"/>
            <a:endParaRPr lang="en-US" b="1" dirty="0"/>
          </a:p>
          <a:p>
            <a:pPr algn="just"/>
            <a:r>
              <a:rPr lang="en-US" b="1" dirty="0"/>
              <a:t>All things being equal, this will result in lower per capita income – a standard quality of life measure.</a:t>
            </a:r>
          </a:p>
          <a:p>
            <a:pPr algn="just"/>
            <a:endParaRPr lang="en-US" b="1" dirty="0"/>
          </a:p>
          <a:p>
            <a:endParaRPr lang="en-GB" dirty="0"/>
          </a:p>
        </p:txBody>
      </p:sp>
    </p:spTree>
    <p:extLst>
      <p:ext uri="{BB962C8B-B14F-4D97-AF65-F5344CB8AC3E}">
        <p14:creationId xmlns:p14="http://schemas.microsoft.com/office/powerpoint/2010/main" val="3350955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t>CONTEMPORARY POPULATION PROBLEMS AND ISSUES </a:t>
            </a:r>
            <a:br>
              <a:rPr lang="en-GB" sz="2000" b="1" dirty="0"/>
            </a:br>
            <a:endParaRPr lang="en-GB" sz="2000" dirty="0"/>
          </a:p>
        </p:txBody>
      </p:sp>
      <p:sp>
        <p:nvSpPr>
          <p:cNvPr id="3" name="Content Placeholder 2"/>
          <p:cNvSpPr>
            <a:spLocks noGrp="1"/>
          </p:cNvSpPr>
          <p:nvPr>
            <p:ph idx="1"/>
          </p:nvPr>
        </p:nvSpPr>
        <p:spPr/>
        <p:txBody>
          <a:bodyPr>
            <a:normAutofit fontScale="92500" lnSpcReduction="20000"/>
          </a:bodyPr>
          <a:lstStyle/>
          <a:p>
            <a:pPr lvl="0" algn="just"/>
            <a:r>
              <a:rPr lang="en-US" b="1" dirty="0"/>
              <a:t>UNEMPLOYMENT</a:t>
            </a:r>
            <a:endParaRPr lang="en-GB" b="1" dirty="0"/>
          </a:p>
          <a:p>
            <a:pPr marL="0" indent="0" algn="just">
              <a:buNone/>
            </a:pPr>
            <a:endParaRPr lang="en-GB" b="1" dirty="0"/>
          </a:p>
          <a:p>
            <a:pPr algn="just"/>
            <a:r>
              <a:rPr lang="en-US" b="1" dirty="0"/>
              <a:t>Increase in population size accelerates growth of the size of the </a:t>
            </a:r>
            <a:r>
              <a:rPr lang="en-US" b="1" dirty="0" err="1"/>
              <a:t>labour</a:t>
            </a:r>
            <a:r>
              <a:rPr lang="en-US" b="1" dirty="0"/>
              <a:t> force. </a:t>
            </a:r>
            <a:endParaRPr lang="en-GB" b="1" dirty="0"/>
          </a:p>
          <a:p>
            <a:pPr marL="0" indent="0" algn="just">
              <a:buNone/>
            </a:pPr>
            <a:endParaRPr lang="en-GB" b="1" dirty="0"/>
          </a:p>
          <a:p>
            <a:pPr algn="just"/>
            <a:r>
              <a:rPr lang="en-US" b="1" dirty="0"/>
              <a:t>If the increase in the size of the </a:t>
            </a:r>
            <a:r>
              <a:rPr lang="en-US" b="1" dirty="0" err="1"/>
              <a:t>labour</a:t>
            </a:r>
            <a:r>
              <a:rPr lang="en-US" b="1" dirty="0"/>
              <a:t> force exceeds the economy’s capacity to create jobs, the level of unemployment will rise. </a:t>
            </a:r>
          </a:p>
          <a:p>
            <a:pPr algn="just"/>
            <a:endParaRPr lang="en-US" b="1" dirty="0"/>
          </a:p>
          <a:p>
            <a:pPr algn="just"/>
            <a:r>
              <a:rPr lang="en-US" b="1" dirty="0"/>
              <a:t>Of course, if the opposite is true such a problem will not arise; there might even be a scenario where there will be more jobs than people available to do them as is the case in some developed countries.  </a:t>
            </a:r>
            <a:endParaRPr lang="en-GB" b="1" dirty="0"/>
          </a:p>
          <a:p>
            <a:pPr algn="just"/>
            <a:r>
              <a:rPr lang="en-US" b="1" dirty="0"/>
              <a:t> </a:t>
            </a:r>
            <a:endParaRPr lang="en-GB" b="1" dirty="0"/>
          </a:p>
          <a:p>
            <a:endParaRPr lang="en-GB" dirty="0"/>
          </a:p>
        </p:txBody>
      </p:sp>
    </p:spTree>
    <p:extLst>
      <p:ext uri="{BB962C8B-B14F-4D97-AF65-F5344CB8AC3E}">
        <p14:creationId xmlns:p14="http://schemas.microsoft.com/office/powerpoint/2010/main" val="34549096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t>CONTEMPORARY POPULATION PROBLEMS AND ISSUES </a:t>
            </a:r>
            <a:br>
              <a:rPr lang="en-GB" sz="2000" b="1" dirty="0"/>
            </a:br>
            <a:endParaRPr lang="en-GB" sz="2000" dirty="0"/>
          </a:p>
        </p:txBody>
      </p:sp>
      <p:sp>
        <p:nvSpPr>
          <p:cNvPr id="3" name="Content Placeholder 2"/>
          <p:cNvSpPr>
            <a:spLocks noGrp="1"/>
          </p:cNvSpPr>
          <p:nvPr>
            <p:ph idx="1"/>
          </p:nvPr>
        </p:nvSpPr>
        <p:spPr/>
        <p:txBody>
          <a:bodyPr/>
          <a:lstStyle/>
          <a:p>
            <a:pPr lvl="0" algn="just"/>
            <a:r>
              <a:rPr lang="en-US" b="1" dirty="0"/>
              <a:t>SOCIAL  PROBLEMS</a:t>
            </a:r>
          </a:p>
          <a:p>
            <a:pPr lvl="0" algn="just"/>
            <a:endParaRPr lang="en-US" b="1" dirty="0"/>
          </a:p>
          <a:p>
            <a:pPr algn="just"/>
            <a:r>
              <a:rPr lang="en-US" b="1" dirty="0"/>
              <a:t>Increase unemployment due to rapid population growth may force people to resort to alternative means of survival such as prostitution, crime, </a:t>
            </a:r>
            <a:r>
              <a:rPr lang="en-US" b="1" dirty="0" err="1"/>
              <a:t>etc</a:t>
            </a:r>
            <a:endParaRPr lang="en-GB" b="1" dirty="0"/>
          </a:p>
          <a:p>
            <a:endParaRPr lang="en-GB" dirty="0"/>
          </a:p>
        </p:txBody>
      </p:sp>
    </p:spTree>
    <p:extLst>
      <p:ext uri="{BB962C8B-B14F-4D97-AF65-F5344CB8AC3E}">
        <p14:creationId xmlns:p14="http://schemas.microsoft.com/office/powerpoint/2010/main" val="1817847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t>CONTEMPORARY POPULATION PROBLEMS AND ISSUES </a:t>
            </a:r>
            <a:br>
              <a:rPr lang="en-GB" sz="2000" b="1" dirty="0"/>
            </a:br>
            <a:endParaRPr lang="en-GB" sz="2000" dirty="0"/>
          </a:p>
        </p:txBody>
      </p:sp>
      <p:sp>
        <p:nvSpPr>
          <p:cNvPr id="3" name="Content Placeholder 2"/>
          <p:cNvSpPr>
            <a:spLocks noGrp="1"/>
          </p:cNvSpPr>
          <p:nvPr>
            <p:ph idx="1"/>
          </p:nvPr>
        </p:nvSpPr>
        <p:spPr/>
        <p:txBody>
          <a:bodyPr>
            <a:normAutofit lnSpcReduction="10000"/>
          </a:bodyPr>
          <a:lstStyle/>
          <a:p>
            <a:pPr marL="0" indent="0" algn="just" eaLnBrk="0" fontAlgn="base" hangingPunct="0">
              <a:spcBef>
                <a:spcPct val="0"/>
              </a:spcBef>
              <a:spcAft>
                <a:spcPct val="0"/>
              </a:spcAft>
              <a:buNone/>
            </a:pPr>
            <a:r>
              <a:rPr lang="en-US" altLang="en-US" b="1" dirty="0">
                <a:cs typeface="Times New Roman" panose="02020603050405020304" pitchFamily="18" charset="0"/>
              </a:rPr>
              <a:t>LITERACY AND EDUCATION</a:t>
            </a:r>
          </a:p>
          <a:p>
            <a:pPr marL="0" indent="0" algn="just" eaLnBrk="0" fontAlgn="base" hangingPunct="0">
              <a:spcBef>
                <a:spcPct val="0"/>
              </a:spcBef>
              <a:spcAft>
                <a:spcPct val="0"/>
              </a:spcAft>
              <a:buNone/>
            </a:pPr>
            <a:r>
              <a:rPr lang="en-US" altLang="en-US" b="1" dirty="0">
                <a:cs typeface="Times New Roman" panose="02020603050405020304" pitchFamily="18" charset="0"/>
              </a:rPr>
              <a:t> </a:t>
            </a:r>
          </a:p>
          <a:p>
            <a:pPr marL="0" indent="0" algn="just" eaLnBrk="0" fontAlgn="base" hangingPunct="0">
              <a:spcBef>
                <a:spcPct val="0"/>
              </a:spcBef>
              <a:spcAft>
                <a:spcPct val="0"/>
              </a:spcAft>
              <a:buNone/>
            </a:pPr>
            <a:r>
              <a:rPr lang="en-US" altLang="en-US" b="1" dirty="0">
                <a:ea typeface="Times New Roman" panose="02020603050405020304" pitchFamily="18" charset="0"/>
                <a:cs typeface="Tahoma" panose="020B0604030504040204" pitchFamily="34" charset="0"/>
              </a:rPr>
              <a:t>If population grows faster than the ability of the government to construct schools and provide adequate educational facilities, fewer people are likely to enter the school system. </a:t>
            </a:r>
          </a:p>
          <a:p>
            <a:pPr marL="0" indent="0" algn="just" eaLnBrk="0" fontAlgn="base" hangingPunct="0">
              <a:spcBef>
                <a:spcPct val="0"/>
              </a:spcBef>
              <a:spcAft>
                <a:spcPct val="0"/>
              </a:spcAft>
              <a:buNone/>
            </a:pPr>
            <a:endParaRPr lang="en-US" altLang="en-US" b="1" dirty="0">
              <a:ea typeface="Times New Roman" panose="02020603050405020304" pitchFamily="18" charset="0"/>
              <a:cs typeface="Tahoma" panose="020B0604030504040204" pitchFamily="34" charset="0"/>
            </a:endParaRPr>
          </a:p>
          <a:p>
            <a:pPr marL="0" indent="0" algn="just" eaLnBrk="0" fontAlgn="base" hangingPunct="0">
              <a:spcBef>
                <a:spcPct val="0"/>
              </a:spcBef>
              <a:spcAft>
                <a:spcPct val="0"/>
              </a:spcAft>
              <a:buNone/>
            </a:pPr>
            <a:r>
              <a:rPr lang="en-US" altLang="en-US" b="1" dirty="0">
                <a:ea typeface="Times New Roman" panose="02020603050405020304" pitchFamily="18" charset="0"/>
                <a:cs typeface="Tahoma" panose="020B0604030504040204" pitchFamily="34" charset="0"/>
              </a:rPr>
              <a:t>This will push up the levels of illiteracy and a decline in educational standards. </a:t>
            </a:r>
            <a:endParaRPr lang="en-GB" altLang="en-US" sz="1400" b="1" dirty="0"/>
          </a:p>
          <a:p>
            <a:pPr marL="0" indent="0" algn="just" eaLnBrk="0" fontAlgn="base" hangingPunct="0">
              <a:spcBef>
                <a:spcPct val="0"/>
              </a:spcBef>
              <a:spcAft>
                <a:spcPct val="0"/>
              </a:spcAft>
              <a:buNone/>
            </a:pPr>
            <a:r>
              <a:rPr lang="en-US" altLang="en-US" b="1" dirty="0">
                <a:ea typeface="Times New Roman" panose="02020603050405020304" pitchFamily="18" charset="0"/>
                <a:cs typeface="Tahoma" panose="020B0604030504040204" pitchFamily="34" charset="0"/>
              </a:rPr>
              <a:t> </a:t>
            </a:r>
            <a:endParaRPr lang="en-GB" altLang="en-US" sz="1400" b="1" dirty="0"/>
          </a:p>
          <a:p>
            <a:pPr marL="0" indent="0" algn="just" eaLnBrk="0" fontAlgn="base" hangingPunct="0">
              <a:spcBef>
                <a:spcPct val="0"/>
              </a:spcBef>
              <a:spcAft>
                <a:spcPct val="0"/>
              </a:spcAft>
              <a:buNone/>
            </a:pPr>
            <a:r>
              <a:rPr lang="en-US" altLang="en-US" b="1" dirty="0">
                <a:ea typeface="Times New Roman" panose="02020603050405020304" pitchFamily="18" charset="0"/>
                <a:cs typeface="Tahoma" panose="020B0604030504040204" pitchFamily="34" charset="0"/>
              </a:rPr>
              <a:t>In developing countries, this has been aggravated by the tidal waves of youths competing for the limited places in the school system.</a:t>
            </a:r>
            <a:endParaRPr lang="en-GB" altLang="en-US" sz="1400" b="1" dirty="0"/>
          </a:p>
          <a:p>
            <a:pPr marL="0" indent="0" algn="just" eaLnBrk="0" fontAlgn="base" hangingPunct="0">
              <a:spcBef>
                <a:spcPct val="0"/>
              </a:spcBef>
              <a:spcAft>
                <a:spcPct val="0"/>
              </a:spcAft>
              <a:buNone/>
            </a:pPr>
            <a:r>
              <a:rPr lang="en-US" altLang="en-US" b="1" dirty="0">
                <a:ea typeface="Times New Roman" panose="02020603050405020304" pitchFamily="18" charset="0"/>
                <a:cs typeface="Tahoma" panose="020B0604030504040204" pitchFamily="34" charset="0"/>
              </a:rPr>
              <a:t> </a:t>
            </a:r>
            <a:endParaRPr lang="en-GB" altLang="en-US" sz="1400" b="1" dirty="0"/>
          </a:p>
          <a:p>
            <a:endParaRPr lang="en-GB" dirty="0"/>
          </a:p>
        </p:txBody>
      </p:sp>
    </p:spTree>
    <p:extLst>
      <p:ext uri="{BB962C8B-B14F-4D97-AF65-F5344CB8AC3E}">
        <p14:creationId xmlns:p14="http://schemas.microsoft.com/office/powerpoint/2010/main" val="12657270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t>CONTEMPORARY POPULATION PROBLEMS AND ISSUES </a:t>
            </a:r>
            <a:br>
              <a:rPr lang="en-GB" sz="2000" b="1" dirty="0"/>
            </a:br>
            <a:endParaRPr lang="en-GB" sz="2000" dirty="0"/>
          </a:p>
        </p:txBody>
      </p:sp>
      <p:sp>
        <p:nvSpPr>
          <p:cNvPr id="3" name="Content Placeholder 2"/>
          <p:cNvSpPr>
            <a:spLocks noGrp="1"/>
          </p:cNvSpPr>
          <p:nvPr>
            <p:ph idx="1"/>
          </p:nvPr>
        </p:nvSpPr>
        <p:spPr/>
        <p:txBody>
          <a:bodyPr>
            <a:normAutofit fontScale="92500" lnSpcReduction="20000"/>
          </a:bodyPr>
          <a:lstStyle/>
          <a:p>
            <a:pPr marL="0" indent="0" algn="just" eaLnBrk="0" fontAlgn="base" hangingPunct="0">
              <a:spcBef>
                <a:spcPct val="0"/>
              </a:spcBef>
              <a:spcAft>
                <a:spcPct val="0"/>
              </a:spcAft>
              <a:buNone/>
            </a:pPr>
            <a:r>
              <a:rPr lang="en-US" altLang="en-US" b="1" dirty="0">
                <a:ea typeface="Times New Roman" panose="02020603050405020304" pitchFamily="18" charset="0"/>
                <a:cs typeface="Tahoma" panose="020B0604030504040204" pitchFamily="34" charset="0"/>
              </a:rPr>
              <a:t>INDIVIDUAL FREEDOM </a:t>
            </a:r>
            <a:endParaRPr lang="en-GB" altLang="en-US" sz="1400" b="1" dirty="0"/>
          </a:p>
          <a:p>
            <a:pPr marL="0" indent="0" algn="just" eaLnBrk="0" fontAlgn="base" hangingPunct="0">
              <a:spcBef>
                <a:spcPct val="0"/>
              </a:spcBef>
              <a:spcAft>
                <a:spcPct val="0"/>
              </a:spcAft>
              <a:buNone/>
            </a:pPr>
            <a:r>
              <a:rPr lang="en-US" altLang="en-US" b="1" dirty="0">
                <a:ea typeface="Times New Roman" panose="02020603050405020304" pitchFamily="18" charset="0"/>
                <a:cs typeface="Tahoma" panose="020B0604030504040204" pitchFamily="34" charset="0"/>
              </a:rPr>
              <a:t> </a:t>
            </a:r>
            <a:endParaRPr lang="en-GB" altLang="en-US" sz="1400" b="1" dirty="0"/>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Increase in population size increases demand for land/space. </a:t>
            </a:r>
          </a:p>
          <a:p>
            <a:pPr algn="just" eaLnBrk="0" fontAlgn="base" hangingPunct="0">
              <a:spcBef>
                <a:spcPct val="0"/>
              </a:spcBef>
              <a:spcAft>
                <a:spcPct val="0"/>
              </a:spcAft>
              <a:buClrTx/>
              <a:buSzTx/>
            </a:pPr>
            <a:endParaRPr lang="en-US" altLang="en-US"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Land invasions and encroachments are clear manifestation of this phenomenon as squatters invade on other people’s land their quest for additional for space.</a:t>
            </a:r>
          </a:p>
          <a:p>
            <a:pPr marL="0" indent="0" algn="just" eaLnBrk="0" fontAlgn="base" hangingPunct="0">
              <a:spcBef>
                <a:spcPct val="0"/>
              </a:spcBef>
              <a:spcAft>
                <a:spcPct val="0"/>
              </a:spcAft>
              <a:buNone/>
            </a:pPr>
            <a:endParaRPr lang="en-US" altLang="en-US"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Land invasions and encroachments represent a violation of the individual freedoms of those whose land has been invaded.</a:t>
            </a:r>
          </a:p>
          <a:p>
            <a:pPr marL="0" indent="0" algn="just" eaLnBrk="0" fontAlgn="base" hangingPunct="0">
              <a:spcBef>
                <a:spcPct val="0"/>
              </a:spcBef>
              <a:spcAft>
                <a:spcPct val="0"/>
              </a:spcAft>
              <a:buNone/>
            </a:pPr>
            <a:endParaRPr lang="en-US" altLang="en-US"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To mitigate this, more rules and regulations are required to supervise individual use of the earth’s resources and space for the common good. </a:t>
            </a:r>
            <a:endParaRPr lang="en-GB" altLang="en-US" sz="1400" b="1" dirty="0"/>
          </a:p>
          <a:p>
            <a:pPr marL="0" indent="0" algn="just" eaLnBrk="0" fontAlgn="base" hangingPunct="0">
              <a:spcBef>
                <a:spcPct val="0"/>
              </a:spcBef>
              <a:spcAft>
                <a:spcPct val="0"/>
              </a:spcAft>
              <a:buNone/>
            </a:pPr>
            <a:r>
              <a:rPr lang="en-US" altLang="en-US" b="1" dirty="0">
                <a:ea typeface="Times New Roman" panose="02020603050405020304" pitchFamily="18" charset="0"/>
                <a:cs typeface="Tahoma" panose="020B0604030504040204" pitchFamily="34" charset="0"/>
              </a:rPr>
              <a:t> </a:t>
            </a:r>
            <a:endParaRPr lang="en-GB" altLang="en-US" sz="1400" b="1" dirty="0"/>
          </a:p>
          <a:p>
            <a:endParaRPr lang="en-GB" dirty="0"/>
          </a:p>
        </p:txBody>
      </p:sp>
    </p:spTree>
    <p:extLst>
      <p:ext uri="{BB962C8B-B14F-4D97-AF65-F5344CB8AC3E}">
        <p14:creationId xmlns:p14="http://schemas.microsoft.com/office/powerpoint/2010/main" val="2896881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t>CONTEMPORARY POPULATION PROBLEMS AND ISSUES </a:t>
            </a:r>
            <a:br>
              <a:rPr lang="en-GB" sz="2000" b="1" dirty="0"/>
            </a:br>
            <a:endParaRPr lang="en-GB" sz="2000" dirty="0"/>
          </a:p>
        </p:txBody>
      </p:sp>
      <p:sp>
        <p:nvSpPr>
          <p:cNvPr id="3" name="Content Placeholder 2"/>
          <p:cNvSpPr>
            <a:spLocks noGrp="1"/>
          </p:cNvSpPr>
          <p:nvPr>
            <p:ph idx="1"/>
          </p:nvPr>
        </p:nvSpPr>
        <p:spPr/>
        <p:txBody>
          <a:bodyPr>
            <a:normAutofit lnSpcReduction="10000"/>
          </a:bodyPr>
          <a:lstStyle/>
          <a:p>
            <a:pPr marL="0" indent="0" algn="just" eaLnBrk="0" fontAlgn="base" hangingPunct="0">
              <a:spcBef>
                <a:spcPct val="0"/>
              </a:spcBef>
              <a:spcAft>
                <a:spcPct val="0"/>
              </a:spcAft>
              <a:buFontTx/>
              <a:buChar char="•"/>
            </a:pPr>
            <a:r>
              <a:rPr lang="en-US" altLang="en-US" b="1" dirty="0">
                <a:cs typeface="Times New Roman" panose="02020603050405020304" pitchFamily="18" charset="0"/>
              </a:rPr>
              <a:t>HOUSING AND PROPERTY</a:t>
            </a:r>
          </a:p>
          <a:p>
            <a:pPr marL="0" indent="0" algn="just" eaLnBrk="0" fontAlgn="base" hangingPunct="0">
              <a:spcBef>
                <a:spcPct val="0"/>
              </a:spcBef>
              <a:spcAft>
                <a:spcPct val="0"/>
              </a:spcAft>
              <a:buNone/>
            </a:pPr>
            <a:r>
              <a:rPr lang="en-US" altLang="en-US" b="1" dirty="0">
                <a:ea typeface="Times New Roman" panose="02020603050405020304" pitchFamily="18" charset="0"/>
                <a:cs typeface="Tahoma" panose="020B0604030504040204" pitchFamily="34" charset="0"/>
              </a:rPr>
              <a:t> </a:t>
            </a:r>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Increase in population induces demand for housing.</a:t>
            </a:r>
          </a:p>
          <a:p>
            <a:pPr marL="0" indent="0" algn="just" eaLnBrk="0" fontAlgn="base" hangingPunct="0">
              <a:spcBef>
                <a:spcPct val="0"/>
              </a:spcBef>
              <a:spcAft>
                <a:spcPct val="0"/>
              </a:spcAft>
              <a:buNone/>
            </a:pPr>
            <a:endParaRPr lang="en-US" altLang="en-US"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Consequently, costs of land (property rates), timber, cement and fuel go up beyond the financial capacities of the majority of the population.</a:t>
            </a:r>
            <a:endParaRPr lang="en-GB" altLang="en-US" sz="1400" b="1" dirty="0"/>
          </a:p>
          <a:p>
            <a:pPr marL="0" indent="0" algn="just" eaLnBrk="0" fontAlgn="base" hangingPunct="0">
              <a:spcBef>
                <a:spcPct val="0"/>
              </a:spcBef>
              <a:spcAft>
                <a:spcPct val="0"/>
              </a:spcAft>
              <a:buNone/>
            </a:pPr>
            <a:endParaRPr lang="en-GB" altLang="en-US" sz="1400"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This has resulted in the construction of substandard houses and the rapid increase in the growth of uncontrolled urban settlements.</a:t>
            </a:r>
            <a:endParaRPr lang="en-GB" altLang="en-US" sz="1400" b="1" dirty="0"/>
          </a:p>
          <a:p>
            <a:pPr marL="0" indent="0" algn="just" eaLnBrk="0" fontAlgn="base" hangingPunct="0">
              <a:spcBef>
                <a:spcPct val="0"/>
              </a:spcBef>
              <a:spcAft>
                <a:spcPct val="0"/>
              </a:spcAft>
              <a:buNone/>
            </a:pPr>
            <a:endParaRPr lang="en-GB" altLang="en-US" sz="1400"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In Lusaka, it is estimated that more than half of the population lives in these settlements. </a:t>
            </a:r>
            <a:endParaRPr lang="en-GB" altLang="en-US" sz="1400" b="1" dirty="0"/>
          </a:p>
          <a:p>
            <a:endParaRPr lang="en-GB" dirty="0"/>
          </a:p>
        </p:txBody>
      </p:sp>
    </p:spTree>
    <p:extLst>
      <p:ext uri="{BB962C8B-B14F-4D97-AF65-F5344CB8AC3E}">
        <p14:creationId xmlns:p14="http://schemas.microsoft.com/office/powerpoint/2010/main" val="2172202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pPr marL="0" indent="228600" algn="just" eaLnBrk="0" fontAlgn="base" hangingPunct="0">
              <a:spcBef>
                <a:spcPct val="0"/>
              </a:spcBef>
              <a:spcAft>
                <a:spcPct val="0"/>
              </a:spcAft>
              <a:buNone/>
            </a:pPr>
            <a:endParaRPr lang="en-GB" altLang="en-US" sz="1400" b="1" dirty="0"/>
          </a:p>
          <a:p>
            <a:pPr marL="0" indent="228600" algn="just" eaLnBrk="0" fontAlgn="base" hangingPunct="0">
              <a:spcBef>
                <a:spcPct val="0"/>
              </a:spcBef>
              <a:spcAft>
                <a:spcPct val="0"/>
              </a:spcAft>
              <a:buNone/>
            </a:pPr>
            <a:r>
              <a:rPr lang="en-US" altLang="en-US" b="1" dirty="0">
                <a:ea typeface="Times New Roman" panose="02020603050405020304" pitchFamily="18" charset="0"/>
                <a:cs typeface="Tahoma" panose="020B0604030504040204" pitchFamily="34" charset="0"/>
              </a:rPr>
              <a:t>WATER AND SANITATION ISSUES</a:t>
            </a:r>
          </a:p>
          <a:p>
            <a:pPr marL="0" indent="228600" algn="just" eaLnBrk="0" fontAlgn="base" hangingPunct="0">
              <a:spcBef>
                <a:spcPct val="0"/>
              </a:spcBef>
              <a:spcAft>
                <a:spcPct val="0"/>
              </a:spcAft>
              <a:buNone/>
            </a:pPr>
            <a:endParaRPr lang="en-US" altLang="en-US"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Population increase , if not matched by expansion of water and sanitation projects, results in persistent  water shortages.</a:t>
            </a:r>
          </a:p>
          <a:p>
            <a:pPr algn="just" eaLnBrk="0" fontAlgn="base" hangingPunct="0">
              <a:spcBef>
                <a:spcPct val="0"/>
              </a:spcBef>
              <a:spcAft>
                <a:spcPct val="0"/>
              </a:spcAft>
              <a:buClrTx/>
              <a:buSzTx/>
            </a:pPr>
            <a:endParaRPr lang="en-US" altLang="en-US"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The MCA is attempting to mitigate this in Lusaka.</a:t>
            </a:r>
          </a:p>
          <a:p>
            <a:pPr marL="0" indent="228600" algn="just" eaLnBrk="0" fontAlgn="base" hangingPunct="0">
              <a:spcBef>
                <a:spcPct val="0"/>
              </a:spcBef>
              <a:spcAft>
                <a:spcPct val="0"/>
              </a:spcAft>
              <a:buNone/>
            </a:pPr>
            <a:endParaRPr lang="en-US" altLang="en-US" sz="1400" b="1" dirty="0">
              <a:cs typeface="Tahoma" panose="020B0604030504040204" pitchFamily="34" charset="0"/>
            </a:endParaRPr>
          </a:p>
          <a:p>
            <a:pPr marL="0" indent="228600" algn="just" eaLnBrk="0" fontAlgn="base" hangingPunct="0">
              <a:spcBef>
                <a:spcPct val="0"/>
              </a:spcBef>
              <a:spcAft>
                <a:spcPct val="0"/>
              </a:spcAft>
              <a:buNone/>
            </a:pPr>
            <a:endParaRPr lang="en-GB" altLang="en-US" sz="1400" b="1" dirty="0"/>
          </a:p>
          <a:p>
            <a:endParaRPr lang="en-GB" dirty="0"/>
          </a:p>
        </p:txBody>
      </p:sp>
    </p:spTree>
    <p:extLst>
      <p:ext uri="{BB962C8B-B14F-4D97-AF65-F5344CB8AC3E}">
        <p14:creationId xmlns:p14="http://schemas.microsoft.com/office/powerpoint/2010/main" val="18093168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Autofit/>
          </a:bodyPr>
          <a:lstStyle/>
          <a:p>
            <a:pPr marL="0" indent="228600" algn="just" eaLnBrk="0" fontAlgn="base" hangingPunct="0">
              <a:spcBef>
                <a:spcPct val="0"/>
              </a:spcBef>
              <a:spcAft>
                <a:spcPct val="0"/>
              </a:spcAft>
              <a:buNone/>
            </a:pPr>
            <a:r>
              <a:rPr lang="en-US" altLang="en-US" sz="2000" b="1" dirty="0">
                <a:ea typeface="Times New Roman" panose="02020603050405020304" pitchFamily="18" charset="0"/>
                <a:cs typeface="Tahoma" panose="020B0604030504040204" pitchFamily="34" charset="0"/>
              </a:rPr>
              <a:t>TRANSPORT</a:t>
            </a:r>
          </a:p>
          <a:p>
            <a:pPr marL="0" indent="228600" algn="just" eaLnBrk="0" fontAlgn="base" hangingPunct="0">
              <a:spcBef>
                <a:spcPct val="0"/>
              </a:spcBef>
              <a:spcAft>
                <a:spcPct val="0"/>
              </a:spcAft>
              <a:buNone/>
            </a:pPr>
            <a:endParaRPr lang="en-US" altLang="en-US" sz="2000" b="1" dirty="0">
              <a:ea typeface="Times New Roman" panose="02020603050405020304" pitchFamily="18" charset="0"/>
              <a:cs typeface="Tahoma" panose="020B0604030504040204" pitchFamily="34" charset="0"/>
            </a:endParaRPr>
          </a:p>
          <a:p>
            <a:pPr marL="0" indent="228600" algn="just" eaLnBrk="0" fontAlgn="base" hangingPunct="0">
              <a:spcBef>
                <a:spcPct val="0"/>
              </a:spcBef>
              <a:spcAft>
                <a:spcPct val="0"/>
              </a:spcAft>
              <a:buNone/>
            </a:pPr>
            <a:endParaRPr lang="en-US" altLang="en-US" sz="2000"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r>
              <a:rPr lang="en-US" altLang="en-US" sz="2000" b="1" dirty="0">
                <a:ea typeface="Times New Roman" panose="02020603050405020304" pitchFamily="18" charset="0"/>
                <a:cs typeface="Tahoma" panose="020B0604030504040204" pitchFamily="34" charset="0"/>
              </a:rPr>
              <a:t>Population increase may lead to an increase in </a:t>
            </a:r>
            <a:r>
              <a:rPr lang="en-US" altLang="en-US" sz="2000" b="1" dirty="0" err="1">
                <a:ea typeface="Times New Roman" panose="02020603050405020304" pitchFamily="18" charset="0"/>
                <a:cs typeface="Tahoma" panose="020B0604030504040204" pitchFamily="34" charset="0"/>
              </a:rPr>
              <a:t>labour</a:t>
            </a:r>
            <a:r>
              <a:rPr lang="en-US" altLang="en-US" sz="2000" b="1" dirty="0">
                <a:ea typeface="Times New Roman" panose="02020603050405020304" pitchFamily="18" charset="0"/>
                <a:cs typeface="Tahoma" panose="020B0604030504040204" pitchFamily="34" charset="0"/>
              </a:rPr>
              <a:t> force and subsequently to the expansion of the moneyed class – the middle class - with more  purchasing power to buy more cars.</a:t>
            </a:r>
          </a:p>
          <a:p>
            <a:pPr marL="0" indent="228600" algn="just" eaLnBrk="0" fontAlgn="base" hangingPunct="0">
              <a:spcBef>
                <a:spcPct val="0"/>
              </a:spcBef>
              <a:spcAft>
                <a:spcPct val="0"/>
              </a:spcAft>
              <a:buNone/>
            </a:pPr>
            <a:endParaRPr lang="en-US" altLang="en-US" sz="2000"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r>
              <a:rPr lang="en-US" altLang="en-US" sz="2000" b="1" dirty="0">
                <a:ea typeface="Times New Roman" panose="02020603050405020304" pitchFamily="18" charset="0"/>
                <a:cs typeface="Tahoma" panose="020B0604030504040204" pitchFamily="34" charset="0"/>
              </a:rPr>
              <a:t>Increase in vehicular traffic may result in congestion on the congestion on roads. </a:t>
            </a:r>
          </a:p>
          <a:p>
            <a:pPr marL="0" indent="228600" algn="just" eaLnBrk="0" fontAlgn="base" hangingPunct="0">
              <a:spcBef>
                <a:spcPct val="0"/>
              </a:spcBef>
              <a:spcAft>
                <a:spcPct val="0"/>
              </a:spcAft>
              <a:buNone/>
            </a:pPr>
            <a:endParaRPr lang="en-US" altLang="en-US" sz="2000"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r>
              <a:rPr lang="en-US" altLang="en-US" sz="2000" b="1" dirty="0">
                <a:ea typeface="Times New Roman" panose="02020603050405020304" pitchFamily="18" charset="0"/>
                <a:cs typeface="Tahoma" panose="020B0604030504040204" pitchFamily="34" charset="0"/>
              </a:rPr>
              <a:t>This may require large scale mass transportation systems, road expansion, flyover roads/overpass, subway systems, etc. to cope with increasing demand for transport.</a:t>
            </a:r>
          </a:p>
          <a:p>
            <a:pPr marL="0" indent="228600" algn="just" eaLnBrk="0" fontAlgn="base" hangingPunct="0">
              <a:spcBef>
                <a:spcPct val="0"/>
              </a:spcBef>
              <a:spcAft>
                <a:spcPct val="0"/>
              </a:spcAft>
              <a:buNone/>
            </a:pPr>
            <a:endParaRPr lang="en-US" altLang="en-US" sz="2000"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r>
              <a:rPr lang="en-US" altLang="en-US" sz="2000" b="1" dirty="0">
                <a:ea typeface="Times New Roman" panose="02020603050405020304" pitchFamily="18" charset="0"/>
                <a:cs typeface="Tahoma" panose="020B0604030504040204" pitchFamily="34" charset="0"/>
              </a:rPr>
              <a:t>Other responses may include decentralization of CBDs.</a:t>
            </a:r>
          </a:p>
          <a:p>
            <a:pPr marL="0" indent="228600" algn="just" eaLnBrk="0" fontAlgn="base" hangingPunct="0">
              <a:spcBef>
                <a:spcPct val="0"/>
              </a:spcBef>
              <a:spcAft>
                <a:spcPct val="0"/>
              </a:spcAft>
              <a:buNone/>
            </a:pPr>
            <a:endParaRPr lang="en-US" altLang="en-US" sz="2000" b="1" dirty="0">
              <a:cs typeface="Tahoma" panose="020B0604030504040204" pitchFamily="34" charset="0"/>
            </a:endParaRPr>
          </a:p>
          <a:p>
            <a:pPr marL="0" indent="228600" algn="just" eaLnBrk="0" fontAlgn="base" hangingPunct="0">
              <a:spcBef>
                <a:spcPct val="0"/>
              </a:spcBef>
              <a:spcAft>
                <a:spcPct val="0"/>
              </a:spcAft>
              <a:buNone/>
            </a:pPr>
            <a:endParaRPr lang="en-US" altLang="en-US" sz="2000" b="1" dirty="0">
              <a:cs typeface="Tahoma" panose="020B0604030504040204" pitchFamily="34" charset="0"/>
            </a:endParaRPr>
          </a:p>
          <a:p>
            <a:pPr marL="0" indent="228600" algn="just" eaLnBrk="0" fontAlgn="base" hangingPunct="0">
              <a:spcBef>
                <a:spcPct val="0"/>
              </a:spcBef>
              <a:spcAft>
                <a:spcPct val="0"/>
              </a:spcAft>
              <a:buNone/>
            </a:pPr>
            <a:r>
              <a:rPr lang="en-US" altLang="en-US" sz="2000" b="1" dirty="0">
                <a:cs typeface="Tahoma" panose="020B0604030504040204" pitchFamily="34" charset="0"/>
              </a:rPr>
              <a:t> </a:t>
            </a:r>
            <a:endParaRPr lang="en-GB" altLang="en-US" sz="2000" b="1" dirty="0"/>
          </a:p>
          <a:p>
            <a:pPr marL="0" indent="228600" algn="just" eaLnBrk="0" fontAlgn="base" hangingPunct="0">
              <a:spcBef>
                <a:spcPct val="0"/>
              </a:spcBef>
              <a:spcAft>
                <a:spcPct val="0"/>
              </a:spcAft>
              <a:buNone/>
            </a:pPr>
            <a:r>
              <a:rPr lang="en-US" altLang="en-US" sz="2000" b="1" dirty="0">
                <a:ea typeface="Times New Roman" panose="02020603050405020304" pitchFamily="18" charset="0"/>
                <a:cs typeface="Tahoma" panose="020B0604030504040204" pitchFamily="34" charset="0"/>
              </a:rPr>
              <a:t> </a:t>
            </a:r>
            <a:endParaRPr lang="en-US" altLang="en-US" sz="2000" b="1" dirty="0">
              <a:cs typeface="Times New Roman" panose="02020603050405020304" pitchFamily="18" charset="0"/>
            </a:endParaRPr>
          </a:p>
        </p:txBody>
      </p:sp>
    </p:spTree>
    <p:extLst>
      <p:ext uri="{BB962C8B-B14F-4D97-AF65-F5344CB8AC3E}">
        <p14:creationId xmlns:p14="http://schemas.microsoft.com/office/powerpoint/2010/main" val="7204000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FLYOVER ROAD</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04519" y="2271584"/>
            <a:ext cx="5782962" cy="3534032"/>
          </a:xfrm>
        </p:spPr>
      </p:pic>
    </p:spTree>
    <p:extLst>
      <p:ext uri="{BB962C8B-B14F-4D97-AF65-F5344CB8AC3E}">
        <p14:creationId xmlns:p14="http://schemas.microsoft.com/office/powerpoint/2010/main" val="18802378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92500" lnSpcReduction="10000"/>
          </a:bodyPr>
          <a:lstStyle/>
          <a:p>
            <a:pPr marL="0" indent="0" algn="just" eaLnBrk="0" fontAlgn="base" hangingPunct="0">
              <a:spcBef>
                <a:spcPct val="0"/>
              </a:spcBef>
              <a:spcAft>
                <a:spcPct val="0"/>
              </a:spcAft>
              <a:buFontTx/>
              <a:buChar char="•"/>
            </a:pPr>
            <a:r>
              <a:rPr lang="en-US" altLang="en-US" b="1" dirty="0">
                <a:cs typeface="Times New Roman" panose="02020603050405020304" pitchFamily="18" charset="0"/>
              </a:rPr>
              <a:t>ENERGY </a:t>
            </a:r>
          </a:p>
          <a:p>
            <a:pPr marL="0" indent="0" algn="just" eaLnBrk="0" fontAlgn="base" hangingPunct="0">
              <a:spcBef>
                <a:spcPct val="0"/>
              </a:spcBef>
              <a:spcAft>
                <a:spcPct val="0"/>
              </a:spcAft>
              <a:buNone/>
            </a:pPr>
            <a:endParaRPr lang="en-US" altLang="en-US" b="1" dirty="0">
              <a:cs typeface="Times New Roman" panose="02020603050405020304" pitchFamily="18" charset="0"/>
            </a:endParaRPr>
          </a:p>
          <a:p>
            <a:pPr algn="just" eaLnBrk="0" fontAlgn="base" hangingPunct="0">
              <a:spcBef>
                <a:spcPct val="0"/>
              </a:spcBef>
              <a:spcAft>
                <a:spcPct val="0"/>
              </a:spcAft>
              <a:buClrTx/>
              <a:buSzTx/>
            </a:pPr>
            <a:r>
              <a:rPr lang="en-US" altLang="en-US" b="1">
                <a:ea typeface="Times New Roman" panose="02020603050405020304" pitchFamily="18" charset="0"/>
                <a:cs typeface="Tahoma" panose="020B0604030504040204" pitchFamily="34" charset="0"/>
              </a:rPr>
              <a:t>Increase </a:t>
            </a:r>
            <a:r>
              <a:rPr lang="en-US" altLang="en-US" b="1" dirty="0">
                <a:ea typeface="Times New Roman" panose="02020603050405020304" pitchFamily="18" charset="0"/>
                <a:cs typeface="Tahoma" panose="020B0604030504040204" pitchFamily="34" charset="0"/>
              </a:rPr>
              <a:t>in population results in demand for energy to prepare food, clothing, and shelter. </a:t>
            </a:r>
          </a:p>
          <a:p>
            <a:pPr marL="0" indent="0" algn="just" eaLnBrk="0" fontAlgn="base" hangingPunct="0">
              <a:spcBef>
                <a:spcPct val="0"/>
              </a:spcBef>
              <a:spcAft>
                <a:spcPct val="0"/>
              </a:spcAft>
              <a:buNone/>
            </a:pPr>
            <a:endParaRPr lang="en-US" altLang="en-US" b="1" dirty="0">
              <a:ea typeface="Times New Roman" panose="02020603050405020304" pitchFamily="18" charset="0"/>
              <a:cs typeface="Tahoma" panose="020B0604030504040204" pitchFamily="34" charset="0"/>
            </a:endParaRPr>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Every person added to the world’s population requires energy to prepare food, to provide clothing and shelter and to fuel economic life.</a:t>
            </a:r>
            <a:endParaRPr lang="en-GB" altLang="en-US" sz="1400" b="1" dirty="0"/>
          </a:p>
          <a:p>
            <a:pPr marL="0" indent="0" algn="just" eaLnBrk="0" fontAlgn="base" hangingPunct="0">
              <a:spcBef>
                <a:spcPct val="0"/>
              </a:spcBef>
              <a:spcAft>
                <a:spcPct val="0"/>
              </a:spcAft>
              <a:buNone/>
            </a:pPr>
            <a:r>
              <a:rPr lang="en-US" altLang="en-US" b="1" dirty="0">
                <a:ea typeface="Times New Roman" panose="02020603050405020304" pitchFamily="18" charset="0"/>
                <a:cs typeface="Tahoma" panose="020B0604030504040204" pitchFamily="34" charset="0"/>
              </a:rPr>
              <a:t> </a:t>
            </a:r>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Each increment in demand leads to shrinkage in energy reserves forcing global adjustments in the use of energy. </a:t>
            </a:r>
            <a:endParaRPr lang="en-GB" altLang="en-US" sz="1400" b="1" dirty="0"/>
          </a:p>
          <a:p>
            <a:pPr marL="0" indent="0" algn="just" eaLnBrk="0" fontAlgn="base" hangingPunct="0">
              <a:spcBef>
                <a:spcPct val="0"/>
              </a:spcBef>
              <a:spcAft>
                <a:spcPct val="0"/>
              </a:spcAft>
              <a:buNone/>
            </a:pPr>
            <a:r>
              <a:rPr lang="en-US" altLang="en-US" b="1" dirty="0">
                <a:ea typeface="Times New Roman" panose="02020603050405020304" pitchFamily="18" charset="0"/>
                <a:cs typeface="Tahoma" panose="020B0604030504040204" pitchFamily="34" charset="0"/>
              </a:rPr>
              <a:t> </a:t>
            </a:r>
            <a:endParaRPr lang="en-GB" altLang="en-US" sz="1400" b="1" dirty="0"/>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                                                                                                                                                                                   Julian Simon’s argument on man’s ingenuity as the ultimate resource. </a:t>
            </a:r>
            <a:endParaRPr lang="en-US" altLang="en-US" sz="4000" b="1" dirty="0"/>
          </a:p>
          <a:p>
            <a:endParaRPr lang="en-GB" dirty="0"/>
          </a:p>
        </p:txBody>
      </p:sp>
    </p:spTree>
    <p:extLst>
      <p:ext uri="{BB962C8B-B14F-4D97-AF65-F5344CB8AC3E}">
        <p14:creationId xmlns:p14="http://schemas.microsoft.com/office/powerpoint/2010/main" val="37063542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1038</Words>
  <Application>Microsoft Office PowerPoint</Application>
  <PresentationFormat>Widescreen</PresentationFormat>
  <Paragraphs>129</Paragraphs>
  <Slides>15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PowerPoint Presentation</vt:lpstr>
      <vt:lpstr>CONTEMPORARY POPULATION PROBLEMS AND ISSUES  </vt:lpstr>
      <vt:lpstr>CONTEMPORARY POPULATION PROBLEMS AND ISSUES  </vt:lpstr>
      <vt:lpstr>CONTEMPORARY POPULATION PROBLEMS AND ISSUES  </vt:lpstr>
      <vt:lpstr>CONTEMPORARY POPULATION PROBLEMS AND ISSUES  </vt:lpstr>
      <vt:lpstr>CONTEMPORARY POPULATION PROBLEMS AND ISSUES  </vt:lpstr>
      <vt:lpstr>CONTEMPORARY POPULATION PROBLEMS AND ISSUES  </vt:lpstr>
      <vt:lpstr>CONTEMPORARY POPULATION PROBLEMS AND ISSUES  </vt:lpstr>
      <vt:lpstr>CONTEMPORARY POPULATION PROBLEMS AND ISSUES  </vt:lpstr>
      <vt:lpstr>CONTEMPORARY POPULATION PROBLEMS AND ISSUES  </vt:lpstr>
      <vt:lpstr>CONTEMPORARY POPULATION PROBLEMS AND ISSUES  </vt:lpstr>
      <vt:lpstr>PowerPoint Presentation</vt:lpstr>
      <vt:lpstr>PowerPoint Presentation</vt:lpstr>
      <vt:lpstr>FLYOVER ROAD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Musonda Lemba</dc:creator>
  <cp:lastModifiedBy>Musonda Lemba</cp:lastModifiedBy>
  <cp:revision>2</cp:revision>
  <dcterms:created xsi:type="dcterms:W3CDTF">2020-03-02T13:38:19Z</dcterms:created>
  <dcterms:modified xsi:type="dcterms:W3CDTF">2020-03-02T13:39:32Z</dcterms:modified>
</cp:coreProperties>
</file>