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488" r:id="rId3"/>
    <p:sldId id="493" r:id="rId4"/>
    <p:sldId id="489" r:id="rId5"/>
    <p:sldId id="492" r:id="rId6"/>
    <p:sldId id="491" r:id="rId7"/>
    <p:sldId id="494" r:id="rId8"/>
    <p:sldId id="495" r:id="rId9"/>
    <p:sldId id="564" r:id="rId10"/>
    <p:sldId id="565" r:id="rId11"/>
    <p:sldId id="573" r:id="rId12"/>
    <p:sldId id="578" r:id="rId13"/>
    <p:sldId id="574" r:id="rId14"/>
    <p:sldId id="575" r:id="rId15"/>
    <p:sldId id="503" r:id="rId16"/>
    <p:sldId id="507" r:id="rId17"/>
    <p:sldId id="508" r:id="rId18"/>
    <p:sldId id="510" r:id="rId19"/>
    <p:sldId id="512" r:id="rId20"/>
    <p:sldId id="511" r:id="rId21"/>
    <p:sldId id="513" r:id="rId22"/>
    <p:sldId id="514" r:id="rId23"/>
    <p:sldId id="515" r:id="rId24"/>
    <p:sldId id="516" r:id="rId25"/>
    <p:sldId id="517" r:id="rId26"/>
    <p:sldId id="518" r:id="rId27"/>
    <p:sldId id="519" r:id="rId28"/>
    <p:sldId id="530" r:id="rId29"/>
    <p:sldId id="520" r:id="rId30"/>
    <p:sldId id="531" r:id="rId31"/>
    <p:sldId id="522" r:id="rId32"/>
    <p:sldId id="523" r:id="rId33"/>
    <p:sldId id="529" r:id="rId34"/>
    <p:sldId id="524" r:id="rId35"/>
    <p:sldId id="532" r:id="rId36"/>
    <p:sldId id="534" r:id="rId37"/>
    <p:sldId id="533" r:id="rId38"/>
    <p:sldId id="527" r:id="rId39"/>
    <p:sldId id="528" r:id="rId40"/>
  </p:sldIdLst>
  <p:sldSz cx="12192000" cy="6858000"/>
  <p:notesSz cx="6858000" cy="9144000"/>
  <p:defaultText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1BD80E-14EE-46A8-9BB1-72B2A4759484}" type="datetimeFigureOut">
              <a:rPr lang="en-ZM" smtClean="0"/>
              <a:t>02/03/2020</a:t>
            </a:fld>
            <a:endParaRPr lang="en-Z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205F9-1709-450E-9288-24CAE12AA37C}" type="slidenum">
              <a:rPr lang="en-ZM" smtClean="0"/>
              <a:t>‹#›</a:t>
            </a:fld>
            <a:endParaRPr lang="en-ZM"/>
          </a:p>
        </p:txBody>
      </p:sp>
    </p:spTree>
    <p:extLst>
      <p:ext uri="{BB962C8B-B14F-4D97-AF65-F5344CB8AC3E}">
        <p14:creationId xmlns:p14="http://schemas.microsoft.com/office/powerpoint/2010/main" val="33712742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87D132D-4604-466E-9F6D-719526BB2D77}" type="slidenum">
              <a:rPr lang="en-GB" smtClean="0"/>
              <a:t>18</a:t>
            </a:fld>
            <a:endParaRPr lang="en-GB"/>
          </a:p>
        </p:txBody>
      </p:sp>
    </p:spTree>
    <p:extLst>
      <p:ext uri="{BB962C8B-B14F-4D97-AF65-F5344CB8AC3E}">
        <p14:creationId xmlns:p14="http://schemas.microsoft.com/office/powerpoint/2010/main" val="3274049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D447C-DC48-484B-BBDE-37EF65F98D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M"/>
          </a:p>
        </p:txBody>
      </p:sp>
      <p:sp>
        <p:nvSpPr>
          <p:cNvPr id="3" name="Subtitle 2">
            <a:extLst>
              <a:ext uri="{FF2B5EF4-FFF2-40B4-BE49-F238E27FC236}">
                <a16:creationId xmlns:a16="http://schemas.microsoft.com/office/drawing/2014/main" id="{47DC0C13-5FE7-487E-B55E-2A73FE8632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M"/>
          </a:p>
        </p:txBody>
      </p:sp>
      <p:sp>
        <p:nvSpPr>
          <p:cNvPr id="4" name="Date Placeholder 3">
            <a:extLst>
              <a:ext uri="{FF2B5EF4-FFF2-40B4-BE49-F238E27FC236}">
                <a16:creationId xmlns:a16="http://schemas.microsoft.com/office/drawing/2014/main" id="{E94EB7FB-1806-4706-9EBF-96A439B118C3}"/>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5" name="Footer Placeholder 4">
            <a:extLst>
              <a:ext uri="{FF2B5EF4-FFF2-40B4-BE49-F238E27FC236}">
                <a16:creationId xmlns:a16="http://schemas.microsoft.com/office/drawing/2014/main" id="{380F4B42-93A9-4515-88A6-267732DCDC7E}"/>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62523512-0D92-4491-B744-ECFD8FA0E1C6}"/>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4030570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5F151-9E42-4131-B5E3-CAA1874B761E}"/>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410C55D8-97EF-4580-91F9-CC5F45E23F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C638DD2C-33F2-495E-945C-46B3DBF1DA40}"/>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5" name="Footer Placeholder 4">
            <a:extLst>
              <a:ext uri="{FF2B5EF4-FFF2-40B4-BE49-F238E27FC236}">
                <a16:creationId xmlns:a16="http://schemas.microsoft.com/office/drawing/2014/main" id="{BA58807E-9A74-46A2-8E85-89B5A50ABC5B}"/>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DCAD544E-44EA-4A3D-B3F5-FCCC455C842C}"/>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3795734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A2337-8B17-4543-A69F-298EF165F7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M"/>
          </a:p>
        </p:txBody>
      </p:sp>
      <p:sp>
        <p:nvSpPr>
          <p:cNvPr id="3" name="Text Placeholder 2">
            <a:extLst>
              <a:ext uri="{FF2B5EF4-FFF2-40B4-BE49-F238E27FC236}">
                <a16:creationId xmlns:a16="http://schemas.microsoft.com/office/drawing/2014/main" id="{2585CACF-1CD4-4B4D-B4D6-378978E9B3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C994D8-B067-47B7-85C7-689C8AE0A4D3}"/>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5" name="Footer Placeholder 4">
            <a:extLst>
              <a:ext uri="{FF2B5EF4-FFF2-40B4-BE49-F238E27FC236}">
                <a16:creationId xmlns:a16="http://schemas.microsoft.com/office/drawing/2014/main" id="{A3AFA5D5-95EB-4769-8EF1-E8FC9F4B76B8}"/>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73250673-9FB5-483B-A250-136EA4CAC2F1}"/>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3102811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51D9-AE7A-4885-8B57-4FC22650B061}"/>
              </a:ext>
            </a:extLst>
          </p:cNvPr>
          <p:cNvSpPr>
            <a:spLocks noGrp="1"/>
          </p:cNvSpPr>
          <p:nvPr>
            <p:ph type="title"/>
          </p:nvPr>
        </p:nvSpPr>
        <p:spPr/>
        <p:txBody>
          <a:bodyPr/>
          <a:lstStyle/>
          <a:p>
            <a:r>
              <a:rPr lang="en-US"/>
              <a:t>Click to edit Master title style</a:t>
            </a:r>
            <a:endParaRPr lang="en-ZM"/>
          </a:p>
        </p:txBody>
      </p:sp>
      <p:sp>
        <p:nvSpPr>
          <p:cNvPr id="3" name="Content Placeholder 2">
            <a:extLst>
              <a:ext uri="{FF2B5EF4-FFF2-40B4-BE49-F238E27FC236}">
                <a16:creationId xmlns:a16="http://schemas.microsoft.com/office/drawing/2014/main" id="{38C6CE65-182E-457B-835A-B2D1302C19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Content Placeholder 3">
            <a:extLst>
              <a:ext uri="{FF2B5EF4-FFF2-40B4-BE49-F238E27FC236}">
                <a16:creationId xmlns:a16="http://schemas.microsoft.com/office/drawing/2014/main" id="{2943521D-E801-49B8-8E82-D7FF1A2EEE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Date Placeholder 4">
            <a:extLst>
              <a:ext uri="{FF2B5EF4-FFF2-40B4-BE49-F238E27FC236}">
                <a16:creationId xmlns:a16="http://schemas.microsoft.com/office/drawing/2014/main" id="{18E63AEF-0C30-4ACF-B14C-E54A9C2CDFF9}"/>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6" name="Footer Placeholder 5">
            <a:extLst>
              <a:ext uri="{FF2B5EF4-FFF2-40B4-BE49-F238E27FC236}">
                <a16:creationId xmlns:a16="http://schemas.microsoft.com/office/drawing/2014/main" id="{A068957E-5CA4-4566-89C4-B88D1E395BEB}"/>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09538C0D-AF3C-4255-B5C8-0986920408EC}"/>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3186303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93FBF-487F-4682-B40E-FD92E147AC88}"/>
              </a:ext>
            </a:extLst>
          </p:cNvPr>
          <p:cNvSpPr>
            <a:spLocks noGrp="1"/>
          </p:cNvSpPr>
          <p:nvPr>
            <p:ph type="title"/>
          </p:nvPr>
        </p:nvSpPr>
        <p:spPr>
          <a:xfrm>
            <a:off x="839788" y="365125"/>
            <a:ext cx="10515600" cy="1325563"/>
          </a:xfrm>
        </p:spPr>
        <p:txBody>
          <a:bodyPr/>
          <a:lstStyle/>
          <a:p>
            <a:r>
              <a:rPr lang="en-US"/>
              <a:t>Click to edit Master title style</a:t>
            </a:r>
            <a:endParaRPr lang="en-ZM"/>
          </a:p>
        </p:txBody>
      </p:sp>
      <p:sp>
        <p:nvSpPr>
          <p:cNvPr id="3" name="Text Placeholder 2">
            <a:extLst>
              <a:ext uri="{FF2B5EF4-FFF2-40B4-BE49-F238E27FC236}">
                <a16:creationId xmlns:a16="http://schemas.microsoft.com/office/drawing/2014/main" id="{B04141D6-7873-41B1-990D-1036651207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CB7DE2-450D-445B-A595-6942B34307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5" name="Text Placeholder 4">
            <a:extLst>
              <a:ext uri="{FF2B5EF4-FFF2-40B4-BE49-F238E27FC236}">
                <a16:creationId xmlns:a16="http://schemas.microsoft.com/office/drawing/2014/main" id="{F3977BA9-AAA7-4EAF-B7D1-1BACFA4BF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CC801A-13AB-4F74-A92B-4E3818468A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7" name="Date Placeholder 6">
            <a:extLst>
              <a:ext uri="{FF2B5EF4-FFF2-40B4-BE49-F238E27FC236}">
                <a16:creationId xmlns:a16="http://schemas.microsoft.com/office/drawing/2014/main" id="{8B02819F-AC62-4F45-8EC8-C2BDEBEBA835}"/>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8" name="Footer Placeholder 7">
            <a:extLst>
              <a:ext uri="{FF2B5EF4-FFF2-40B4-BE49-F238E27FC236}">
                <a16:creationId xmlns:a16="http://schemas.microsoft.com/office/drawing/2014/main" id="{356AEAC5-2139-448B-9BD0-C8BC858B46F6}"/>
              </a:ext>
            </a:extLst>
          </p:cNvPr>
          <p:cNvSpPr>
            <a:spLocks noGrp="1"/>
          </p:cNvSpPr>
          <p:nvPr>
            <p:ph type="ftr" sz="quarter" idx="11"/>
          </p:nvPr>
        </p:nvSpPr>
        <p:spPr/>
        <p:txBody>
          <a:bodyPr/>
          <a:lstStyle/>
          <a:p>
            <a:endParaRPr lang="en-ZM"/>
          </a:p>
        </p:txBody>
      </p:sp>
      <p:sp>
        <p:nvSpPr>
          <p:cNvPr id="9" name="Slide Number Placeholder 8">
            <a:extLst>
              <a:ext uri="{FF2B5EF4-FFF2-40B4-BE49-F238E27FC236}">
                <a16:creationId xmlns:a16="http://schemas.microsoft.com/office/drawing/2014/main" id="{F52FC372-9F6C-426D-9C30-C4550F892325}"/>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1070340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73233-E161-4A08-9783-1DB6892A66E2}"/>
              </a:ext>
            </a:extLst>
          </p:cNvPr>
          <p:cNvSpPr>
            <a:spLocks noGrp="1"/>
          </p:cNvSpPr>
          <p:nvPr>
            <p:ph type="title"/>
          </p:nvPr>
        </p:nvSpPr>
        <p:spPr/>
        <p:txBody>
          <a:bodyPr/>
          <a:lstStyle/>
          <a:p>
            <a:r>
              <a:rPr lang="en-US"/>
              <a:t>Click to edit Master title style</a:t>
            </a:r>
            <a:endParaRPr lang="en-ZM"/>
          </a:p>
        </p:txBody>
      </p:sp>
      <p:sp>
        <p:nvSpPr>
          <p:cNvPr id="3" name="Date Placeholder 2">
            <a:extLst>
              <a:ext uri="{FF2B5EF4-FFF2-40B4-BE49-F238E27FC236}">
                <a16:creationId xmlns:a16="http://schemas.microsoft.com/office/drawing/2014/main" id="{F4C176D9-5039-4DF2-A51F-FC492ECD85E8}"/>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4" name="Footer Placeholder 3">
            <a:extLst>
              <a:ext uri="{FF2B5EF4-FFF2-40B4-BE49-F238E27FC236}">
                <a16:creationId xmlns:a16="http://schemas.microsoft.com/office/drawing/2014/main" id="{79C4D2B1-46ED-4D6D-A3FF-B52452CC4A6F}"/>
              </a:ext>
            </a:extLst>
          </p:cNvPr>
          <p:cNvSpPr>
            <a:spLocks noGrp="1"/>
          </p:cNvSpPr>
          <p:nvPr>
            <p:ph type="ftr" sz="quarter" idx="11"/>
          </p:nvPr>
        </p:nvSpPr>
        <p:spPr/>
        <p:txBody>
          <a:bodyPr/>
          <a:lstStyle/>
          <a:p>
            <a:endParaRPr lang="en-ZM"/>
          </a:p>
        </p:txBody>
      </p:sp>
      <p:sp>
        <p:nvSpPr>
          <p:cNvPr id="5" name="Slide Number Placeholder 4">
            <a:extLst>
              <a:ext uri="{FF2B5EF4-FFF2-40B4-BE49-F238E27FC236}">
                <a16:creationId xmlns:a16="http://schemas.microsoft.com/office/drawing/2014/main" id="{7353A748-B30F-4525-B9D7-009FA5186357}"/>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2044632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A5A271-E8E2-440A-BBA6-5087FA787A89}"/>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3" name="Footer Placeholder 2">
            <a:extLst>
              <a:ext uri="{FF2B5EF4-FFF2-40B4-BE49-F238E27FC236}">
                <a16:creationId xmlns:a16="http://schemas.microsoft.com/office/drawing/2014/main" id="{41643957-3BCA-49B3-9463-998076EBA788}"/>
              </a:ext>
            </a:extLst>
          </p:cNvPr>
          <p:cNvSpPr>
            <a:spLocks noGrp="1"/>
          </p:cNvSpPr>
          <p:nvPr>
            <p:ph type="ftr" sz="quarter" idx="11"/>
          </p:nvPr>
        </p:nvSpPr>
        <p:spPr/>
        <p:txBody>
          <a:bodyPr/>
          <a:lstStyle/>
          <a:p>
            <a:endParaRPr lang="en-ZM"/>
          </a:p>
        </p:txBody>
      </p:sp>
      <p:sp>
        <p:nvSpPr>
          <p:cNvPr id="4" name="Slide Number Placeholder 3">
            <a:extLst>
              <a:ext uri="{FF2B5EF4-FFF2-40B4-BE49-F238E27FC236}">
                <a16:creationId xmlns:a16="http://schemas.microsoft.com/office/drawing/2014/main" id="{984C2DF8-A7D3-4370-8899-7AAF87214814}"/>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631538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C0854-04EF-46AA-A73C-41CE7E717A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Content Placeholder 2">
            <a:extLst>
              <a:ext uri="{FF2B5EF4-FFF2-40B4-BE49-F238E27FC236}">
                <a16:creationId xmlns:a16="http://schemas.microsoft.com/office/drawing/2014/main" id="{5639578E-106D-49D9-B7BE-8494CC274F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Text Placeholder 3">
            <a:extLst>
              <a:ext uri="{FF2B5EF4-FFF2-40B4-BE49-F238E27FC236}">
                <a16:creationId xmlns:a16="http://schemas.microsoft.com/office/drawing/2014/main" id="{324DA8A1-FECA-4C9B-B641-418208E1A3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A7C641-F8EC-4F0E-A6EE-C9D8F25E907B}"/>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6" name="Footer Placeholder 5">
            <a:extLst>
              <a:ext uri="{FF2B5EF4-FFF2-40B4-BE49-F238E27FC236}">
                <a16:creationId xmlns:a16="http://schemas.microsoft.com/office/drawing/2014/main" id="{07BC937C-CF12-492E-A41C-58E64470C770}"/>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242E3D1F-7BC6-4EA4-AC0F-F6E92B58BC25}"/>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94816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D1B2-B36F-48C6-86E9-82142082CF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M"/>
          </a:p>
        </p:txBody>
      </p:sp>
      <p:sp>
        <p:nvSpPr>
          <p:cNvPr id="3" name="Picture Placeholder 2">
            <a:extLst>
              <a:ext uri="{FF2B5EF4-FFF2-40B4-BE49-F238E27FC236}">
                <a16:creationId xmlns:a16="http://schemas.microsoft.com/office/drawing/2014/main" id="{4BAA5001-748F-4D28-AB11-198525BDE3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M"/>
          </a:p>
        </p:txBody>
      </p:sp>
      <p:sp>
        <p:nvSpPr>
          <p:cNvPr id="4" name="Text Placeholder 3">
            <a:extLst>
              <a:ext uri="{FF2B5EF4-FFF2-40B4-BE49-F238E27FC236}">
                <a16:creationId xmlns:a16="http://schemas.microsoft.com/office/drawing/2014/main" id="{281BB53C-023D-4480-B3E3-E49622E4C1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134141-4A3B-4B05-B0C1-824B506AD047}"/>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6" name="Footer Placeholder 5">
            <a:extLst>
              <a:ext uri="{FF2B5EF4-FFF2-40B4-BE49-F238E27FC236}">
                <a16:creationId xmlns:a16="http://schemas.microsoft.com/office/drawing/2014/main" id="{117C20D3-8A0A-4B6F-BFAF-BB1FE3748C29}"/>
              </a:ext>
            </a:extLst>
          </p:cNvPr>
          <p:cNvSpPr>
            <a:spLocks noGrp="1"/>
          </p:cNvSpPr>
          <p:nvPr>
            <p:ph type="ftr" sz="quarter" idx="11"/>
          </p:nvPr>
        </p:nvSpPr>
        <p:spPr/>
        <p:txBody>
          <a:bodyPr/>
          <a:lstStyle/>
          <a:p>
            <a:endParaRPr lang="en-ZM"/>
          </a:p>
        </p:txBody>
      </p:sp>
      <p:sp>
        <p:nvSpPr>
          <p:cNvPr id="7" name="Slide Number Placeholder 6">
            <a:extLst>
              <a:ext uri="{FF2B5EF4-FFF2-40B4-BE49-F238E27FC236}">
                <a16:creationId xmlns:a16="http://schemas.microsoft.com/office/drawing/2014/main" id="{C0BC7817-BE3C-4586-AC57-8221B155DD9B}"/>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2267124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847BA-A6DA-409A-AFF5-C5062D880997}"/>
              </a:ext>
            </a:extLst>
          </p:cNvPr>
          <p:cNvSpPr>
            <a:spLocks noGrp="1"/>
          </p:cNvSpPr>
          <p:nvPr>
            <p:ph type="title"/>
          </p:nvPr>
        </p:nvSpPr>
        <p:spPr/>
        <p:txBody>
          <a:bodyPr/>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22514426-DA5C-4E3C-9C3B-27B9AED024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35EC13CF-B17F-4DAD-89B7-954EBA5DFC76}"/>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5" name="Footer Placeholder 4">
            <a:extLst>
              <a:ext uri="{FF2B5EF4-FFF2-40B4-BE49-F238E27FC236}">
                <a16:creationId xmlns:a16="http://schemas.microsoft.com/office/drawing/2014/main" id="{87E05D22-E0AE-4C30-A185-9DDD38835791}"/>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D3BE73A7-1C85-4520-8902-498E61FE79EC}"/>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831359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08865A-7AE5-4FD1-901B-7C30F72CBF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M"/>
          </a:p>
        </p:txBody>
      </p:sp>
      <p:sp>
        <p:nvSpPr>
          <p:cNvPr id="3" name="Vertical Text Placeholder 2">
            <a:extLst>
              <a:ext uri="{FF2B5EF4-FFF2-40B4-BE49-F238E27FC236}">
                <a16:creationId xmlns:a16="http://schemas.microsoft.com/office/drawing/2014/main" id="{9837D160-9669-4E52-97E9-737D955745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7F8D6C20-AC80-46A3-BAB1-672D1DA575EB}"/>
              </a:ext>
            </a:extLst>
          </p:cNvPr>
          <p:cNvSpPr>
            <a:spLocks noGrp="1"/>
          </p:cNvSpPr>
          <p:nvPr>
            <p:ph type="dt" sz="half" idx="10"/>
          </p:nvPr>
        </p:nvSpPr>
        <p:spPr/>
        <p:txBody>
          <a:bodyPr/>
          <a:lstStyle/>
          <a:p>
            <a:fld id="{D54075E1-BB84-4ED3-822C-90C29A34D071}" type="datetimeFigureOut">
              <a:rPr lang="en-ZM" smtClean="0"/>
              <a:t>02/03/2020</a:t>
            </a:fld>
            <a:endParaRPr lang="en-ZM"/>
          </a:p>
        </p:txBody>
      </p:sp>
      <p:sp>
        <p:nvSpPr>
          <p:cNvPr id="5" name="Footer Placeholder 4">
            <a:extLst>
              <a:ext uri="{FF2B5EF4-FFF2-40B4-BE49-F238E27FC236}">
                <a16:creationId xmlns:a16="http://schemas.microsoft.com/office/drawing/2014/main" id="{53BB1438-000C-490D-850A-9BE42BDB4903}"/>
              </a:ext>
            </a:extLst>
          </p:cNvPr>
          <p:cNvSpPr>
            <a:spLocks noGrp="1"/>
          </p:cNvSpPr>
          <p:nvPr>
            <p:ph type="ftr" sz="quarter" idx="11"/>
          </p:nvPr>
        </p:nvSpPr>
        <p:spPr/>
        <p:txBody>
          <a:bodyPr/>
          <a:lstStyle/>
          <a:p>
            <a:endParaRPr lang="en-ZM"/>
          </a:p>
        </p:txBody>
      </p:sp>
      <p:sp>
        <p:nvSpPr>
          <p:cNvPr id="6" name="Slide Number Placeholder 5">
            <a:extLst>
              <a:ext uri="{FF2B5EF4-FFF2-40B4-BE49-F238E27FC236}">
                <a16:creationId xmlns:a16="http://schemas.microsoft.com/office/drawing/2014/main" id="{70FE725A-AC75-4D03-A210-29A15D928191}"/>
              </a:ext>
            </a:extLst>
          </p:cNvPr>
          <p:cNvSpPr>
            <a:spLocks noGrp="1"/>
          </p:cNvSpPr>
          <p:nvPr>
            <p:ph type="sldNum" sz="quarter" idx="12"/>
          </p:nvPr>
        </p:nvSpPr>
        <p:spPr/>
        <p:txBody>
          <a:bodyPr/>
          <a:lstStyle/>
          <a:p>
            <a:fld id="{1E94E43D-C5B8-4EED-9278-C2393E5815FF}" type="slidenum">
              <a:rPr lang="en-ZM" smtClean="0"/>
              <a:t>‹#›</a:t>
            </a:fld>
            <a:endParaRPr lang="en-ZM"/>
          </a:p>
        </p:txBody>
      </p:sp>
    </p:spTree>
    <p:extLst>
      <p:ext uri="{BB962C8B-B14F-4D97-AF65-F5344CB8AC3E}">
        <p14:creationId xmlns:p14="http://schemas.microsoft.com/office/powerpoint/2010/main" val="3862025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3EDF35-1CE9-4138-8A92-AC59B85428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M"/>
          </a:p>
        </p:txBody>
      </p:sp>
      <p:sp>
        <p:nvSpPr>
          <p:cNvPr id="3" name="Text Placeholder 2">
            <a:extLst>
              <a:ext uri="{FF2B5EF4-FFF2-40B4-BE49-F238E27FC236}">
                <a16:creationId xmlns:a16="http://schemas.microsoft.com/office/drawing/2014/main" id="{53E68E50-07E0-4240-951D-C246174CC8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M"/>
          </a:p>
        </p:txBody>
      </p:sp>
      <p:sp>
        <p:nvSpPr>
          <p:cNvPr id="4" name="Date Placeholder 3">
            <a:extLst>
              <a:ext uri="{FF2B5EF4-FFF2-40B4-BE49-F238E27FC236}">
                <a16:creationId xmlns:a16="http://schemas.microsoft.com/office/drawing/2014/main" id="{F90D9285-9A43-470A-9559-25CBD31EF0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4075E1-BB84-4ED3-822C-90C29A34D071}" type="datetimeFigureOut">
              <a:rPr lang="en-ZM" smtClean="0"/>
              <a:t>02/03/2020</a:t>
            </a:fld>
            <a:endParaRPr lang="en-ZM"/>
          </a:p>
        </p:txBody>
      </p:sp>
      <p:sp>
        <p:nvSpPr>
          <p:cNvPr id="5" name="Footer Placeholder 4">
            <a:extLst>
              <a:ext uri="{FF2B5EF4-FFF2-40B4-BE49-F238E27FC236}">
                <a16:creationId xmlns:a16="http://schemas.microsoft.com/office/drawing/2014/main" id="{F3E2BB86-7784-4A4C-A2D4-F46784B792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ZM"/>
          </a:p>
        </p:txBody>
      </p:sp>
      <p:sp>
        <p:nvSpPr>
          <p:cNvPr id="6" name="Slide Number Placeholder 5">
            <a:extLst>
              <a:ext uri="{FF2B5EF4-FFF2-40B4-BE49-F238E27FC236}">
                <a16:creationId xmlns:a16="http://schemas.microsoft.com/office/drawing/2014/main" id="{6985933C-05DC-4EFA-90F1-116EC85531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94E43D-C5B8-4EED-9278-C2393E5815FF}" type="slidenum">
              <a:rPr lang="en-ZM" smtClean="0"/>
              <a:t>‹#›</a:t>
            </a:fld>
            <a:endParaRPr lang="en-ZM"/>
          </a:p>
        </p:txBody>
      </p:sp>
    </p:spTree>
    <p:extLst>
      <p:ext uri="{BB962C8B-B14F-4D97-AF65-F5344CB8AC3E}">
        <p14:creationId xmlns:p14="http://schemas.microsoft.com/office/powerpoint/2010/main" val="2674194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Z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en.wikipedia.org/wiki/Demographic_dividend#cite_note-3"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590C3-5270-454C-A2A1-24C392F9B540}"/>
              </a:ext>
            </a:extLst>
          </p:cNvPr>
          <p:cNvSpPr>
            <a:spLocks noGrp="1"/>
          </p:cNvSpPr>
          <p:nvPr>
            <p:ph type="ctrTitle"/>
          </p:nvPr>
        </p:nvSpPr>
        <p:spPr/>
        <p:txBody>
          <a:bodyPr/>
          <a:lstStyle/>
          <a:p>
            <a:endParaRPr lang="en-ZM"/>
          </a:p>
        </p:txBody>
      </p:sp>
      <p:sp>
        <p:nvSpPr>
          <p:cNvPr id="3" name="Subtitle 2">
            <a:extLst>
              <a:ext uri="{FF2B5EF4-FFF2-40B4-BE49-F238E27FC236}">
                <a16:creationId xmlns:a16="http://schemas.microsoft.com/office/drawing/2014/main" id="{EFA265D9-6625-4AAB-A3E2-60DD3BD07738}"/>
              </a:ext>
            </a:extLst>
          </p:cNvPr>
          <p:cNvSpPr>
            <a:spLocks noGrp="1"/>
          </p:cNvSpPr>
          <p:nvPr>
            <p:ph type="subTitle" idx="1"/>
          </p:nvPr>
        </p:nvSpPr>
        <p:spPr/>
        <p:txBody>
          <a:bodyPr/>
          <a:lstStyle/>
          <a:p>
            <a:endParaRPr lang="en-ZM"/>
          </a:p>
        </p:txBody>
      </p:sp>
    </p:spTree>
    <p:extLst>
      <p:ext uri="{BB962C8B-B14F-4D97-AF65-F5344CB8AC3E}">
        <p14:creationId xmlns:p14="http://schemas.microsoft.com/office/powerpoint/2010/main" val="1416704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DEMOGRAPHY</a:t>
            </a:r>
          </a:p>
        </p:txBody>
      </p:sp>
      <p:sp>
        <p:nvSpPr>
          <p:cNvPr id="3" name="Content Placeholder 2"/>
          <p:cNvSpPr>
            <a:spLocks noGrp="1"/>
          </p:cNvSpPr>
          <p:nvPr>
            <p:ph idx="1"/>
          </p:nvPr>
        </p:nvSpPr>
        <p:spPr/>
        <p:txBody>
          <a:bodyPr>
            <a:normAutofit fontScale="77500" lnSpcReduction="20000"/>
          </a:bodyPr>
          <a:lstStyle/>
          <a:p>
            <a:pPr marL="0" indent="0">
              <a:buNone/>
            </a:pPr>
            <a:endParaRPr lang="en-GB" dirty="0"/>
          </a:p>
          <a:p>
            <a:pPr lvl="0" algn="just"/>
            <a:r>
              <a:rPr lang="en-US" b="1" dirty="0"/>
              <a:t>This involves the applications of demographic information and methods in business and public administration.</a:t>
            </a:r>
            <a:endParaRPr lang="en-GB" b="1" dirty="0"/>
          </a:p>
          <a:p>
            <a:pPr marL="0" indent="0" algn="just">
              <a:buNone/>
            </a:pPr>
            <a:endParaRPr lang="en-GB" b="1" dirty="0"/>
          </a:p>
          <a:p>
            <a:pPr lvl="0" algn="just"/>
            <a:r>
              <a:rPr lang="en-US" b="1" dirty="0"/>
              <a:t>The involvement is in the following fields.</a:t>
            </a:r>
            <a:endParaRPr lang="en-GB" b="1" dirty="0"/>
          </a:p>
          <a:p>
            <a:pPr marL="0" indent="0" algn="just">
              <a:buNone/>
            </a:pPr>
            <a:endParaRPr lang="en-GB" b="1" dirty="0"/>
          </a:p>
          <a:p>
            <a:pPr lvl="0" algn="just"/>
            <a:r>
              <a:rPr lang="en-US" b="1" dirty="0"/>
              <a:t>Business planning</a:t>
            </a:r>
            <a:endParaRPr lang="en-GB" b="1" dirty="0"/>
          </a:p>
          <a:p>
            <a:pPr algn="just"/>
            <a:r>
              <a:rPr lang="en-US" b="1" dirty="0"/>
              <a:t>- Human resource management</a:t>
            </a:r>
            <a:endParaRPr lang="en-GB" b="1" dirty="0"/>
          </a:p>
          <a:p>
            <a:pPr lvl="0" algn="just"/>
            <a:r>
              <a:rPr lang="en-US" b="1" dirty="0"/>
              <a:t>- Marketing</a:t>
            </a:r>
            <a:endParaRPr lang="en-GB" b="1" dirty="0"/>
          </a:p>
          <a:p>
            <a:pPr lvl="0" algn="just"/>
            <a:r>
              <a:rPr lang="en-US" b="1" dirty="0"/>
              <a:t>- Investment</a:t>
            </a:r>
            <a:endParaRPr lang="en-GB" b="1" dirty="0"/>
          </a:p>
          <a:p>
            <a:pPr lvl="0" algn="just"/>
            <a:r>
              <a:rPr lang="en-US" b="1" dirty="0"/>
              <a:t>- Management demographics</a:t>
            </a:r>
            <a:endParaRPr lang="en-GB" b="1" dirty="0"/>
          </a:p>
          <a:p>
            <a:pPr lvl="0" algn="just"/>
            <a:r>
              <a:rPr lang="en-US" b="1" dirty="0"/>
              <a:t>- Insurance</a:t>
            </a:r>
            <a:endParaRPr lang="en-GB" b="1" dirty="0"/>
          </a:p>
          <a:p>
            <a:pPr marL="0" indent="0" algn="just">
              <a:buNone/>
            </a:pPr>
            <a:endParaRPr lang="en-GB" b="1" dirty="0"/>
          </a:p>
        </p:txBody>
      </p:sp>
    </p:spTree>
    <p:extLst>
      <p:ext uri="{BB962C8B-B14F-4D97-AF65-F5344CB8AC3E}">
        <p14:creationId xmlns:p14="http://schemas.microsoft.com/office/powerpoint/2010/main" val="506987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lnSpcReduction="10000"/>
          </a:bodyPr>
          <a:lstStyle/>
          <a:p>
            <a:pPr lvl="0" algn="just"/>
            <a:r>
              <a:rPr lang="en-US" b="1" dirty="0"/>
              <a:t>Social planning  </a:t>
            </a:r>
            <a:endParaRPr lang="en-GB" b="1" dirty="0"/>
          </a:p>
          <a:p>
            <a:pPr algn="just"/>
            <a:r>
              <a:rPr lang="en-US" b="1" dirty="0"/>
              <a:t> </a:t>
            </a:r>
            <a:endParaRPr lang="en-GB" b="1" dirty="0"/>
          </a:p>
          <a:p>
            <a:pPr lvl="0" algn="just"/>
            <a:r>
              <a:rPr lang="en-US" b="1" dirty="0"/>
              <a:t>- Education</a:t>
            </a:r>
            <a:endParaRPr lang="en-GB" b="1" dirty="0"/>
          </a:p>
          <a:p>
            <a:pPr lvl="0" algn="just"/>
            <a:r>
              <a:rPr lang="en-US" b="1" dirty="0"/>
              <a:t>- Public services</a:t>
            </a:r>
            <a:endParaRPr lang="en-GB" b="1" dirty="0"/>
          </a:p>
          <a:p>
            <a:pPr lvl="0" algn="just"/>
            <a:r>
              <a:rPr lang="en-US" b="1" dirty="0"/>
              <a:t>- Health services</a:t>
            </a:r>
            <a:endParaRPr lang="en-GB" b="1" dirty="0"/>
          </a:p>
          <a:p>
            <a:pPr marL="0" indent="0" algn="just">
              <a:buNone/>
            </a:pPr>
            <a:endParaRPr lang="en-GB" b="1" dirty="0"/>
          </a:p>
          <a:p>
            <a:pPr lvl="0" algn="just"/>
            <a:r>
              <a:rPr lang="en-US" b="1" dirty="0"/>
              <a:t>Political planning</a:t>
            </a:r>
          </a:p>
          <a:p>
            <a:pPr lvl="0" algn="just"/>
            <a:r>
              <a:rPr lang="en-US" b="1" dirty="0"/>
              <a:t>- Legislative analysis</a:t>
            </a:r>
          </a:p>
          <a:p>
            <a:pPr lvl="0" algn="just"/>
            <a:r>
              <a:rPr lang="en-US" b="1" dirty="0"/>
              <a:t>- Campaign strategizing</a:t>
            </a:r>
            <a:endParaRPr lang="en-GB" b="1" dirty="0"/>
          </a:p>
          <a:p>
            <a:endParaRPr lang="en-GB" dirty="0"/>
          </a:p>
        </p:txBody>
      </p:sp>
    </p:spTree>
    <p:extLst>
      <p:ext uri="{BB962C8B-B14F-4D97-AF65-F5344CB8AC3E}">
        <p14:creationId xmlns:p14="http://schemas.microsoft.com/office/powerpoint/2010/main" val="801046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HUMAN RESOURCE MANAGEMENT</a:t>
            </a:r>
            <a:br>
              <a:rPr lang="en-GB" b="1" dirty="0"/>
            </a:br>
            <a:endParaRPr lang="en-GB" dirty="0"/>
          </a:p>
        </p:txBody>
      </p:sp>
      <p:sp>
        <p:nvSpPr>
          <p:cNvPr id="3" name="Content Placeholder 2"/>
          <p:cNvSpPr>
            <a:spLocks noGrp="1"/>
          </p:cNvSpPr>
          <p:nvPr>
            <p:ph idx="1"/>
          </p:nvPr>
        </p:nvSpPr>
        <p:spPr/>
        <p:txBody>
          <a:bodyPr>
            <a:normAutofit fontScale="40000" lnSpcReduction="20000"/>
          </a:bodyPr>
          <a:lstStyle/>
          <a:p>
            <a:pPr algn="just"/>
            <a:r>
              <a:rPr lang="en-US" b="1" dirty="0"/>
              <a:t>BUSINESS PLANNING</a:t>
            </a:r>
          </a:p>
          <a:p>
            <a:pPr algn="just"/>
            <a:endParaRPr lang="en-GB" b="1" dirty="0"/>
          </a:p>
          <a:p>
            <a:r>
              <a:rPr lang="en-US" b="1" dirty="0"/>
              <a:t>INTERNAL DEMOGRAPHICS</a:t>
            </a:r>
            <a:endParaRPr lang="en-GB" dirty="0"/>
          </a:p>
          <a:p>
            <a:pPr marL="0" indent="0" algn="just">
              <a:buNone/>
            </a:pPr>
            <a:endParaRPr lang="en-GB" b="1" dirty="0"/>
          </a:p>
          <a:p>
            <a:pPr lvl="0" algn="just"/>
            <a:r>
              <a:rPr lang="en-US" b="1" dirty="0"/>
              <a:t>This is concerned with the understanding, at the micro – level, of the demographic characteristics of institutions or companies.</a:t>
            </a:r>
            <a:endParaRPr lang="en-GB" b="1" dirty="0"/>
          </a:p>
          <a:p>
            <a:pPr algn="just"/>
            <a:r>
              <a:rPr lang="en-US" b="1" dirty="0"/>
              <a:t> </a:t>
            </a:r>
            <a:endParaRPr lang="en-GB" b="1" dirty="0"/>
          </a:p>
          <a:p>
            <a:pPr algn="just"/>
            <a:endParaRPr lang="en-GB" b="1" dirty="0"/>
          </a:p>
          <a:p>
            <a:pPr lvl="0" algn="just"/>
            <a:r>
              <a:rPr lang="en-US" b="1" dirty="0"/>
              <a:t>HUMAN RESOURCE MANAGEMENT</a:t>
            </a:r>
            <a:endParaRPr lang="en-GB" b="1" dirty="0"/>
          </a:p>
          <a:p>
            <a:pPr marL="0" indent="0" algn="just">
              <a:buNone/>
            </a:pPr>
            <a:r>
              <a:rPr lang="en-US" b="1" dirty="0"/>
              <a:t> </a:t>
            </a:r>
            <a:endParaRPr lang="en-GB" b="1" dirty="0"/>
          </a:p>
          <a:p>
            <a:pPr lvl="0" algn="just"/>
            <a:r>
              <a:rPr lang="en-US" b="1" dirty="0"/>
              <a:t>Management in organizations have to have knowledge of population composition of its work force in order to maximize productivity and profitability.</a:t>
            </a:r>
            <a:endParaRPr lang="en-GB" b="1" dirty="0"/>
          </a:p>
          <a:p>
            <a:pPr algn="just"/>
            <a:endParaRPr lang="en-GB" b="1" dirty="0"/>
          </a:p>
          <a:p>
            <a:pPr lvl="0" algn="just"/>
            <a:r>
              <a:rPr lang="en-US" b="1" dirty="0"/>
              <a:t>This is also done in order to adequately respond to the employee’s needs because these depend on the employees demographic and non-demographic characteristics. </a:t>
            </a:r>
            <a:endParaRPr lang="en-GB" b="1" dirty="0"/>
          </a:p>
          <a:p>
            <a:pPr marL="0" indent="0" algn="just">
              <a:buNone/>
            </a:pPr>
            <a:endParaRPr lang="en-GB" b="1" dirty="0"/>
          </a:p>
          <a:p>
            <a:pPr lvl="0" algn="just"/>
            <a:r>
              <a:rPr lang="en-US" b="1" dirty="0"/>
              <a:t>Responding to the employees these needs increases worker morale, motivation, and productivity, and therefore profitability.</a:t>
            </a:r>
            <a:endParaRPr lang="en-GB" b="1" dirty="0"/>
          </a:p>
          <a:p>
            <a:pPr marL="0" indent="0" algn="just">
              <a:buNone/>
            </a:pPr>
            <a:endParaRPr lang="en-GB" b="1" dirty="0"/>
          </a:p>
          <a:p>
            <a:pPr lvl="0" algn="just"/>
            <a:r>
              <a:rPr lang="en-US" b="1" dirty="0"/>
              <a:t>This requires breaking up the population composition in terms of the demographic and non-demographic variables such as age, sex, marital status, education, skills level, and training.</a:t>
            </a:r>
            <a:endParaRPr lang="en-GB" b="1" dirty="0"/>
          </a:p>
          <a:p>
            <a:pPr algn="just"/>
            <a:endParaRPr lang="en-GB" b="1" dirty="0"/>
          </a:p>
          <a:p>
            <a:pPr marL="0" indent="0">
              <a:buNone/>
            </a:pPr>
            <a:endParaRPr lang="en-GB" dirty="0"/>
          </a:p>
        </p:txBody>
      </p:sp>
    </p:spTree>
    <p:extLst>
      <p:ext uri="{BB962C8B-B14F-4D97-AF65-F5344CB8AC3E}">
        <p14:creationId xmlns:p14="http://schemas.microsoft.com/office/powerpoint/2010/main" val="8864467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HUMAN RESOURCE MANAGEMENT</a:t>
            </a:r>
            <a:br>
              <a:rPr lang="en-GB" b="1" dirty="0"/>
            </a:br>
            <a:endParaRPr lang="en-GB" dirty="0"/>
          </a:p>
        </p:txBody>
      </p:sp>
      <p:sp>
        <p:nvSpPr>
          <p:cNvPr id="3" name="Content Placeholder 2"/>
          <p:cNvSpPr>
            <a:spLocks noGrp="1"/>
          </p:cNvSpPr>
          <p:nvPr>
            <p:ph idx="1"/>
          </p:nvPr>
        </p:nvSpPr>
        <p:spPr/>
        <p:txBody>
          <a:bodyPr>
            <a:normAutofit fontScale="70000" lnSpcReduction="20000"/>
          </a:bodyPr>
          <a:lstStyle/>
          <a:p>
            <a:r>
              <a:rPr lang="en-US" dirty="0"/>
              <a:t>The demographic profile of a company will influence decision making in the following way:</a:t>
            </a:r>
            <a:endParaRPr lang="en-GB" dirty="0"/>
          </a:p>
          <a:p>
            <a:r>
              <a:rPr lang="en-US" dirty="0"/>
              <a:t> </a:t>
            </a:r>
            <a:endParaRPr lang="en-GB" dirty="0"/>
          </a:p>
          <a:p>
            <a:r>
              <a:rPr lang="en-US" b="1" dirty="0"/>
              <a:t>Age</a:t>
            </a:r>
            <a:r>
              <a:rPr lang="en-US" dirty="0"/>
              <a:t> – Staff development, training, education, and retirement decisions depends on the distribution of the work force by age.</a:t>
            </a:r>
            <a:endParaRPr lang="en-GB" dirty="0"/>
          </a:p>
          <a:p>
            <a:r>
              <a:rPr lang="en-US" dirty="0"/>
              <a:t> </a:t>
            </a:r>
            <a:endParaRPr lang="en-GB" dirty="0"/>
          </a:p>
          <a:p>
            <a:r>
              <a:rPr lang="en-US" b="1" dirty="0"/>
              <a:t>Sex</a:t>
            </a:r>
            <a:r>
              <a:rPr lang="en-US" dirty="0"/>
              <a:t> - Affirmative action policies and staff development of the disadvantaged sex category.</a:t>
            </a:r>
            <a:endParaRPr lang="en-GB" dirty="0"/>
          </a:p>
          <a:p>
            <a:r>
              <a:rPr lang="en-US" dirty="0"/>
              <a:t> </a:t>
            </a:r>
            <a:endParaRPr lang="en-GB" dirty="0"/>
          </a:p>
          <a:p>
            <a:r>
              <a:rPr lang="en-US" b="1" dirty="0"/>
              <a:t>Marital status</a:t>
            </a:r>
            <a:r>
              <a:rPr lang="en-US" dirty="0"/>
              <a:t> - Child care and maternity policies will dependent will dependent on the distribution of work force by marital status and sex.</a:t>
            </a:r>
            <a:endParaRPr lang="en-GB" dirty="0"/>
          </a:p>
          <a:p>
            <a:r>
              <a:rPr lang="en-US" dirty="0"/>
              <a:t> </a:t>
            </a:r>
            <a:endParaRPr lang="en-GB" dirty="0"/>
          </a:p>
          <a:p>
            <a:r>
              <a:rPr lang="en-US" dirty="0"/>
              <a:t>Taking account of the demographic characteristics of the work force in this way may influence levels of productivity and profitability of a company.</a:t>
            </a:r>
            <a:endParaRPr lang="en-GB" dirty="0"/>
          </a:p>
          <a:p>
            <a:endParaRPr lang="en-GB" dirty="0"/>
          </a:p>
        </p:txBody>
      </p:sp>
    </p:spTree>
    <p:extLst>
      <p:ext uri="{BB962C8B-B14F-4D97-AF65-F5344CB8AC3E}">
        <p14:creationId xmlns:p14="http://schemas.microsoft.com/office/powerpoint/2010/main" val="816584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HUMAN RESOURCE MANAGEMENT</a:t>
            </a:r>
            <a:br>
              <a:rPr lang="en-GB" b="1" dirty="0"/>
            </a:br>
            <a:endParaRPr lang="en-GB" dirty="0"/>
          </a:p>
        </p:txBody>
      </p:sp>
      <p:sp>
        <p:nvSpPr>
          <p:cNvPr id="3" name="Content Placeholder 2"/>
          <p:cNvSpPr>
            <a:spLocks noGrp="1"/>
          </p:cNvSpPr>
          <p:nvPr>
            <p:ph idx="1"/>
          </p:nvPr>
        </p:nvSpPr>
        <p:spPr/>
        <p:txBody>
          <a:bodyPr/>
          <a:lstStyle/>
          <a:p>
            <a:pPr algn="just"/>
            <a:r>
              <a:rPr lang="en-US" b="1" dirty="0"/>
              <a:t>The </a:t>
            </a:r>
            <a:r>
              <a:rPr lang="en-US" b="1" dirty="0" err="1"/>
              <a:t>HRM</a:t>
            </a:r>
            <a:r>
              <a:rPr lang="en-US" b="1" dirty="0"/>
              <a:t>, must understand EXTERNAL DEMOGRAPHICS</a:t>
            </a:r>
            <a:endParaRPr lang="en-GB" b="1" dirty="0"/>
          </a:p>
          <a:p>
            <a:pPr algn="just"/>
            <a:r>
              <a:rPr lang="en-US" b="1" dirty="0"/>
              <a:t> </a:t>
            </a:r>
            <a:endParaRPr lang="en-GB" b="1" dirty="0"/>
          </a:p>
          <a:p>
            <a:pPr algn="just"/>
            <a:r>
              <a:rPr lang="en-US" b="1" dirty="0"/>
              <a:t>This refers to the influence of demographic influences outside the organization that may impact on the work force of a company and its operations internally</a:t>
            </a:r>
            <a:endParaRPr lang="en-GB" b="1" dirty="0"/>
          </a:p>
        </p:txBody>
      </p:sp>
    </p:spTree>
    <p:extLst>
      <p:ext uri="{BB962C8B-B14F-4D97-AF65-F5344CB8AC3E}">
        <p14:creationId xmlns:p14="http://schemas.microsoft.com/office/powerpoint/2010/main" val="585761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HUMAN RESOURCE MANAGEMENT</a:t>
            </a:r>
            <a:br>
              <a:rPr lang="en-GB" b="1" dirty="0"/>
            </a:br>
            <a:endParaRPr lang="en-GB" dirty="0"/>
          </a:p>
        </p:txBody>
      </p:sp>
      <p:sp>
        <p:nvSpPr>
          <p:cNvPr id="3" name="Content Placeholder 2"/>
          <p:cNvSpPr>
            <a:spLocks noGrp="1"/>
          </p:cNvSpPr>
          <p:nvPr>
            <p:ph idx="1"/>
          </p:nvPr>
        </p:nvSpPr>
        <p:spPr/>
        <p:txBody>
          <a:bodyPr>
            <a:normAutofit fontScale="62500" lnSpcReduction="20000"/>
          </a:bodyPr>
          <a:lstStyle/>
          <a:p>
            <a:r>
              <a:rPr lang="en-US" dirty="0"/>
              <a:t> </a:t>
            </a:r>
            <a:endParaRPr lang="en-GB" dirty="0"/>
          </a:p>
          <a:p>
            <a:pPr lvl="0" algn="just"/>
            <a:r>
              <a:rPr lang="en-US" b="1" dirty="0"/>
              <a:t>Fertility, mortality, and migration in the general population outside the company will influence </a:t>
            </a:r>
            <a:r>
              <a:rPr lang="en-US" b="1" dirty="0" err="1"/>
              <a:t>labour</a:t>
            </a:r>
            <a:r>
              <a:rPr lang="en-US" b="1" dirty="0"/>
              <a:t> force size.</a:t>
            </a:r>
            <a:endParaRPr lang="en-GB" b="1" dirty="0"/>
          </a:p>
          <a:p>
            <a:pPr algn="just"/>
            <a:r>
              <a:rPr lang="en-US" b="1" dirty="0"/>
              <a:t> </a:t>
            </a:r>
            <a:endParaRPr lang="en-GB" b="1" dirty="0"/>
          </a:p>
          <a:p>
            <a:pPr lvl="0" algn="just"/>
            <a:r>
              <a:rPr lang="en-US" b="1" dirty="0"/>
              <a:t>This will influence the decline or increase in the size of the </a:t>
            </a:r>
            <a:r>
              <a:rPr lang="en-US" b="1" dirty="0" err="1"/>
              <a:t>labour</a:t>
            </a:r>
            <a:r>
              <a:rPr lang="en-US" b="1" dirty="0"/>
              <a:t>.</a:t>
            </a:r>
            <a:endParaRPr lang="en-GB" b="1" dirty="0"/>
          </a:p>
          <a:p>
            <a:pPr algn="just"/>
            <a:r>
              <a:rPr lang="en-US" b="1" dirty="0"/>
              <a:t> </a:t>
            </a:r>
            <a:endParaRPr lang="en-GB" b="1" dirty="0"/>
          </a:p>
          <a:p>
            <a:pPr lvl="0" algn="just"/>
            <a:r>
              <a:rPr lang="en-US" b="1" dirty="0"/>
              <a:t>In turn, these demographic processes outside the company may influence the internal policies of a company.</a:t>
            </a:r>
            <a:endParaRPr lang="en-GB" b="1" dirty="0"/>
          </a:p>
          <a:p>
            <a:pPr algn="just"/>
            <a:r>
              <a:rPr lang="en-US" b="1" dirty="0"/>
              <a:t> </a:t>
            </a:r>
            <a:endParaRPr lang="en-GB" b="1" dirty="0"/>
          </a:p>
          <a:p>
            <a:pPr lvl="0" algn="just"/>
            <a:r>
              <a:rPr lang="en-US" b="1" dirty="0"/>
              <a:t>For example, low fertility and low mortality will result in a decrease the number of young people joining the </a:t>
            </a:r>
            <a:r>
              <a:rPr lang="en-US" b="1" dirty="0" err="1"/>
              <a:t>labour</a:t>
            </a:r>
            <a:r>
              <a:rPr lang="en-US" b="1" dirty="0"/>
              <a:t> force from institutions of learning.</a:t>
            </a:r>
            <a:endParaRPr lang="en-GB" b="1" dirty="0"/>
          </a:p>
          <a:p>
            <a:pPr algn="just"/>
            <a:r>
              <a:rPr lang="en-US" b="1" dirty="0"/>
              <a:t> </a:t>
            </a:r>
            <a:endParaRPr lang="en-GB" b="1" dirty="0"/>
          </a:p>
          <a:p>
            <a:pPr lvl="0" algn="just"/>
            <a:r>
              <a:rPr lang="en-US" b="1" dirty="0"/>
              <a:t>This might result in a shortage of engineers, computers scientists and thus stiff competition for these by companies, resulting in better conditions.</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2607894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HUMAN RESOURCE MANAGEMENT</a:t>
            </a:r>
            <a:br>
              <a:rPr lang="en-GB" b="1" dirty="0"/>
            </a:br>
            <a:endParaRPr lang="en-GB" dirty="0"/>
          </a:p>
        </p:txBody>
      </p:sp>
      <p:sp>
        <p:nvSpPr>
          <p:cNvPr id="3" name="Content Placeholder 2"/>
          <p:cNvSpPr>
            <a:spLocks noGrp="1"/>
          </p:cNvSpPr>
          <p:nvPr>
            <p:ph idx="1"/>
          </p:nvPr>
        </p:nvSpPr>
        <p:spPr/>
        <p:txBody>
          <a:bodyPr>
            <a:normAutofit fontScale="55000" lnSpcReduction="20000"/>
          </a:bodyPr>
          <a:lstStyle/>
          <a:p>
            <a:pPr lvl="0" algn="just"/>
            <a:r>
              <a:rPr lang="en-US" b="1" dirty="0"/>
              <a:t>The opposite scenario might result if fertility is high and mortality is low.</a:t>
            </a:r>
            <a:endParaRPr lang="en-GB" b="1" dirty="0"/>
          </a:p>
          <a:p>
            <a:pPr marL="0" indent="0" algn="just">
              <a:buNone/>
            </a:pPr>
            <a:endParaRPr lang="en-GB" b="1" dirty="0"/>
          </a:p>
          <a:p>
            <a:pPr lvl="0" algn="just"/>
            <a:r>
              <a:rPr lang="en-US" b="1" dirty="0"/>
              <a:t>This may also influence retirement policies; older people will be retired since there is a large reservoir of younger people with skills to replace them.</a:t>
            </a:r>
            <a:endParaRPr lang="en-GB" b="1" dirty="0"/>
          </a:p>
          <a:p>
            <a:pPr marL="0" indent="0" algn="just">
              <a:buNone/>
            </a:pPr>
            <a:endParaRPr lang="en-GB" b="1" dirty="0"/>
          </a:p>
          <a:p>
            <a:pPr lvl="0" algn="just"/>
            <a:r>
              <a:rPr lang="en-US" b="1" dirty="0"/>
              <a:t>Making personnel decisions like retirements or recruitment of new staff should take cognizance of the supply of </a:t>
            </a:r>
            <a:r>
              <a:rPr lang="en-US" b="1" dirty="0" err="1"/>
              <a:t>labour</a:t>
            </a:r>
            <a:r>
              <a:rPr lang="en-US" b="1" dirty="0"/>
              <a:t> outside the organization.</a:t>
            </a:r>
            <a:endParaRPr lang="en-GB" b="1" dirty="0"/>
          </a:p>
          <a:p>
            <a:pPr marL="0" indent="0" algn="just">
              <a:buNone/>
            </a:pPr>
            <a:endParaRPr lang="en-GB" b="1" dirty="0"/>
          </a:p>
          <a:p>
            <a:pPr lvl="0" algn="just"/>
            <a:r>
              <a:rPr lang="en-US" b="1" dirty="0"/>
              <a:t>If there is a shortfall of certain skill levels, it makes no sense to retire people there are no replacements possible.</a:t>
            </a:r>
            <a:endParaRPr lang="en-GB" b="1" dirty="0"/>
          </a:p>
          <a:p>
            <a:pPr marL="0" indent="0" algn="just">
              <a:buNone/>
            </a:pPr>
            <a:endParaRPr lang="en-GB" b="1" dirty="0"/>
          </a:p>
          <a:p>
            <a:pPr lvl="0" algn="just"/>
            <a:r>
              <a:rPr lang="en-US" b="1" dirty="0"/>
              <a:t> Example of </a:t>
            </a:r>
            <a:r>
              <a:rPr lang="en-US" b="1" dirty="0" err="1"/>
              <a:t>UNZA</a:t>
            </a:r>
            <a:r>
              <a:rPr lang="en-US" b="1" dirty="0"/>
              <a:t> retirements.</a:t>
            </a:r>
            <a:endParaRPr lang="en-GB" b="1" dirty="0"/>
          </a:p>
          <a:p>
            <a:pPr marL="0" indent="0" algn="just">
              <a:buNone/>
            </a:pPr>
            <a:endParaRPr lang="en-GB" b="1" dirty="0"/>
          </a:p>
          <a:p>
            <a:pPr lvl="0" algn="just"/>
            <a:r>
              <a:rPr lang="en-US" b="1" dirty="0"/>
              <a:t>A surplus of skills external to the organization may, however, justify retirements.</a:t>
            </a:r>
            <a:endParaRPr lang="en-GB" b="1" dirty="0"/>
          </a:p>
          <a:p>
            <a:pPr marL="0" indent="0" algn="just">
              <a:buNone/>
            </a:pPr>
            <a:endParaRPr lang="en-GB" b="1" dirty="0"/>
          </a:p>
          <a:p>
            <a:pPr lvl="0" algn="just"/>
            <a:r>
              <a:rPr lang="en-US" b="1" dirty="0"/>
              <a:t>In some developed countries, the shortage of skills is compensated by migration policies to attract foreign labor.</a:t>
            </a:r>
            <a:endParaRPr lang="en-GB" b="1" dirty="0"/>
          </a:p>
        </p:txBody>
      </p:sp>
    </p:spTree>
    <p:extLst>
      <p:ext uri="{BB962C8B-B14F-4D97-AF65-F5344CB8AC3E}">
        <p14:creationId xmlns:p14="http://schemas.microsoft.com/office/powerpoint/2010/main" val="750582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INVESTMENT DEMOGRAPHICS</a:t>
            </a:r>
            <a:br>
              <a:rPr lang="en-GB" b="1" dirty="0"/>
            </a:b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a:t>In corporate planning, investors rely on demographic information to decide where to invest in order to maximize the returns on investment.</a:t>
            </a:r>
          </a:p>
          <a:p>
            <a:pPr algn="just"/>
            <a:endParaRPr lang="en-US" dirty="0"/>
          </a:p>
          <a:p>
            <a:pPr algn="just"/>
            <a:r>
              <a:rPr lang="en-US" b="1" dirty="0"/>
              <a:t>Investors look at population size and composition because these determine the opportunities for market size and opportunities for demand for their goods and services.</a:t>
            </a:r>
          </a:p>
          <a:p>
            <a:pPr marL="0" indent="0" algn="just">
              <a:buNone/>
            </a:pPr>
            <a:endParaRPr lang="en-US" dirty="0"/>
          </a:p>
          <a:p>
            <a:pPr algn="just"/>
            <a:r>
              <a:rPr lang="en-US" b="1" dirty="0"/>
              <a:t>A large population for example means a large market for their goods and services.</a:t>
            </a:r>
          </a:p>
          <a:p>
            <a:pPr algn="just"/>
            <a:endParaRPr lang="en-US" dirty="0"/>
          </a:p>
          <a:p>
            <a:pPr algn="just"/>
            <a:r>
              <a:rPr lang="en-US" b="1" dirty="0"/>
              <a:t>A large young population presents opportunities for investments in goods and services required by younger people such as entertainment facilities, sports, fashions, etc.</a:t>
            </a:r>
            <a:endParaRPr lang="en-US" dirty="0"/>
          </a:p>
        </p:txBody>
      </p:sp>
    </p:spTree>
    <p:extLst>
      <p:ext uri="{BB962C8B-B14F-4D97-AF65-F5344CB8AC3E}">
        <p14:creationId xmlns:p14="http://schemas.microsoft.com/office/powerpoint/2010/main" val="3783296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INVESTMENT DEMOGRAPHICS</a:t>
            </a:r>
            <a:br>
              <a:rPr lang="en-GB" b="1" dirty="0"/>
            </a:br>
            <a:endParaRPr lang="en-US" dirty="0"/>
          </a:p>
        </p:txBody>
      </p:sp>
      <p:sp>
        <p:nvSpPr>
          <p:cNvPr id="3" name="Content Placeholder 2"/>
          <p:cNvSpPr>
            <a:spLocks noGrp="1"/>
          </p:cNvSpPr>
          <p:nvPr>
            <p:ph idx="1"/>
          </p:nvPr>
        </p:nvSpPr>
        <p:spPr/>
        <p:txBody>
          <a:bodyPr>
            <a:normAutofit/>
          </a:bodyPr>
          <a:lstStyle/>
          <a:p>
            <a:pPr algn="just"/>
            <a:r>
              <a:rPr lang="en-US" b="1" dirty="0"/>
              <a:t>Investors will also rely on forecasting of future demographic trends using projections so that they know future demand for their goods and services so that they can decide whether to expand/increase their investments.</a:t>
            </a:r>
          </a:p>
          <a:p>
            <a:pPr algn="just"/>
            <a:endParaRPr lang="en-US" dirty="0"/>
          </a:p>
          <a:p>
            <a:pPr algn="just"/>
            <a:r>
              <a:rPr lang="en-US" b="1" dirty="0"/>
              <a:t>In the United States a prominent business executive, Harold Levine, Vice President of </a:t>
            </a:r>
            <a:r>
              <a:rPr lang="en-US" b="1" dirty="0" err="1"/>
              <a:t>E.F</a:t>
            </a:r>
            <a:r>
              <a:rPr lang="en-US" b="1" dirty="0"/>
              <a:t>. Hutton, an investment company has suggested that in making an investment decision, 20 percent is based on demographics, 30 percent on the economic situation, and 50 percent on the individual characteristics of the individual company</a:t>
            </a:r>
            <a:endParaRPr lang="en-US" dirty="0"/>
          </a:p>
          <a:p>
            <a:endParaRPr lang="en-US" dirty="0"/>
          </a:p>
          <a:p>
            <a:endParaRPr lang="en-US" dirty="0"/>
          </a:p>
        </p:txBody>
      </p:sp>
    </p:spTree>
    <p:extLst>
      <p:ext uri="{BB962C8B-B14F-4D97-AF65-F5344CB8AC3E}">
        <p14:creationId xmlns:p14="http://schemas.microsoft.com/office/powerpoint/2010/main" val="1183086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DOMESTIC  DEMOGRAPHICS</a:t>
            </a:r>
            <a:br>
              <a:rPr lang="en-US" dirty="0"/>
            </a:br>
            <a:endParaRPr lang="en-US" dirty="0"/>
          </a:p>
        </p:txBody>
      </p:sp>
      <p:sp>
        <p:nvSpPr>
          <p:cNvPr id="3" name="Content Placeholder 2"/>
          <p:cNvSpPr>
            <a:spLocks noGrp="1"/>
          </p:cNvSpPr>
          <p:nvPr>
            <p:ph idx="1"/>
          </p:nvPr>
        </p:nvSpPr>
        <p:spPr/>
        <p:txBody>
          <a:bodyPr>
            <a:normAutofit/>
          </a:bodyPr>
          <a:lstStyle/>
          <a:p>
            <a:pPr lvl="0" algn="just"/>
            <a:r>
              <a:rPr lang="en-US" b="1" dirty="0"/>
              <a:t>This focuses on the demographic trends in the local market. That may influence the production of and demand for goods and services domestically.</a:t>
            </a:r>
          </a:p>
          <a:p>
            <a:pPr lvl="0" algn="just"/>
            <a:endParaRPr lang="en-US" dirty="0"/>
          </a:p>
          <a:p>
            <a:endParaRPr lang="en-US" dirty="0"/>
          </a:p>
        </p:txBody>
      </p:sp>
    </p:spTree>
    <p:extLst>
      <p:ext uri="{BB962C8B-B14F-4D97-AF65-F5344CB8AC3E}">
        <p14:creationId xmlns:p14="http://schemas.microsoft.com/office/powerpoint/2010/main" val="2330559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2400" b="1" dirty="0"/>
              <a:t>DEMOGRAPHIC TRENDS AND INVESTMENT PATTERNS</a:t>
            </a:r>
            <a:br>
              <a:rPr lang="en-US" sz="2400" b="1" dirty="0"/>
            </a:br>
            <a:br>
              <a:rPr lang="en-US" sz="2400" dirty="0"/>
            </a:br>
            <a:endParaRPr lang="en-US" sz="2400" dirty="0"/>
          </a:p>
        </p:txBody>
      </p:sp>
      <p:sp>
        <p:nvSpPr>
          <p:cNvPr id="3" name="Content Placeholder 2"/>
          <p:cNvSpPr>
            <a:spLocks noGrp="1"/>
          </p:cNvSpPr>
          <p:nvPr>
            <p:ph idx="1"/>
          </p:nvPr>
        </p:nvSpPr>
        <p:spPr/>
        <p:txBody>
          <a:bodyPr>
            <a:normAutofit fontScale="92500" lnSpcReduction="10000"/>
          </a:bodyPr>
          <a:lstStyle/>
          <a:p>
            <a:pPr lvl="0" algn="just"/>
            <a:r>
              <a:rPr lang="en-US" b="1" dirty="0"/>
              <a:t>These trends include changes in the population size, composition, and distribution, migratory patterns (both internal and international), etc.</a:t>
            </a:r>
          </a:p>
          <a:p>
            <a:pPr lvl="0" algn="just"/>
            <a:endParaRPr lang="en-US" dirty="0"/>
          </a:p>
          <a:p>
            <a:pPr lvl="0" algn="just"/>
            <a:r>
              <a:rPr lang="en-US" b="1" dirty="0"/>
              <a:t>Such changes may result in changes in the following:</a:t>
            </a:r>
          </a:p>
          <a:p>
            <a:pPr lvl="0" algn="just"/>
            <a:endParaRPr lang="en-US" dirty="0"/>
          </a:p>
          <a:p>
            <a:pPr algn="just">
              <a:buFont typeface="Wingdings" panose="05000000000000000000" pitchFamily="2" charset="2"/>
              <a:buChar char="§"/>
            </a:pPr>
            <a:r>
              <a:rPr lang="en-US" b="1" dirty="0"/>
              <a:t>The size of the market for goods and services which is influenced by the size and composition of the population.</a:t>
            </a:r>
            <a:endParaRPr lang="en-US" dirty="0"/>
          </a:p>
          <a:p>
            <a:pPr algn="just"/>
            <a:r>
              <a:rPr lang="en-US" b="1" dirty="0"/>
              <a:t>Changes in the population with more purchasing power</a:t>
            </a:r>
            <a:endParaRPr lang="en-US" dirty="0"/>
          </a:p>
          <a:p>
            <a:pPr algn="just"/>
            <a:r>
              <a:rPr lang="en-US" b="1" dirty="0"/>
              <a:t>Changes in the number of  professional/managerial or middle class </a:t>
            </a:r>
            <a:endParaRPr lang="en-US" dirty="0"/>
          </a:p>
          <a:p>
            <a:pPr lvl="0" algn="just"/>
            <a:r>
              <a:rPr lang="en-US" b="1" dirty="0"/>
              <a:t>Changes in expatriate population because of international migration</a:t>
            </a:r>
            <a:endParaRPr lang="en-US" dirty="0"/>
          </a:p>
          <a:p>
            <a:endParaRPr lang="en-US" dirty="0"/>
          </a:p>
        </p:txBody>
      </p:sp>
    </p:spTree>
    <p:extLst>
      <p:ext uri="{BB962C8B-B14F-4D97-AF65-F5344CB8AC3E}">
        <p14:creationId xmlns:p14="http://schemas.microsoft.com/office/powerpoint/2010/main" val="3009684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b="1" dirty="0"/>
              <a:t>INFLUENCE OF DEMOGRAPHIC TRENDS ON INVESTMENT PATTERNS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lgn="just"/>
            <a:r>
              <a:rPr lang="en-US" b="1" dirty="0"/>
              <a:t>In turn, such demographic situations and trends may influence the location of industries.</a:t>
            </a:r>
          </a:p>
          <a:p>
            <a:pPr lvl="0" algn="just"/>
            <a:endParaRPr lang="en-US" dirty="0"/>
          </a:p>
          <a:p>
            <a:pPr lvl="0" algn="just"/>
            <a:r>
              <a:rPr lang="en-US" b="1" dirty="0"/>
              <a:t>Domestic demographic situations and trends influences businesses in making decisions such as:</a:t>
            </a:r>
          </a:p>
          <a:p>
            <a:pPr lvl="0" algn="just"/>
            <a:endParaRPr lang="en-US" dirty="0"/>
          </a:p>
          <a:p>
            <a:pPr lvl="0" algn="just"/>
            <a:r>
              <a:rPr lang="en-US" b="1" dirty="0"/>
              <a:t>Making appropriate site selections  and identifying market areas for the establishment of retail </a:t>
            </a:r>
            <a:r>
              <a:rPr lang="en-US" b="1" dirty="0" err="1"/>
              <a:t>centres</a:t>
            </a:r>
            <a:r>
              <a:rPr lang="en-US" b="1" dirty="0"/>
              <a:t> like malls, factories, hotels, and other facilities, etc.;</a:t>
            </a:r>
          </a:p>
          <a:p>
            <a:pPr lvl="0" algn="just"/>
            <a:endParaRPr lang="en-US" dirty="0"/>
          </a:p>
          <a:p>
            <a:pPr lvl="0" algn="just"/>
            <a:r>
              <a:rPr lang="en-US" b="1" dirty="0"/>
              <a:t>Forecasting demand and sales for goods and services on the basis of changes in population composition and distribution.</a:t>
            </a:r>
            <a:endParaRPr lang="en-US" dirty="0"/>
          </a:p>
          <a:p>
            <a:pPr algn="just"/>
            <a:endParaRPr lang="en-US" dirty="0"/>
          </a:p>
        </p:txBody>
      </p:sp>
    </p:spTree>
    <p:extLst>
      <p:ext uri="{BB962C8B-B14F-4D97-AF65-F5344CB8AC3E}">
        <p14:creationId xmlns:p14="http://schemas.microsoft.com/office/powerpoint/2010/main" val="32620081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OTHER INVESTMENT OPTIONS </a:t>
            </a:r>
            <a:br>
              <a:rPr lang="en-US" dirty="0"/>
            </a:b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a:t>Changes in the population composition have also been found to influence demand for alternative domestic investment options such as bonds, stocks, and treasury bills.</a:t>
            </a:r>
          </a:p>
          <a:p>
            <a:pPr algn="just"/>
            <a:endParaRPr lang="en-US" dirty="0"/>
          </a:p>
          <a:p>
            <a:pPr lvl="0" algn="just"/>
            <a:r>
              <a:rPr lang="en-US" b="1" dirty="0"/>
              <a:t>As one investment company has observed “the attraction of bonds and stocks is partly a matter of demographics.</a:t>
            </a:r>
          </a:p>
          <a:p>
            <a:pPr lvl="0" algn="just"/>
            <a:endParaRPr lang="en-US" dirty="0"/>
          </a:p>
          <a:p>
            <a:pPr lvl="0" algn="just"/>
            <a:r>
              <a:rPr lang="en-US" b="1" dirty="0"/>
              <a:t>Young and upwardly mobile people are more likely to invest in stocks and shares because they provide long – term investments. </a:t>
            </a:r>
          </a:p>
          <a:p>
            <a:pPr lvl="0" algn="just"/>
            <a:endParaRPr lang="en-US" dirty="0"/>
          </a:p>
          <a:p>
            <a:pPr lvl="0" algn="just"/>
            <a:r>
              <a:rPr lang="en-US" b="1" dirty="0"/>
              <a:t>Older populations may invest in those that yield dividends in the short – term such as treasury bills.</a:t>
            </a:r>
            <a:endParaRPr lang="en-US" dirty="0"/>
          </a:p>
          <a:p>
            <a:pPr lvl="0" algn="just"/>
            <a:r>
              <a:rPr lang="en-US" b="1" dirty="0"/>
              <a:t> </a:t>
            </a:r>
            <a:endParaRPr lang="en-US" dirty="0"/>
          </a:p>
          <a:p>
            <a:endParaRPr lang="en-US" dirty="0"/>
          </a:p>
        </p:txBody>
      </p:sp>
    </p:spTree>
    <p:extLst>
      <p:ext uri="{BB962C8B-B14F-4D97-AF65-F5344CB8AC3E}">
        <p14:creationId xmlns:p14="http://schemas.microsoft.com/office/powerpoint/2010/main" val="1912838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INTERNATIONAL DEMOGRAPHICS</a:t>
            </a:r>
            <a:br>
              <a:rPr lang="en-GB" dirty="0"/>
            </a:br>
            <a:endParaRPr lang="en-GB" dirty="0"/>
          </a:p>
        </p:txBody>
      </p:sp>
      <p:sp>
        <p:nvSpPr>
          <p:cNvPr id="3" name="Content Placeholder 2"/>
          <p:cNvSpPr>
            <a:spLocks noGrp="1"/>
          </p:cNvSpPr>
          <p:nvPr>
            <p:ph idx="1"/>
          </p:nvPr>
        </p:nvSpPr>
        <p:spPr/>
        <p:txBody>
          <a:bodyPr>
            <a:normAutofit fontScale="85000" lnSpcReduction="20000"/>
          </a:bodyPr>
          <a:lstStyle/>
          <a:p>
            <a:pPr marL="0" indent="0">
              <a:buNone/>
            </a:pPr>
            <a:endParaRPr lang="en-GB"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Investors often act in response to global demographic trends.</a:t>
            </a:r>
          </a:p>
          <a:p>
            <a:pPr marL="0" indent="0" algn="just" eaLnBrk="0" fontAlgn="base" hangingPunct="0">
              <a:spcBef>
                <a:spcPct val="0"/>
              </a:spcBef>
              <a:spcAft>
                <a:spcPct val="0"/>
              </a:spcAft>
              <a:buNone/>
            </a:pP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Many companies look around the world for investment possibilities using global demographic trends as a yardstick.</a:t>
            </a:r>
          </a:p>
          <a:p>
            <a:pPr algn="just" eaLnBrk="0" fontAlgn="base" hangingPunct="0">
              <a:spcBef>
                <a:spcPct val="0"/>
              </a:spcBef>
              <a:spcAft>
                <a:spcPct val="0"/>
              </a:spcAft>
              <a:buClrTx/>
              <a:buSzTx/>
            </a:pP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For example, the increase in investments by American companies in China is in response to the large market that such a large population represents.</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Investments of the Chinese in Zambia in the copper industry is a response of the huge population to raw materials from a developing country.</a:t>
            </a:r>
            <a:endParaRPr lang="en-GB" altLang="en-US" sz="1400" b="1" dirty="0"/>
          </a:p>
          <a:p>
            <a:pPr marL="0" indent="0" algn="just" eaLnBrk="0" fontAlgn="base" hangingPunct="0">
              <a:spcBef>
                <a:spcPct val="0"/>
              </a:spcBef>
              <a:spcAft>
                <a:spcPct val="0"/>
              </a:spcAft>
              <a:buNone/>
            </a:pPr>
            <a:r>
              <a:rPr lang="en-US" altLang="en-US" b="1" dirty="0">
                <a:ea typeface="Times New Roman" panose="02020603050405020304" pitchFamily="18" charset="0"/>
                <a:cs typeface="Tahoma" panose="020B0604030504040204" pitchFamily="34" charset="0"/>
              </a:rPr>
              <a:t> </a:t>
            </a:r>
            <a:endParaRPr lang="en-GB" altLang="en-US" sz="1400" b="1" dirty="0"/>
          </a:p>
          <a:p>
            <a:pPr algn="just" eaLnBrk="0" fontAlgn="base" hangingPunct="0">
              <a:spcBef>
                <a:spcPct val="0"/>
              </a:spcBef>
              <a:spcAft>
                <a:spcPct val="0"/>
              </a:spcAft>
              <a:buClrTx/>
              <a:buSzTx/>
            </a:pPr>
            <a:r>
              <a:rPr lang="en-US" altLang="en-US" b="1" dirty="0">
                <a:ea typeface="Times New Roman" panose="02020603050405020304" pitchFamily="18" charset="0"/>
                <a:cs typeface="Tahoma" panose="020B0604030504040204" pitchFamily="34" charset="0"/>
              </a:rPr>
              <a:t>Although some investors shy away from developing countries because of the risks inherent potential economic and political instability, others are willing to take a risk because of the huge demographic potential that may translate into enormous profits.</a:t>
            </a:r>
            <a:endParaRPr lang="en-GB" b="1" dirty="0"/>
          </a:p>
        </p:txBody>
      </p:sp>
    </p:spTree>
    <p:extLst>
      <p:ext uri="{BB962C8B-B14F-4D97-AF65-F5344CB8AC3E}">
        <p14:creationId xmlns:p14="http://schemas.microsoft.com/office/powerpoint/2010/main" val="922916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3100" b="1" dirty="0">
                <a:ea typeface="Times New Roman" panose="02020603050405020304" pitchFamily="18" charset="0"/>
                <a:cs typeface="Tahoma" panose="020B0604030504040204" pitchFamily="34" charset="0"/>
              </a:rPr>
              <a:t>THE DEMOGRAPHIC DIVIDEND ADVANTAGE</a:t>
            </a:r>
            <a:br>
              <a:rPr lang="en-US" altLang="en-US" sz="6000" dirty="0">
                <a:ea typeface="Times New Roman" panose="02020603050405020304" pitchFamily="18" charset="0"/>
              </a:rPr>
            </a:br>
            <a:endParaRPr lang="en-GB" dirty="0"/>
          </a:p>
        </p:txBody>
      </p:sp>
      <p:sp>
        <p:nvSpPr>
          <p:cNvPr id="3" name="Content Placeholder 2"/>
          <p:cNvSpPr>
            <a:spLocks noGrp="1"/>
          </p:cNvSpPr>
          <p:nvPr>
            <p:ph idx="1"/>
          </p:nvPr>
        </p:nvSpPr>
        <p:spPr/>
        <p:txBody>
          <a:bodyPr/>
          <a:lstStyle/>
          <a:p>
            <a:pPr marL="0" indent="0" algn="just" eaLnBrk="0" fontAlgn="base" hangingPunct="0">
              <a:spcBef>
                <a:spcPct val="0"/>
              </a:spcBef>
              <a:spcAft>
                <a:spcPct val="0"/>
              </a:spcAft>
              <a:buFontTx/>
              <a:buChar char="•"/>
              <a:tabLst>
                <a:tab pos="457200" algn="l"/>
              </a:tabLst>
            </a:pPr>
            <a:r>
              <a:rPr lang="en-US" altLang="en-US" b="1" dirty="0" err="1">
                <a:ea typeface="Times New Roman" panose="02020603050405020304" pitchFamily="18" charset="0"/>
              </a:rPr>
              <a:t>UNFPA</a:t>
            </a:r>
            <a:r>
              <a:rPr lang="en-US" altLang="en-US" b="1" dirty="0">
                <a:ea typeface="Times New Roman" panose="02020603050405020304" pitchFamily="18" charset="0"/>
              </a:rPr>
              <a:t> stated that, “A country with both increasing numbers of young people and declining fertility has the potential to reap a demographic dividend. </a:t>
            </a:r>
            <a:r>
              <a:rPr lang="en-US" altLang="en-US" b="1" baseline="30000" dirty="0">
                <a:ea typeface="Times New Roman" panose="02020603050405020304" pitchFamily="18" charset="0"/>
                <a:hlinkClick r:id="rId2"/>
              </a:rPr>
              <a:t>[3]</a:t>
            </a:r>
            <a:endParaRPr lang="en-US" altLang="en-US" b="1" dirty="0">
              <a:ea typeface="Times New Roman" panose="02020603050405020304" pitchFamily="18" charset="0"/>
            </a:endParaRPr>
          </a:p>
          <a:p>
            <a:pPr marL="0" indent="0" algn="just" eaLnBrk="0" fontAlgn="base" hangingPunct="0">
              <a:spcBef>
                <a:spcPct val="0"/>
              </a:spcBef>
              <a:spcAft>
                <a:spcPct val="0"/>
              </a:spcAft>
              <a:buNone/>
              <a:tabLst>
                <a:tab pos="457200" algn="l"/>
              </a:tabLst>
            </a:pPr>
            <a:r>
              <a:rPr lang="en-US" altLang="en-US" b="1" dirty="0">
                <a:ea typeface="Times New Roman" panose="02020603050405020304" pitchFamily="18" charset="0"/>
              </a:rPr>
              <a:t> </a:t>
            </a:r>
          </a:p>
          <a:p>
            <a:pPr marL="0" indent="0" algn="just" eaLnBrk="0" fontAlgn="base" hangingPunct="0">
              <a:spcBef>
                <a:spcPct val="0"/>
              </a:spcBef>
              <a:spcAft>
                <a:spcPct val="0"/>
              </a:spcAft>
              <a:buFontTx/>
              <a:buChar char="•"/>
              <a:tabLst>
                <a:tab pos="457200" algn="l"/>
              </a:tabLst>
            </a:pPr>
            <a:r>
              <a:rPr lang="en-US" altLang="en-US" b="1" dirty="0">
                <a:ea typeface="Times New Roman" panose="02020603050405020304" pitchFamily="18" charset="0"/>
              </a:rPr>
              <a:t>Due to the dividend between young and old, many argue that there is a great potential for economic gains.</a:t>
            </a:r>
          </a:p>
          <a:p>
            <a:pPr marL="0" indent="0" algn="just" eaLnBrk="0" fontAlgn="base" hangingPunct="0">
              <a:spcBef>
                <a:spcPct val="0"/>
              </a:spcBef>
              <a:spcAft>
                <a:spcPct val="0"/>
              </a:spcAft>
              <a:buFontTx/>
              <a:buChar char="•"/>
              <a:tabLst>
                <a:tab pos="457200" algn="l"/>
              </a:tabLst>
            </a:pPr>
            <a:endParaRPr lang="en-US" altLang="en-US" b="1" dirty="0">
              <a:ea typeface="Times New Roman" panose="02020603050405020304" pitchFamily="18" charset="0"/>
            </a:endParaRPr>
          </a:p>
          <a:p>
            <a:pPr marL="0" indent="0" algn="just" eaLnBrk="0" fontAlgn="base" hangingPunct="0">
              <a:spcBef>
                <a:spcPct val="0"/>
              </a:spcBef>
              <a:spcAft>
                <a:spcPct val="0"/>
              </a:spcAft>
              <a:buFontTx/>
              <a:buChar char="•"/>
              <a:tabLst>
                <a:tab pos="457200" algn="l"/>
              </a:tabLst>
            </a:pPr>
            <a:r>
              <a:rPr lang="en-US" altLang="en-US" b="1" dirty="0">
                <a:ea typeface="Times New Roman" panose="02020603050405020304" pitchFamily="18" charset="0"/>
              </a:rPr>
              <a:t>In order for economic growth to occur the younger population must have access to quality education, adequate nutrition and health including access to sexual and reproductive health.</a:t>
            </a:r>
          </a:p>
          <a:p>
            <a:endParaRPr lang="en-GB" dirty="0"/>
          </a:p>
        </p:txBody>
      </p:sp>
    </p:spTree>
    <p:extLst>
      <p:ext uri="{BB962C8B-B14F-4D97-AF65-F5344CB8AC3E}">
        <p14:creationId xmlns:p14="http://schemas.microsoft.com/office/powerpoint/2010/main" val="1276431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MARKETING DEMOGRAPHICS</a:t>
            </a:r>
            <a:endParaRPr lang="en-GB" dirty="0"/>
          </a:p>
        </p:txBody>
      </p:sp>
      <p:sp>
        <p:nvSpPr>
          <p:cNvPr id="3" name="Content Placeholder 2"/>
          <p:cNvSpPr>
            <a:spLocks noGrp="1"/>
          </p:cNvSpPr>
          <p:nvPr>
            <p:ph idx="1"/>
          </p:nvPr>
        </p:nvSpPr>
        <p:spPr/>
        <p:txBody>
          <a:bodyPr>
            <a:normAutofit fontScale="77500" lnSpcReduction="20000"/>
          </a:bodyPr>
          <a:lstStyle/>
          <a:p>
            <a:pPr marL="0" indent="0">
              <a:buNone/>
            </a:pPr>
            <a:endParaRPr lang="en-GB" dirty="0"/>
          </a:p>
          <a:p>
            <a:pPr lvl="0" algn="just"/>
            <a:r>
              <a:rPr lang="en-US" b="1" dirty="0"/>
              <a:t>Market research is the process of gathering, analyzing and interpreting</a:t>
            </a:r>
          </a:p>
          <a:p>
            <a:pPr marL="0" indent="0" algn="just">
              <a:buNone/>
            </a:pPr>
            <a:endParaRPr lang="en-US" b="1" dirty="0"/>
          </a:p>
          <a:p>
            <a:pPr algn="just"/>
            <a:r>
              <a:rPr lang="en-US" b="1" dirty="0"/>
              <a:t>1.  information about a market, </a:t>
            </a:r>
            <a:endParaRPr lang="en-GB" b="1" dirty="0"/>
          </a:p>
          <a:p>
            <a:pPr algn="just"/>
            <a:r>
              <a:rPr lang="en-US" b="1" dirty="0"/>
              <a:t>2. about a product or service to be offered for sale in that market, </a:t>
            </a:r>
            <a:endParaRPr lang="en-GB" b="1" dirty="0"/>
          </a:p>
          <a:p>
            <a:pPr algn="just"/>
            <a:r>
              <a:rPr lang="en-US" b="1" dirty="0"/>
              <a:t>3. and about the past, present and potential customers for the product or service; </a:t>
            </a:r>
            <a:endParaRPr lang="en-GB" b="1" dirty="0"/>
          </a:p>
          <a:p>
            <a:pPr algn="just"/>
            <a:endParaRPr lang="en-GB" b="1" dirty="0"/>
          </a:p>
          <a:p>
            <a:pPr lvl="0" algn="just"/>
            <a:r>
              <a:rPr lang="en-US" b="1" dirty="0"/>
              <a:t>It also involves research into the characteristics, spending habits, location and needs of a business's target market, the industry as a whole, and the particular competitors faced. </a:t>
            </a:r>
            <a:endParaRPr lang="en-GB" b="1" dirty="0"/>
          </a:p>
          <a:p>
            <a:pPr algn="just"/>
            <a:r>
              <a:rPr lang="en-US" b="1" dirty="0"/>
              <a:t>   </a:t>
            </a:r>
            <a:endParaRPr lang="en-GB" b="1" dirty="0"/>
          </a:p>
          <a:p>
            <a:pPr algn="just"/>
            <a:r>
              <a:rPr lang="en-US" b="1" dirty="0"/>
              <a:t>There are two important aspects of marketing namely segmentation and targeting involved in this process.</a:t>
            </a:r>
            <a:endParaRPr lang="en-GB" b="1" dirty="0"/>
          </a:p>
          <a:p>
            <a:pPr algn="just"/>
            <a:endParaRPr lang="en-GB" b="1" dirty="0"/>
          </a:p>
          <a:p>
            <a:endParaRPr lang="en-GB" dirty="0"/>
          </a:p>
        </p:txBody>
      </p:sp>
    </p:spTree>
    <p:extLst>
      <p:ext uri="{BB962C8B-B14F-4D97-AF65-F5344CB8AC3E}">
        <p14:creationId xmlns:p14="http://schemas.microsoft.com/office/powerpoint/2010/main" val="2473706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SEGMENTATION</a:t>
            </a:r>
            <a:br>
              <a:rPr lang="en-GB" dirty="0"/>
            </a:br>
            <a:r>
              <a:rPr lang="en-US" dirty="0"/>
              <a:t> </a:t>
            </a:r>
            <a:br>
              <a:rPr lang="en-GB" dirty="0"/>
            </a:br>
            <a:endParaRPr lang="en-GB" dirty="0"/>
          </a:p>
        </p:txBody>
      </p:sp>
      <p:sp>
        <p:nvSpPr>
          <p:cNvPr id="3" name="Content Placeholder 2"/>
          <p:cNvSpPr>
            <a:spLocks noGrp="1"/>
          </p:cNvSpPr>
          <p:nvPr>
            <p:ph idx="1"/>
          </p:nvPr>
        </p:nvSpPr>
        <p:spPr/>
        <p:txBody>
          <a:bodyPr>
            <a:normAutofit fontScale="92500" lnSpcReduction="20000"/>
          </a:bodyPr>
          <a:lstStyle/>
          <a:p>
            <a:pPr algn="just"/>
            <a:r>
              <a:rPr lang="en-US" b="1" dirty="0"/>
              <a:t>Segmentation refers to the manufacturing and packaging of products or the provision of services that appeal to specific socio demographically identifiable groups within the population.</a:t>
            </a:r>
            <a:endParaRPr lang="en-GB" b="1" dirty="0"/>
          </a:p>
          <a:p>
            <a:pPr algn="just"/>
            <a:r>
              <a:rPr lang="en-US" b="1" dirty="0"/>
              <a:t> </a:t>
            </a:r>
            <a:endParaRPr lang="en-GB" b="1" dirty="0"/>
          </a:p>
          <a:p>
            <a:pPr algn="just"/>
            <a:r>
              <a:rPr lang="en-US" b="1" dirty="0"/>
              <a:t>This means tailoring goods and services to specific groups.</a:t>
            </a:r>
            <a:endParaRPr lang="en-GB" b="1" dirty="0"/>
          </a:p>
          <a:p>
            <a:pPr algn="just"/>
            <a:r>
              <a:rPr lang="en-US" b="1" dirty="0"/>
              <a:t> </a:t>
            </a:r>
            <a:endParaRPr lang="en-GB" b="1" dirty="0"/>
          </a:p>
          <a:p>
            <a:pPr algn="just"/>
            <a:r>
              <a:rPr lang="en-US" b="1" dirty="0"/>
              <a:t> </a:t>
            </a:r>
            <a:endParaRPr lang="en-GB" b="1" dirty="0"/>
          </a:p>
          <a:p>
            <a:pPr algn="just"/>
            <a:r>
              <a:rPr lang="en-US" b="1" dirty="0"/>
              <a:t>In other words, produce and package goods in such a way that they will be attractive to specific socio-demographic groups. </a:t>
            </a:r>
            <a:endParaRPr lang="en-GB" b="1" dirty="0"/>
          </a:p>
          <a:p>
            <a:pPr marL="0" indent="0" algn="just">
              <a:buNone/>
            </a:pPr>
            <a:r>
              <a:rPr lang="en-US" b="1" dirty="0"/>
              <a:t> </a:t>
            </a:r>
            <a:endParaRPr lang="en-GB" b="1" dirty="0"/>
          </a:p>
          <a:p>
            <a:pPr marL="0" indent="0" algn="just">
              <a:buNone/>
            </a:pPr>
            <a:r>
              <a:rPr lang="en-US" b="1" dirty="0"/>
              <a:t> </a:t>
            </a:r>
            <a:endParaRPr lang="en-GB" b="1" dirty="0"/>
          </a:p>
          <a:p>
            <a:endParaRPr lang="en-GB" dirty="0"/>
          </a:p>
        </p:txBody>
      </p:sp>
    </p:spTree>
    <p:extLst>
      <p:ext uri="{BB962C8B-B14F-4D97-AF65-F5344CB8AC3E}">
        <p14:creationId xmlns:p14="http://schemas.microsoft.com/office/powerpoint/2010/main" val="2482600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SEGMENTATION</a:t>
            </a:r>
            <a:br>
              <a:rPr lang="en-GB" dirty="0"/>
            </a:br>
            <a:endParaRPr lang="en-GB" dirty="0"/>
          </a:p>
        </p:txBody>
      </p:sp>
      <p:sp>
        <p:nvSpPr>
          <p:cNvPr id="3" name="Content Placeholder 2"/>
          <p:cNvSpPr>
            <a:spLocks noGrp="1"/>
          </p:cNvSpPr>
          <p:nvPr>
            <p:ph idx="1"/>
          </p:nvPr>
        </p:nvSpPr>
        <p:spPr/>
        <p:txBody>
          <a:bodyPr>
            <a:normAutofit fontScale="92500" lnSpcReduction="10000"/>
          </a:bodyPr>
          <a:lstStyle/>
          <a:p>
            <a:pPr algn="just"/>
            <a:r>
              <a:rPr lang="en-US" b="1" dirty="0"/>
              <a:t>The packaging of some services in the Zambian market conforms to this dictum.</a:t>
            </a:r>
          </a:p>
          <a:p>
            <a:pPr algn="just"/>
            <a:endParaRPr lang="en-GB" b="1" dirty="0"/>
          </a:p>
          <a:p>
            <a:pPr algn="just"/>
            <a:r>
              <a:rPr lang="en-US" b="1" dirty="0" err="1"/>
              <a:t>Freshview</a:t>
            </a:r>
            <a:r>
              <a:rPr lang="en-US" b="1" dirty="0"/>
              <a:t> /</a:t>
            </a:r>
            <a:r>
              <a:rPr lang="en-US" b="1" dirty="0" err="1"/>
              <a:t>Ster</a:t>
            </a:r>
            <a:r>
              <a:rPr lang="en-US" b="1" dirty="0"/>
              <a:t> – </a:t>
            </a:r>
            <a:r>
              <a:rPr lang="en-US" b="1" dirty="0" err="1"/>
              <a:t>Kinekor</a:t>
            </a:r>
            <a:r>
              <a:rPr lang="en-US" b="1" dirty="0"/>
              <a:t> – may appeal to the young</a:t>
            </a:r>
            <a:endParaRPr lang="en-GB" b="1" dirty="0"/>
          </a:p>
          <a:p>
            <a:pPr algn="just"/>
            <a:r>
              <a:rPr lang="en-US" b="1" dirty="0"/>
              <a:t>Times – young and middle age</a:t>
            </a:r>
            <a:endParaRPr lang="en-GB" b="1" dirty="0"/>
          </a:p>
          <a:p>
            <a:pPr algn="just"/>
            <a:r>
              <a:rPr lang="en-US" b="1" dirty="0"/>
              <a:t>O’Hagan  - young and middle aged</a:t>
            </a:r>
            <a:endParaRPr lang="en-GB" b="1" dirty="0"/>
          </a:p>
          <a:p>
            <a:pPr algn="just"/>
            <a:r>
              <a:rPr lang="en-US" b="1" dirty="0"/>
              <a:t>Boutiques – women</a:t>
            </a:r>
          </a:p>
          <a:p>
            <a:pPr algn="just"/>
            <a:r>
              <a:rPr lang="en-US" b="1" dirty="0"/>
              <a:t>Planet books/</a:t>
            </a:r>
            <a:r>
              <a:rPr lang="en-US" b="1" dirty="0" err="1"/>
              <a:t>Bookworld</a:t>
            </a:r>
            <a:r>
              <a:rPr lang="en-US" b="1" dirty="0"/>
              <a:t> Grey Matter</a:t>
            </a:r>
            <a:endParaRPr lang="en-GB" b="1" dirty="0"/>
          </a:p>
          <a:p>
            <a:pPr algn="just"/>
            <a:endParaRPr lang="en-GB" b="1" dirty="0"/>
          </a:p>
          <a:p>
            <a:pPr marL="0" indent="0" algn="just">
              <a:buNone/>
            </a:pPr>
            <a:r>
              <a:rPr lang="en-US" b="1" dirty="0"/>
              <a:t> </a:t>
            </a:r>
            <a:endParaRPr lang="en-GB" b="1" dirty="0"/>
          </a:p>
          <a:p>
            <a:endParaRPr lang="en-GB" dirty="0"/>
          </a:p>
        </p:txBody>
      </p:sp>
    </p:spTree>
    <p:extLst>
      <p:ext uri="{BB962C8B-B14F-4D97-AF65-F5344CB8AC3E}">
        <p14:creationId xmlns:p14="http://schemas.microsoft.com/office/powerpoint/2010/main" val="2784824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533400"/>
            <a:ext cx="8229600" cy="990600"/>
          </a:xfrm>
        </p:spPr>
        <p:txBody>
          <a:bodyPr>
            <a:normAutofit fontScale="90000"/>
          </a:bodyPr>
          <a:lstStyle/>
          <a:p>
            <a:br>
              <a:rPr lang="en-US" b="1" dirty="0"/>
            </a:br>
            <a:br>
              <a:rPr lang="en-US" b="1" dirty="0"/>
            </a:br>
            <a:r>
              <a:rPr lang="en-US" b="1" dirty="0"/>
              <a:t>TARGETING</a:t>
            </a:r>
            <a:br>
              <a:rPr lang="en-GB" b="1" dirty="0"/>
            </a:br>
            <a:r>
              <a:rPr lang="en-US" b="1" dirty="0"/>
              <a:t> </a:t>
            </a:r>
            <a:br>
              <a:rPr lang="en-GB" b="1" dirty="0"/>
            </a:br>
            <a:endParaRPr lang="en-GB" dirty="0"/>
          </a:p>
        </p:txBody>
      </p:sp>
      <p:sp>
        <p:nvSpPr>
          <p:cNvPr id="3" name="Content Placeholder 2"/>
          <p:cNvSpPr>
            <a:spLocks noGrp="1"/>
          </p:cNvSpPr>
          <p:nvPr>
            <p:ph idx="1"/>
          </p:nvPr>
        </p:nvSpPr>
        <p:spPr/>
        <p:txBody>
          <a:bodyPr>
            <a:normAutofit fontScale="85000" lnSpcReduction="20000"/>
          </a:bodyPr>
          <a:lstStyle/>
          <a:p>
            <a:pPr algn="just"/>
            <a:r>
              <a:rPr lang="en-US" b="1" dirty="0"/>
              <a:t>Targeting involves picking out particular socio-demographic characteristics of people who might purchase what you have to offer.</a:t>
            </a:r>
            <a:endParaRPr lang="en-GB" b="1" dirty="0"/>
          </a:p>
          <a:p>
            <a:pPr algn="just"/>
            <a:endParaRPr lang="en-US" b="1" dirty="0"/>
          </a:p>
          <a:p>
            <a:pPr algn="just"/>
            <a:r>
              <a:rPr lang="en-GB" b="1" dirty="0"/>
              <a:t>This is done through market research in order to </a:t>
            </a:r>
            <a:r>
              <a:rPr lang="en-US" b="1" dirty="0"/>
              <a:t>know something about the geographical location and socio-demographic characteristics of your actual and potential clientele, their tastes, preferences, and needs for goods and services</a:t>
            </a:r>
            <a:endParaRPr lang="en-GB" b="1" dirty="0"/>
          </a:p>
          <a:p>
            <a:pPr algn="just"/>
            <a:endParaRPr lang="en-GB" b="1" dirty="0"/>
          </a:p>
          <a:p>
            <a:pPr algn="just"/>
            <a:r>
              <a:rPr lang="en-US" b="1" dirty="0"/>
              <a:t>Once this is done, then one appealing to the consumer tastes and </a:t>
            </a:r>
            <a:r>
              <a:rPr lang="en-US" b="1" dirty="0" err="1"/>
              <a:t>behaviour</a:t>
            </a:r>
            <a:r>
              <a:rPr lang="en-US" b="1" dirty="0"/>
              <a:t> reflected in those characteristics. </a:t>
            </a:r>
            <a:endParaRPr lang="en-GB" b="1" dirty="0"/>
          </a:p>
          <a:p>
            <a:pPr algn="just"/>
            <a:r>
              <a:rPr lang="en-US" b="1" dirty="0"/>
              <a:t> </a:t>
            </a:r>
            <a:endParaRPr lang="en-GB" b="1" dirty="0"/>
          </a:p>
          <a:p>
            <a:pPr algn="just"/>
            <a:r>
              <a:rPr lang="en-US" b="1" dirty="0"/>
              <a:t>This means examining in detail such socio- demographic and geographic characteristics such as:</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28808952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TARGETING</a:t>
            </a:r>
            <a:br>
              <a:rPr lang="en-GB" b="1" dirty="0"/>
            </a:br>
            <a:r>
              <a:rPr lang="en-US" b="1" dirty="0"/>
              <a:t> </a:t>
            </a:r>
            <a:endParaRPr lang="en-GB" dirty="0"/>
          </a:p>
        </p:txBody>
      </p:sp>
      <p:sp>
        <p:nvSpPr>
          <p:cNvPr id="3" name="Content Placeholder 2"/>
          <p:cNvSpPr>
            <a:spLocks noGrp="1"/>
          </p:cNvSpPr>
          <p:nvPr>
            <p:ph idx="1"/>
          </p:nvPr>
        </p:nvSpPr>
        <p:spPr/>
        <p:txBody>
          <a:bodyPr>
            <a:normAutofit fontScale="85000" lnSpcReduction="20000"/>
          </a:bodyPr>
          <a:lstStyle/>
          <a:p>
            <a:pPr lvl="0" algn="just"/>
            <a:r>
              <a:rPr lang="en-US" b="1" dirty="0"/>
              <a:t>Residence or community they stay in.</a:t>
            </a:r>
            <a:endParaRPr lang="en-GB" b="1" dirty="0"/>
          </a:p>
          <a:p>
            <a:pPr algn="just"/>
            <a:r>
              <a:rPr lang="en-US" b="1" dirty="0"/>
              <a:t> </a:t>
            </a:r>
            <a:endParaRPr lang="en-GB" b="1" dirty="0"/>
          </a:p>
          <a:p>
            <a:pPr lvl="0" algn="just"/>
            <a:r>
              <a:rPr lang="en-US" b="1" dirty="0"/>
              <a:t>Age – People at different ages have different needs and tastes for products.</a:t>
            </a:r>
            <a:endParaRPr lang="en-GB" b="1" dirty="0"/>
          </a:p>
          <a:p>
            <a:pPr algn="just"/>
            <a:r>
              <a:rPr lang="en-US" b="1" dirty="0"/>
              <a:t> </a:t>
            </a:r>
            <a:endParaRPr lang="en-GB" b="1" dirty="0"/>
          </a:p>
          <a:p>
            <a:pPr algn="just"/>
            <a:r>
              <a:rPr lang="en-US" b="1" dirty="0"/>
              <a:t>Radio Phoenix appeals to the young</a:t>
            </a:r>
            <a:endParaRPr lang="en-GB" b="1" dirty="0"/>
          </a:p>
          <a:p>
            <a:pPr algn="just"/>
            <a:r>
              <a:rPr lang="en-US" b="1" dirty="0"/>
              <a:t> </a:t>
            </a:r>
            <a:endParaRPr lang="en-GB" b="1" dirty="0"/>
          </a:p>
          <a:p>
            <a:pPr lvl="0" algn="just"/>
            <a:r>
              <a:rPr lang="en-US" b="1" dirty="0"/>
              <a:t>Gender – Women represent a demographic category increasingly targeted by businesses, and advertisements.</a:t>
            </a:r>
            <a:endParaRPr lang="en-GB" b="1" dirty="0"/>
          </a:p>
          <a:p>
            <a:pPr algn="just"/>
            <a:r>
              <a:rPr lang="en-US" b="1" dirty="0"/>
              <a:t> </a:t>
            </a:r>
            <a:endParaRPr lang="en-GB" b="1" dirty="0"/>
          </a:p>
          <a:p>
            <a:pPr algn="just"/>
            <a:r>
              <a:rPr lang="en-US" b="1" dirty="0"/>
              <a:t>Cosmetics to females</a:t>
            </a:r>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750898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TARGETING</a:t>
            </a:r>
            <a:br>
              <a:rPr lang="en-GB" b="1" dirty="0"/>
            </a:br>
            <a:r>
              <a:rPr lang="en-US" b="1" dirty="0"/>
              <a:t> </a:t>
            </a:r>
            <a:endParaRPr lang="en-GB" dirty="0"/>
          </a:p>
        </p:txBody>
      </p:sp>
      <p:sp>
        <p:nvSpPr>
          <p:cNvPr id="3" name="Content Placeholder 2"/>
          <p:cNvSpPr>
            <a:spLocks noGrp="1"/>
          </p:cNvSpPr>
          <p:nvPr>
            <p:ph idx="1"/>
          </p:nvPr>
        </p:nvSpPr>
        <p:spPr/>
        <p:txBody>
          <a:bodyPr>
            <a:normAutofit fontScale="85000" lnSpcReduction="10000"/>
          </a:bodyPr>
          <a:lstStyle/>
          <a:p>
            <a:pPr lvl="0" algn="just"/>
            <a:r>
              <a:rPr lang="en-US" b="1" dirty="0"/>
              <a:t>Education - This an important sociodemographic variable and a good predictor of consumer tastes.</a:t>
            </a:r>
          </a:p>
          <a:p>
            <a:pPr marL="0" indent="0" algn="just">
              <a:buNone/>
            </a:pPr>
            <a:endParaRPr lang="en-GB" b="1" dirty="0"/>
          </a:p>
          <a:p>
            <a:pPr algn="just"/>
            <a:r>
              <a:rPr lang="en-US" b="1" dirty="0"/>
              <a:t>Wines to the Educated and high incomes</a:t>
            </a:r>
            <a:endParaRPr lang="en-GB" b="1" dirty="0"/>
          </a:p>
          <a:p>
            <a:pPr marL="0" indent="0" algn="just">
              <a:buNone/>
            </a:pPr>
            <a:endParaRPr lang="en-GB" b="1" dirty="0"/>
          </a:p>
          <a:p>
            <a:pPr lvl="0" algn="just"/>
            <a:r>
              <a:rPr lang="en-US" b="1" dirty="0"/>
              <a:t>Income – This represents purchasing power in terms of disposable income</a:t>
            </a:r>
            <a:endParaRPr lang="en-GB" b="1" dirty="0"/>
          </a:p>
          <a:p>
            <a:pPr marL="0" indent="0" algn="just">
              <a:buNone/>
            </a:pPr>
            <a:endParaRPr lang="en-GB" b="1" dirty="0"/>
          </a:p>
          <a:p>
            <a:pPr lvl="0" algn="just"/>
            <a:r>
              <a:rPr lang="en-US" b="1" dirty="0"/>
              <a:t>Ethnic groups, religious and racial groups provide identifiable targets for marketers. </a:t>
            </a:r>
          </a:p>
          <a:p>
            <a:pPr lvl="0" algn="just"/>
            <a:endParaRPr lang="en-GB" b="1" dirty="0"/>
          </a:p>
          <a:p>
            <a:pPr algn="just"/>
            <a:r>
              <a:rPr lang="en-US" b="1" dirty="0"/>
              <a:t> </a:t>
            </a:r>
            <a:endParaRPr lang="en-GB" b="1" dirty="0"/>
          </a:p>
          <a:p>
            <a:endParaRPr lang="en-GB" dirty="0"/>
          </a:p>
        </p:txBody>
      </p:sp>
    </p:spTree>
    <p:extLst>
      <p:ext uri="{BB962C8B-B14F-4D97-AF65-F5344CB8AC3E}">
        <p14:creationId xmlns:p14="http://schemas.microsoft.com/office/powerpoint/2010/main" val="6447675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CLUSTER MARKETING</a:t>
            </a:r>
            <a:endParaRPr lang="en-GB" dirty="0"/>
          </a:p>
        </p:txBody>
      </p:sp>
      <p:sp>
        <p:nvSpPr>
          <p:cNvPr id="3" name="Content Placeholder 2"/>
          <p:cNvSpPr>
            <a:spLocks noGrp="1"/>
          </p:cNvSpPr>
          <p:nvPr>
            <p:ph idx="1"/>
          </p:nvPr>
        </p:nvSpPr>
        <p:spPr/>
        <p:txBody>
          <a:bodyPr>
            <a:normAutofit fontScale="85000" lnSpcReduction="20000"/>
          </a:bodyPr>
          <a:lstStyle/>
          <a:p>
            <a:endParaRPr lang="en-GB" dirty="0"/>
          </a:p>
          <a:p>
            <a:pPr algn="just"/>
            <a:r>
              <a:rPr lang="en-US" sz="2500" b="1" dirty="0"/>
              <a:t>This involves targeting geographical areas such as neighborhoods with a set of shared socio-demographic characteristics.</a:t>
            </a:r>
            <a:endParaRPr lang="en-GB" sz="2500" b="1" dirty="0"/>
          </a:p>
          <a:p>
            <a:pPr algn="just"/>
            <a:endParaRPr lang="en-GB" sz="2500" b="1" dirty="0"/>
          </a:p>
          <a:p>
            <a:pPr algn="just"/>
            <a:r>
              <a:rPr lang="en-US" sz="2500" b="1" dirty="0"/>
              <a:t>It operates on the basis of the adage that:	“Birds of a feather flock together”.</a:t>
            </a:r>
            <a:endParaRPr lang="en-GB" sz="2500" b="1" dirty="0"/>
          </a:p>
          <a:p>
            <a:pPr marL="0" indent="0" algn="just">
              <a:buNone/>
            </a:pPr>
            <a:r>
              <a:rPr lang="en-US" sz="2500" b="1" dirty="0"/>
              <a:t> </a:t>
            </a:r>
            <a:endParaRPr lang="en-GB" sz="2500" b="1" dirty="0"/>
          </a:p>
          <a:p>
            <a:pPr algn="just"/>
            <a:r>
              <a:rPr lang="en-US" sz="2500" b="1" dirty="0"/>
              <a:t>Neighborhoods can be identified on the basis of shared sociodemographic attributes, tastes and demands for goods and services.</a:t>
            </a:r>
            <a:endParaRPr lang="en-GB" sz="2500" b="1" dirty="0"/>
          </a:p>
          <a:p>
            <a:pPr marL="0" indent="0" algn="just">
              <a:buNone/>
            </a:pPr>
            <a:r>
              <a:rPr lang="en-US" sz="2500" b="1" dirty="0"/>
              <a:t> </a:t>
            </a:r>
            <a:endParaRPr lang="en-GB" sz="2500" b="1" dirty="0"/>
          </a:p>
          <a:p>
            <a:pPr algn="just"/>
            <a:r>
              <a:rPr lang="en-US" sz="2500" b="1" dirty="0"/>
              <a:t>Life styles, tastes and demands for goods and services tend to coincide with sociodemographic characteristics of specific geographical areas.</a:t>
            </a:r>
            <a:endParaRPr lang="en-GB" sz="2500" b="1" dirty="0"/>
          </a:p>
          <a:p>
            <a:pPr marL="0" indent="0" algn="just">
              <a:buNone/>
            </a:pPr>
            <a:r>
              <a:rPr lang="en-US" sz="2500" b="1" dirty="0"/>
              <a:t> </a:t>
            </a:r>
            <a:endParaRPr lang="en-GB" sz="2500" b="1" dirty="0"/>
          </a:p>
          <a:p>
            <a:pPr marL="0" indent="0" algn="just">
              <a:buNone/>
            </a:pPr>
            <a:r>
              <a:rPr lang="en-US" sz="2500" b="1" dirty="0"/>
              <a:t> </a:t>
            </a:r>
            <a:endParaRPr lang="en-GB" sz="2500" b="1" dirty="0"/>
          </a:p>
        </p:txBody>
      </p:sp>
    </p:spTree>
    <p:extLst>
      <p:ext uri="{BB962C8B-B14F-4D97-AF65-F5344CB8AC3E}">
        <p14:creationId xmlns:p14="http://schemas.microsoft.com/office/powerpoint/2010/main" val="20415235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CLUSTER MARKETING</a:t>
            </a:r>
            <a:endParaRPr lang="en-GB" dirty="0"/>
          </a:p>
        </p:txBody>
      </p:sp>
      <p:sp>
        <p:nvSpPr>
          <p:cNvPr id="3" name="Content Placeholder 2"/>
          <p:cNvSpPr>
            <a:spLocks noGrp="1"/>
          </p:cNvSpPr>
          <p:nvPr>
            <p:ph idx="1"/>
          </p:nvPr>
        </p:nvSpPr>
        <p:spPr/>
        <p:txBody>
          <a:bodyPr>
            <a:normAutofit lnSpcReduction="10000"/>
          </a:bodyPr>
          <a:lstStyle/>
          <a:p>
            <a:pPr algn="just"/>
            <a:r>
              <a:rPr lang="en-US" b="1" dirty="0"/>
              <a:t>This facilitates marketing to specific groups.</a:t>
            </a:r>
            <a:endParaRPr lang="en-GB" b="1" dirty="0"/>
          </a:p>
          <a:p>
            <a:pPr marL="0" indent="0" algn="just">
              <a:buNone/>
            </a:pPr>
            <a:r>
              <a:rPr lang="en-US" b="1" dirty="0"/>
              <a:t> </a:t>
            </a:r>
            <a:endParaRPr lang="en-GB" b="1" dirty="0"/>
          </a:p>
          <a:p>
            <a:pPr algn="just"/>
            <a:r>
              <a:rPr lang="en-US" b="1" dirty="0"/>
              <a:t>EXAMPLES</a:t>
            </a:r>
            <a:endParaRPr lang="en-GB" b="1" dirty="0"/>
          </a:p>
          <a:p>
            <a:pPr marL="0" indent="0" algn="just">
              <a:buNone/>
            </a:pPr>
            <a:r>
              <a:rPr lang="en-US" b="1" dirty="0"/>
              <a:t> </a:t>
            </a:r>
            <a:endParaRPr lang="en-GB" b="1" dirty="0"/>
          </a:p>
          <a:p>
            <a:pPr algn="just"/>
            <a:r>
              <a:rPr lang="en-US" b="1" dirty="0"/>
              <a:t>Establish </a:t>
            </a:r>
            <a:r>
              <a:rPr lang="en-US" b="1" dirty="0" err="1"/>
              <a:t>Nandos</a:t>
            </a:r>
            <a:r>
              <a:rPr lang="en-US" b="1" dirty="0"/>
              <a:t> in </a:t>
            </a:r>
            <a:r>
              <a:rPr lang="en-US" b="1" dirty="0" err="1"/>
              <a:t>Kabulonga</a:t>
            </a:r>
            <a:r>
              <a:rPr lang="en-US" b="1" dirty="0"/>
              <a:t> </a:t>
            </a:r>
            <a:endParaRPr lang="en-GB" b="1" dirty="0"/>
          </a:p>
          <a:p>
            <a:pPr marL="0" indent="0" algn="just">
              <a:buNone/>
            </a:pPr>
            <a:r>
              <a:rPr lang="en-US" b="1" dirty="0"/>
              <a:t> </a:t>
            </a:r>
            <a:endParaRPr lang="en-GB" b="1" dirty="0"/>
          </a:p>
          <a:p>
            <a:pPr marL="0" indent="0" algn="just">
              <a:buNone/>
            </a:pPr>
            <a:r>
              <a:rPr lang="en-US" b="1" dirty="0"/>
              <a:t> </a:t>
            </a:r>
            <a:endParaRPr lang="en-GB" b="1" dirty="0"/>
          </a:p>
          <a:p>
            <a:pPr algn="just"/>
            <a:r>
              <a:rPr lang="en-US" b="1" dirty="0"/>
              <a:t>Tastes/and Demographic – </a:t>
            </a:r>
            <a:r>
              <a:rPr lang="en-US" b="1" dirty="0" err="1"/>
              <a:t>Kabulonga</a:t>
            </a:r>
            <a:r>
              <a:rPr lang="en-US" b="1" dirty="0"/>
              <a:t> or </a:t>
            </a:r>
            <a:r>
              <a:rPr lang="en-US" b="1" dirty="0" err="1"/>
              <a:t>Chibuku</a:t>
            </a:r>
            <a:r>
              <a:rPr lang="en-US" b="1" dirty="0"/>
              <a:t> Tavern in </a:t>
            </a:r>
            <a:r>
              <a:rPr lang="en-US" b="1" dirty="0" err="1"/>
              <a:t>Bauleni</a:t>
            </a:r>
            <a:r>
              <a:rPr lang="en-US" b="1" dirty="0"/>
              <a:t>.</a:t>
            </a:r>
            <a:endParaRPr lang="en-GB" b="1" dirty="0"/>
          </a:p>
          <a:p>
            <a:pPr marL="0" indent="0" algn="just">
              <a:buNone/>
            </a:pPr>
            <a:r>
              <a:rPr lang="en-US" b="1" dirty="0"/>
              <a:t> </a:t>
            </a:r>
            <a:endParaRPr lang="en-GB" b="1" dirty="0"/>
          </a:p>
          <a:p>
            <a:endParaRPr lang="en-GB" dirty="0"/>
          </a:p>
        </p:txBody>
      </p:sp>
    </p:spTree>
    <p:extLst>
      <p:ext uri="{BB962C8B-B14F-4D97-AF65-F5344CB8AC3E}">
        <p14:creationId xmlns:p14="http://schemas.microsoft.com/office/powerpoint/2010/main" val="799782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INSURANCE</a:t>
            </a:r>
            <a:br>
              <a:rPr lang="en-GB" b="1" dirty="0"/>
            </a:br>
            <a:r>
              <a:rPr lang="en-US" b="1" dirty="0"/>
              <a:t> </a:t>
            </a:r>
            <a:br>
              <a:rPr lang="en-GB" b="1" dirty="0"/>
            </a:br>
            <a:endParaRPr lang="en-GB" dirty="0"/>
          </a:p>
        </p:txBody>
      </p:sp>
      <p:sp>
        <p:nvSpPr>
          <p:cNvPr id="3" name="Content Placeholder 2"/>
          <p:cNvSpPr>
            <a:spLocks noGrp="1"/>
          </p:cNvSpPr>
          <p:nvPr>
            <p:ph idx="1"/>
          </p:nvPr>
        </p:nvSpPr>
        <p:spPr/>
        <p:txBody>
          <a:bodyPr/>
          <a:lstStyle/>
          <a:p>
            <a:r>
              <a:rPr lang="en-US" b="1" dirty="0"/>
              <a:t>Determination of life insurance premiums depends on demographic techniques and information.</a:t>
            </a:r>
          </a:p>
          <a:p>
            <a:endParaRPr lang="en-US" b="1" dirty="0"/>
          </a:p>
          <a:p>
            <a:r>
              <a:rPr lang="en-US" b="1" dirty="0"/>
              <a:t>The widespread use of the life table in insurance companies is a reflection of this.</a:t>
            </a:r>
          </a:p>
          <a:p>
            <a:endParaRPr lang="en-US" b="1" dirty="0"/>
          </a:p>
          <a:p>
            <a:r>
              <a:rPr lang="en-US" b="1" dirty="0"/>
              <a:t>Life expectancy is used to determine the insurance of human as well as non-human populations.</a:t>
            </a:r>
            <a:endParaRPr lang="en-GB" b="1" dirty="0"/>
          </a:p>
          <a:p>
            <a:endParaRPr lang="en-GB" dirty="0"/>
          </a:p>
          <a:p>
            <a:endParaRPr lang="en-GB" dirty="0"/>
          </a:p>
        </p:txBody>
      </p:sp>
    </p:spTree>
    <p:extLst>
      <p:ext uri="{BB962C8B-B14F-4D97-AF65-F5344CB8AC3E}">
        <p14:creationId xmlns:p14="http://schemas.microsoft.com/office/powerpoint/2010/main" val="2082522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PLANNING FOR SOCIAL SERVICES</a:t>
            </a:r>
            <a:br>
              <a:rPr lang="en-GB" dirty="0"/>
            </a:br>
            <a:endParaRPr lang="en-GB" dirty="0"/>
          </a:p>
        </p:txBody>
      </p:sp>
      <p:sp>
        <p:nvSpPr>
          <p:cNvPr id="3" name="Content Placeholder 2"/>
          <p:cNvSpPr>
            <a:spLocks noGrp="1"/>
          </p:cNvSpPr>
          <p:nvPr>
            <p:ph idx="1"/>
          </p:nvPr>
        </p:nvSpPr>
        <p:spPr/>
        <p:txBody>
          <a:bodyPr>
            <a:normAutofit fontScale="70000" lnSpcReduction="20000"/>
          </a:bodyPr>
          <a:lstStyle/>
          <a:p>
            <a:pPr marL="0" indent="0">
              <a:buNone/>
            </a:pPr>
            <a:endParaRPr lang="en-GB" dirty="0"/>
          </a:p>
          <a:p>
            <a:pPr lvl="0" algn="just"/>
            <a:r>
              <a:rPr lang="en-US" b="1" dirty="0"/>
              <a:t>CITY AND REGIONAL PLANNING</a:t>
            </a:r>
          </a:p>
          <a:p>
            <a:pPr lvl="0" algn="just"/>
            <a:endParaRPr lang="en-US" b="1" dirty="0"/>
          </a:p>
          <a:p>
            <a:pPr lvl="0" algn="just"/>
            <a:r>
              <a:rPr lang="en-US" b="1" dirty="0"/>
              <a:t>Local agencies (City and municipal councils) use demographics for the adequate provision of services for their communities.</a:t>
            </a:r>
            <a:endParaRPr lang="en-GB" b="1" dirty="0"/>
          </a:p>
          <a:p>
            <a:pPr marL="0" indent="0" algn="just">
              <a:buNone/>
            </a:pPr>
            <a:endParaRPr lang="en-GB" b="1" dirty="0"/>
          </a:p>
          <a:p>
            <a:pPr lvl="0" algn="just"/>
            <a:r>
              <a:rPr lang="en-US" b="1" dirty="0"/>
              <a:t>Local area estimates and projections for the level of townships especially in the compliance with the policy of decentralization:</a:t>
            </a:r>
            <a:endParaRPr lang="en-GB" b="1" dirty="0"/>
          </a:p>
          <a:p>
            <a:pPr marL="0" indent="0" algn="just">
              <a:buNone/>
            </a:pPr>
            <a:endParaRPr lang="en-GB" b="1" dirty="0"/>
          </a:p>
          <a:p>
            <a:pPr lvl="0" algn="just"/>
            <a:r>
              <a:rPr lang="en-US" b="1" dirty="0"/>
              <a:t>Where are the new roads to be built</a:t>
            </a:r>
            <a:endParaRPr lang="en-GB" b="1" dirty="0"/>
          </a:p>
          <a:p>
            <a:pPr lvl="0" algn="just"/>
            <a:r>
              <a:rPr lang="en-US" b="1" dirty="0"/>
              <a:t>How much water needs to be stored in reservoirs</a:t>
            </a:r>
            <a:endParaRPr lang="en-GB" b="1" dirty="0"/>
          </a:p>
          <a:p>
            <a:pPr lvl="0" algn="just"/>
            <a:r>
              <a:rPr lang="en-US" b="1" dirty="0"/>
              <a:t>Where new sewage pipes need to go</a:t>
            </a:r>
            <a:endParaRPr lang="en-GB" b="1" dirty="0"/>
          </a:p>
          <a:p>
            <a:pPr lvl="0" algn="just"/>
            <a:r>
              <a:rPr lang="en-US" b="1" dirty="0"/>
              <a:t>How many police officers and fire fighters must be recruited?</a:t>
            </a:r>
            <a:endParaRPr lang="en-GB" b="1" dirty="0"/>
          </a:p>
          <a:p>
            <a:pPr marL="0" indent="0" algn="just">
              <a:buNone/>
            </a:pPr>
            <a:endParaRPr lang="en-GB" b="1" dirty="0"/>
          </a:p>
          <a:p>
            <a:endParaRPr lang="en-GB" dirty="0"/>
          </a:p>
        </p:txBody>
      </p:sp>
    </p:spTree>
    <p:extLst>
      <p:ext uri="{BB962C8B-B14F-4D97-AF65-F5344CB8AC3E}">
        <p14:creationId xmlns:p14="http://schemas.microsoft.com/office/powerpoint/2010/main" val="3103520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PLANNING FOR SOCIAL SERVICES</a:t>
            </a:r>
            <a:br>
              <a:rPr lang="en-GB" dirty="0"/>
            </a:br>
            <a:endParaRPr lang="en-GB" dirty="0"/>
          </a:p>
        </p:txBody>
      </p:sp>
      <p:sp>
        <p:nvSpPr>
          <p:cNvPr id="3" name="Content Placeholder 2"/>
          <p:cNvSpPr>
            <a:spLocks noGrp="1"/>
          </p:cNvSpPr>
          <p:nvPr>
            <p:ph idx="1"/>
          </p:nvPr>
        </p:nvSpPr>
        <p:spPr/>
        <p:txBody>
          <a:bodyPr>
            <a:normAutofit fontScale="85000" lnSpcReduction="20000"/>
          </a:bodyPr>
          <a:lstStyle/>
          <a:p>
            <a:pPr lvl="0"/>
            <a:r>
              <a:rPr lang="en-US" b="1" dirty="0"/>
              <a:t>EDUCATION</a:t>
            </a:r>
            <a:endParaRPr lang="en-GB" dirty="0"/>
          </a:p>
          <a:p>
            <a:pPr marL="0" indent="0">
              <a:buNone/>
            </a:pPr>
            <a:endParaRPr lang="en-GB" dirty="0"/>
          </a:p>
          <a:p>
            <a:pPr algn="just"/>
            <a:r>
              <a:rPr lang="en-US" b="1" dirty="0"/>
              <a:t>Demand for the provision of educational facilities is determined by demographic profile of the population. </a:t>
            </a:r>
            <a:endParaRPr lang="en-GB" b="1" dirty="0"/>
          </a:p>
          <a:p>
            <a:pPr algn="just"/>
            <a:endParaRPr lang="en-GB" b="1" dirty="0"/>
          </a:p>
          <a:p>
            <a:pPr lvl="0" algn="just"/>
            <a:r>
              <a:rPr lang="en-US" b="1" dirty="0"/>
              <a:t>Schools recruitment and enrollment rise and fall on demographic processes such as fertility, mortality, and migration.</a:t>
            </a:r>
          </a:p>
          <a:p>
            <a:pPr lvl="0" algn="just"/>
            <a:endParaRPr lang="en-US" b="1" dirty="0"/>
          </a:p>
          <a:p>
            <a:pPr lvl="0" algn="just"/>
            <a:r>
              <a:rPr lang="en-US" b="1" dirty="0"/>
              <a:t>Entry at primary level is directly dependent on fertility . </a:t>
            </a:r>
          </a:p>
          <a:p>
            <a:pPr lvl="0" algn="just"/>
            <a:endParaRPr lang="en-US" b="1" dirty="0"/>
          </a:p>
          <a:p>
            <a:pPr lvl="0" algn="just"/>
            <a:r>
              <a:rPr lang="en-US" b="1" dirty="0"/>
              <a:t>Subsequent progression from primary to secondary levels are influenced by mortality, migration, as well as dropout rates.</a:t>
            </a:r>
          </a:p>
          <a:p>
            <a:pPr lvl="0" algn="just"/>
            <a:endParaRPr lang="en-GB" b="1" dirty="0"/>
          </a:p>
          <a:p>
            <a:endParaRPr lang="en-GB" dirty="0"/>
          </a:p>
        </p:txBody>
      </p:sp>
    </p:spTree>
    <p:extLst>
      <p:ext uri="{BB962C8B-B14F-4D97-AF65-F5344CB8AC3E}">
        <p14:creationId xmlns:p14="http://schemas.microsoft.com/office/powerpoint/2010/main" val="699994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lvl="0" algn="just"/>
            <a:r>
              <a:rPr lang="en-US" b="1" dirty="0"/>
              <a:t>University enrolment in turn relies on output from secondary school system.</a:t>
            </a:r>
          </a:p>
          <a:p>
            <a:pPr marL="0" indent="0" algn="just">
              <a:buNone/>
            </a:pPr>
            <a:endParaRPr lang="en-GB" b="1" dirty="0"/>
          </a:p>
          <a:p>
            <a:pPr lvl="0" algn="just"/>
            <a:r>
              <a:rPr lang="en-US" b="1" dirty="0"/>
              <a:t>Quality of education is determined by demographic trends – are facilities commensurate with the number of students?</a:t>
            </a:r>
          </a:p>
          <a:p>
            <a:pPr marL="0" indent="0" algn="just">
              <a:buNone/>
            </a:pPr>
            <a:endParaRPr lang="en-GB" b="1" dirty="0"/>
          </a:p>
          <a:p>
            <a:pPr lvl="0" algn="just"/>
            <a:r>
              <a:rPr lang="en-US" b="1" dirty="0"/>
              <a:t>Planning for future expansion of education system is also demographically determined.</a:t>
            </a:r>
            <a:endParaRPr lang="en-GB" b="1" dirty="0"/>
          </a:p>
          <a:p>
            <a:endParaRPr lang="en-GB" dirty="0"/>
          </a:p>
        </p:txBody>
      </p:sp>
    </p:spTree>
    <p:extLst>
      <p:ext uri="{BB962C8B-B14F-4D97-AF65-F5344CB8AC3E}">
        <p14:creationId xmlns:p14="http://schemas.microsoft.com/office/powerpoint/2010/main" val="22451061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PLANNING FOR SOCIAL SERVICES</a:t>
            </a:r>
            <a:br>
              <a:rPr lang="en-GB" dirty="0"/>
            </a:br>
            <a:endParaRPr lang="en-GB" dirty="0"/>
          </a:p>
        </p:txBody>
      </p:sp>
      <p:sp>
        <p:nvSpPr>
          <p:cNvPr id="3" name="Content Placeholder 2"/>
          <p:cNvSpPr>
            <a:spLocks noGrp="1"/>
          </p:cNvSpPr>
          <p:nvPr>
            <p:ph idx="1"/>
          </p:nvPr>
        </p:nvSpPr>
        <p:spPr/>
        <p:txBody>
          <a:bodyPr>
            <a:normAutofit/>
          </a:bodyPr>
          <a:lstStyle/>
          <a:p>
            <a:pPr lvl="0" algn="just"/>
            <a:r>
              <a:rPr lang="en-US" b="1" dirty="0"/>
              <a:t>HEALTH</a:t>
            </a:r>
            <a:endParaRPr lang="en-GB" b="1" dirty="0"/>
          </a:p>
          <a:p>
            <a:pPr marL="0" indent="0" algn="just">
              <a:buNone/>
            </a:pPr>
            <a:endParaRPr lang="en-GB" b="1" dirty="0"/>
          </a:p>
          <a:p>
            <a:pPr algn="just"/>
            <a:r>
              <a:rPr lang="en-US" b="1" dirty="0"/>
              <a:t>Demand for medical services and physicians is subject to demographic change.</a:t>
            </a:r>
            <a:endParaRPr lang="en-GB" b="1" dirty="0"/>
          </a:p>
          <a:p>
            <a:pPr marL="0" indent="0" algn="just">
              <a:buNone/>
            </a:pPr>
            <a:endParaRPr lang="en-GB" b="1" dirty="0"/>
          </a:p>
          <a:p>
            <a:pPr algn="just"/>
            <a:r>
              <a:rPr lang="en-US" b="1" dirty="0"/>
              <a:t>GENDER </a:t>
            </a:r>
            <a:endParaRPr lang="en-GB" b="1" dirty="0"/>
          </a:p>
          <a:p>
            <a:pPr marL="0" indent="0" algn="just">
              <a:buNone/>
            </a:pPr>
            <a:endParaRPr lang="en-GB" b="1" dirty="0"/>
          </a:p>
          <a:p>
            <a:pPr algn="just"/>
            <a:r>
              <a:rPr lang="en-US" b="1" dirty="0"/>
              <a:t>The size of the female population in the reproductive ages will determine demand for maternal wards and under five services</a:t>
            </a:r>
            <a:endParaRPr lang="en-GB" b="1" dirty="0"/>
          </a:p>
          <a:p>
            <a:pPr marL="0" indent="0" algn="just">
              <a:buNone/>
            </a:pPr>
            <a:endParaRPr lang="en-GB" b="1" dirty="0"/>
          </a:p>
          <a:p>
            <a:endParaRPr lang="en-GB" dirty="0"/>
          </a:p>
        </p:txBody>
      </p:sp>
    </p:spTree>
    <p:extLst>
      <p:ext uri="{BB962C8B-B14F-4D97-AF65-F5344CB8AC3E}">
        <p14:creationId xmlns:p14="http://schemas.microsoft.com/office/powerpoint/2010/main" val="1714029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0000" lnSpcReduction="20000"/>
          </a:bodyPr>
          <a:lstStyle/>
          <a:p>
            <a:pPr algn="just"/>
            <a:r>
              <a:rPr lang="en-US" b="1" dirty="0"/>
              <a:t>AGE</a:t>
            </a:r>
            <a:endParaRPr lang="en-GB" b="1" dirty="0"/>
          </a:p>
          <a:p>
            <a:pPr marL="0" indent="0" algn="just">
              <a:buNone/>
            </a:pPr>
            <a:endParaRPr lang="en-GB" b="1" dirty="0"/>
          </a:p>
          <a:p>
            <a:pPr algn="just"/>
            <a:r>
              <a:rPr lang="en-US" b="1" dirty="0"/>
              <a:t>Older and younger people also exert different demands on health facilities.</a:t>
            </a:r>
          </a:p>
          <a:p>
            <a:pPr algn="just"/>
            <a:endParaRPr lang="en-US" b="1" dirty="0"/>
          </a:p>
          <a:p>
            <a:pPr algn="just"/>
            <a:r>
              <a:rPr lang="en-US" b="1" dirty="0"/>
              <a:t>The greater the number of infants in the population the greater is the demand for pediatric services.</a:t>
            </a:r>
          </a:p>
          <a:p>
            <a:pPr algn="just"/>
            <a:endParaRPr lang="en-GB" b="1" dirty="0"/>
          </a:p>
          <a:p>
            <a:pPr algn="just"/>
            <a:r>
              <a:rPr lang="en-US" b="1" dirty="0"/>
              <a:t>The elderly utilize health services more frequently than younger people as they have greater medical needs.</a:t>
            </a:r>
            <a:endParaRPr lang="en-GB" b="1" dirty="0"/>
          </a:p>
          <a:p>
            <a:pPr marL="0" indent="0" algn="just">
              <a:buNone/>
            </a:pPr>
            <a:endParaRPr lang="en-GB" b="1" dirty="0"/>
          </a:p>
          <a:p>
            <a:pPr algn="just"/>
            <a:r>
              <a:rPr lang="en-US" b="1" dirty="0"/>
              <a:t>This may lead to greater demand for geriatric services.</a:t>
            </a:r>
            <a:endParaRPr lang="en-GB" b="1" dirty="0"/>
          </a:p>
          <a:p>
            <a:pPr marL="0" indent="0" algn="just">
              <a:buNone/>
            </a:pPr>
            <a:endParaRPr lang="en-GB" b="1" dirty="0"/>
          </a:p>
          <a:p>
            <a:pPr algn="just"/>
            <a:r>
              <a:rPr lang="en-US" b="1" dirty="0"/>
              <a:t>Younger people and the middle aged may rely more on self – care thus their demand for medical services may be more stable.</a:t>
            </a:r>
            <a:endParaRPr lang="en-GB" b="1" dirty="0"/>
          </a:p>
          <a:p>
            <a:endParaRPr lang="en-GB" dirty="0"/>
          </a:p>
        </p:txBody>
      </p:sp>
    </p:spTree>
    <p:extLst>
      <p:ext uri="{BB962C8B-B14F-4D97-AF65-F5344CB8AC3E}">
        <p14:creationId xmlns:p14="http://schemas.microsoft.com/office/powerpoint/2010/main" val="29610612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0" fontAlgn="base" hangingPunct="0">
              <a:spcAft>
                <a:spcPct val="0"/>
              </a:spcAft>
              <a:tabLst>
                <a:tab pos="457200" algn="l"/>
              </a:tabLst>
            </a:pPr>
            <a:br>
              <a:rPr lang="en-US" altLang="en-US" b="1" dirty="0">
                <a:latin typeface="Century" panose="02040604050505020304" pitchFamily="18" charset="0"/>
                <a:ea typeface="Times New Roman" panose="02020603050405020304" pitchFamily="18" charset="0"/>
                <a:cs typeface="Tahoma" panose="020B0604030504040204" pitchFamily="34" charset="0"/>
              </a:rPr>
            </a:br>
            <a:r>
              <a:rPr lang="en-US" altLang="en-US" b="1" dirty="0">
                <a:latin typeface="+mn-lt"/>
                <a:ea typeface="Times New Roman" panose="02020603050405020304" pitchFamily="18" charset="0"/>
                <a:cs typeface="Tahoma" panose="020B0604030504040204" pitchFamily="34" charset="0"/>
              </a:rPr>
              <a:t>POLITICAL PLANNING</a:t>
            </a:r>
            <a:br>
              <a:rPr lang="en-GB" altLang="en-US" sz="2400" dirty="0">
                <a:latin typeface="+mn-lt"/>
              </a:rPr>
            </a:br>
            <a:r>
              <a:rPr lang="en-US" altLang="en-US" dirty="0">
                <a:latin typeface="+mn-lt"/>
                <a:ea typeface="Times New Roman" panose="02020603050405020304" pitchFamily="18" charset="0"/>
                <a:cs typeface="Tahoma" panose="020B0604030504040204" pitchFamily="34" charset="0"/>
              </a:rPr>
              <a:t> </a:t>
            </a:r>
            <a:br>
              <a:rPr lang="en-GB" altLang="en-US" sz="2400" dirty="0">
                <a:latin typeface="+mn-lt"/>
              </a:rPr>
            </a:br>
            <a:endParaRPr lang="en-GB" dirty="0">
              <a:latin typeface="+mn-lt"/>
            </a:endParaRPr>
          </a:p>
        </p:txBody>
      </p:sp>
      <p:sp>
        <p:nvSpPr>
          <p:cNvPr id="3" name="Content Placeholder 2"/>
          <p:cNvSpPr>
            <a:spLocks noGrp="1"/>
          </p:cNvSpPr>
          <p:nvPr>
            <p:ph idx="1"/>
          </p:nvPr>
        </p:nvSpPr>
        <p:spPr/>
        <p:txBody>
          <a:bodyPr>
            <a:normAutofit fontScale="25000" lnSpcReduction="20000"/>
          </a:bodyPr>
          <a:lstStyle/>
          <a:p>
            <a:pPr marL="0" indent="0" algn="just" eaLnBrk="0" fontAlgn="base" hangingPunct="0">
              <a:spcBef>
                <a:spcPct val="0"/>
              </a:spcBef>
              <a:spcAft>
                <a:spcPct val="0"/>
              </a:spcAft>
              <a:buNone/>
              <a:tabLst>
                <a:tab pos="457200" algn="l"/>
              </a:tabLst>
            </a:pPr>
            <a:r>
              <a:rPr lang="en-US" altLang="en-US" b="1" dirty="0">
                <a:latin typeface="Century" panose="02040604050505020304" pitchFamily="18" charset="0"/>
                <a:ea typeface="Times New Roman" panose="02020603050405020304" pitchFamily="18" charset="0"/>
                <a:cs typeface="Tahoma" panose="020B0604030504040204" pitchFamily="34" charset="0"/>
              </a:rPr>
              <a:t> </a:t>
            </a:r>
            <a:r>
              <a:rPr lang="en-US" altLang="en-US" sz="11200" b="1" dirty="0">
                <a:ea typeface="Times New Roman" panose="02020603050405020304" pitchFamily="18" charset="0"/>
                <a:cs typeface="Tahoma" panose="020B0604030504040204" pitchFamily="34" charset="0"/>
              </a:rPr>
              <a:t>POLITICAL REPRESENTATION</a:t>
            </a:r>
            <a:endParaRPr lang="en-GB" altLang="en-US" sz="11200" b="1" dirty="0"/>
          </a:p>
          <a:p>
            <a:pPr marL="0" indent="0" algn="just" eaLnBrk="0" fontAlgn="base" hangingPunct="0">
              <a:spcBef>
                <a:spcPct val="0"/>
              </a:spcBef>
              <a:spcAft>
                <a:spcPct val="0"/>
              </a:spcAft>
              <a:buFontTx/>
              <a:buChar char="•"/>
              <a:tabLst>
                <a:tab pos="457200" algn="l"/>
              </a:tabLst>
            </a:pPr>
            <a:endParaRPr lang="en-US" altLang="en-US" sz="5000" b="1" dirty="0">
              <a:ea typeface="Times New Roman" panose="02020603050405020304" pitchFamily="18" charset="0"/>
              <a:cs typeface="Tahoma" panose="020B0604030504040204" pitchFamily="34" charset="0"/>
            </a:endParaRPr>
          </a:p>
          <a:p>
            <a:pPr marL="0" indent="0" algn="just" eaLnBrk="0" fontAlgn="base" hangingPunct="0">
              <a:spcBef>
                <a:spcPct val="0"/>
              </a:spcBef>
              <a:spcAft>
                <a:spcPct val="0"/>
              </a:spcAft>
              <a:buFontTx/>
              <a:buChar char="•"/>
              <a:tabLst>
                <a:tab pos="457200" algn="l"/>
              </a:tabLst>
            </a:pPr>
            <a:r>
              <a:rPr lang="en-US" altLang="en-US" sz="8000" b="1" dirty="0">
                <a:ea typeface="Times New Roman" panose="02020603050405020304" pitchFamily="18" charset="0"/>
                <a:cs typeface="Tahoma" panose="020B0604030504040204" pitchFamily="34" charset="0"/>
              </a:rPr>
              <a:t>This </a:t>
            </a:r>
            <a:r>
              <a:rPr lang="en-US" altLang="en-US" sz="8000" b="1">
                <a:ea typeface="Times New Roman" panose="02020603050405020304" pitchFamily="18" charset="0"/>
                <a:cs typeface="Tahoma" panose="020B0604030504040204" pitchFamily="34" charset="0"/>
              </a:rPr>
              <a:t>is influenced </a:t>
            </a:r>
            <a:r>
              <a:rPr lang="en-US" altLang="en-US" sz="8000" b="1" dirty="0">
                <a:ea typeface="Times New Roman" panose="02020603050405020304" pitchFamily="18" charset="0"/>
                <a:cs typeface="Tahoma" panose="020B0604030504040204" pitchFamily="34" charset="0"/>
              </a:rPr>
              <a:t>by population changes and affects distribution of power.</a:t>
            </a:r>
          </a:p>
          <a:p>
            <a:pPr marL="0" indent="0" algn="just" eaLnBrk="0" fontAlgn="base" hangingPunct="0">
              <a:spcBef>
                <a:spcPct val="0"/>
              </a:spcBef>
              <a:spcAft>
                <a:spcPct val="0"/>
              </a:spcAft>
              <a:buFontTx/>
              <a:buChar char="•"/>
              <a:tabLst>
                <a:tab pos="457200" algn="l"/>
              </a:tabLst>
            </a:pPr>
            <a:endParaRPr lang="en-GB" altLang="en-US" sz="8000" b="1" dirty="0"/>
          </a:p>
          <a:p>
            <a:pPr algn="just" eaLnBrk="0" fontAlgn="base" hangingPunct="0">
              <a:spcBef>
                <a:spcPct val="0"/>
              </a:spcBef>
              <a:spcAft>
                <a:spcPct val="0"/>
              </a:spcAft>
              <a:tabLst>
                <a:tab pos="457200" algn="l"/>
              </a:tabLst>
            </a:pPr>
            <a:r>
              <a:rPr lang="en-US" altLang="en-US" sz="8000" b="1" dirty="0">
                <a:ea typeface="Times New Roman" panose="02020603050405020304" pitchFamily="18" charset="0"/>
                <a:cs typeface="Tahoma" panose="020B0604030504040204" pitchFamily="34" charset="0"/>
              </a:rPr>
              <a:t>Apportionment of districts constituency creation is influenced by population size and distribution.</a:t>
            </a:r>
          </a:p>
          <a:p>
            <a:pPr marL="0" indent="0" algn="just" eaLnBrk="0" fontAlgn="base" hangingPunct="0">
              <a:spcBef>
                <a:spcPct val="0"/>
              </a:spcBef>
              <a:spcAft>
                <a:spcPct val="0"/>
              </a:spcAft>
              <a:buNone/>
              <a:tabLst>
                <a:tab pos="457200" algn="l"/>
              </a:tabLst>
            </a:pPr>
            <a:endParaRPr lang="en-GB" altLang="en-US" sz="8000" b="1" dirty="0"/>
          </a:p>
          <a:p>
            <a:pPr marL="0" indent="0" algn="just" eaLnBrk="0" fontAlgn="base" hangingPunct="0">
              <a:spcBef>
                <a:spcPct val="0"/>
              </a:spcBef>
              <a:spcAft>
                <a:spcPct val="0"/>
              </a:spcAft>
              <a:buFontTx/>
              <a:buChar char="•"/>
              <a:tabLst>
                <a:tab pos="457200" algn="l"/>
              </a:tabLst>
            </a:pPr>
            <a:r>
              <a:rPr lang="en-US" altLang="en-US" sz="8000" b="1" dirty="0">
                <a:ea typeface="Times New Roman" panose="02020603050405020304" pitchFamily="18" charset="0"/>
                <a:cs typeface="Tahoma" panose="020B0604030504040204" pitchFamily="34" charset="0"/>
              </a:rPr>
              <a:t>Larger units must have greater representation more constituencies.</a:t>
            </a:r>
          </a:p>
          <a:p>
            <a:pPr marL="0" indent="0" algn="just" eaLnBrk="0" fontAlgn="base" hangingPunct="0">
              <a:spcBef>
                <a:spcPct val="0"/>
              </a:spcBef>
              <a:spcAft>
                <a:spcPct val="0"/>
              </a:spcAft>
              <a:buFontTx/>
              <a:buChar char="•"/>
              <a:tabLst>
                <a:tab pos="457200" algn="l"/>
              </a:tabLst>
            </a:pPr>
            <a:endParaRPr lang="en-GB" altLang="en-US" sz="8000" b="1" dirty="0"/>
          </a:p>
          <a:p>
            <a:pPr marL="0" indent="0" algn="just" eaLnBrk="0" fontAlgn="base" hangingPunct="0">
              <a:spcBef>
                <a:spcPct val="0"/>
              </a:spcBef>
              <a:spcAft>
                <a:spcPct val="0"/>
              </a:spcAft>
              <a:buFontTx/>
              <a:buChar char="•"/>
              <a:tabLst>
                <a:tab pos="457200" algn="l"/>
              </a:tabLst>
            </a:pPr>
            <a:r>
              <a:rPr lang="en-GB" altLang="en-US" sz="8000" b="1" dirty="0"/>
              <a:t>The electoral college system in the US operates on this principle.</a:t>
            </a:r>
          </a:p>
          <a:p>
            <a:pPr marL="0" indent="0" algn="just" eaLnBrk="0" fontAlgn="base" hangingPunct="0">
              <a:spcBef>
                <a:spcPct val="0"/>
              </a:spcBef>
              <a:spcAft>
                <a:spcPct val="0"/>
              </a:spcAft>
              <a:buFontTx/>
              <a:buChar char="•"/>
              <a:tabLst>
                <a:tab pos="457200" algn="l"/>
              </a:tabLst>
            </a:pPr>
            <a:endParaRPr lang="en-GB" altLang="en-US" sz="8000" b="1" dirty="0"/>
          </a:p>
          <a:p>
            <a:pPr marL="0" indent="0" algn="just" eaLnBrk="0" fontAlgn="base" hangingPunct="0">
              <a:spcBef>
                <a:spcPct val="0"/>
              </a:spcBef>
              <a:spcAft>
                <a:spcPct val="0"/>
              </a:spcAft>
              <a:buFontTx/>
              <a:buChar char="•"/>
              <a:tabLst>
                <a:tab pos="457200" algn="l"/>
              </a:tabLst>
            </a:pPr>
            <a:r>
              <a:rPr lang="en-GB" altLang="en-US" sz="8000" b="1" dirty="0"/>
              <a:t>Proportional representation  gives each political party a number of seats in parliament proportionate to the percentage of votes obtained.</a:t>
            </a:r>
            <a:r>
              <a:rPr lang="en-US" altLang="en-US" sz="8000" b="1" dirty="0">
                <a:cs typeface="Tahoma" panose="020B0604030504040204" pitchFamily="34" charset="0"/>
              </a:rPr>
              <a:t> </a:t>
            </a:r>
          </a:p>
          <a:p>
            <a:pPr marL="0" indent="0" algn="just" eaLnBrk="0" fontAlgn="base" hangingPunct="0">
              <a:spcBef>
                <a:spcPct val="0"/>
              </a:spcBef>
              <a:spcAft>
                <a:spcPct val="0"/>
              </a:spcAft>
              <a:buFontTx/>
              <a:buChar char="•"/>
              <a:tabLst>
                <a:tab pos="457200" algn="l"/>
              </a:tabLst>
            </a:pPr>
            <a:endParaRPr lang="en-US" altLang="en-US" sz="8000" b="1" dirty="0">
              <a:cs typeface="Tahoma" panose="020B0604030504040204" pitchFamily="34" charset="0"/>
            </a:endParaRPr>
          </a:p>
          <a:p>
            <a:pPr marL="0" indent="0" algn="just" eaLnBrk="0" fontAlgn="base" hangingPunct="0">
              <a:spcBef>
                <a:spcPct val="0"/>
              </a:spcBef>
              <a:spcAft>
                <a:spcPct val="0"/>
              </a:spcAft>
              <a:buFontTx/>
              <a:buChar char="•"/>
              <a:tabLst>
                <a:tab pos="457200" algn="l"/>
              </a:tabLst>
            </a:pPr>
            <a:r>
              <a:rPr lang="en-US" altLang="en-US" sz="8000" b="1" dirty="0">
                <a:cs typeface="Tahoma" panose="020B0604030504040204" pitchFamily="34" charset="0"/>
              </a:rPr>
              <a:t>Attainment of city status is in part influenced by population size.</a:t>
            </a:r>
            <a:endParaRPr lang="en-GB" altLang="en-US" sz="8000" b="1" dirty="0"/>
          </a:p>
          <a:p>
            <a:pPr marL="0" indent="0" algn="just" eaLnBrk="0" fontAlgn="base" hangingPunct="0">
              <a:spcBef>
                <a:spcPct val="0"/>
              </a:spcBef>
              <a:spcAft>
                <a:spcPct val="0"/>
              </a:spcAft>
              <a:buFontTx/>
              <a:buChar char="•"/>
              <a:tabLst>
                <a:tab pos="457200" algn="l"/>
              </a:tabLst>
            </a:pPr>
            <a:endParaRPr lang="en-GB" altLang="en-US" sz="8000" b="1" dirty="0"/>
          </a:p>
          <a:p>
            <a:pPr marL="0" indent="0" algn="just" eaLnBrk="0" fontAlgn="base" hangingPunct="0">
              <a:spcBef>
                <a:spcPct val="0"/>
              </a:spcBef>
              <a:spcAft>
                <a:spcPct val="0"/>
              </a:spcAft>
              <a:buNone/>
              <a:tabLst>
                <a:tab pos="457200" algn="l"/>
              </a:tabLst>
            </a:pPr>
            <a:r>
              <a:rPr lang="en-US" altLang="en-US" sz="8000" b="1" dirty="0">
                <a:ea typeface="Times New Roman" panose="02020603050405020304" pitchFamily="18" charset="0"/>
                <a:cs typeface="Tahoma" panose="020B0604030504040204" pitchFamily="34" charset="0"/>
              </a:rPr>
              <a:t> </a:t>
            </a:r>
            <a:endParaRPr lang="en-GB" altLang="en-US" sz="8000" b="1" dirty="0"/>
          </a:p>
          <a:p>
            <a:pPr marL="0" indent="0" algn="just" eaLnBrk="0" fontAlgn="base" hangingPunct="0">
              <a:spcBef>
                <a:spcPct val="0"/>
              </a:spcBef>
              <a:spcAft>
                <a:spcPct val="0"/>
              </a:spcAft>
              <a:buNone/>
              <a:tabLst>
                <a:tab pos="457200" algn="l"/>
              </a:tabLst>
            </a:pPr>
            <a:r>
              <a:rPr lang="en-US" altLang="en-US" sz="8000" b="1" dirty="0">
                <a:ea typeface="Times New Roman" panose="02020603050405020304" pitchFamily="18" charset="0"/>
                <a:cs typeface="Tahoma" panose="020B0604030504040204" pitchFamily="34" charset="0"/>
              </a:rPr>
              <a:t> </a:t>
            </a:r>
            <a:endParaRPr lang="en-US" altLang="en-US" sz="8000" b="1" dirty="0"/>
          </a:p>
          <a:p>
            <a:endParaRPr lang="en-GB" dirty="0"/>
          </a:p>
        </p:txBody>
      </p:sp>
    </p:spTree>
    <p:extLst>
      <p:ext uri="{BB962C8B-B14F-4D97-AF65-F5344CB8AC3E}">
        <p14:creationId xmlns:p14="http://schemas.microsoft.com/office/powerpoint/2010/main" val="31193619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tLang="en-US" b="1" dirty="0">
                <a:ea typeface="Times New Roman" panose="02020603050405020304" pitchFamily="18" charset="0"/>
                <a:cs typeface="Tahoma" panose="020B0604030504040204" pitchFamily="34" charset="0"/>
              </a:rPr>
            </a:br>
            <a:r>
              <a:rPr lang="en-US" altLang="en-US" b="1" dirty="0">
                <a:ea typeface="Times New Roman" panose="02020603050405020304" pitchFamily="18" charset="0"/>
                <a:cs typeface="Tahoma" panose="020B0604030504040204" pitchFamily="34" charset="0"/>
              </a:rPr>
              <a:t>POLITICAL PLANNING</a:t>
            </a:r>
            <a:br>
              <a:rPr lang="en-GB" altLang="en-US" sz="2400" dirty="0"/>
            </a:br>
            <a:r>
              <a:rPr lang="en-US" altLang="en-US" dirty="0">
                <a:ea typeface="Times New Roman" panose="02020603050405020304" pitchFamily="18" charset="0"/>
                <a:cs typeface="Tahoma" panose="020B0604030504040204" pitchFamily="34" charset="0"/>
              </a:rPr>
              <a:t> </a:t>
            </a:r>
            <a:br>
              <a:rPr lang="en-GB" altLang="en-US" sz="2400" dirty="0"/>
            </a:br>
            <a:endParaRPr lang="en-GB" dirty="0"/>
          </a:p>
        </p:txBody>
      </p:sp>
      <p:sp>
        <p:nvSpPr>
          <p:cNvPr id="3" name="Content Placeholder 2"/>
          <p:cNvSpPr>
            <a:spLocks noGrp="1"/>
          </p:cNvSpPr>
          <p:nvPr>
            <p:ph idx="1"/>
          </p:nvPr>
        </p:nvSpPr>
        <p:spPr/>
        <p:txBody>
          <a:bodyPr>
            <a:normAutofit fontScale="55000" lnSpcReduction="20000"/>
          </a:bodyPr>
          <a:lstStyle/>
          <a:p>
            <a:pPr algn="just"/>
            <a:r>
              <a:rPr lang="en-US" b="1" dirty="0"/>
              <a:t>CAMPAIGN STRATEGY</a:t>
            </a:r>
            <a:endParaRPr lang="en-GB" b="1" dirty="0"/>
          </a:p>
          <a:p>
            <a:pPr marL="0" indent="0" algn="just">
              <a:buNone/>
            </a:pPr>
            <a:endParaRPr lang="en-GB" b="1" dirty="0"/>
          </a:p>
          <a:p>
            <a:pPr lvl="0" algn="just"/>
            <a:r>
              <a:rPr lang="en-US" b="1" dirty="0"/>
              <a:t>Demographic information and techniques also crucial in campaign strategy.</a:t>
            </a:r>
            <a:endParaRPr lang="en-GB" b="1" dirty="0"/>
          </a:p>
          <a:p>
            <a:pPr marL="0" indent="0" algn="just">
              <a:buNone/>
            </a:pPr>
            <a:endParaRPr lang="en-GB" b="1" dirty="0"/>
          </a:p>
          <a:p>
            <a:pPr lvl="0" algn="just"/>
            <a:r>
              <a:rPr lang="en-US" sz="2600" b="1" dirty="0"/>
              <a:t>THE DEMOGRAPHY OF THE VOTING</a:t>
            </a:r>
          </a:p>
          <a:p>
            <a:pPr lvl="0" algn="just"/>
            <a:endParaRPr lang="en-US" b="1" dirty="0"/>
          </a:p>
          <a:p>
            <a:pPr lvl="0" algn="just"/>
            <a:r>
              <a:rPr lang="en-US" b="1" dirty="0"/>
              <a:t> Demographic characteristics such as age, sex, ethnicity, and education are strongly related to the likelihood of voting and, to some extent to political preferences.</a:t>
            </a:r>
          </a:p>
          <a:p>
            <a:pPr lvl="0" algn="just"/>
            <a:endParaRPr lang="en-GB" b="1" dirty="0"/>
          </a:p>
          <a:p>
            <a:pPr algn="just"/>
            <a:r>
              <a:rPr lang="en-US" b="1" dirty="0"/>
              <a:t>In fact, effective campaign strategy must take into account demographic such as:</a:t>
            </a:r>
          </a:p>
          <a:p>
            <a:pPr algn="just"/>
            <a:endParaRPr lang="en-US" b="1" dirty="0"/>
          </a:p>
          <a:p>
            <a:pPr algn="just"/>
            <a:r>
              <a:rPr lang="en-US" b="1" dirty="0"/>
              <a:t>Population size – how many voters are in a province, district, </a:t>
            </a:r>
            <a:r>
              <a:rPr lang="en-US" b="1" dirty="0" err="1"/>
              <a:t>constiuency</a:t>
            </a:r>
            <a:r>
              <a:rPr lang="en-US" b="1" dirty="0"/>
              <a:t>:?</a:t>
            </a:r>
          </a:p>
          <a:p>
            <a:pPr algn="just"/>
            <a:endParaRPr lang="en-US" b="1" dirty="0"/>
          </a:p>
          <a:p>
            <a:pPr algn="just"/>
            <a:r>
              <a:rPr lang="en-US" b="1" dirty="0"/>
              <a:t>Population composition – how many youths, middle aged, old people; men or women; college educated, not educated; married or single; black or white or Hispanic, tribe A or tribe B, C, D, E, F?</a:t>
            </a:r>
          </a:p>
          <a:p>
            <a:pPr lvl="0" algn="just"/>
            <a:endParaRPr lang="en-GB" b="1" dirty="0"/>
          </a:p>
          <a:p>
            <a:pPr marL="0" indent="0" algn="just">
              <a:buNone/>
            </a:pPr>
            <a:endParaRPr lang="en-GB" b="1" dirty="0"/>
          </a:p>
          <a:p>
            <a:endParaRPr lang="en-GB" dirty="0"/>
          </a:p>
        </p:txBody>
      </p:sp>
    </p:spTree>
    <p:extLst>
      <p:ext uri="{BB962C8B-B14F-4D97-AF65-F5344CB8AC3E}">
        <p14:creationId xmlns:p14="http://schemas.microsoft.com/office/powerpoint/2010/main" val="42812279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ltLang="en-US" b="1" dirty="0">
                <a:ea typeface="Times New Roman" panose="02020603050405020304" pitchFamily="18" charset="0"/>
                <a:cs typeface="Tahoma" panose="020B0604030504040204" pitchFamily="34" charset="0"/>
              </a:rPr>
            </a:br>
            <a:r>
              <a:rPr lang="en-US" altLang="en-US" b="1" dirty="0">
                <a:ea typeface="Times New Roman" panose="02020603050405020304" pitchFamily="18" charset="0"/>
                <a:cs typeface="Tahoma" panose="020B0604030504040204" pitchFamily="34" charset="0"/>
              </a:rPr>
              <a:t>POLITICAL PLANNING</a:t>
            </a:r>
            <a:br>
              <a:rPr lang="en-GB" altLang="en-US" sz="2400" dirty="0"/>
            </a:br>
            <a:r>
              <a:rPr lang="en-US" altLang="en-US" dirty="0">
                <a:ea typeface="Times New Roman" panose="02020603050405020304" pitchFamily="18" charset="0"/>
                <a:cs typeface="Tahoma" panose="020B0604030504040204" pitchFamily="34" charset="0"/>
              </a:rPr>
              <a:t> </a:t>
            </a:r>
            <a:br>
              <a:rPr lang="en-GB" altLang="en-US" sz="2400" dirty="0"/>
            </a:br>
            <a:endParaRPr lang="en-GB" dirty="0"/>
          </a:p>
        </p:txBody>
      </p:sp>
      <p:sp>
        <p:nvSpPr>
          <p:cNvPr id="3" name="Content Placeholder 2"/>
          <p:cNvSpPr>
            <a:spLocks noGrp="1"/>
          </p:cNvSpPr>
          <p:nvPr>
            <p:ph idx="1"/>
          </p:nvPr>
        </p:nvSpPr>
        <p:spPr/>
        <p:txBody>
          <a:bodyPr>
            <a:normAutofit fontScale="85000" lnSpcReduction="20000"/>
          </a:bodyPr>
          <a:lstStyle/>
          <a:p>
            <a:pPr lvl="0" algn="just"/>
            <a:r>
              <a:rPr lang="en-US" b="1" dirty="0" err="1"/>
              <a:t>GEODEMOGRAPHICS</a:t>
            </a:r>
            <a:endParaRPr lang="en-US" b="1" dirty="0"/>
          </a:p>
          <a:p>
            <a:pPr lvl="0" algn="just"/>
            <a:endParaRPr lang="en-US" b="1" dirty="0"/>
          </a:p>
          <a:p>
            <a:pPr lvl="0" algn="just"/>
            <a:r>
              <a:rPr lang="en-US" b="1" dirty="0"/>
              <a:t>This refers to the tendency of politicians appealing to potential voters in one’s district with whom they have shared sociodemographic characteristics. </a:t>
            </a:r>
          </a:p>
          <a:p>
            <a:pPr lvl="0" algn="just"/>
            <a:endParaRPr lang="en-US" b="1" dirty="0"/>
          </a:p>
          <a:p>
            <a:pPr lvl="0" algn="just"/>
            <a:r>
              <a:rPr lang="en-US" b="1" dirty="0"/>
              <a:t>The growing trend is to let the locals decide who their candidate is.</a:t>
            </a:r>
            <a:endParaRPr lang="en-GB" b="1" dirty="0"/>
          </a:p>
          <a:p>
            <a:pPr marL="0" indent="0" algn="just">
              <a:buNone/>
            </a:pPr>
            <a:endParaRPr lang="en-GB" b="1" dirty="0"/>
          </a:p>
          <a:p>
            <a:pPr lvl="0" algn="just"/>
            <a:r>
              <a:rPr lang="en-US" b="1" dirty="0"/>
              <a:t>On this basis, political planners therefore strategize “package and sell” a candidate like a product on sale – is he or she  one of us?</a:t>
            </a:r>
            <a:endParaRPr lang="en-GB" b="1" dirty="0"/>
          </a:p>
          <a:p>
            <a:pPr marL="0" indent="0" algn="just">
              <a:buNone/>
            </a:pPr>
            <a:endParaRPr lang="en-GB" b="1" dirty="0"/>
          </a:p>
          <a:p>
            <a:pPr lvl="0" algn="just"/>
            <a:r>
              <a:rPr lang="en-US" b="1" dirty="0" err="1"/>
              <a:t>Geodemographics</a:t>
            </a:r>
            <a:r>
              <a:rPr lang="en-US" b="1" dirty="0"/>
              <a:t> is an integral part of an election campaign strategy in most countries.</a:t>
            </a:r>
            <a:endParaRPr lang="en-GB" b="1" dirty="0"/>
          </a:p>
          <a:p>
            <a:pPr marL="0" indent="0" algn="just">
              <a:buNone/>
            </a:pPr>
            <a:endParaRPr lang="en-GB" b="1" dirty="0"/>
          </a:p>
          <a:p>
            <a:endParaRPr lang="en-GB" dirty="0"/>
          </a:p>
        </p:txBody>
      </p:sp>
    </p:spTree>
    <p:extLst>
      <p:ext uri="{BB962C8B-B14F-4D97-AF65-F5344CB8AC3E}">
        <p14:creationId xmlns:p14="http://schemas.microsoft.com/office/powerpoint/2010/main" val="39237192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algn="just"/>
            <a:r>
              <a:rPr lang="en-US" b="1" dirty="0"/>
              <a:t>OPINION POLLS</a:t>
            </a:r>
          </a:p>
          <a:p>
            <a:pPr algn="just"/>
            <a:endParaRPr lang="en-US" b="1" dirty="0"/>
          </a:p>
          <a:p>
            <a:pPr algn="just"/>
            <a:r>
              <a:rPr lang="en-US" b="1" dirty="0"/>
              <a:t>These are used to determine voter preferences.</a:t>
            </a:r>
          </a:p>
          <a:p>
            <a:pPr algn="just"/>
            <a:endParaRPr lang="en-US" b="1" dirty="0"/>
          </a:p>
          <a:p>
            <a:pPr algn="just"/>
            <a:r>
              <a:rPr lang="en-US" b="1" dirty="0"/>
              <a:t>Ideally, they should use scientific sampling techniques to gauge voter preferences.</a:t>
            </a:r>
          </a:p>
          <a:p>
            <a:pPr algn="just"/>
            <a:endParaRPr lang="en-US" b="1" dirty="0"/>
          </a:p>
          <a:p>
            <a:pPr algn="just"/>
            <a:endParaRPr lang="en-US" b="1" dirty="0"/>
          </a:p>
        </p:txBody>
      </p:sp>
    </p:spTree>
    <p:extLst>
      <p:ext uri="{BB962C8B-B14F-4D97-AF65-F5344CB8AC3E}">
        <p14:creationId xmlns:p14="http://schemas.microsoft.com/office/powerpoint/2010/main" val="2729458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32500" lnSpcReduction="20000"/>
          </a:bodyPr>
          <a:lstStyle/>
          <a:p>
            <a:r>
              <a:rPr lang="en-US" b="1" dirty="0"/>
              <a:t>LEGISLATIVE ANALYSIS</a:t>
            </a:r>
            <a:endParaRPr lang="en-GB" b="1" dirty="0"/>
          </a:p>
          <a:p>
            <a:pPr marL="0" indent="0">
              <a:buNone/>
            </a:pPr>
            <a:endParaRPr lang="en-GB" b="1" dirty="0"/>
          </a:p>
          <a:p>
            <a:pPr lvl="0"/>
            <a:r>
              <a:rPr lang="en-US" b="1" dirty="0"/>
              <a:t>Demographic patterns and trends on influence legislative action.</a:t>
            </a:r>
            <a:endParaRPr lang="en-GB" b="1" dirty="0"/>
          </a:p>
          <a:p>
            <a:pPr lvl="0"/>
            <a:r>
              <a:rPr lang="en-US" b="1" dirty="0"/>
              <a:t>In turn, legislative action may influence demographic patterns and trends.</a:t>
            </a:r>
            <a:endParaRPr lang="en-GB" b="1" dirty="0"/>
          </a:p>
          <a:p>
            <a:pPr marL="0" indent="0">
              <a:buNone/>
            </a:pPr>
            <a:endParaRPr lang="en-GB" b="1" dirty="0"/>
          </a:p>
          <a:p>
            <a:r>
              <a:rPr lang="en-US" b="1" dirty="0"/>
              <a:t>FERTILITY</a:t>
            </a:r>
            <a:endParaRPr lang="en-GB" b="1" dirty="0"/>
          </a:p>
          <a:p>
            <a:pPr marL="0" indent="0">
              <a:buNone/>
            </a:pPr>
            <a:endParaRPr lang="en-GB" b="1" dirty="0"/>
          </a:p>
          <a:p>
            <a:pPr lvl="0"/>
            <a:r>
              <a:rPr lang="en-US" b="1" dirty="0"/>
              <a:t>Laws pertaining to marriage.</a:t>
            </a:r>
          </a:p>
          <a:p>
            <a:pPr lvl="0"/>
            <a:endParaRPr lang="en-US" b="1" dirty="0"/>
          </a:p>
          <a:p>
            <a:pPr lvl="0"/>
            <a:r>
              <a:rPr lang="en-US" b="1" dirty="0"/>
              <a:t>Legislation to outlaw underage marriages may have long-term impact on fertility.</a:t>
            </a:r>
          </a:p>
          <a:p>
            <a:pPr lvl="0"/>
            <a:endParaRPr lang="en-US" b="1" dirty="0"/>
          </a:p>
          <a:p>
            <a:pPr lvl="0"/>
            <a:r>
              <a:rPr lang="en-US" b="1" dirty="0"/>
              <a:t>Same sex marriages may also impact on fertility.</a:t>
            </a:r>
          </a:p>
          <a:p>
            <a:pPr lvl="0"/>
            <a:endParaRPr lang="en-GB" b="1" dirty="0"/>
          </a:p>
          <a:p>
            <a:pPr lvl="0"/>
            <a:r>
              <a:rPr lang="en-US" b="1" dirty="0"/>
              <a:t>Abortion laws may reduce fertility.</a:t>
            </a:r>
          </a:p>
          <a:p>
            <a:pPr lvl="0"/>
            <a:endParaRPr lang="en-US" b="1" dirty="0"/>
          </a:p>
          <a:p>
            <a:pPr lvl="0"/>
            <a:r>
              <a:rPr lang="en-US" b="1" dirty="0"/>
              <a:t>Increase in population size due to high fertility may influence enactment of family planning laws.</a:t>
            </a:r>
            <a:endParaRPr lang="en-GB" b="1" dirty="0"/>
          </a:p>
          <a:p>
            <a:pPr marL="0" indent="0">
              <a:buNone/>
            </a:pPr>
            <a:endParaRPr lang="en-GB" b="1" dirty="0"/>
          </a:p>
          <a:p>
            <a:pPr lvl="0"/>
            <a:r>
              <a:rPr lang="en-US" b="1" dirty="0"/>
              <a:t>Progressive tax in the past gave a rebate for each additional child could have pushed fertility up.</a:t>
            </a:r>
            <a:endParaRPr lang="en-GB" b="1" dirty="0"/>
          </a:p>
          <a:p>
            <a:endParaRPr lang="en-GB" dirty="0"/>
          </a:p>
        </p:txBody>
      </p:sp>
    </p:spTree>
    <p:extLst>
      <p:ext uri="{BB962C8B-B14F-4D97-AF65-F5344CB8AC3E}">
        <p14:creationId xmlns:p14="http://schemas.microsoft.com/office/powerpoint/2010/main" val="1799010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40000" lnSpcReduction="20000"/>
          </a:bodyPr>
          <a:lstStyle/>
          <a:p>
            <a:pPr algn="just"/>
            <a:r>
              <a:rPr lang="en-US" b="1" dirty="0"/>
              <a:t>MORTALITY</a:t>
            </a:r>
            <a:endParaRPr lang="en-GB" b="1" dirty="0"/>
          </a:p>
          <a:p>
            <a:pPr algn="just"/>
            <a:r>
              <a:rPr lang="en-US" b="1" dirty="0"/>
              <a:t> </a:t>
            </a:r>
            <a:endParaRPr lang="en-GB" b="1" dirty="0"/>
          </a:p>
          <a:p>
            <a:pPr lvl="0" algn="just"/>
            <a:r>
              <a:rPr lang="en-US" b="1" dirty="0"/>
              <a:t>Expansion of medical facilities may reduce mortality</a:t>
            </a:r>
            <a:endParaRPr lang="en-GB" b="1" dirty="0"/>
          </a:p>
          <a:p>
            <a:pPr algn="just"/>
            <a:r>
              <a:rPr lang="en-US" b="1" dirty="0"/>
              <a:t> </a:t>
            </a:r>
            <a:endParaRPr lang="en-GB" b="1" dirty="0"/>
          </a:p>
          <a:p>
            <a:pPr lvl="0" algn="just"/>
            <a:r>
              <a:rPr lang="en-US" b="1" dirty="0"/>
              <a:t>National health insurance policy may reduce mortality. </a:t>
            </a:r>
            <a:endParaRPr lang="en-GB" b="1" dirty="0"/>
          </a:p>
          <a:p>
            <a:pPr algn="just"/>
            <a:r>
              <a:rPr lang="en-US" b="1" dirty="0"/>
              <a:t> </a:t>
            </a:r>
            <a:endParaRPr lang="en-GB" b="1" dirty="0"/>
          </a:p>
          <a:p>
            <a:pPr lvl="0" algn="just"/>
            <a:r>
              <a:rPr lang="en-US" b="1" dirty="0"/>
              <a:t>In the US, Obamacare versus </a:t>
            </a:r>
            <a:r>
              <a:rPr lang="en-US" b="1" dirty="0" err="1"/>
              <a:t>Trumpcare</a:t>
            </a:r>
            <a:endParaRPr lang="en-GB" b="1" dirty="0"/>
          </a:p>
          <a:p>
            <a:pPr algn="just"/>
            <a:r>
              <a:rPr lang="en-US" b="1" dirty="0"/>
              <a:t> </a:t>
            </a:r>
            <a:endParaRPr lang="en-GB" b="1" dirty="0"/>
          </a:p>
          <a:p>
            <a:pPr algn="just"/>
            <a:r>
              <a:rPr lang="en-US" b="1" dirty="0"/>
              <a:t>LEGISLATION ON RETIREMENT</a:t>
            </a:r>
            <a:endParaRPr lang="en-GB" b="1" dirty="0"/>
          </a:p>
          <a:p>
            <a:pPr algn="just"/>
            <a:r>
              <a:rPr lang="en-US" b="1" dirty="0"/>
              <a:t> </a:t>
            </a:r>
            <a:endParaRPr lang="en-GB" b="1" dirty="0"/>
          </a:p>
          <a:p>
            <a:pPr algn="just"/>
            <a:r>
              <a:rPr lang="en-US" b="1" dirty="0"/>
              <a:t> </a:t>
            </a:r>
            <a:endParaRPr lang="en-GB" b="1" dirty="0"/>
          </a:p>
          <a:p>
            <a:pPr lvl="0" algn="just"/>
            <a:r>
              <a:rPr lang="en-US" b="1" dirty="0"/>
              <a:t>Changes in life expectancy can result it in legislative decision by parliament to change the age of retirement.</a:t>
            </a:r>
            <a:endParaRPr lang="en-GB" b="1" dirty="0"/>
          </a:p>
          <a:p>
            <a:pPr algn="just"/>
            <a:r>
              <a:rPr lang="en-US" b="1" dirty="0"/>
              <a:t> </a:t>
            </a:r>
            <a:endParaRPr lang="en-GB" b="1" dirty="0"/>
          </a:p>
          <a:p>
            <a:pPr lvl="0" algn="just"/>
            <a:r>
              <a:rPr lang="en-US" b="1" dirty="0"/>
              <a:t>The aging of the population in US has led to social security policies meant to change taxation laws on the young and working population to sustain the social security scheme.</a:t>
            </a:r>
            <a:endParaRPr lang="en-GB" b="1" dirty="0"/>
          </a:p>
          <a:p>
            <a:r>
              <a:rPr lang="en-US" dirty="0"/>
              <a:t> </a:t>
            </a:r>
            <a:endParaRPr lang="en-GB" dirty="0"/>
          </a:p>
          <a:p>
            <a:r>
              <a:rPr lang="en-US" dirty="0"/>
              <a:t> </a:t>
            </a:r>
            <a:endParaRPr lang="en-GB" dirty="0"/>
          </a:p>
          <a:p>
            <a:endParaRPr lang="en-GB" dirty="0"/>
          </a:p>
        </p:txBody>
      </p:sp>
    </p:spTree>
    <p:extLst>
      <p:ext uri="{BB962C8B-B14F-4D97-AF65-F5344CB8AC3E}">
        <p14:creationId xmlns:p14="http://schemas.microsoft.com/office/powerpoint/2010/main" val="8846544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32500" lnSpcReduction="20000"/>
          </a:bodyPr>
          <a:lstStyle/>
          <a:p>
            <a:pPr algn="just"/>
            <a:r>
              <a:rPr lang="en-US" b="1" dirty="0"/>
              <a:t>MIGRATION </a:t>
            </a:r>
            <a:endParaRPr lang="en-GB" b="1" dirty="0"/>
          </a:p>
          <a:p>
            <a:pPr algn="just"/>
            <a:r>
              <a:rPr lang="en-US" b="1" dirty="0"/>
              <a:t> </a:t>
            </a:r>
            <a:endParaRPr lang="en-GB" b="1" dirty="0"/>
          </a:p>
          <a:p>
            <a:pPr algn="just"/>
            <a:r>
              <a:rPr lang="en-US" b="1" dirty="0"/>
              <a:t>INTERNATIONAL MIGRATION</a:t>
            </a:r>
            <a:endParaRPr lang="en-GB" b="1" dirty="0"/>
          </a:p>
          <a:p>
            <a:pPr algn="just"/>
            <a:r>
              <a:rPr lang="en-US" b="1" dirty="0"/>
              <a:t> </a:t>
            </a:r>
            <a:endParaRPr lang="en-GB" b="1" dirty="0"/>
          </a:p>
          <a:p>
            <a:pPr lvl="0" algn="just"/>
            <a:r>
              <a:rPr lang="en-US" b="1" dirty="0"/>
              <a:t>Laws on citizenship and naturalization</a:t>
            </a:r>
            <a:endParaRPr lang="en-GB" b="1" dirty="0"/>
          </a:p>
          <a:p>
            <a:pPr lvl="0" algn="just"/>
            <a:r>
              <a:rPr lang="en-US" b="1" dirty="0"/>
              <a:t>Trump’s executive order for the construction of a wall on the Mexican Border. </a:t>
            </a:r>
            <a:endParaRPr lang="en-GB" b="1" dirty="0"/>
          </a:p>
          <a:p>
            <a:pPr algn="just"/>
            <a:r>
              <a:rPr lang="en-US" b="1" dirty="0"/>
              <a:t> </a:t>
            </a:r>
            <a:endParaRPr lang="en-GB" b="1" dirty="0"/>
          </a:p>
          <a:p>
            <a:pPr algn="just"/>
            <a:r>
              <a:rPr lang="en-US" b="1" dirty="0"/>
              <a:t>INTERNAL MIGRATION</a:t>
            </a:r>
            <a:endParaRPr lang="en-GB" b="1" dirty="0"/>
          </a:p>
          <a:p>
            <a:pPr algn="just"/>
            <a:r>
              <a:rPr lang="en-US" b="1" dirty="0"/>
              <a:t> </a:t>
            </a:r>
            <a:endParaRPr lang="en-GB" b="1" dirty="0"/>
          </a:p>
          <a:p>
            <a:pPr algn="just"/>
            <a:r>
              <a:rPr lang="en-US" b="1" dirty="0"/>
              <a:t>Laws to regulate population movements</a:t>
            </a:r>
            <a:endParaRPr lang="en-GB" b="1" dirty="0"/>
          </a:p>
          <a:p>
            <a:pPr algn="just"/>
            <a:r>
              <a:rPr lang="en-US" b="1" dirty="0"/>
              <a:t> </a:t>
            </a:r>
            <a:endParaRPr lang="en-GB" b="1" dirty="0"/>
          </a:p>
          <a:p>
            <a:pPr algn="just"/>
            <a:r>
              <a:rPr lang="en-US" b="1" dirty="0"/>
              <a:t>SOUTH AFRICA </a:t>
            </a:r>
            <a:endParaRPr lang="en-GB" b="1" dirty="0"/>
          </a:p>
          <a:p>
            <a:pPr algn="just"/>
            <a:r>
              <a:rPr lang="en-US" b="1" dirty="0"/>
              <a:t> </a:t>
            </a:r>
            <a:endParaRPr lang="en-GB" b="1" dirty="0"/>
          </a:p>
          <a:p>
            <a:pPr algn="just"/>
            <a:r>
              <a:rPr lang="en-US" b="1" dirty="0"/>
              <a:t>Bantustan policy and influx laws </a:t>
            </a:r>
            <a:endParaRPr lang="en-GB" b="1" dirty="0"/>
          </a:p>
          <a:p>
            <a:pPr algn="just"/>
            <a:r>
              <a:rPr lang="en-US" b="1" dirty="0"/>
              <a:t> </a:t>
            </a:r>
            <a:endParaRPr lang="en-GB" b="1" dirty="0"/>
          </a:p>
          <a:p>
            <a:pPr algn="just"/>
            <a:r>
              <a:rPr lang="en-US" b="1" dirty="0"/>
              <a:t>ZAMBIA</a:t>
            </a:r>
            <a:endParaRPr lang="en-GB" b="1" dirty="0"/>
          </a:p>
          <a:p>
            <a:pPr algn="just"/>
            <a:r>
              <a:rPr lang="en-US" b="1" dirty="0"/>
              <a:t> </a:t>
            </a:r>
            <a:endParaRPr lang="en-GB" b="1" dirty="0"/>
          </a:p>
          <a:p>
            <a:pPr algn="just"/>
            <a:r>
              <a:rPr lang="en-US" b="1" dirty="0"/>
              <a:t>Poll and hut tax and the repatriation through the </a:t>
            </a:r>
            <a:r>
              <a:rPr lang="en-US" b="1" dirty="0" err="1"/>
              <a:t>chibalo</a:t>
            </a:r>
            <a:r>
              <a:rPr lang="en-US" b="1" dirty="0"/>
              <a:t> system.</a:t>
            </a:r>
            <a:endParaRPr lang="en-GB" b="1" dirty="0"/>
          </a:p>
          <a:p>
            <a:endParaRPr lang="en-GB" dirty="0"/>
          </a:p>
        </p:txBody>
      </p:sp>
    </p:spTree>
    <p:extLst>
      <p:ext uri="{BB962C8B-B14F-4D97-AF65-F5344CB8AC3E}">
        <p14:creationId xmlns:p14="http://schemas.microsoft.com/office/powerpoint/2010/main" val="35008103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32500" lnSpcReduction="20000"/>
          </a:bodyPr>
          <a:lstStyle/>
          <a:p>
            <a:r>
              <a:rPr lang="en-US" b="1" dirty="0"/>
              <a:t>CAREERS IN DEMOGRAPHY</a:t>
            </a:r>
            <a:endParaRPr lang="en-GB" b="1" dirty="0"/>
          </a:p>
          <a:p>
            <a:r>
              <a:rPr lang="en-US" b="1" dirty="0"/>
              <a:t> </a:t>
            </a:r>
            <a:endParaRPr lang="en-GB" b="1" dirty="0"/>
          </a:p>
          <a:p>
            <a:pPr lvl="0"/>
            <a:r>
              <a:rPr lang="en-US" b="1" dirty="0"/>
              <a:t>UNIVERSITIES:</a:t>
            </a:r>
            <a:endParaRPr lang="en-GB" b="1" dirty="0"/>
          </a:p>
          <a:p>
            <a:r>
              <a:rPr lang="en-US" b="1" dirty="0"/>
              <a:t> </a:t>
            </a:r>
            <a:endParaRPr lang="en-GB" b="1" dirty="0"/>
          </a:p>
          <a:p>
            <a:r>
              <a:rPr lang="en-US" b="1" dirty="0"/>
              <a:t>Research</a:t>
            </a:r>
            <a:endParaRPr lang="en-GB" b="1" dirty="0"/>
          </a:p>
          <a:p>
            <a:r>
              <a:rPr lang="en-US" b="1" dirty="0"/>
              <a:t>Teaching</a:t>
            </a:r>
            <a:endParaRPr lang="en-GB" b="1" dirty="0"/>
          </a:p>
          <a:p>
            <a:r>
              <a:rPr lang="en-US" b="1" dirty="0" err="1"/>
              <a:t>SDF</a:t>
            </a:r>
            <a:r>
              <a:rPr lang="en-US" b="1" dirty="0"/>
              <a:t> program</a:t>
            </a:r>
            <a:endParaRPr lang="en-GB" b="1" dirty="0"/>
          </a:p>
          <a:p>
            <a:r>
              <a:rPr lang="en-US" b="1" dirty="0"/>
              <a:t> </a:t>
            </a:r>
            <a:endParaRPr lang="en-GB" b="1" dirty="0"/>
          </a:p>
          <a:p>
            <a:pPr lvl="0"/>
            <a:r>
              <a:rPr lang="en-US" b="1" dirty="0"/>
              <a:t>GOVERNMENT/PUBLIC SECTOR</a:t>
            </a:r>
            <a:endParaRPr lang="en-GB" b="1" dirty="0"/>
          </a:p>
          <a:p>
            <a:r>
              <a:rPr lang="en-US" b="1" dirty="0"/>
              <a:t> </a:t>
            </a:r>
            <a:endParaRPr lang="en-GB" b="1" dirty="0"/>
          </a:p>
          <a:p>
            <a:r>
              <a:rPr lang="en-US" b="1" dirty="0"/>
              <a:t>Health – Biostatistics</a:t>
            </a:r>
            <a:endParaRPr lang="en-GB" b="1" dirty="0"/>
          </a:p>
          <a:p>
            <a:r>
              <a:rPr lang="en-US" b="1" dirty="0"/>
              <a:t>Census for planning</a:t>
            </a:r>
            <a:endParaRPr lang="en-GB" b="1" dirty="0"/>
          </a:p>
          <a:p>
            <a:r>
              <a:rPr lang="en-US" b="1" dirty="0"/>
              <a:t>Survey research</a:t>
            </a:r>
            <a:endParaRPr lang="en-GB" b="1" dirty="0"/>
          </a:p>
          <a:p>
            <a:r>
              <a:rPr lang="en-US" b="1" dirty="0"/>
              <a:t>Planning/decision making </a:t>
            </a:r>
            <a:endParaRPr lang="en-GB" b="1" dirty="0"/>
          </a:p>
          <a:p>
            <a:r>
              <a:rPr lang="en-US" b="1" dirty="0"/>
              <a:t>Agriculture</a:t>
            </a:r>
            <a:endParaRPr lang="en-GB" b="1" dirty="0"/>
          </a:p>
          <a:p>
            <a:r>
              <a:rPr lang="en-US" b="1" dirty="0"/>
              <a:t>Education </a:t>
            </a:r>
            <a:endParaRPr lang="en-GB" b="1" dirty="0"/>
          </a:p>
          <a:p>
            <a:r>
              <a:rPr lang="en-US" b="1" dirty="0" err="1"/>
              <a:t>Labour</a:t>
            </a:r>
            <a:endParaRPr lang="en-GB" b="1" dirty="0"/>
          </a:p>
          <a:p>
            <a:r>
              <a:rPr lang="en-US" b="1" dirty="0"/>
              <a:t>Registration of births/deaths</a:t>
            </a:r>
            <a:endParaRPr lang="en-GB" b="1" dirty="0"/>
          </a:p>
          <a:p>
            <a:endParaRPr lang="en-GB" b="1" dirty="0"/>
          </a:p>
          <a:p>
            <a:pPr marL="0" indent="0">
              <a:buNone/>
            </a:pPr>
            <a:endParaRPr lang="en-GB" b="1" dirty="0"/>
          </a:p>
        </p:txBody>
      </p:sp>
    </p:spTree>
    <p:extLst>
      <p:ext uri="{BB962C8B-B14F-4D97-AF65-F5344CB8AC3E}">
        <p14:creationId xmlns:p14="http://schemas.microsoft.com/office/powerpoint/2010/main" val="12396069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25000" lnSpcReduction="20000"/>
          </a:bodyPr>
          <a:lstStyle/>
          <a:p>
            <a:endParaRPr lang="en-GB" dirty="0"/>
          </a:p>
          <a:p>
            <a:r>
              <a:rPr lang="en-US" sz="5600" b="1" dirty="0"/>
              <a:t>CITY AND MUNICIPAL GOVERNMENT PLANNING </a:t>
            </a:r>
          </a:p>
          <a:p>
            <a:pPr algn="just"/>
            <a:endParaRPr lang="en-GB" sz="5600" b="1" dirty="0"/>
          </a:p>
          <a:p>
            <a:pPr algn="just"/>
            <a:r>
              <a:rPr lang="en-US" sz="5600" b="1" dirty="0"/>
              <a:t>Housing development</a:t>
            </a:r>
            <a:endParaRPr lang="en-GB" sz="5600" b="1" dirty="0"/>
          </a:p>
          <a:p>
            <a:pPr algn="just"/>
            <a:r>
              <a:rPr lang="en-US" sz="5600" b="1" dirty="0"/>
              <a:t>Recreation facilities</a:t>
            </a:r>
            <a:endParaRPr lang="en-GB" sz="5600" b="1" dirty="0"/>
          </a:p>
          <a:p>
            <a:pPr algn="just"/>
            <a:r>
              <a:rPr lang="en-US" sz="5600" b="1" dirty="0"/>
              <a:t>Markets/other facilities</a:t>
            </a:r>
            <a:endParaRPr lang="en-GB" sz="5600" b="1" dirty="0"/>
          </a:p>
          <a:p>
            <a:pPr marL="0" indent="0" algn="just">
              <a:buNone/>
            </a:pPr>
            <a:endParaRPr lang="en-GB" sz="5600" b="1" dirty="0"/>
          </a:p>
          <a:p>
            <a:pPr lvl="0" algn="just"/>
            <a:r>
              <a:rPr lang="en-US" sz="5600" b="1" dirty="0"/>
              <a:t>INTERNATIONAL ORGANIZATIONS</a:t>
            </a:r>
            <a:endParaRPr lang="en-GB" sz="5600" b="1" dirty="0"/>
          </a:p>
          <a:p>
            <a:pPr algn="just"/>
            <a:endParaRPr lang="en-GB" sz="5600" b="1" dirty="0"/>
          </a:p>
          <a:p>
            <a:pPr algn="just"/>
            <a:r>
              <a:rPr lang="en-US" sz="5600" b="1" dirty="0" err="1"/>
              <a:t>UNFPA</a:t>
            </a:r>
            <a:r>
              <a:rPr lang="en-US" sz="5600" b="1" dirty="0"/>
              <a:t>/UNICEF</a:t>
            </a:r>
            <a:endParaRPr lang="en-GB" sz="5600" b="1" dirty="0"/>
          </a:p>
          <a:p>
            <a:pPr algn="just"/>
            <a:r>
              <a:rPr lang="en-US" sz="5600" b="1" dirty="0"/>
              <a:t> </a:t>
            </a:r>
            <a:endParaRPr lang="en-GB" sz="5600" b="1" dirty="0"/>
          </a:p>
          <a:p>
            <a:pPr lvl="0" algn="just"/>
            <a:r>
              <a:rPr lang="en-US" sz="5600" b="1" dirty="0"/>
              <a:t>PRIVATE ORGANIZATION</a:t>
            </a:r>
            <a:endParaRPr lang="en-GB" sz="5600" b="1" dirty="0"/>
          </a:p>
          <a:p>
            <a:pPr algn="just"/>
            <a:r>
              <a:rPr lang="en-US" sz="5600" b="1" dirty="0"/>
              <a:t> </a:t>
            </a:r>
            <a:endParaRPr lang="en-GB" sz="5600" b="1" dirty="0"/>
          </a:p>
          <a:p>
            <a:pPr algn="just"/>
            <a:r>
              <a:rPr lang="en-US" sz="5600" b="1" dirty="0"/>
              <a:t>NGOs of world vision, </a:t>
            </a:r>
            <a:r>
              <a:rPr lang="en-US" sz="5600" b="1" dirty="0" err="1"/>
              <a:t>ZARD</a:t>
            </a:r>
            <a:endParaRPr lang="en-GB" sz="5600" b="1" dirty="0"/>
          </a:p>
          <a:p>
            <a:pPr algn="just"/>
            <a:r>
              <a:rPr lang="en-US" sz="5600" b="1" dirty="0"/>
              <a:t>Data collection and analysis</a:t>
            </a:r>
            <a:endParaRPr lang="en-GB" sz="5600" b="1" dirty="0"/>
          </a:p>
          <a:p>
            <a:pPr algn="just"/>
            <a:r>
              <a:rPr lang="en-US" sz="5600" b="1" dirty="0"/>
              <a:t>Consultancy</a:t>
            </a:r>
            <a:endParaRPr lang="en-GB" sz="5600" b="1" dirty="0"/>
          </a:p>
          <a:p>
            <a:pPr algn="just"/>
            <a:r>
              <a:rPr lang="en-US" sz="5600" b="1" dirty="0"/>
              <a:t> </a:t>
            </a:r>
            <a:endParaRPr lang="en-GB" sz="5600" b="1" dirty="0"/>
          </a:p>
          <a:p>
            <a:pPr lvl="0" algn="just"/>
            <a:r>
              <a:rPr lang="en-US" sz="5600" b="1" dirty="0"/>
              <a:t>BUSINESS AND INDUSTRY</a:t>
            </a:r>
          </a:p>
          <a:p>
            <a:pPr lvl="0" algn="just"/>
            <a:endParaRPr lang="en-GB" sz="5600" b="1" dirty="0"/>
          </a:p>
          <a:p>
            <a:pPr algn="just"/>
            <a:r>
              <a:rPr lang="en-US" sz="5600" b="1" dirty="0"/>
              <a:t>Marketing</a:t>
            </a:r>
            <a:endParaRPr lang="en-GB" sz="5600" b="1" dirty="0"/>
          </a:p>
          <a:p>
            <a:pPr algn="just"/>
            <a:r>
              <a:rPr lang="en-US" sz="5600" b="1" dirty="0"/>
              <a:t>Insurance </a:t>
            </a:r>
            <a:endParaRPr lang="en-GB" sz="5600" b="1" dirty="0"/>
          </a:p>
          <a:p>
            <a:pPr marL="0" indent="0" algn="just">
              <a:buNone/>
            </a:pPr>
            <a:r>
              <a:rPr lang="en-US" sz="5600" b="1" dirty="0"/>
              <a:t> </a:t>
            </a:r>
            <a:endParaRPr lang="en-GB" sz="5600" b="1" dirty="0"/>
          </a:p>
          <a:p>
            <a:pPr marL="0" indent="0">
              <a:buNone/>
            </a:pPr>
            <a:r>
              <a:rPr lang="en-US" sz="5600" dirty="0"/>
              <a:t> </a:t>
            </a:r>
            <a:endParaRPr lang="en-GB" sz="5600" dirty="0"/>
          </a:p>
          <a:p>
            <a:pPr marL="0" indent="0">
              <a:buNone/>
            </a:pPr>
            <a:endParaRPr lang="en-GB" dirty="0"/>
          </a:p>
        </p:txBody>
      </p:sp>
    </p:spTree>
    <p:extLst>
      <p:ext uri="{BB962C8B-B14F-4D97-AF65-F5344CB8AC3E}">
        <p14:creationId xmlns:p14="http://schemas.microsoft.com/office/powerpoint/2010/main" val="3316729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2805</Words>
  <Application>Microsoft Office PowerPoint</Application>
  <PresentationFormat>Widescreen</PresentationFormat>
  <Paragraphs>409</Paragraphs>
  <Slides>39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Calibri</vt:lpstr>
      <vt:lpstr>Calibri Light</vt:lpstr>
      <vt:lpstr>Century</vt:lpstr>
      <vt:lpstr>Wingdings</vt:lpstr>
      <vt:lpstr>Office Theme</vt:lpstr>
      <vt:lpstr>PowerPoint Presentation</vt:lpstr>
      <vt:lpstr>APPLIED DEMOGRAPHY</vt:lpstr>
      <vt:lpstr>PowerPoint Presentation</vt:lpstr>
      <vt:lpstr>HUMAN RESOURCE MANAGEMENT </vt:lpstr>
      <vt:lpstr>HUMAN RESOURCE MANAGEMENT </vt:lpstr>
      <vt:lpstr>HUMAN RESOURCE MANAGEMENT </vt:lpstr>
      <vt:lpstr>HUMAN RESOURCE MANAGEMENT </vt:lpstr>
      <vt:lpstr>HUMAN RESOURCE MANAGEMENT </vt:lpstr>
      <vt:lpstr>INVESTMENT DEMOGRAPHICS </vt:lpstr>
      <vt:lpstr>INVESTMENT DEMOGRAPHICS </vt:lpstr>
      <vt:lpstr>DOMESTIC  DEMOGRAPHICS </vt:lpstr>
      <vt:lpstr>DEMOGRAPHIC TRENDS AND INVESTMENT PATTERNS  </vt:lpstr>
      <vt:lpstr>INFLUENCE OF DEMOGRAPHIC TRENDS ON INVESTMENT PATTERNS  </vt:lpstr>
      <vt:lpstr>OTHER INVESTMENT OPTIONS  </vt:lpstr>
      <vt:lpstr>INTERNATIONAL DEMOGRAPHICS </vt:lpstr>
      <vt:lpstr>THE DEMOGRAPHIC DIVIDEND ADVANTAGE </vt:lpstr>
      <vt:lpstr>MARKETING DEMOGRAPHICS</vt:lpstr>
      <vt:lpstr> SEGMENTATION   </vt:lpstr>
      <vt:lpstr>SEGMENTATION </vt:lpstr>
      <vt:lpstr>  TARGETING   </vt:lpstr>
      <vt:lpstr>TARGETING  </vt:lpstr>
      <vt:lpstr>TARGETING  </vt:lpstr>
      <vt:lpstr>CLUSTER MARKETING</vt:lpstr>
      <vt:lpstr>CLUSTER MARKETING</vt:lpstr>
      <vt:lpstr> INSURANCE   </vt:lpstr>
      <vt:lpstr>PLANNING FOR SOCIAL SERVICES </vt:lpstr>
      <vt:lpstr>PLANNING FOR SOCIAL SERVICES </vt:lpstr>
      <vt:lpstr>PowerPoint Presentation</vt:lpstr>
      <vt:lpstr>PLANNING FOR SOCIAL SERVICES </vt:lpstr>
      <vt:lpstr>PowerPoint Presentation</vt:lpstr>
      <vt:lpstr> POLITICAL PLANNING   </vt:lpstr>
      <vt:lpstr> POLITICAL PLANNING   </vt:lpstr>
      <vt:lpstr> POLITICAL PLANNING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Musonda Lemba</dc:creator>
  <cp:lastModifiedBy>Musonda Lemba</cp:lastModifiedBy>
  <cp:revision>1</cp:revision>
  <dcterms:created xsi:type="dcterms:W3CDTF">2020-03-02T13:41:15Z</dcterms:created>
  <dcterms:modified xsi:type="dcterms:W3CDTF">2020-03-02T13:41:52Z</dcterms:modified>
</cp:coreProperties>
</file>