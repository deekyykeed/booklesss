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Lst>
  <p:sldSz cx="12192000" cy="6858000"/>
  <p:notesSz cx="6858000" cy="9144000"/>
  <p:defaultText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2" d="100"/>
          <a:sy n="62" d="100"/>
        </p:scale>
        <p:origin x="82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29E2-35DE-43A2-848D-D35B613C18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M"/>
          </a:p>
        </p:txBody>
      </p:sp>
      <p:sp>
        <p:nvSpPr>
          <p:cNvPr id="3" name="Subtitle 2">
            <a:extLst>
              <a:ext uri="{FF2B5EF4-FFF2-40B4-BE49-F238E27FC236}">
                <a16:creationId xmlns:a16="http://schemas.microsoft.com/office/drawing/2014/main" id="{6876B9BB-149F-4C57-B163-D361EED17F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M"/>
          </a:p>
        </p:txBody>
      </p:sp>
      <p:sp>
        <p:nvSpPr>
          <p:cNvPr id="4" name="Date Placeholder 3">
            <a:extLst>
              <a:ext uri="{FF2B5EF4-FFF2-40B4-BE49-F238E27FC236}">
                <a16:creationId xmlns:a16="http://schemas.microsoft.com/office/drawing/2014/main" id="{48993B68-6CA0-4D91-A571-92DF49175371}"/>
              </a:ext>
            </a:extLst>
          </p:cNvPr>
          <p:cNvSpPr>
            <a:spLocks noGrp="1"/>
          </p:cNvSpPr>
          <p:nvPr>
            <p:ph type="dt" sz="half" idx="10"/>
          </p:nvPr>
        </p:nvSpPr>
        <p:spPr/>
        <p:txBody>
          <a:bodyPr/>
          <a:lstStyle/>
          <a:p>
            <a:fld id="{9EDAA503-6145-4C12-A2AB-CB0A06F23194}" type="datetimeFigureOut">
              <a:rPr lang="en-ZM" smtClean="0"/>
              <a:t>18/08/2025</a:t>
            </a:fld>
            <a:endParaRPr lang="en-ZM"/>
          </a:p>
        </p:txBody>
      </p:sp>
      <p:sp>
        <p:nvSpPr>
          <p:cNvPr id="5" name="Footer Placeholder 4">
            <a:extLst>
              <a:ext uri="{FF2B5EF4-FFF2-40B4-BE49-F238E27FC236}">
                <a16:creationId xmlns:a16="http://schemas.microsoft.com/office/drawing/2014/main" id="{38373950-6AF7-4F11-8CCA-1C0074B3FE89}"/>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50AEAC11-E27E-47F6-A3B3-11DE753DF05B}"/>
              </a:ext>
            </a:extLst>
          </p:cNvPr>
          <p:cNvSpPr>
            <a:spLocks noGrp="1"/>
          </p:cNvSpPr>
          <p:nvPr>
            <p:ph type="sldNum" sz="quarter" idx="12"/>
          </p:nvPr>
        </p:nvSpPr>
        <p:spPr/>
        <p:txBody>
          <a:bodyPr/>
          <a:lstStyle/>
          <a:p>
            <a:fld id="{FAD1AF88-9C14-4D7D-9EC0-7B5BE079AD18}" type="slidenum">
              <a:rPr lang="en-ZM" smtClean="0"/>
              <a:t>‹#›</a:t>
            </a:fld>
            <a:endParaRPr lang="en-ZM"/>
          </a:p>
        </p:txBody>
      </p:sp>
    </p:spTree>
    <p:extLst>
      <p:ext uri="{BB962C8B-B14F-4D97-AF65-F5344CB8AC3E}">
        <p14:creationId xmlns:p14="http://schemas.microsoft.com/office/powerpoint/2010/main" val="4165613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43305-2E32-4E90-90A2-E773C1CE02B6}"/>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1D3CC280-D713-44AF-AB3D-E18C725EB39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66522ADE-370B-4D5C-A563-CDF7F48EE34B}"/>
              </a:ext>
            </a:extLst>
          </p:cNvPr>
          <p:cNvSpPr>
            <a:spLocks noGrp="1"/>
          </p:cNvSpPr>
          <p:nvPr>
            <p:ph type="dt" sz="half" idx="10"/>
          </p:nvPr>
        </p:nvSpPr>
        <p:spPr/>
        <p:txBody>
          <a:bodyPr/>
          <a:lstStyle/>
          <a:p>
            <a:fld id="{9EDAA503-6145-4C12-A2AB-CB0A06F23194}" type="datetimeFigureOut">
              <a:rPr lang="en-ZM" smtClean="0"/>
              <a:t>18/08/2025</a:t>
            </a:fld>
            <a:endParaRPr lang="en-ZM"/>
          </a:p>
        </p:txBody>
      </p:sp>
      <p:sp>
        <p:nvSpPr>
          <p:cNvPr id="5" name="Footer Placeholder 4">
            <a:extLst>
              <a:ext uri="{FF2B5EF4-FFF2-40B4-BE49-F238E27FC236}">
                <a16:creationId xmlns:a16="http://schemas.microsoft.com/office/drawing/2014/main" id="{AAB8B1C5-7016-4CF1-9F4A-B23449BB63A1}"/>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91033F1D-0FC7-4469-B68E-1B2778351994}"/>
              </a:ext>
            </a:extLst>
          </p:cNvPr>
          <p:cNvSpPr>
            <a:spLocks noGrp="1"/>
          </p:cNvSpPr>
          <p:nvPr>
            <p:ph type="sldNum" sz="quarter" idx="12"/>
          </p:nvPr>
        </p:nvSpPr>
        <p:spPr/>
        <p:txBody>
          <a:bodyPr/>
          <a:lstStyle/>
          <a:p>
            <a:fld id="{FAD1AF88-9C14-4D7D-9EC0-7B5BE079AD18}" type="slidenum">
              <a:rPr lang="en-ZM" smtClean="0"/>
              <a:t>‹#›</a:t>
            </a:fld>
            <a:endParaRPr lang="en-ZM"/>
          </a:p>
        </p:txBody>
      </p:sp>
    </p:spTree>
    <p:extLst>
      <p:ext uri="{BB962C8B-B14F-4D97-AF65-F5344CB8AC3E}">
        <p14:creationId xmlns:p14="http://schemas.microsoft.com/office/powerpoint/2010/main" val="3848376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25389-74A8-4E99-BA6B-6304290D24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M"/>
          </a:p>
        </p:txBody>
      </p:sp>
      <p:sp>
        <p:nvSpPr>
          <p:cNvPr id="3" name="Text Placeholder 2">
            <a:extLst>
              <a:ext uri="{FF2B5EF4-FFF2-40B4-BE49-F238E27FC236}">
                <a16:creationId xmlns:a16="http://schemas.microsoft.com/office/drawing/2014/main" id="{4668B7D3-D1D8-44E8-9EB7-C76B493B23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F7796D5-C600-429A-9BF7-E4A28A9301AE}"/>
              </a:ext>
            </a:extLst>
          </p:cNvPr>
          <p:cNvSpPr>
            <a:spLocks noGrp="1"/>
          </p:cNvSpPr>
          <p:nvPr>
            <p:ph type="dt" sz="half" idx="10"/>
          </p:nvPr>
        </p:nvSpPr>
        <p:spPr/>
        <p:txBody>
          <a:bodyPr/>
          <a:lstStyle/>
          <a:p>
            <a:fld id="{9EDAA503-6145-4C12-A2AB-CB0A06F23194}" type="datetimeFigureOut">
              <a:rPr lang="en-ZM" smtClean="0"/>
              <a:t>18/08/2025</a:t>
            </a:fld>
            <a:endParaRPr lang="en-ZM"/>
          </a:p>
        </p:txBody>
      </p:sp>
      <p:sp>
        <p:nvSpPr>
          <p:cNvPr id="5" name="Footer Placeholder 4">
            <a:extLst>
              <a:ext uri="{FF2B5EF4-FFF2-40B4-BE49-F238E27FC236}">
                <a16:creationId xmlns:a16="http://schemas.microsoft.com/office/drawing/2014/main" id="{336084DC-3472-48E0-BB95-A0D76357FAB9}"/>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B9E5C14B-7295-4E9D-8891-6AE4B749F192}"/>
              </a:ext>
            </a:extLst>
          </p:cNvPr>
          <p:cNvSpPr>
            <a:spLocks noGrp="1"/>
          </p:cNvSpPr>
          <p:nvPr>
            <p:ph type="sldNum" sz="quarter" idx="12"/>
          </p:nvPr>
        </p:nvSpPr>
        <p:spPr/>
        <p:txBody>
          <a:bodyPr/>
          <a:lstStyle/>
          <a:p>
            <a:fld id="{FAD1AF88-9C14-4D7D-9EC0-7B5BE079AD18}" type="slidenum">
              <a:rPr lang="en-ZM" smtClean="0"/>
              <a:t>‹#›</a:t>
            </a:fld>
            <a:endParaRPr lang="en-ZM"/>
          </a:p>
        </p:txBody>
      </p:sp>
    </p:spTree>
    <p:extLst>
      <p:ext uri="{BB962C8B-B14F-4D97-AF65-F5344CB8AC3E}">
        <p14:creationId xmlns:p14="http://schemas.microsoft.com/office/powerpoint/2010/main" val="1613103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4AA16-2EA6-43BA-B96F-4F5A18D422AB}"/>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440116C9-0254-4D52-99E2-07FF47A068C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Content Placeholder 3">
            <a:extLst>
              <a:ext uri="{FF2B5EF4-FFF2-40B4-BE49-F238E27FC236}">
                <a16:creationId xmlns:a16="http://schemas.microsoft.com/office/drawing/2014/main" id="{B504EA59-CF37-41AF-BEB2-44651B97EF0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Date Placeholder 4">
            <a:extLst>
              <a:ext uri="{FF2B5EF4-FFF2-40B4-BE49-F238E27FC236}">
                <a16:creationId xmlns:a16="http://schemas.microsoft.com/office/drawing/2014/main" id="{8FB56308-0D2F-4FEB-A645-6D717DCADA55}"/>
              </a:ext>
            </a:extLst>
          </p:cNvPr>
          <p:cNvSpPr>
            <a:spLocks noGrp="1"/>
          </p:cNvSpPr>
          <p:nvPr>
            <p:ph type="dt" sz="half" idx="10"/>
          </p:nvPr>
        </p:nvSpPr>
        <p:spPr/>
        <p:txBody>
          <a:bodyPr/>
          <a:lstStyle/>
          <a:p>
            <a:fld id="{9EDAA503-6145-4C12-A2AB-CB0A06F23194}" type="datetimeFigureOut">
              <a:rPr lang="en-ZM" smtClean="0"/>
              <a:t>18/08/2025</a:t>
            </a:fld>
            <a:endParaRPr lang="en-ZM"/>
          </a:p>
        </p:txBody>
      </p:sp>
      <p:sp>
        <p:nvSpPr>
          <p:cNvPr id="6" name="Footer Placeholder 5">
            <a:extLst>
              <a:ext uri="{FF2B5EF4-FFF2-40B4-BE49-F238E27FC236}">
                <a16:creationId xmlns:a16="http://schemas.microsoft.com/office/drawing/2014/main" id="{587BA19F-56E2-46D8-B20D-905FD97B1E31}"/>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2A91291A-66B6-4F4D-9CA0-AF690787F54F}"/>
              </a:ext>
            </a:extLst>
          </p:cNvPr>
          <p:cNvSpPr>
            <a:spLocks noGrp="1"/>
          </p:cNvSpPr>
          <p:nvPr>
            <p:ph type="sldNum" sz="quarter" idx="12"/>
          </p:nvPr>
        </p:nvSpPr>
        <p:spPr/>
        <p:txBody>
          <a:bodyPr/>
          <a:lstStyle/>
          <a:p>
            <a:fld id="{FAD1AF88-9C14-4D7D-9EC0-7B5BE079AD18}" type="slidenum">
              <a:rPr lang="en-ZM" smtClean="0"/>
              <a:t>‹#›</a:t>
            </a:fld>
            <a:endParaRPr lang="en-ZM"/>
          </a:p>
        </p:txBody>
      </p:sp>
    </p:spTree>
    <p:extLst>
      <p:ext uri="{BB962C8B-B14F-4D97-AF65-F5344CB8AC3E}">
        <p14:creationId xmlns:p14="http://schemas.microsoft.com/office/powerpoint/2010/main" val="855678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BA22B-AF12-49B4-8233-280042D22716}"/>
              </a:ext>
            </a:extLst>
          </p:cNvPr>
          <p:cNvSpPr>
            <a:spLocks noGrp="1"/>
          </p:cNvSpPr>
          <p:nvPr>
            <p:ph type="title"/>
          </p:nvPr>
        </p:nvSpPr>
        <p:spPr>
          <a:xfrm>
            <a:off x="839788" y="365125"/>
            <a:ext cx="10515600" cy="1325563"/>
          </a:xfrm>
        </p:spPr>
        <p:txBody>
          <a:bodyPr/>
          <a:lstStyle/>
          <a:p>
            <a:r>
              <a:rPr lang="en-US"/>
              <a:t>Click to edit Master title style</a:t>
            </a:r>
            <a:endParaRPr lang="en-ZM"/>
          </a:p>
        </p:txBody>
      </p:sp>
      <p:sp>
        <p:nvSpPr>
          <p:cNvPr id="3" name="Text Placeholder 2">
            <a:extLst>
              <a:ext uri="{FF2B5EF4-FFF2-40B4-BE49-F238E27FC236}">
                <a16:creationId xmlns:a16="http://schemas.microsoft.com/office/drawing/2014/main" id="{DDDFDE65-03FB-45CC-BC29-2382EFE4BF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B77D212-89C1-410D-86BA-A265AB95F50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Text Placeholder 4">
            <a:extLst>
              <a:ext uri="{FF2B5EF4-FFF2-40B4-BE49-F238E27FC236}">
                <a16:creationId xmlns:a16="http://schemas.microsoft.com/office/drawing/2014/main" id="{D57611A5-47B2-4645-A09A-5B7B5F2B50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E1DA053-8F60-4C8C-B867-DA89E5A6B09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7" name="Date Placeholder 6">
            <a:extLst>
              <a:ext uri="{FF2B5EF4-FFF2-40B4-BE49-F238E27FC236}">
                <a16:creationId xmlns:a16="http://schemas.microsoft.com/office/drawing/2014/main" id="{C3D07119-3500-4EA7-9F89-09CAAE055E1A}"/>
              </a:ext>
            </a:extLst>
          </p:cNvPr>
          <p:cNvSpPr>
            <a:spLocks noGrp="1"/>
          </p:cNvSpPr>
          <p:nvPr>
            <p:ph type="dt" sz="half" idx="10"/>
          </p:nvPr>
        </p:nvSpPr>
        <p:spPr/>
        <p:txBody>
          <a:bodyPr/>
          <a:lstStyle/>
          <a:p>
            <a:fld id="{9EDAA503-6145-4C12-A2AB-CB0A06F23194}" type="datetimeFigureOut">
              <a:rPr lang="en-ZM" smtClean="0"/>
              <a:t>18/08/2025</a:t>
            </a:fld>
            <a:endParaRPr lang="en-ZM"/>
          </a:p>
        </p:txBody>
      </p:sp>
      <p:sp>
        <p:nvSpPr>
          <p:cNvPr id="8" name="Footer Placeholder 7">
            <a:extLst>
              <a:ext uri="{FF2B5EF4-FFF2-40B4-BE49-F238E27FC236}">
                <a16:creationId xmlns:a16="http://schemas.microsoft.com/office/drawing/2014/main" id="{BAD468FF-F233-4922-B82B-E66699CA8050}"/>
              </a:ext>
            </a:extLst>
          </p:cNvPr>
          <p:cNvSpPr>
            <a:spLocks noGrp="1"/>
          </p:cNvSpPr>
          <p:nvPr>
            <p:ph type="ftr" sz="quarter" idx="11"/>
          </p:nvPr>
        </p:nvSpPr>
        <p:spPr/>
        <p:txBody>
          <a:bodyPr/>
          <a:lstStyle/>
          <a:p>
            <a:endParaRPr lang="en-ZM"/>
          </a:p>
        </p:txBody>
      </p:sp>
      <p:sp>
        <p:nvSpPr>
          <p:cNvPr id="9" name="Slide Number Placeholder 8">
            <a:extLst>
              <a:ext uri="{FF2B5EF4-FFF2-40B4-BE49-F238E27FC236}">
                <a16:creationId xmlns:a16="http://schemas.microsoft.com/office/drawing/2014/main" id="{4CEEF0FF-2AF6-409C-8440-04FEAA95E48D}"/>
              </a:ext>
            </a:extLst>
          </p:cNvPr>
          <p:cNvSpPr>
            <a:spLocks noGrp="1"/>
          </p:cNvSpPr>
          <p:nvPr>
            <p:ph type="sldNum" sz="quarter" idx="12"/>
          </p:nvPr>
        </p:nvSpPr>
        <p:spPr/>
        <p:txBody>
          <a:bodyPr/>
          <a:lstStyle/>
          <a:p>
            <a:fld id="{FAD1AF88-9C14-4D7D-9EC0-7B5BE079AD18}" type="slidenum">
              <a:rPr lang="en-ZM" smtClean="0"/>
              <a:t>‹#›</a:t>
            </a:fld>
            <a:endParaRPr lang="en-ZM"/>
          </a:p>
        </p:txBody>
      </p:sp>
    </p:spTree>
    <p:extLst>
      <p:ext uri="{BB962C8B-B14F-4D97-AF65-F5344CB8AC3E}">
        <p14:creationId xmlns:p14="http://schemas.microsoft.com/office/powerpoint/2010/main" val="1769869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DB1C4-62BD-4B49-AB0D-298EA933AF94}"/>
              </a:ext>
            </a:extLst>
          </p:cNvPr>
          <p:cNvSpPr>
            <a:spLocks noGrp="1"/>
          </p:cNvSpPr>
          <p:nvPr>
            <p:ph type="title"/>
          </p:nvPr>
        </p:nvSpPr>
        <p:spPr/>
        <p:txBody>
          <a:bodyPr/>
          <a:lstStyle/>
          <a:p>
            <a:r>
              <a:rPr lang="en-US"/>
              <a:t>Click to edit Master title style</a:t>
            </a:r>
            <a:endParaRPr lang="en-ZM"/>
          </a:p>
        </p:txBody>
      </p:sp>
      <p:sp>
        <p:nvSpPr>
          <p:cNvPr id="3" name="Date Placeholder 2">
            <a:extLst>
              <a:ext uri="{FF2B5EF4-FFF2-40B4-BE49-F238E27FC236}">
                <a16:creationId xmlns:a16="http://schemas.microsoft.com/office/drawing/2014/main" id="{DBCCB236-A5D5-468A-9B0F-AA86667AC1AA}"/>
              </a:ext>
            </a:extLst>
          </p:cNvPr>
          <p:cNvSpPr>
            <a:spLocks noGrp="1"/>
          </p:cNvSpPr>
          <p:nvPr>
            <p:ph type="dt" sz="half" idx="10"/>
          </p:nvPr>
        </p:nvSpPr>
        <p:spPr/>
        <p:txBody>
          <a:bodyPr/>
          <a:lstStyle/>
          <a:p>
            <a:fld id="{9EDAA503-6145-4C12-A2AB-CB0A06F23194}" type="datetimeFigureOut">
              <a:rPr lang="en-ZM" smtClean="0"/>
              <a:t>18/08/2025</a:t>
            </a:fld>
            <a:endParaRPr lang="en-ZM"/>
          </a:p>
        </p:txBody>
      </p:sp>
      <p:sp>
        <p:nvSpPr>
          <p:cNvPr id="4" name="Footer Placeholder 3">
            <a:extLst>
              <a:ext uri="{FF2B5EF4-FFF2-40B4-BE49-F238E27FC236}">
                <a16:creationId xmlns:a16="http://schemas.microsoft.com/office/drawing/2014/main" id="{E8B44C65-CA5E-4BA0-B2FD-B0048FFDF3BC}"/>
              </a:ext>
            </a:extLst>
          </p:cNvPr>
          <p:cNvSpPr>
            <a:spLocks noGrp="1"/>
          </p:cNvSpPr>
          <p:nvPr>
            <p:ph type="ftr" sz="quarter" idx="11"/>
          </p:nvPr>
        </p:nvSpPr>
        <p:spPr/>
        <p:txBody>
          <a:bodyPr/>
          <a:lstStyle/>
          <a:p>
            <a:endParaRPr lang="en-ZM"/>
          </a:p>
        </p:txBody>
      </p:sp>
      <p:sp>
        <p:nvSpPr>
          <p:cNvPr id="5" name="Slide Number Placeholder 4">
            <a:extLst>
              <a:ext uri="{FF2B5EF4-FFF2-40B4-BE49-F238E27FC236}">
                <a16:creationId xmlns:a16="http://schemas.microsoft.com/office/drawing/2014/main" id="{58E6ED9B-588D-4035-882E-FA23CE560BBB}"/>
              </a:ext>
            </a:extLst>
          </p:cNvPr>
          <p:cNvSpPr>
            <a:spLocks noGrp="1"/>
          </p:cNvSpPr>
          <p:nvPr>
            <p:ph type="sldNum" sz="quarter" idx="12"/>
          </p:nvPr>
        </p:nvSpPr>
        <p:spPr/>
        <p:txBody>
          <a:bodyPr/>
          <a:lstStyle/>
          <a:p>
            <a:fld id="{FAD1AF88-9C14-4D7D-9EC0-7B5BE079AD18}" type="slidenum">
              <a:rPr lang="en-ZM" smtClean="0"/>
              <a:t>‹#›</a:t>
            </a:fld>
            <a:endParaRPr lang="en-ZM"/>
          </a:p>
        </p:txBody>
      </p:sp>
    </p:spTree>
    <p:extLst>
      <p:ext uri="{BB962C8B-B14F-4D97-AF65-F5344CB8AC3E}">
        <p14:creationId xmlns:p14="http://schemas.microsoft.com/office/powerpoint/2010/main" val="1020979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8ECBD5-24A0-49BC-A4AA-CFEBD865C774}"/>
              </a:ext>
            </a:extLst>
          </p:cNvPr>
          <p:cNvSpPr>
            <a:spLocks noGrp="1"/>
          </p:cNvSpPr>
          <p:nvPr>
            <p:ph type="dt" sz="half" idx="10"/>
          </p:nvPr>
        </p:nvSpPr>
        <p:spPr/>
        <p:txBody>
          <a:bodyPr/>
          <a:lstStyle/>
          <a:p>
            <a:fld id="{9EDAA503-6145-4C12-A2AB-CB0A06F23194}" type="datetimeFigureOut">
              <a:rPr lang="en-ZM" smtClean="0"/>
              <a:t>18/08/2025</a:t>
            </a:fld>
            <a:endParaRPr lang="en-ZM"/>
          </a:p>
        </p:txBody>
      </p:sp>
      <p:sp>
        <p:nvSpPr>
          <p:cNvPr id="3" name="Footer Placeholder 2">
            <a:extLst>
              <a:ext uri="{FF2B5EF4-FFF2-40B4-BE49-F238E27FC236}">
                <a16:creationId xmlns:a16="http://schemas.microsoft.com/office/drawing/2014/main" id="{5ACAD356-6F07-495B-B343-F4CA4E56E64D}"/>
              </a:ext>
            </a:extLst>
          </p:cNvPr>
          <p:cNvSpPr>
            <a:spLocks noGrp="1"/>
          </p:cNvSpPr>
          <p:nvPr>
            <p:ph type="ftr" sz="quarter" idx="11"/>
          </p:nvPr>
        </p:nvSpPr>
        <p:spPr/>
        <p:txBody>
          <a:bodyPr/>
          <a:lstStyle/>
          <a:p>
            <a:endParaRPr lang="en-ZM"/>
          </a:p>
        </p:txBody>
      </p:sp>
      <p:sp>
        <p:nvSpPr>
          <p:cNvPr id="4" name="Slide Number Placeholder 3">
            <a:extLst>
              <a:ext uri="{FF2B5EF4-FFF2-40B4-BE49-F238E27FC236}">
                <a16:creationId xmlns:a16="http://schemas.microsoft.com/office/drawing/2014/main" id="{054A18A1-0E38-4DDB-828F-B88DB1C70235}"/>
              </a:ext>
            </a:extLst>
          </p:cNvPr>
          <p:cNvSpPr>
            <a:spLocks noGrp="1"/>
          </p:cNvSpPr>
          <p:nvPr>
            <p:ph type="sldNum" sz="quarter" idx="12"/>
          </p:nvPr>
        </p:nvSpPr>
        <p:spPr/>
        <p:txBody>
          <a:bodyPr/>
          <a:lstStyle/>
          <a:p>
            <a:fld id="{FAD1AF88-9C14-4D7D-9EC0-7B5BE079AD18}" type="slidenum">
              <a:rPr lang="en-ZM" smtClean="0"/>
              <a:t>‹#›</a:t>
            </a:fld>
            <a:endParaRPr lang="en-ZM"/>
          </a:p>
        </p:txBody>
      </p:sp>
    </p:spTree>
    <p:extLst>
      <p:ext uri="{BB962C8B-B14F-4D97-AF65-F5344CB8AC3E}">
        <p14:creationId xmlns:p14="http://schemas.microsoft.com/office/powerpoint/2010/main" val="119951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BA52D-CA52-45C6-9F5A-57872BC1B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Content Placeholder 2">
            <a:extLst>
              <a:ext uri="{FF2B5EF4-FFF2-40B4-BE49-F238E27FC236}">
                <a16:creationId xmlns:a16="http://schemas.microsoft.com/office/drawing/2014/main" id="{1B068E89-5671-49CF-A62E-0C77582E74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Text Placeholder 3">
            <a:extLst>
              <a:ext uri="{FF2B5EF4-FFF2-40B4-BE49-F238E27FC236}">
                <a16:creationId xmlns:a16="http://schemas.microsoft.com/office/drawing/2014/main" id="{42855EE8-7FF5-47BC-95B9-8F5228C092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FB32F34-80E4-4F9B-B303-033FF6D3A4FA}"/>
              </a:ext>
            </a:extLst>
          </p:cNvPr>
          <p:cNvSpPr>
            <a:spLocks noGrp="1"/>
          </p:cNvSpPr>
          <p:nvPr>
            <p:ph type="dt" sz="half" idx="10"/>
          </p:nvPr>
        </p:nvSpPr>
        <p:spPr/>
        <p:txBody>
          <a:bodyPr/>
          <a:lstStyle/>
          <a:p>
            <a:fld id="{9EDAA503-6145-4C12-A2AB-CB0A06F23194}" type="datetimeFigureOut">
              <a:rPr lang="en-ZM" smtClean="0"/>
              <a:t>18/08/2025</a:t>
            </a:fld>
            <a:endParaRPr lang="en-ZM"/>
          </a:p>
        </p:txBody>
      </p:sp>
      <p:sp>
        <p:nvSpPr>
          <p:cNvPr id="6" name="Footer Placeholder 5">
            <a:extLst>
              <a:ext uri="{FF2B5EF4-FFF2-40B4-BE49-F238E27FC236}">
                <a16:creationId xmlns:a16="http://schemas.microsoft.com/office/drawing/2014/main" id="{71FEFFA5-4CD0-4B33-9522-F21323943F05}"/>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F91995A8-5C67-4FCD-8304-EA2C0508A4F4}"/>
              </a:ext>
            </a:extLst>
          </p:cNvPr>
          <p:cNvSpPr>
            <a:spLocks noGrp="1"/>
          </p:cNvSpPr>
          <p:nvPr>
            <p:ph type="sldNum" sz="quarter" idx="12"/>
          </p:nvPr>
        </p:nvSpPr>
        <p:spPr/>
        <p:txBody>
          <a:bodyPr/>
          <a:lstStyle/>
          <a:p>
            <a:fld id="{FAD1AF88-9C14-4D7D-9EC0-7B5BE079AD18}" type="slidenum">
              <a:rPr lang="en-ZM" smtClean="0"/>
              <a:t>‹#›</a:t>
            </a:fld>
            <a:endParaRPr lang="en-ZM"/>
          </a:p>
        </p:txBody>
      </p:sp>
    </p:spTree>
    <p:extLst>
      <p:ext uri="{BB962C8B-B14F-4D97-AF65-F5344CB8AC3E}">
        <p14:creationId xmlns:p14="http://schemas.microsoft.com/office/powerpoint/2010/main" val="2774368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2D33-3095-4BE3-9A37-FE7F9BC15D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Picture Placeholder 2">
            <a:extLst>
              <a:ext uri="{FF2B5EF4-FFF2-40B4-BE49-F238E27FC236}">
                <a16:creationId xmlns:a16="http://schemas.microsoft.com/office/drawing/2014/main" id="{EB405447-43AA-4630-87C3-1B818225E2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M"/>
          </a:p>
        </p:txBody>
      </p:sp>
      <p:sp>
        <p:nvSpPr>
          <p:cNvPr id="4" name="Text Placeholder 3">
            <a:extLst>
              <a:ext uri="{FF2B5EF4-FFF2-40B4-BE49-F238E27FC236}">
                <a16:creationId xmlns:a16="http://schemas.microsoft.com/office/drawing/2014/main" id="{FA31608D-9B8F-4885-BA78-764354AA2B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82F517F-1391-4E01-AF5D-3CDB16332844}"/>
              </a:ext>
            </a:extLst>
          </p:cNvPr>
          <p:cNvSpPr>
            <a:spLocks noGrp="1"/>
          </p:cNvSpPr>
          <p:nvPr>
            <p:ph type="dt" sz="half" idx="10"/>
          </p:nvPr>
        </p:nvSpPr>
        <p:spPr/>
        <p:txBody>
          <a:bodyPr/>
          <a:lstStyle/>
          <a:p>
            <a:fld id="{9EDAA503-6145-4C12-A2AB-CB0A06F23194}" type="datetimeFigureOut">
              <a:rPr lang="en-ZM" smtClean="0"/>
              <a:t>18/08/2025</a:t>
            </a:fld>
            <a:endParaRPr lang="en-ZM"/>
          </a:p>
        </p:txBody>
      </p:sp>
      <p:sp>
        <p:nvSpPr>
          <p:cNvPr id="6" name="Footer Placeholder 5">
            <a:extLst>
              <a:ext uri="{FF2B5EF4-FFF2-40B4-BE49-F238E27FC236}">
                <a16:creationId xmlns:a16="http://schemas.microsoft.com/office/drawing/2014/main" id="{1C80634B-59F6-452A-A0AF-D6514C250E43}"/>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E6406FBF-9834-4F17-A895-E81C6D36C6A6}"/>
              </a:ext>
            </a:extLst>
          </p:cNvPr>
          <p:cNvSpPr>
            <a:spLocks noGrp="1"/>
          </p:cNvSpPr>
          <p:nvPr>
            <p:ph type="sldNum" sz="quarter" idx="12"/>
          </p:nvPr>
        </p:nvSpPr>
        <p:spPr/>
        <p:txBody>
          <a:bodyPr/>
          <a:lstStyle/>
          <a:p>
            <a:fld id="{FAD1AF88-9C14-4D7D-9EC0-7B5BE079AD18}" type="slidenum">
              <a:rPr lang="en-ZM" smtClean="0"/>
              <a:t>‹#›</a:t>
            </a:fld>
            <a:endParaRPr lang="en-ZM"/>
          </a:p>
        </p:txBody>
      </p:sp>
    </p:spTree>
    <p:extLst>
      <p:ext uri="{BB962C8B-B14F-4D97-AF65-F5344CB8AC3E}">
        <p14:creationId xmlns:p14="http://schemas.microsoft.com/office/powerpoint/2010/main" val="2304118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F9FA7-DC58-49B3-9B22-286624647A65}"/>
              </a:ext>
            </a:extLst>
          </p:cNvPr>
          <p:cNvSpPr>
            <a:spLocks noGrp="1"/>
          </p:cNvSpPr>
          <p:nvPr>
            <p:ph type="title"/>
          </p:nvPr>
        </p:nvSpPr>
        <p:spPr/>
        <p:txBody>
          <a:bodyPr/>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4A4C881A-5843-4C1D-AFDA-60D32923F32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E7A693E7-2219-4F9C-9226-8197BEBED806}"/>
              </a:ext>
            </a:extLst>
          </p:cNvPr>
          <p:cNvSpPr>
            <a:spLocks noGrp="1"/>
          </p:cNvSpPr>
          <p:nvPr>
            <p:ph type="dt" sz="half" idx="10"/>
          </p:nvPr>
        </p:nvSpPr>
        <p:spPr/>
        <p:txBody>
          <a:bodyPr/>
          <a:lstStyle/>
          <a:p>
            <a:fld id="{9EDAA503-6145-4C12-A2AB-CB0A06F23194}" type="datetimeFigureOut">
              <a:rPr lang="en-ZM" smtClean="0"/>
              <a:t>18/08/2025</a:t>
            </a:fld>
            <a:endParaRPr lang="en-ZM"/>
          </a:p>
        </p:txBody>
      </p:sp>
      <p:sp>
        <p:nvSpPr>
          <p:cNvPr id="5" name="Footer Placeholder 4">
            <a:extLst>
              <a:ext uri="{FF2B5EF4-FFF2-40B4-BE49-F238E27FC236}">
                <a16:creationId xmlns:a16="http://schemas.microsoft.com/office/drawing/2014/main" id="{609F7B44-79FA-45E6-8B97-EACDA9102B2B}"/>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E384E8FB-FD9B-4024-BAAA-6B4310B19A03}"/>
              </a:ext>
            </a:extLst>
          </p:cNvPr>
          <p:cNvSpPr>
            <a:spLocks noGrp="1"/>
          </p:cNvSpPr>
          <p:nvPr>
            <p:ph type="sldNum" sz="quarter" idx="12"/>
          </p:nvPr>
        </p:nvSpPr>
        <p:spPr/>
        <p:txBody>
          <a:bodyPr/>
          <a:lstStyle/>
          <a:p>
            <a:fld id="{FAD1AF88-9C14-4D7D-9EC0-7B5BE079AD18}" type="slidenum">
              <a:rPr lang="en-ZM" smtClean="0"/>
              <a:t>‹#›</a:t>
            </a:fld>
            <a:endParaRPr lang="en-ZM"/>
          </a:p>
        </p:txBody>
      </p:sp>
    </p:spTree>
    <p:extLst>
      <p:ext uri="{BB962C8B-B14F-4D97-AF65-F5344CB8AC3E}">
        <p14:creationId xmlns:p14="http://schemas.microsoft.com/office/powerpoint/2010/main" val="1219247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4EAB87-50A8-4AF6-9F25-E46B3DA826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085DA025-5E7F-47B1-94F8-F0773EE582D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59496DCA-0D75-4E4E-9D9C-043F3AF2C658}"/>
              </a:ext>
            </a:extLst>
          </p:cNvPr>
          <p:cNvSpPr>
            <a:spLocks noGrp="1"/>
          </p:cNvSpPr>
          <p:nvPr>
            <p:ph type="dt" sz="half" idx="10"/>
          </p:nvPr>
        </p:nvSpPr>
        <p:spPr/>
        <p:txBody>
          <a:bodyPr/>
          <a:lstStyle/>
          <a:p>
            <a:fld id="{9EDAA503-6145-4C12-A2AB-CB0A06F23194}" type="datetimeFigureOut">
              <a:rPr lang="en-ZM" smtClean="0"/>
              <a:t>18/08/2025</a:t>
            </a:fld>
            <a:endParaRPr lang="en-ZM"/>
          </a:p>
        </p:txBody>
      </p:sp>
      <p:sp>
        <p:nvSpPr>
          <p:cNvPr id="5" name="Footer Placeholder 4">
            <a:extLst>
              <a:ext uri="{FF2B5EF4-FFF2-40B4-BE49-F238E27FC236}">
                <a16:creationId xmlns:a16="http://schemas.microsoft.com/office/drawing/2014/main" id="{CC2B7AD6-308B-456A-A7F3-460613A1931C}"/>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8FF393F8-16BC-40AB-A37A-601D61E3FE19}"/>
              </a:ext>
            </a:extLst>
          </p:cNvPr>
          <p:cNvSpPr>
            <a:spLocks noGrp="1"/>
          </p:cNvSpPr>
          <p:nvPr>
            <p:ph type="sldNum" sz="quarter" idx="12"/>
          </p:nvPr>
        </p:nvSpPr>
        <p:spPr/>
        <p:txBody>
          <a:bodyPr/>
          <a:lstStyle/>
          <a:p>
            <a:fld id="{FAD1AF88-9C14-4D7D-9EC0-7B5BE079AD18}" type="slidenum">
              <a:rPr lang="en-ZM" smtClean="0"/>
              <a:t>‹#›</a:t>
            </a:fld>
            <a:endParaRPr lang="en-ZM"/>
          </a:p>
        </p:txBody>
      </p:sp>
    </p:spTree>
    <p:extLst>
      <p:ext uri="{BB962C8B-B14F-4D97-AF65-F5344CB8AC3E}">
        <p14:creationId xmlns:p14="http://schemas.microsoft.com/office/powerpoint/2010/main" val="1812499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C5189F-04F1-40DC-B966-083B92EDDA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M"/>
          </a:p>
        </p:txBody>
      </p:sp>
      <p:sp>
        <p:nvSpPr>
          <p:cNvPr id="3" name="Text Placeholder 2">
            <a:extLst>
              <a:ext uri="{FF2B5EF4-FFF2-40B4-BE49-F238E27FC236}">
                <a16:creationId xmlns:a16="http://schemas.microsoft.com/office/drawing/2014/main" id="{A91AEEF2-E522-4EC8-86B2-951DCB538C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67B8CF43-1923-4A3C-822A-D809656BA3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AA503-6145-4C12-A2AB-CB0A06F23194}" type="datetimeFigureOut">
              <a:rPr lang="en-ZM" smtClean="0"/>
              <a:t>18/08/2025</a:t>
            </a:fld>
            <a:endParaRPr lang="en-ZM"/>
          </a:p>
        </p:txBody>
      </p:sp>
      <p:sp>
        <p:nvSpPr>
          <p:cNvPr id="5" name="Footer Placeholder 4">
            <a:extLst>
              <a:ext uri="{FF2B5EF4-FFF2-40B4-BE49-F238E27FC236}">
                <a16:creationId xmlns:a16="http://schemas.microsoft.com/office/drawing/2014/main" id="{CF2DF01C-273C-4F33-893B-E2D117B188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M"/>
          </a:p>
        </p:txBody>
      </p:sp>
      <p:sp>
        <p:nvSpPr>
          <p:cNvPr id="6" name="Slide Number Placeholder 5">
            <a:extLst>
              <a:ext uri="{FF2B5EF4-FFF2-40B4-BE49-F238E27FC236}">
                <a16:creationId xmlns:a16="http://schemas.microsoft.com/office/drawing/2014/main" id="{92DA33B3-A5B7-4B69-88D2-4B11E52429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D1AF88-9C14-4D7D-9EC0-7B5BE079AD18}" type="slidenum">
              <a:rPr lang="en-ZM" smtClean="0"/>
              <a:t>‹#›</a:t>
            </a:fld>
            <a:endParaRPr lang="en-ZM"/>
          </a:p>
        </p:txBody>
      </p:sp>
    </p:spTree>
    <p:extLst>
      <p:ext uri="{BB962C8B-B14F-4D97-AF65-F5344CB8AC3E}">
        <p14:creationId xmlns:p14="http://schemas.microsoft.com/office/powerpoint/2010/main" val="10435872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64E1785-34EC-4835-8EFF-482BA60D0F36}"/>
              </a:ext>
            </a:extLst>
          </p:cNvPr>
          <p:cNvPicPr>
            <a:picLocks noChangeAspect="1"/>
          </p:cNvPicPr>
          <p:nvPr/>
        </p:nvPicPr>
        <p:blipFill>
          <a:blip r:embed="rId2"/>
          <a:stretch>
            <a:fillRect/>
          </a:stretch>
        </p:blipFill>
        <p:spPr>
          <a:xfrm>
            <a:off x="1674689" y="1325366"/>
            <a:ext cx="9000160" cy="4500081"/>
          </a:xfrm>
          <a:prstGeom prst="rect">
            <a:avLst/>
          </a:prstGeom>
        </p:spPr>
      </p:pic>
    </p:spTree>
    <p:extLst>
      <p:ext uri="{BB962C8B-B14F-4D97-AF65-F5344CB8AC3E}">
        <p14:creationId xmlns:p14="http://schemas.microsoft.com/office/powerpoint/2010/main" val="943853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DEF56-4CA1-4786-9CAA-3112E54F3278}"/>
              </a:ext>
            </a:extLst>
          </p:cNvPr>
          <p:cNvSpPr>
            <a:spLocks noGrp="1"/>
          </p:cNvSpPr>
          <p:nvPr>
            <p:ph type="title"/>
          </p:nvPr>
        </p:nvSpPr>
        <p:spPr/>
        <p:txBody>
          <a:bodyPr>
            <a:normAutofit/>
          </a:bodyPr>
          <a:lstStyle/>
          <a:p>
            <a:pPr algn="ctr"/>
            <a:r>
              <a:rPr lang="en-US" sz="3600" b="1" dirty="0"/>
              <a:t>INTRODUCTION TO TREASURY MANAGEMENT</a:t>
            </a:r>
            <a:endParaRPr lang="en-ZM" sz="3600" b="1" dirty="0"/>
          </a:p>
        </p:txBody>
      </p:sp>
      <p:sp>
        <p:nvSpPr>
          <p:cNvPr id="3" name="Content Placeholder 2">
            <a:extLst>
              <a:ext uri="{FF2B5EF4-FFF2-40B4-BE49-F238E27FC236}">
                <a16:creationId xmlns:a16="http://schemas.microsoft.com/office/drawing/2014/main" id="{D03EDB57-B21F-4021-84E9-54F78BA8AB81}"/>
              </a:ext>
            </a:extLst>
          </p:cNvPr>
          <p:cNvSpPr>
            <a:spLocks noGrp="1"/>
          </p:cNvSpPr>
          <p:nvPr>
            <p:ph idx="1"/>
          </p:nvPr>
        </p:nvSpPr>
        <p:spPr/>
        <p:txBody>
          <a:bodyPr/>
          <a:lstStyle/>
          <a:p>
            <a:r>
              <a:rPr lang="en-US" dirty="0"/>
              <a:t>Introduction to treasury Management</a:t>
            </a:r>
          </a:p>
          <a:p>
            <a:r>
              <a:rPr lang="en-US" dirty="0"/>
              <a:t>Treasury organization and structure</a:t>
            </a:r>
          </a:p>
          <a:p>
            <a:r>
              <a:rPr lang="en-US" dirty="0"/>
              <a:t>Sources of Funds</a:t>
            </a:r>
          </a:p>
          <a:p>
            <a:r>
              <a:rPr lang="en-US" dirty="0"/>
              <a:t>Major risk in treasury Management</a:t>
            </a:r>
          </a:p>
          <a:p>
            <a:r>
              <a:rPr lang="en-US" dirty="0"/>
              <a:t>Pricing of the product</a:t>
            </a:r>
          </a:p>
          <a:p>
            <a:r>
              <a:rPr lang="en-US" dirty="0"/>
              <a:t>Derivatives instruments</a:t>
            </a:r>
          </a:p>
          <a:p>
            <a:r>
              <a:rPr lang="en-US" dirty="0"/>
              <a:t>Investments portfolio and liquidity  Management</a:t>
            </a:r>
          </a:p>
          <a:p>
            <a:r>
              <a:rPr lang="en-US" dirty="0"/>
              <a:t>Treasury Management function in Zambian Banks.</a:t>
            </a:r>
            <a:endParaRPr lang="en-ZM" dirty="0"/>
          </a:p>
        </p:txBody>
      </p:sp>
    </p:spTree>
    <p:extLst>
      <p:ext uri="{BB962C8B-B14F-4D97-AF65-F5344CB8AC3E}">
        <p14:creationId xmlns:p14="http://schemas.microsoft.com/office/powerpoint/2010/main" val="2640183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5AA230-C5FD-4252-8777-24050EC95673}"/>
              </a:ext>
            </a:extLst>
          </p:cNvPr>
          <p:cNvPicPr>
            <a:picLocks noChangeAspect="1"/>
          </p:cNvPicPr>
          <p:nvPr/>
        </p:nvPicPr>
        <p:blipFill>
          <a:blip r:embed="rId2"/>
          <a:stretch>
            <a:fillRect/>
          </a:stretch>
        </p:blipFill>
        <p:spPr>
          <a:xfrm>
            <a:off x="1767155" y="1140431"/>
            <a:ext cx="9030984" cy="4941870"/>
          </a:xfrm>
          <a:prstGeom prst="rect">
            <a:avLst/>
          </a:prstGeom>
        </p:spPr>
      </p:pic>
    </p:spTree>
    <p:extLst>
      <p:ext uri="{BB962C8B-B14F-4D97-AF65-F5344CB8AC3E}">
        <p14:creationId xmlns:p14="http://schemas.microsoft.com/office/powerpoint/2010/main" val="319627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8FB86-DFAF-4912-883F-954ADC02884D}"/>
              </a:ext>
            </a:extLst>
          </p:cNvPr>
          <p:cNvSpPr>
            <a:spLocks noGrp="1"/>
          </p:cNvSpPr>
          <p:nvPr>
            <p:ph type="title"/>
          </p:nvPr>
        </p:nvSpPr>
        <p:spPr/>
        <p:txBody>
          <a:bodyPr/>
          <a:lstStyle/>
          <a:p>
            <a:r>
              <a:rPr lang="en-US" dirty="0"/>
              <a:t>What is treasury and Treasury Management</a:t>
            </a:r>
            <a:endParaRPr lang="en-ZM" dirty="0"/>
          </a:p>
        </p:txBody>
      </p:sp>
      <p:sp>
        <p:nvSpPr>
          <p:cNvPr id="3" name="Content Placeholder 2">
            <a:extLst>
              <a:ext uri="{FF2B5EF4-FFF2-40B4-BE49-F238E27FC236}">
                <a16:creationId xmlns:a16="http://schemas.microsoft.com/office/drawing/2014/main" id="{6B72D939-B588-4214-9D84-471CFA56B38E}"/>
              </a:ext>
            </a:extLst>
          </p:cNvPr>
          <p:cNvSpPr>
            <a:spLocks noGrp="1"/>
          </p:cNvSpPr>
          <p:nvPr>
            <p:ph idx="1"/>
          </p:nvPr>
        </p:nvSpPr>
        <p:spPr/>
        <p:txBody>
          <a:bodyPr>
            <a:normAutofit lnSpcReduction="10000"/>
          </a:bodyPr>
          <a:lstStyle/>
          <a:p>
            <a:r>
              <a:rPr lang="en-US" dirty="0"/>
              <a:t>Treasury refers to the funds and revenue at the disposal of the  Banks/organization</a:t>
            </a:r>
          </a:p>
          <a:p>
            <a:r>
              <a:rPr lang="en-US" dirty="0"/>
              <a:t>The art of managing within the acceptable level of risk, the consolidated funds of the bank optimally and  profitably is called Treasury Management.</a:t>
            </a:r>
          </a:p>
          <a:p>
            <a:r>
              <a:rPr lang="en-US" dirty="0"/>
              <a:t>The main objectives of TM are:</a:t>
            </a:r>
          </a:p>
          <a:p>
            <a:r>
              <a:rPr lang="en-US" dirty="0">
                <a:highlight>
                  <a:srgbClr val="FFFF00"/>
                </a:highlight>
              </a:rPr>
              <a:t>To ensure the availability of cash when it is needed</a:t>
            </a:r>
          </a:p>
          <a:p>
            <a:r>
              <a:rPr lang="en-US" dirty="0">
                <a:highlight>
                  <a:srgbClr val="FFFF00"/>
                </a:highlight>
              </a:rPr>
              <a:t>To minimize the cost of funds, and to optimize the returns on surplus funds.</a:t>
            </a:r>
          </a:p>
          <a:p>
            <a:r>
              <a:rPr lang="en-US" dirty="0">
                <a:highlight>
                  <a:srgbClr val="FFFF00"/>
                </a:highlight>
              </a:rPr>
              <a:t>To ensure safety of investments</a:t>
            </a:r>
            <a:endParaRPr lang="en-ZM" dirty="0">
              <a:highlight>
                <a:srgbClr val="FFFF00"/>
              </a:highlight>
            </a:endParaRPr>
          </a:p>
        </p:txBody>
      </p:sp>
    </p:spTree>
    <p:extLst>
      <p:ext uri="{BB962C8B-B14F-4D97-AF65-F5344CB8AC3E}">
        <p14:creationId xmlns:p14="http://schemas.microsoft.com/office/powerpoint/2010/main" val="2007351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04C73-2924-4DE7-B33F-369BBC4AB85E}"/>
              </a:ext>
            </a:extLst>
          </p:cNvPr>
          <p:cNvSpPr>
            <a:spLocks noGrp="1"/>
          </p:cNvSpPr>
          <p:nvPr>
            <p:ph type="title"/>
          </p:nvPr>
        </p:nvSpPr>
        <p:spPr/>
        <p:txBody>
          <a:bodyPr/>
          <a:lstStyle/>
          <a:p>
            <a:r>
              <a:rPr lang="en-US" b="1" dirty="0">
                <a:solidFill>
                  <a:prstClr val="black"/>
                </a:solidFill>
              </a:rPr>
              <a:t>What is Treasury and Treasury Management</a:t>
            </a:r>
            <a:endParaRPr lang="en-ZM" b="1" dirty="0"/>
          </a:p>
        </p:txBody>
      </p:sp>
      <p:sp>
        <p:nvSpPr>
          <p:cNvPr id="3" name="Content Placeholder 2">
            <a:extLst>
              <a:ext uri="{FF2B5EF4-FFF2-40B4-BE49-F238E27FC236}">
                <a16:creationId xmlns:a16="http://schemas.microsoft.com/office/drawing/2014/main" id="{559ED4D2-4E51-40AB-955A-93D6E3EBC2DC}"/>
              </a:ext>
            </a:extLst>
          </p:cNvPr>
          <p:cNvSpPr>
            <a:spLocks noGrp="1"/>
          </p:cNvSpPr>
          <p:nvPr>
            <p:ph idx="1"/>
          </p:nvPr>
        </p:nvSpPr>
        <p:spPr/>
        <p:txBody>
          <a:bodyPr/>
          <a:lstStyle/>
          <a:p>
            <a:r>
              <a:rPr lang="en-US" dirty="0"/>
              <a:t>Traditionally, TM was confined to Fund Management, meaning </a:t>
            </a:r>
          </a:p>
          <a:p>
            <a:pPr marL="514350" indent="-514350">
              <a:buAutoNum type="arabicPeriod"/>
            </a:pPr>
            <a:r>
              <a:rPr lang="en-US" dirty="0"/>
              <a:t>Maintaining adequate cash balances  to meet day to day requirement of bank.</a:t>
            </a:r>
          </a:p>
          <a:p>
            <a:pPr marL="514350" indent="-514350">
              <a:buAutoNum type="arabicPeriod"/>
            </a:pPr>
            <a:r>
              <a:rPr lang="en-US" dirty="0"/>
              <a:t>Deploying surplus funds generated in operations.</a:t>
            </a:r>
          </a:p>
          <a:p>
            <a:pPr marL="514350" indent="-514350">
              <a:buAutoNum type="arabicPeriod"/>
            </a:pPr>
            <a:r>
              <a:rPr lang="en-US" dirty="0"/>
              <a:t>Sourcing to bridge the gaps arising out of operations.</a:t>
            </a:r>
          </a:p>
          <a:p>
            <a:pPr marL="0" indent="0">
              <a:buNone/>
            </a:pPr>
            <a:r>
              <a:rPr lang="en-US" dirty="0"/>
              <a:t>In banks, the Treasury is also responsible to meet the reserve requirements of the bank. Thus the primary function was essentially liquidity management</a:t>
            </a:r>
          </a:p>
        </p:txBody>
      </p:sp>
    </p:spTree>
    <p:extLst>
      <p:ext uri="{BB962C8B-B14F-4D97-AF65-F5344CB8AC3E}">
        <p14:creationId xmlns:p14="http://schemas.microsoft.com/office/powerpoint/2010/main" val="3896218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EF646-A963-4EC2-A3EC-404ECE051D32}"/>
              </a:ext>
            </a:extLst>
          </p:cNvPr>
          <p:cNvSpPr>
            <a:spLocks noGrp="1"/>
          </p:cNvSpPr>
          <p:nvPr>
            <p:ph type="title"/>
          </p:nvPr>
        </p:nvSpPr>
        <p:spPr/>
        <p:txBody>
          <a:bodyPr/>
          <a:lstStyle/>
          <a:p>
            <a:r>
              <a:rPr lang="en-US" dirty="0"/>
              <a:t>Scope of Treasury Management</a:t>
            </a:r>
            <a:endParaRPr lang="en-ZM" dirty="0"/>
          </a:p>
        </p:txBody>
      </p:sp>
      <p:sp>
        <p:nvSpPr>
          <p:cNvPr id="3" name="Content Placeholder 2">
            <a:extLst>
              <a:ext uri="{FF2B5EF4-FFF2-40B4-BE49-F238E27FC236}">
                <a16:creationId xmlns:a16="http://schemas.microsoft.com/office/drawing/2014/main" id="{61F2CB4E-5CC9-4180-9827-A4404FE965EF}"/>
              </a:ext>
            </a:extLst>
          </p:cNvPr>
          <p:cNvSpPr>
            <a:spLocks noGrp="1"/>
          </p:cNvSpPr>
          <p:nvPr>
            <p:ph idx="1"/>
          </p:nvPr>
        </p:nvSpPr>
        <p:spPr/>
        <p:txBody>
          <a:bodyPr/>
          <a:lstStyle/>
          <a:p>
            <a:r>
              <a:rPr lang="en-US" dirty="0"/>
              <a:t>In the context of Banking and Finance, the scope of Treasury Management can be broadly categorized as follows:</a:t>
            </a:r>
          </a:p>
          <a:p>
            <a:pPr marL="514350" indent="-514350">
              <a:buAutoNum type="arabicPeriod"/>
            </a:pPr>
            <a:r>
              <a:rPr lang="en-US" dirty="0"/>
              <a:t>Liquidity Management</a:t>
            </a:r>
          </a:p>
          <a:p>
            <a:pPr marL="514350" indent="-514350">
              <a:buAutoNum type="arabicPeriod"/>
            </a:pPr>
            <a:r>
              <a:rPr lang="en-US" dirty="0"/>
              <a:t>Money Market Management</a:t>
            </a:r>
          </a:p>
          <a:p>
            <a:pPr marL="514350" indent="-514350">
              <a:buAutoNum type="arabicPeriod"/>
            </a:pPr>
            <a:r>
              <a:rPr lang="en-US" dirty="0"/>
              <a:t>Capital Market Management</a:t>
            </a:r>
          </a:p>
          <a:p>
            <a:pPr marL="514350" indent="-514350">
              <a:buAutoNum type="arabicPeriod"/>
            </a:pPr>
            <a:r>
              <a:rPr lang="en-US" dirty="0"/>
              <a:t>Correspondence Banking</a:t>
            </a:r>
          </a:p>
          <a:p>
            <a:pPr marL="514350" indent="-514350">
              <a:buAutoNum type="arabicPeriod"/>
            </a:pPr>
            <a:r>
              <a:rPr lang="en-US" dirty="0"/>
              <a:t>Foreign Exchange Management</a:t>
            </a:r>
          </a:p>
          <a:p>
            <a:pPr marL="514350" indent="-514350">
              <a:buAutoNum type="arabicPeriod"/>
            </a:pPr>
            <a:r>
              <a:rPr lang="en-US" dirty="0"/>
              <a:t>Rate Determination.</a:t>
            </a:r>
          </a:p>
          <a:p>
            <a:endParaRPr lang="en-ZM" dirty="0"/>
          </a:p>
        </p:txBody>
      </p:sp>
    </p:spTree>
    <p:extLst>
      <p:ext uri="{BB962C8B-B14F-4D97-AF65-F5344CB8AC3E}">
        <p14:creationId xmlns:p14="http://schemas.microsoft.com/office/powerpoint/2010/main" val="3835982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5111C-2E24-4BC4-A9BA-67CD4B3D3F44}"/>
              </a:ext>
            </a:extLst>
          </p:cNvPr>
          <p:cNvSpPr>
            <a:spLocks noGrp="1"/>
          </p:cNvSpPr>
          <p:nvPr>
            <p:ph type="title"/>
          </p:nvPr>
        </p:nvSpPr>
        <p:spPr/>
        <p:txBody>
          <a:bodyPr/>
          <a:lstStyle/>
          <a:p>
            <a:r>
              <a:rPr lang="en-US" dirty="0"/>
              <a:t>LIQUIDITY MANAGEMENT</a:t>
            </a:r>
            <a:endParaRPr lang="en-ZM" dirty="0"/>
          </a:p>
        </p:txBody>
      </p:sp>
      <p:sp>
        <p:nvSpPr>
          <p:cNvPr id="3" name="Content Placeholder 2">
            <a:extLst>
              <a:ext uri="{FF2B5EF4-FFF2-40B4-BE49-F238E27FC236}">
                <a16:creationId xmlns:a16="http://schemas.microsoft.com/office/drawing/2014/main" id="{5CF102E7-18F2-4EF2-83D0-0E7F02030730}"/>
              </a:ext>
            </a:extLst>
          </p:cNvPr>
          <p:cNvSpPr>
            <a:spLocks noGrp="1"/>
          </p:cNvSpPr>
          <p:nvPr>
            <p:ph idx="1"/>
          </p:nvPr>
        </p:nvSpPr>
        <p:spPr/>
        <p:txBody>
          <a:bodyPr/>
          <a:lstStyle/>
          <a:p>
            <a:pPr algn="just"/>
            <a:r>
              <a:rPr lang="en-US" dirty="0"/>
              <a:t>The objective of liquidity management is to maintain adequate level of liquidity and raise profitability of the bank managing  the surplus  liquidity.</a:t>
            </a:r>
          </a:p>
          <a:p>
            <a:pPr algn="just"/>
            <a:r>
              <a:rPr lang="en-US" dirty="0"/>
              <a:t>In the situation of surplus liquidity, the treasury should use in money market lending, reserve repo, buying T-bills, and government securities.</a:t>
            </a:r>
          </a:p>
          <a:p>
            <a:pPr algn="just"/>
            <a:r>
              <a:rPr lang="en-US" dirty="0"/>
              <a:t>In case of deficit of liquidity, the treasury should go for any of the interbank borrowings, borrowing against T-Bills  and bond or debentures, repos.</a:t>
            </a:r>
            <a:endParaRPr lang="en-ZM" dirty="0"/>
          </a:p>
        </p:txBody>
      </p:sp>
    </p:spTree>
    <p:extLst>
      <p:ext uri="{BB962C8B-B14F-4D97-AF65-F5344CB8AC3E}">
        <p14:creationId xmlns:p14="http://schemas.microsoft.com/office/powerpoint/2010/main" val="2295772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61C1C-5B17-427C-850B-8C0BBBCF7F03}"/>
              </a:ext>
            </a:extLst>
          </p:cNvPr>
          <p:cNvSpPr>
            <a:spLocks noGrp="1"/>
          </p:cNvSpPr>
          <p:nvPr>
            <p:ph type="title"/>
          </p:nvPr>
        </p:nvSpPr>
        <p:spPr/>
        <p:txBody>
          <a:bodyPr/>
          <a:lstStyle/>
          <a:p>
            <a:pPr algn="ctr"/>
            <a:r>
              <a:rPr lang="en-US" dirty="0"/>
              <a:t>MONEY MARKET TRANSACTIONS</a:t>
            </a:r>
            <a:endParaRPr lang="en-ZM" dirty="0"/>
          </a:p>
        </p:txBody>
      </p:sp>
      <p:sp>
        <p:nvSpPr>
          <p:cNvPr id="3" name="Content Placeholder 2">
            <a:extLst>
              <a:ext uri="{FF2B5EF4-FFF2-40B4-BE49-F238E27FC236}">
                <a16:creationId xmlns:a16="http://schemas.microsoft.com/office/drawing/2014/main" id="{67157FDF-33E3-463A-B103-DEE2F6F5184D}"/>
              </a:ext>
            </a:extLst>
          </p:cNvPr>
          <p:cNvSpPr>
            <a:spLocks noGrp="1"/>
          </p:cNvSpPr>
          <p:nvPr>
            <p:ph idx="1"/>
          </p:nvPr>
        </p:nvSpPr>
        <p:spPr/>
        <p:txBody>
          <a:bodyPr/>
          <a:lstStyle/>
          <a:p>
            <a:pPr algn="just"/>
            <a:r>
              <a:rPr lang="en-US" dirty="0"/>
              <a:t>Money market is a market where short term securities with  high liquidity are traded.</a:t>
            </a:r>
          </a:p>
          <a:p>
            <a:pPr algn="just"/>
            <a:r>
              <a:rPr lang="en-US" dirty="0"/>
              <a:t>It is used as a means for borrowing and lending in the short term basis. i.e.  up to one year.</a:t>
            </a:r>
          </a:p>
          <a:p>
            <a:pPr algn="just"/>
            <a:r>
              <a:rPr lang="en-US" dirty="0"/>
              <a:t>The investment in Treasury bills shall be done for the purpose of maintaining statutory liquidity ratio and managing returns and liquidity.</a:t>
            </a:r>
          </a:p>
          <a:p>
            <a:pPr algn="just"/>
            <a:r>
              <a:rPr lang="en-US" dirty="0"/>
              <a:t>The treasury department will purchase the treasury bills within the approved limits.</a:t>
            </a:r>
            <a:endParaRPr lang="en-ZM" dirty="0"/>
          </a:p>
        </p:txBody>
      </p:sp>
    </p:spTree>
    <p:extLst>
      <p:ext uri="{BB962C8B-B14F-4D97-AF65-F5344CB8AC3E}">
        <p14:creationId xmlns:p14="http://schemas.microsoft.com/office/powerpoint/2010/main" val="196516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E0653-FAFD-4C6D-B1C3-281B43E21A7F}"/>
              </a:ext>
            </a:extLst>
          </p:cNvPr>
          <p:cNvSpPr>
            <a:spLocks noGrp="1"/>
          </p:cNvSpPr>
          <p:nvPr>
            <p:ph type="title"/>
          </p:nvPr>
        </p:nvSpPr>
        <p:spPr/>
        <p:txBody>
          <a:bodyPr/>
          <a:lstStyle/>
          <a:p>
            <a:r>
              <a:rPr lang="en-US" dirty="0"/>
              <a:t>Capital Market Transactions</a:t>
            </a:r>
            <a:endParaRPr lang="en-ZM" dirty="0"/>
          </a:p>
        </p:txBody>
      </p:sp>
      <p:sp>
        <p:nvSpPr>
          <p:cNvPr id="3" name="Content Placeholder 2">
            <a:extLst>
              <a:ext uri="{FF2B5EF4-FFF2-40B4-BE49-F238E27FC236}">
                <a16:creationId xmlns:a16="http://schemas.microsoft.com/office/drawing/2014/main" id="{039E4AC1-A867-45AF-8146-B11A30415867}"/>
              </a:ext>
            </a:extLst>
          </p:cNvPr>
          <p:cNvSpPr>
            <a:spLocks noGrp="1"/>
          </p:cNvSpPr>
          <p:nvPr>
            <p:ph idx="1"/>
          </p:nvPr>
        </p:nvSpPr>
        <p:spPr/>
        <p:txBody>
          <a:bodyPr/>
          <a:lstStyle/>
          <a:p>
            <a:pPr algn="just"/>
            <a:r>
              <a:rPr lang="en-US" dirty="0"/>
              <a:t>Capital Markets these are markets where long term securities are traded. In capital Markets , long term debt and equities are traded such as bonds, equities.</a:t>
            </a:r>
          </a:p>
          <a:p>
            <a:pPr algn="just"/>
            <a:r>
              <a:rPr lang="en-US" dirty="0"/>
              <a:t>This type of market is composed of both Primary and Secondary  markets.</a:t>
            </a:r>
          </a:p>
          <a:p>
            <a:pPr algn="just"/>
            <a:r>
              <a:rPr lang="en-US" dirty="0"/>
              <a:t>Treasury department shall make the long term investments in capital market instruments like government bond, corporate bonds, preference shares  and equity shares.</a:t>
            </a:r>
          </a:p>
          <a:p>
            <a:pPr algn="just"/>
            <a:r>
              <a:rPr lang="en-US" dirty="0"/>
              <a:t>These investments should  be done through primary as well as secondary markets.</a:t>
            </a:r>
            <a:endParaRPr lang="en-ZM" dirty="0"/>
          </a:p>
        </p:txBody>
      </p:sp>
    </p:spTree>
    <p:extLst>
      <p:ext uri="{BB962C8B-B14F-4D97-AF65-F5344CB8AC3E}">
        <p14:creationId xmlns:p14="http://schemas.microsoft.com/office/powerpoint/2010/main" val="2283236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834DA-5044-47AD-93C8-FDD17DA46A23}"/>
              </a:ext>
            </a:extLst>
          </p:cNvPr>
          <p:cNvSpPr>
            <a:spLocks noGrp="1"/>
          </p:cNvSpPr>
          <p:nvPr>
            <p:ph type="title"/>
          </p:nvPr>
        </p:nvSpPr>
        <p:spPr/>
        <p:txBody>
          <a:bodyPr/>
          <a:lstStyle/>
          <a:p>
            <a:r>
              <a:rPr lang="en-US" dirty="0"/>
              <a:t>Corresponded Banking </a:t>
            </a:r>
            <a:endParaRPr lang="en-ZM" dirty="0"/>
          </a:p>
        </p:txBody>
      </p:sp>
      <p:sp>
        <p:nvSpPr>
          <p:cNvPr id="3" name="Content Placeholder 2">
            <a:extLst>
              <a:ext uri="{FF2B5EF4-FFF2-40B4-BE49-F238E27FC236}">
                <a16:creationId xmlns:a16="http://schemas.microsoft.com/office/drawing/2014/main" id="{0DEAEE2C-6435-4583-BC21-FF6201FA4C9B}"/>
              </a:ext>
            </a:extLst>
          </p:cNvPr>
          <p:cNvSpPr>
            <a:spLocks noGrp="1"/>
          </p:cNvSpPr>
          <p:nvPr>
            <p:ph idx="1"/>
          </p:nvPr>
        </p:nvSpPr>
        <p:spPr/>
        <p:txBody>
          <a:bodyPr>
            <a:normAutofit fontScale="92500" lnSpcReduction="10000"/>
          </a:bodyPr>
          <a:lstStyle/>
          <a:p>
            <a:r>
              <a:rPr lang="en-US" dirty="0"/>
              <a:t>Corresponce Banking refers to a banking relationship between two banks, where one bank provides banking services to another bank, allowing  the respondent banks to access services in foreign markets. Situations in which used:</a:t>
            </a:r>
          </a:p>
          <a:p>
            <a:pPr marL="514350" indent="-514350">
              <a:buAutoNum type="arabicPeriod"/>
            </a:pPr>
            <a:r>
              <a:rPr lang="en-US" dirty="0"/>
              <a:t>International payment</a:t>
            </a:r>
          </a:p>
          <a:p>
            <a:pPr marL="514350" indent="-514350">
              <a:buAutoNum type="arabicPeriod"/>
            </a:pPr>
            <a:r>
              <a:rPr lang="en-US" dirty="0"/>
              <a:t>Trade finance-LC BGs</a:t>
            </a:r>
          </a:p>
          <a:p>
            <a:pPr marL="514350" indent="-514350">
              <a:buAutoNum type="arabicPeriod"/>
            </a:pPr>
            <a:r>
              <a:rPr lang="en-US" dirty="0"/>
              <a:t>Foreign currency Transactions</a:t>
            </a:r>
          </a:p>
          <a:p>
            <a:pPr marL="514350" indent="-514350">
              <a:buAutoNum type="arabicPeriod"/>
            </a:pPr>
            <a:r>
              <a:rPr lang="en-US" dirty="0"/>
              <a:t>Clearing services</a:t>
            </a:r>
          </a:p>
          <a:p>
            <a:pPr marL="514350" indent="-514350">
              <a:buAutoNum type="arabicPeriod"/>
            </a:pPr>
            <a:r>
              <a:rPr lang="en-US" dirty="0"/>
              <a:t>Access to Financial Markets-Expansion of Business</a:t>
            </a:r>
          </a:p>
          <a:p>
            <a:pPr marL="514350" indent="-514350">
              <a:buAutoNum type="arabicPeriod"/>
            </a:pPr>
            <a:r>
              <a:rPr lang="en-US" dirty="0"/>
              <a:t>Risk Mitigation- Risk associated with international transactions such as compliance with local Laws.</a:t>
            </a:r>
          </a:p>
          <a:p>
            <a:pPr marL="514350" indent="-514350">
              <a:buAutoNum type="arabicPeriod"/>
            </a:pPr>
            <a:endParaRPr lang="en-ZM" dirty="0"/>
          </a:p>
        </p:txBody>
      </p:sp>
    </p:spTree>
    <p:extLst>
      <p:ext uri="{BB962C8B-B14F-4D97-AF65-F5344CB8AC3E}">
        <p14:creationId xmlns:p14="http://schemas.microsoft.com/office/powerpoint/2010/main" val="196283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B4DAC-6335-49E7-8D91-691E5BC832CE}"/>
              </a:ext>
            </a:extLst>
          </p:cNvPr>
          <p:cNvSpPr>
            <a:spLocks noGrp="1"/>
          </p:cNvSpPr>
          <p:nvPr>
            <p:ph type="title"/>
          </p:nvPr>
        </p:nvSpPr>
        <p:spPr/>
        <p:txBody>
          <a:bodyPr/>
          <a:lstStyle/>
          <a:p>
            <a:r>
              <a:rPr lang="en-US" dirty="0"/>
              <a:t>Foreign Exchange Management</a:t>
            </a:r>
            <a:endParaRPr lang="en-ZM" dirty="0"/>
          </a:p>
        </p:txBody>
      </p:sp>
      <p:sp>
        <p:nvSpPr>
          <p:cNvPr id="3" name="Content Placeholder 2">
            <a:extLst>
              <a:ext uri="{FF2B5EF4-FFF2-40B4-BE49-F238E27FC236}">
                <a16:creationId xmlns:a16="http://schemas.microsoft.com/office/drawing/2014/main" id="{A999C915-52C1-4FB6-8B79-55F1620E2F0B}"/>
              </a:ext>
            </a:extLst>
          </p:cNvPr>
          <p:cNvSpPr>
            <a:spLocks noGrp="1"/>
          </p:cNvSpPr>
          <p:nvPr>
            <p:ph idx="1"/>
          </p:nvPr>
        </p:nvSpPr>
        <p:spPr/>
        <p:txBody>
          <a:bodyPr/>
          <a:lstStyle/>
          <a:p>
            <a:r>
              <a:rPr lang="en-US" dirty="0"/>
              <a:t>The foreign exchange market or forex market as it is often called is the market in which currencies are traded.</a:t>
            </a:r>
          </a:p>
          <a:p>
            <a:r>
              <a:rPr lang="en-US" dirty="0"/>
              <a:t>This is because the value of one currency is determined by comparison to another currency.</a:t>
            </a:r>
          </a:p>
          <a:p>
            <a:r>
              <a:rPr lang="en-US" dirty="0"/>
              <a:t>The first currency of a currency pair is called the Base Currency, while the second currency is called the quote currency. EUR/USD = 1.1286, here EUR is base currency and USD is quote currency and this  quote implies EUR is 1 and USD 1.1286.</a:t>
            </a:r>
          </a:p>
          <a:p>
            <a:r>
              <a:rPr lang="en-US" dirty="0"/>
              <a:t>The currency pair shows how much of the counter currency is needed to purchase one unit of the base currency.</a:t>
            </a:r>
            <a:endParaRPr lang="en-ZM" dirty="0"/>
          </a:p>
        </p:txBody>
      </p:sp>
    </p:spTree>
    <p:extLst>
      <p:ext uri="{BB962C8B-B14F-4D97-AF65-F5344CB8AC3E}">
        <p14:creationId xmlns:p14="http://schemas.microsoft.com/office/powerpoint/2010/main" val="401101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BC670-B16C-4DFD-B41B-EFE5D0E07134}"/>
              </a:ext>
            </a:extLst>
          </p:cNvPr>
          <p:cNvSpPr>
            <a:spLocks noGrp="1"/>
          </p:cNvSpPr>
          <p:nvPr>
            <p:ph type="title"/>
          </p:nvPr>
        </p:nvSpPr>
        <p:spPr/>
        <p:txBody>
          <a:bodyPr/>
          <a:lstStyle/>
          <a:p>
            <a:pPr algn="ctr"/>
            <a:r>
              <a:rPr lang="en-US" b="1" dirty="0"/>
              <a:t>Rate Determination</a:t>
            </a:r>
            <a:endParaRPr lang="en-ZM" b="1" dirty="0"/>
          </a:p>
        </p:txBody>
      </p:sp>
      <p:sp>
        <p:nvSpPr>
          <p:cNvPr id="3" name="Content Placeholder 2">
            <a:extLst>
              <a:ext uri="{FF2B5EF4-FFF2-40B4-BE49-F238E27FC236}">
                <a16:creationId xmlns:a16="http://schemas.microsoft.com/office/drawing/2014/main" id="{2D50BFD9-1FA5-47C1-AED7-CD473ECC6E84}"/>
              </a:ext>
            </a:extLst>
          </p:cNvPr>
          <p:cNvSpPr>
            <a:spLocks noGrp="1"/>
          </p:cNvSpPr>
          <p:nvPr>
            <p:ph idx="1"/>
          </p:nvPr>
        </p:nvSpPr>
        <p:spPr/>
        <p:txBody>
          <a:bodyPr>
            <a:normAutofit fontScale="92500"/>
          </a:bodyPr>
          <a:lstStyle/>
          <a:p>
            <a:r>
              <a:rPr lang="en-US" dirty="0"/>
              <a:t>Treasury should use two way pricing system to publish rates.</a:t>
            </a:r>
          </a:p>
          <a:p>
            <a:r>
              <a:rPr lang="en-US" dirty="0"/>
              <a:t>Normally, price is determined freely on the basis of the market forces of demand and supply</a:t>
            </a:r>
          </a:p>
          <a:p>
            <a:r>
              <a:rPr lang="en-US" dirty="0"/>
              <a:t>Dealers are responsible for issuing daily exchange rates of each convertible foreign currency.</a:t>
            </a:r>
          </a:p>
          <a:p>
            <a:r>
              <a:rPr lang="en-US" dirty="0"/>
              <a:t>These are fixed against Zambian kwacha at the start of the business day</a:t>
            </a:r>
          </a:p>
          <a:p>
            <a:r>
              <a:rPr lang="en-US" dirty="0"/>
              <a:t>The spread of buying and selling rate would be as determined  by the  authority</a:t>
            </a:r>
          </a:p>
          <a:p>
            <a:r>
              <a:rPr lang="en-US" dirty="0"/>
              <a:t>Dealers will issue revised rates during the business hours if market conditions change significantly.</a:t>
            </a:r>
            <a:endParaRPr lang="en-ZM" dirty="0"/>
          </a:p>
        </p:txBody>
      </p:sp>
    </p:spTree>
    <p:extLst>
      <p:ext uri="{BB962C8B-B14F-4D97-AF65-F5344CB8AC3E}">
        <p14:creationId xmlns:p14="http://schemas.microsoft.com/office/powerpoint/2010/main" val="722320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1202D-9ADC-4B0A-B080-6AAE1F0CB6A2}"/>
              </a:ext>
            </a:extLst>
          </p:cNvPr>
          <p:cNvSpPr>
            <a:spLocks noGrp="1"/>
          </p:cNvSpPr>
          <p:nvPr>
            <p:ph type="title"/>
          </p:nvPr>
        </p:nvSpPr>
        <p:spPr/>
        <p:txBody>
          <a:bodyPr/>
          <a:lstStyle/>
          <a:p>
            <a:pPr algn="ctr"/>
            <a:r>
              <a:rPr lang="en-US" dirty="0"/>
              <a:t>Principles of TM</a:t>
            </a:r>
            <a:endParaRPr lang="en-ZM" dirty="0"/>
          </a:p>
        </p:txBody>
      </p:sp>
      <p:sp>
        <p:nvSpPr>
          <p:cNvPr id="3" name="Content Placeholder 2">
            <a:extLst>
              <a:ext uri="{FF2B5EF4-FFF2-40B4-BE49-F238E27FC236}">
                <a16:creationId xmlns:a16="http://schemas.microsoft.com/office/drawing/2014/main" id="{CEBD9808-3ECC-4ABE-A61E-7B3D5B63146E}"/>
              </a:ext>
            </a:extLst>
          </p:cNvPr>
          <p:cNvSpPr>
            <a:spLocks noGrp="1"/>
          </p:cNvSpPr>
          <p:nvPr>
            <p:ph idx="1"/>
          </p:nvPr>
        </p:nvSpPr>
        <p:spPr/>
        <p:txBody>
          <a:bodyPr/>
          <a:lstStyle/>
          <a:p>
            <a:r>
              <a:rPr lang="en-US" dirty="0"/>
              <a:t>Principles of security</a:t>
            </a:r>
          </a:p>
          <a:p>
            <a:r>
              <a:rPr lang="en-US" dirty="0"/>
              <a:t>Principles of Liquidity</a:t>
            </a:r>
          </a:p>
          <a:p>
            <a:r>
              <a:rPr lang="en-US" dirty="0"/>
              <a:t>Principles of Profitability</a:t>
            </a:r>
          </a:p>
          <a:p>
            <a:r>
              <a:rPr lang="en-US" dirty="0"/>
              <a:t>Principles of Portfolio</a:t>
            </a:r>
            <a:endParaRPr lang="en-ZM" dirty="0"/>
          </a:p>
        </p:txBody>
      </p:sp>
    </p:spTree>
    <p:extLst>
      <p:ext uri="{BB962C8B-B14F-4D97-AF65-F5344CB8AC3E}">
        <p14:creationId xmlns:p14="http://schemas.microsoft.com/office/powerpoint/2010/main" val="338109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9A315-6E14-473B-A621-F3DAD4A3975B}"/>
              </a:ext>
            </a:extLst>
          </p:cNvPr>
          <p:cNvSpPr>
            <a:spLocks noGrp="1"/>
          </p:cNvSpPr>
          <p:nvPr>
            <p:ph type="title"/>
          </p:nvPr>
        </p:nvSpPr>
        <p:spPr/>
        <p:txBody>
          <a:bodyPr/>
          <a:lstStyle/>
          <a:p>
            <a:pPr algn="ctr"/>
            <a:r>
              <a:rPr lang="en-US" b="1" dirty="0"/>
              <a:t>Principles of Security</a:t>
            </a:r>
            <a:endParaRPr lang="en-ZM" b="1" dirty="0"/>
          </a:p>
        </p:txBody>
      </p:sp>
      <p:sp>
        <p:nvSpPr>
          <p:cNvPr id="3" name="Content Placeholder 2">
            <a:extLst>
              <a:ext uri="{FF2B5EF4-FFF2-40B4-BE49-F238E27FC236}">
                <a16:creationId xmlns:a16="http://schemas.microsoft.com/office/drawing/2014/main" id="{A190EDD3-82B3-48DA-96BF-16FC23CCB03B}"/>
              </a:ext>
            </a:extLst>
          </p:cNvPr>
          <p:cNvSpPr>
            <a:spLocks noGrp="1"/>
          </p:cNvSpPr>
          <p:nvPr>
            <p:ph idx="1"/>
          </p:nvPr>
        </p:nvSpPr>
        <p:spPr/>
        <p:txBody>
          <a:bodyPr/>
          <a:lstStyle/>
          <a:p>
            <a:r>
              <a:rPr lang="en-US" dirty="0"/>
              <a:t>The banks should invest the investible  funds in </a:t>
            </a:r>
            <a:r>
              <a:rPr lang="en-US" dirty="0">
                <a:highlight>
                  <a:srgbClr val="FFFF00"/>
                </a:highlight>
              </a:rPr>
              <a:t>safe</a:t>
            </a:r>
            <a:r>
              <a:rPr lang="en-US" dirty="0"/>
              <a:t> or secure areas in which default risk will be minimum.</a:t>
            </a:r>
          </a:p>
          <a:p>
            <a:r>
              <a:rPr lang="en-US" dirty="0"/>
              <a:t>Because banks should refund the peoples money at their demand or after certain periods of time mentioned in the contract</a:t>
            </a:r>
            <a:endParaRPr lang="en-ZM" dirty="0"/>
          </a:p>
        </p:txBody>
      </p:sp>
    </p:spTree>
    <p:extLst>
      <p:ext uri="{BB962C8B-B14F-4D97-AF65-F5344CB8AC3E}">
        <p14:creationId xmlns:p14="http://schemas.microsoft.com/office/powerpoint/2010/main" val="1775538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E0E91-9227-4DEB-A83D-7B81EB714BC4}"/>
              </a:ext>
            </a:extLst>
          </p:cNvPr>
          <p:cNvSpPr>
            <a:spLocks noGrp="1"/>
          </p:cNvSpPr>
          <p:nvPr>
            <p:ph type="title"/>
          </p:nvPr>
        </p:nvSpPr>
        <p:spPr/>
        <p:txBody>
          <a:bodyPr/>
          <a:lstStyle/>
          <a:p>
            <a:r>
              <a:rPr lang="en-US" dirty="0"/>
              <a:t>Principles of Liquidity</a:t>
            </a:r>
            <a:endParaRPr lang="en-ZM" dirty="0"/>
          </a:p>
        </p:txBody>
      </p:sp>
      <p:sp>
        <p:nvSpPr>
          <p:cNvPr id="3" name="Content Placeholder 2">
            <a:extLst>
              <a:ext uri="{FF2B5EF4-FFF2-40B4-BE49-F238E27FC236}">
                <a16:creationId xmlns:a16="http://schemas.microsoft.com/office/drawing/2014/main" id="{848BE68B-7E6F-4A3B-BF48-A34F6B60C42D}"/>
              </a:ext>
            </a:extLst>
          </p:cNvPr>
          <p:cNvSpPr>
            <a:spLocks noGrp="1"/>
          </p:cNvSpPr>
          <p:nvPr>
            <p:ph idx="1"/>
          </p:nvPr>
        </p:nvSpPr>
        <p:spPr/>
        <p:txBody>
          <a:bodyPr/>
          <a:lstStyle/>
          <a:p>
            <a:r>
              <a:rPr lang="en-US" dirty="0"/>
              <a:t>The basic objective of liquidity management is to maintain adequate level of liquidity to meet  borrower and depositors demands.</a:t>
            </a:r>
          </a:p>
          <a:p>
            <a:r>
              <a:rPr lang="en-US" dirty="0"/>
              <a:t>The bank will create such assets which can be liquidated when required.</a:t>
            </a:r>
            <a:endParaRPr lang="en-ZM" dirty="0"/>
          </a:p>
        </p:txBody>
      </p:sp>
    </p:spTree>
    <p:extLst>
      <p:ext uri="{BB962C8B-B14F-4D97-AF65-F5344CB8AC3E}">
        <p14:creationId xmlns:p14="http://schemas.microsoft.com/office/powerpoint/2010/main" val="864296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62211-5545-49AB-883B-EA91EAEA61AE}"/>
              </a:ext>
            </a:extLst>
          </p:cNvPr>
          <p:cNvSpPr>
            <a:spLocks noGrp="1"/>
          </p:cNvSpPr>
          <p:nvPr>
            <p:ph type="title"/>
          </p:nvPr>
        </p:nvSpPr>
        <p:spPr/>
        <p:txBody>
          <a:bodyPr/>
          <a:lstStyle/>
          <a:p>
            <a:r>
              <a:rPr lang="en-US" dirty="0"/>
              <a:t>PRINCIPLE OF PROFITABILITY</a:t>
            </a:r>
            <a:endParaRPr lang="en-ZM" dirty="0"/>
          </a:p>
        </p:txBody>
      </p:sp>
      <p:sp>
        <p:nvSpPr>
          <p:cNvPr id="3" name="Content Placeholder 2">
            <a:extLst>
              <a:ext uri="{FF2B5EF4-FFF2-40B4-BE49-F238E27FC236}">
                <a16:creationId xmlns:a16="http://schemas.microsoft.com/office/drawing/2014/main" id="{B17820C9-BB52-494F-85D0-0920DB1F8306}"/>
              </a:ext>
            </a:extLst>
          </p:cNvPr>
          <p:cNvSpPr>
            <a:spLocks noGrp="1"/>
          </p:cNvSpPr>
          <p:nvPr>
            <p:ph idx="1"/>
          </p:nvPr>
        </p:nvSpPr>
        <p:spPr/>
        <p:txBody>
          <a:bodyPr/>
          <a:lstStyle/>
          <a:p>
            <a:r>
              <a:rPr lang="en-US" dirty="0"/>
              <a:t>The investment made by banks should provide the maximum returns possible</a:t>
            </a:r>
          </a:p>
          <a:p>
            <a:r>
              <a:rPr lang="en-US" dirty="0"/>
              <a:t>Banks main objective is to maximize profit since it is profit making business.</a:t>
            </a:r>
            <a:endParaRPr lang="en-ZM" dirty="0"/>
          </a:p>
        </p:txBody>
      </p:sp>
    </p:spTree>
    <p:extLst>
      <p:ext uri="{BB962C8B-B14F-4D97-AF65-F5344CB8AC3E}">
        <p14:creationId xmlns:p14="http://schemas.microsoft.com/office/powerpoint/2010/main" val="1861772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4CEE6-82D6-4DB9-ADEB-5FBBFFB0F57C}"/>
              </a:ext>
            </a:extLst>
          </p:cNvPr>
          <p:cNvSpPr>
            <a:spLocks noGrp="1"/>
          </p:cNvSpPr>
          <p:nvPr>
            <p:ph type="title"/>
          </p:nvPr>
        </p:nvSpPr>
        <p:spPr/>
        <p:txBody>
          <a:bodyPr/>
          <a:lstStyle/>
          <a:p>
            <a:r>
              <a:rPr lang="en-US" dirty="0"/>
              <a:t>Principle of portfolio</a:t>
            </a:r>
            <a:endParaRPr lang="en-ZM" dirty="0"/>
          </a:p>
        </p:txBody>
      </p:sp>
      <p:sp>
        <p:nvSpPr>
          <p:cNvPr id="3" name="Content Placeholder 2">
            <a:extLst>
              <a:ext uri="{FF2B5EF4-FFF2-40B4-BE49-F238E27FC236}">
                <a16:creationId xmlns:a16="http://schemas.microsoft.com/office/drawing/2014/main" id="{5F3896D2-1196-4125-9D49-11B24398C55E}"/>
              </a:ext>
            </a:extLst>
          </p:cNvPr>
          <p:cNvSpPr>
            <a:spLocks noGrp="1"/>
          </p:cNvSpPr>
          <p:nvPr>
            <p:ph idx="1"/>
          </p:nvPr>
        </p:nvSpPr>
        <p:spPr/>
        <p:txBody>
          <a:bodyPr/>
          <a:lstStyle/>
          <a:p>
            <a:r>
              <a:rPr lang="en-US" dirty="0"/>
              <a:t>Portfolio is the combination of investments in two or more than two financial assets.</a:t>
            </a:r>
          </a:p>
          <a:p>
            <a:r>
              <a:rPr lang="en-US" dirty="0"/>
              <a:t>The objective of the portfolio is to maximize the risk or diversification of risk</a:t>
            </a:r>
          </a:p>
          <a:p>
            <a:r>
              <a:rPr lang="en-US" dirty="0"/>
              <a:t>The treasury department should invest in the portfolio of various assets with the objective of the risk mitigation.</a:t>
            </a:r>
            <a:endParaRPr lang="en-ZM" dirty="0"/>
          </a:p>
        </p:txBody>
      </p:sp>
    </p:spTree>
    <p:extLst>
      <p:ext uri="{BB962C8B-B14F-4D97-AF65-F5344CB8AC3E}">
        <p14:creationId xmlns:p14="http://schemas.microsoft.com/office/powerpoint/2010/main" val="3568725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E51DD-E9A9-4C79-9D7B-53D8E3B95D98}"/>
              </a:ext>
            </a:extLst>
          </p:cNvPr>
          <p:cNvSpPr>
            <a:spLocks noGrp="1"/>
          </p:cNvSpPr>
          <p:nvPr>
            <p:ph type="title"/>
          </p:nvPr>
        </p:nvSpPr>
        <p:spPr/>
        <p:txBody>
          <a:bodyPr/>
          <a:lstStyle/>
          <a:p>
            <a:pPr algn="ctr"/>
            <a:r>
              <a:rPr lang="en-US" b="1" dirty="0"/>
              <a:t>Roles and Function of TM</a:t>
            </a:r>
            <a:endParaRPr lang="en-ZM" b="1" dirty="0"/>
          </a:p>
        </p:txBody>
      </p:sp>
      <p:sp>
        <p:nvSpPr>
          <p:cNvPr id="3" name="Content Placeholder 2">
            <a:extLst>
              <a:ext uri="{FF2B5EF4-FFF2-40B4-BE49-F238E27FC236}">
                <a16:creationId xmlns:a16="http://schemas.microsoft.com/office/drawing/2014/main" id="{5ED90B19-5B1A-4E63-A92F-193E2209879B}"/>
              </a:ext>
            </a:extLst>
          </p:cNvPr>
          <p:cNvSpPr>
            <a:spLocks noGrp="1"/>
          </p:cNvSpPr>
          <p:nvPr>
            <p:ph idx="1"/>
          </p:nvPr>
        </p:nvSpPr>
        <p:spPr/>
        <p:txBody>
          <a:bodyPr>
            <a:normAutofit fontScale="92500" lnSpcReduction="20000"/>
          </a:bodyPr>
          <a:lstStyle/>
          <a:p>
            <a:r>
              <a:rPr lang="en-US" dirty="0"/>
              <a:t>Cash forecasting </a:t>
            </a:r>
          </a:p>
          <a:p>
            <a:r>
              <a:rPr lang="en-US" dirty="0"/>
              <a:t>Working capital Management</a:t>
            </a:r>
          </a:p>
          <a:p>
            <a:r>
              <a:rPr lang="en-US" dirty="0"/>
              <a:t>Cash Management</a:t>
            </a:r>
          </a:p>
          <a:p>
            <a:r>
              <a:rPr lang="en-US" dirty="0"/>
              <a:t>Investment Management</a:t>
            </a:r>
          </a:p>
          <a:p>
            <a:r>
              <a:rPr lang="en-US" dirty="0"/>
              <a:t>Treasury risk Management</a:t>
            </a:r>
          </a:p>
          <a:p>
            <a:r>
              <a:rPr lang="en-US" dirty="0"/>
              <a:t>Management advise</a:t>
            </a:r>
          </a:p>
          <a:p>
            <a:r>
              <a:rPr lang="en-US" dirty="0"/>
              <a:t>Credit Rating Agency Relationship</a:t>
            </a:r>
          </a:p>
          <a:p>
            <a:r>
              <a:rPr lang="en-US" dirty="0"/>
              <a:t>Bank relationships</a:t>
            </a:r>
          </a:p>
          <a:p>
            <a:r>
              <a:rPr lang="en-US" dirty="0"/>
              <a:t>Fund raising</a:t>
            </a:r>
          </a:p>
          <a:p>
            <a:r>
              <a:rPr lang="en-US" dirty="0"/>
              <a:t> Credit granting</a:t>
            </a:r>
          </a:p>
          <a:p>
            <a:endParaRPr lang="en-ZM" dirty="0"/>
          </a:p>
        </p:txBody>
      </p:sp>
    </p:spTree>
    <p:extLst>
      <p:ext uri="{BB962C8B-B14F-4D97-AF65-F5344CB8AC3E}">
        <p14:creationId xmlns:p14="http://schemas.microsoft.com/office/powerpoint/2010/main" val="2724896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1ED04-43BF-463A-8845-8AE8C3ECC07E}"/>
              </a:ext>
            </a:extLst>
          </p:cNvPr>
          <p:cNvSpPr>
            <a:spLocks noGrp="1"/>
          </p:cNvSpPr>
          <p:nvPr>
            <p:ph type="title"/>
          </p:nvPr>
        </p:nvSpPr>
        <p:spPr/>
        <p:txBody>
          <a:bodyPr/>
          <a:lstStyle/>
          <a:p>
            <a:r>
              <a:rPr lang="en-US" dirty="0"/>
              <a:t>Cash forecasting</a:t>
            </a:r>
            <a:endParaRPr lang="en-ZM" dirty="0"/>
          </a:p>
        </p:txBody>
      </p:sp>
      <p:sp>
        <p:nvSpPr>
          <p:cNvPr id="3" name="Content Placeholder 2">
            <a:extLst>
              <a:ext uri="{FF2B5EF4-FFF2-40B4-BE49-F238E27FC236}">
                <a16:creationId xmlns:a16="http://schemas.microsoft.com/office/drawing/2014/main" id="{6F11FC26-830B-49AE-AAD5-1218E269CF98}"/>
              </a:ext>
            </a:extLst>
          </p:cNvPr>
          <p:cNvSpPr>
            <a:spLocks noGrp="1"/>
          </p:cNvSpPr>
          <p:nvPr>
            <p:ph idx="1"/>
          </p:nvPr>
        </p:nvSpPr>
        <p:spPr/>
        <p:txBody>
          <a:bodyPr/>
          <a:lstStyle/>
          <a:p>
            <a:r>
              <a:rPr lang="en-US" dirty="0"/>
              <a:t>The accounting staffs generally handles the receipt and disbursement of cash, but the treasury staffs need to compile this information for short term and long term forecasts.</a:t>
            </a:r>
          </a:p>
          <a:p>
            <a:r>
              <a:rPr lang="en-US" dirty="0"/>
              <a:t>These forecasts are needed for investments purposes, so the staffs can plan to use investments vehicles  that are of the correct durations to match scheduled cash outflows.</a:t>
            </a:r>
          </a:p>
          <a:p>
            <a:r>
              <a:rPr lang="en-US" dirty="0"/>
              <a:t>The staff also uses the forecasts to determine when more cash is  needed, so that it can plan to acquire funds either through the use of debt or equity.</a:t>
            </a:r>
            <a:endParaRPr lang="en-ZM" dirty="0"/>
          </a:p>
        </p:txBody>
      </p:sp>
    </p:spTree>
    <p:extLst>
      <p:ext uri="{BB962C8B-B14F-4D97-AF65-F5344CB8AC3E}">
        <p14:creationId xmlns:p14="http://schemas.microsoft.com/office/powerpoint/2010/main" val="3867616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17F96-1EEF-4667-8EEB-08B8704CEAFF}"/>
              </a:ext>
            </a:extLst>
          </p:cNvPr>
          <p:cNvSpPr>
            <a:spLocks noGrp="1"/>
          </p:cNvSpPr>
          <p:nvPr>
            <p:ph type="title"/>
          </p:nvPr>
        </p:nvSpPr>
        <p:spPr/>
        <p:txBody>
          <a:bodyPr/>
          <a:lstStyle/>
          <a:p>
            <a:pPr algn="ctr"/>
            <a:r>
              <a:rPr lang="en-US" b="1" dirty="0"/>
              <a:t>Working Capital Management</a:t>
            </a:r>
            <a:endParaRPr lang="en-ZM" b="1" dirty="0"/>
          </a:p>
        </p:txBody>
      </p:sp>
      <p:sp>
        <p:nvSpPr>
          <p:cNvPr id="3" name="Content Placeholder 2">
            <a:extLst>
              <a:ext uri="{FF2B5EF4-FFF2-40B4-BE49-F238E27FC236}">
                <a16:creationId xmlns:a16="http://schemas.microsoft.com/office/drawing/2014/main" id="{43B5FD5D-6F88-4CF2-A0B2-BBF4C2812DF1}"/>
              </a:ext>
            </a:extLst>
          </p:cNvPr>
          <p:cNvSpPr>
            <a:spLocks noGrp="1"/>
          </p:cNvSpPr>
          <p:nvPr>
            <p:ph idx="1"/>
          </p:nvPr>
        </p:nvSpPr>
        <p:spPr/>
        <p:txBody>
          <a:bodyPr/>
          <a:lstStyle/>
          <a:p>
            <a:r>
              <a:rPr lang="en-US" dirty="0"/>
              <a:t>This involves managing the day to day operations of an organization, including, the management of accounts payable and receivable, inventory level and  other short term assets and liabilities.</a:t>
            </a:r>
          </a:p>
          <a:p>
            <a:r>
              <a:rPr lang="en-US" dirty="0"/>
              <a:t>The treasurer should be aware of working capital levels and trends and advise management on the impact of proposed policy changes on working  capital level.</a:t>
            </a:r>
            <a:endParaRPr lang="en-ZM" dirty="0"/>
          </a:p>
        </p:txBody>
      </p:sp>
    </p:spTree>
    <p:extLst>
      <p:ext uri="{BB962C8B-B14F-4D97-AF65-F5344CB8AC3E}">
        <p14:creationId xmlns:p14="http://schemas.microsoft.com/office/powerpoint/2010/main" val="1970424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42282-871F-4EE1-977D-1288AD58D80C}"/>
              </a:ext>
            </a:extLst>
          </p:cNvPr>
          <p:cNvSpPr>
            <a:spLocks noGrp="1"/>
          </p:cNvSpPr>
          <p:nvPr>
            <p:ph type="title"/>
          </p:nvPr>
        </p:nvSpPr>
        <p:spPr/>
        <p:txBody>
          <a:bodyPr/>
          <a:lstStyle/>
          <a:p>
            <a:pPr algn="ctr"/>
            <a:r>
              <a:rPr lang="en-US" b="1" dirty="0"/>
              <a:t>Cash Management</a:t>
            </a:r>
            <a:endParaRPr lang="en-ZM" b="1" dirty="0"/>
          </a:p>
        </p:txBody>
      </p:sp>
      <p:sp>
        <p:nvSpPr>
          <p:cNvPr id="3" name="Content Placeholder 2">
            <a:extLst>
              <a:ext uri="{FF2B5EF4-FFF2-40B4-BE49-F238E27FC236}">
                <a16:creationId xmlns:a16="http://schemas.microsoft.com/office/drawing/2014/main" id="{C5B024EE-6736-4641-832A-85BB0B258D5D}"/>
              </a:ext>
            </a:extLst>
          </p:cNvPr>
          <p:cNvSpPr>
            <a:spLocks noGrp="1"/>
          </p:cNvSpPr>
          <p:nvPr>
            <p:ph idx="1"/>
          </p:nvPr>
        </p:nvSpPr>
        <p:spPr/>
        <p:txBody>
          <a:bodyPr/>
          <a:lstStyle/>
          <a:p>
            <a:pPr algn="just"/>
            <a:r>
              <a:rPr lang="en-US" dirty="0"/>
              <a:t>This involves forecasting cash flows, managing  bank relationships, and  making investment decisions to optimize the use of cash resources.</a:t>
            </a:r>
          </a:p>
          <a:p>
            <a:pPr algn="just"/>
            <a:r>
              <a:rPr lang="en-US" dirty="0"/>
              <a:t>The treasury staff uses the information it obtained from its cash forecasting and working capital management activities to ensure that sufficient cash is available for operations needs.</a:t>
            </a:r>
            <a:endParaRPr lang="en-ZM" dirty="0"/>
          </a:p>
        </p:txBody>
      </p:sp>
    </p:spTree>
    <p:extLst>
      <p:ext uri="{BB962C8B-B14F-4D97-AF65-F5344CB8AC3E}">
        <p14:creationId xmlns:p14="http://schemas.microsoft.com/office/powerpoint/2010/main" val="1942254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941CB-BAE0-462A-8D91-CBAB75BC33F0}"/>
              </a:ext>
            </a:extLst>
          </p:cNvPr>
          <p:cNvSpPr>
            <a:spLocks noGrp="1"/>
          </p:cNvSpPr>
          <p:nvPr>
            <p:ph type="title"/>
          </p:nvPr>
        </p:nvSpPr>
        <p:spPr/>
        <p:txBody>
          <a:bodyPr/>
          <a:lstStyle/>
          <a:p>
            <a:r>
              <a:rPr lang="en-US" dirty="0"/>
              <a:t>Investment Management</a:t>
            </a:r>
            <a:endParaRPr lang="en-ZM" dirty="0"/>
          </a:p>
        </p:txBody>
      </p:sp>
      <p:sp>
        <p:nvSpPr>
          <p:cNvPr id="3" name="Content Placeholder 2">
            <a:extLst>
              <a:ext uri="{FF2B5EF4-FFF2-40B4-BE49-F238E27FC236}">
                <a16:creationId xmlns:a16="http://schemas.microsoft.com/office/drawing/2014/main" id="{2C5AF0CF-F776-4812-B07E-2CC7C994186B}"/>
              </a:ext>
            </a:extLst>
          </p:cNvPr>
          <p:cNvSpPr>
            <a:spLocks noGrp="1"/>
          </p:cNvSpPr>
          <p:nvPr>
            <p:ph idx="1"/>
          </p:nvPr>
        </p:nvSpPr>
        <p:spPr/>
        <p:txBody>
          <a:bodyPr/>
          <a:lstStyle/>
          <a:p>
            <a:r>
              <a:rPr lang="en-US" dirty="0"/>
              <a:t>The treasury staff is responsible for the proper investment of excess funds.</a:t>
            </a:r>
          </a:p>
          <a:p>
            <a:r>
              <a:rPr lang="en-US" dirty="0"/>
              <a:t>The maximum return on investments of these funds is </a:t>
            </a:r>
            <a:r>
              <a:rPr lang="en-US" dirty="0" err="1"/>
              <a:t>reraly</a:t>
            </a:r>
            <a:r>
              <a:rPr lang="en-US" dirty="0"/>
              <a:t> the primary goal.</a:t>
            </a:r>
          </a:p>
          <a:p>
            <a:r>
              <a:rPr lang="en-US" dirty="0"/>
              <a:t>Instead, it is much more important to not put funds at risk and also to match the maturity dates of investment with a company projected cash needs</a:t>
            </a:r>
            <a:endParaRPr lang="en-ZM" dirty="0"/>
          </a:p>
        </p:txBody>
      </p:sp>
    </p:spTree>
    <p:extLst>
      <p:ext uri="{BB962C8B-B14F-4D97-AF65-F5344CB8AC3E}">
        <p14:creationId xmlns:p14="http://schemas.microsoft.com/office/powerpoint/2010/main" val="3948301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C6F1F-579E-4A72-B988-B0A91BC399A7}"/>
              </a:ext>
            </a:extLst>
          </p:cNvPr>
          <p:cNvSpPr>
            <a:spLocks noGrp="1"/>
          </p:cNvSpPr>
          <p:nvPr>
            <p:ph type="title"/>
          </p:nvPr>
        </p:nvSpPr>
        <p:spPr/>
        <p:txBody>
          <a:bodyPr/>
          <a:lstStyle/>
          <a:p>
            <a:pPr algn="ctr"/>
            <a:r>
              <a:rPr lang="en-US" b="1" dirty="0"/>
              <a:t>Treasury  Risk Management</a:t>
            </a:r>
            <a:endParaRPr lang="en-ZM" b="1" dirty="0"/>
          </a:p>
        </p:txBody>
      </p:sp>
      <p:sp>
        <p:nvSpPr>
          <p:cNvPr id="3" name="Content Placeholder 2">
            <a:extLst>
              <a:ext uri="{FF2B5EF4-FFF2-40B4-BE49-F238E27FC236}">
                <a16:creationId xmlns:a16="http://schemas.microsoft.com/office/drawing/2014/main" id="{D86D5621-934D-4036-9F45-209EA4A3E1F2}"/>
              </a:ext>
            </a:extLst>
          </p:cNvPr>
          <p:cNvSpPr>
            <a:spLocks noGrp="1"/>
          </p:cNvSpPr>
          <p:nvPr>
            <p:ph idx="1"/>
          </p:nvPr>
        </p:nvSpPr>
        <p:spPr/>
        <p:txBody>
          <a:bodyPr/>
          <a:lstStyle/>
          <a:p>
            <a:r>
              <a:rPr lang="en-US" dirty="0"/>
              <a:t>The interest rates that a company pays on its debt obligations may vary directly with the market rates, which present a problem if market rates are rising.</a:t>
            </a:r>
          </a:p>
          <a:p>
            <a:r>
              <a:rPr lang="en-US" dirty="0"/>
              <a:t>A company’s foreign exchange positions could also be at risk if exchange  rates suddenly worsen</a:t>
            </a:r>
          </a:p>
          <a:p>
            <a:r>
              <a:rPr lang="en-US" dirty="0"/>
              <a:t>In both cases, the treasury staff can create risk management strategies and implement hedging tactics to mitigate the  company risk</a:t>
            </a:r>
            <a:endParaRPr lang="en-ZM" dirty="0"/>
          </a:p>
        </p:txBody>
      </p:sp>
    </p:spTree>
    <p:extLst>
      <p:ext uri="{BB962C8B-B14F-4D97-AF65-F5344CB8AC3E}">
        <p14:creationId xmlns:p14="http://schemas.microsoft.com/office/powerpoint/2010/main" val="3891783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AE3FF-A726-4FE4-9953-FBE265A7E7C8}"/>
              </a:ext>
            </a:extLst>
          </p:cNvPr>
          <p:cNvSpPr>
            <a:spLocks noGrp="1"/>
          </p:cNvSpPr>
          <p:nvPr>
            <p:ph type="title"/>
          </p:nvPr>
        </p:nvSpPr>
        <p:spPr/>
        <p:txBody>
          <a:bodyPr/>
          <a:lstStyle/>
          <a:p>
            <a:pPr algn="ctr"/>
            <a:r>
              <a:rPr lang="en-US" b="1" dirty="0"/>
              <a:t>Management advise</a:t>
            </a:r>
            <a:endParaRPr lang="en-ZM" b="1" dirty="0"/>
          </a:p>
        </p:txBody>
      </p:sp>
      <p:sp>
        <p:nvSpPr>
          <p:cNvPr id="3" name="Content Placeholder 2">
            <a:extLst>
              <a:ext uri="{FF2B5EF4-FFF2-40B4-BE49-F238E27FC236}">
                <a16:creationId xmlns:a16="http://schemas.microsoft.com/office/drawing/2014/main" id="{9C645D96-87CC-40C4-AC22-80B57F75CF48}"/>
              </a:ext>
            </a:extLst>
          </p:cNvPr>
          <p:cNvSpPr>
            <a:spLocks noGrp="1"/>
          </p:cNvSpPr>
          <p:nvPr>
            <p:ph idx="1"/>
          </p:nvPr>
        </p:nvSpPr>
        <p:spPr/>
        <p:txBody>
          <a:bodyPr/>
          <a:lstStyle/>
          <a:p>
            <a:r>
              <a:rPr lang="en-US" dirty="0"/>
              <a:t>The treasury staff monitors market confidence constantly and  therefore is an excellent inhouse  resource for the  management team should they want to know  about on.</a:t>
            </a:r>
          </a:p>
          <a:p>
            <a:r>
              <a:rPr lang="en-US" dirty="0"/>
              <a:t>Interests rates that the company is likely to pay on new debt offerings</a:t>
            </a:r>
          </a:p>
          <a:p>
            <a:r>
              <a:rPr lang="en-US" dirty="0"/>
              <a:t>The availability of debt and probable terms that equity investors will want in exchange for  their investments in the company</a:t>
            </a:r>
            <a:endParaRPr lang="en-ZM" dirty="0"/>
          </a:p>
        </p:txBody>
      </p:sp>
    </p:spTree>
    <p:extLst>
      <p:ext uri="{BB962C8B-B14F-4D97-AF65-F5344CB8AC3E}">
        <p14:creationId xmlns:p14="http://schemas.microsoft.com/office/powerpoint/2010/main" val="1400277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8F334-BA9B-4D81-BF31-2998CF302C9D}"/>
              </a:ext>
            </a:extLst>
          </p:cNvPr>
          <p:cNvSpPr>
            <a:spLocks noGrp="1"/>
          </p:cNvSpPr>
          <p:nvPr>
            <p:ph type="title"/>
          </p:nvPr>
        </p:nvSpPr>
        <p:spPr/>
        <p:txBody>
          <a:bodyPr/>
          <a:lstStyle/>
          <a:p>
            <a:r>
              <a:rPr lang="en-US" dirty="0"/>
              <a:t>Credit Rating Agencies Relation</a:t>
            </a:r>
            <a:endParaRPr lang="en-ZM" dirty="0"/>
          </a:p>
        </p:txBody>
      </p:sp>
      <p:sp>
        <p:nvSpPr>
          <p:cNvPr id="3" name="Content Placeholder 2">
            <a:extLst>
              <a:ext uri="{FF2B5EF4-FFF2-40B4-BE49-F238E27FC236}">
                <a16:creationId xmlns:a16="http://schemas.microsoft.com/office/drawing/2014/main" id="{4C39E15A-7F15-49BA-8757-6D2057A0365F}"/>
              </a:ext>
            </a:extLst>
          </p:cNvPr>
          <p:cNvSpPr>
            <a:spLocks noGrp="1"/>
          </p:cNvSpPr>
          <p:nvPr>
            <p:ph idx="1"/>
          </p:nvPr>
        </p:nvSpPr>
        <p:spPr/>
        <p:txBody>
          <a:bodyPr/>
          <a:lstStyle/>
          <a:p>
            <a:r>
              <a:rPr lang="en-US" dirty="0"/>
              <a:t>When a company issues marketable debt, it is likely that a credit rating agency will review the company’s financial well being/condition and assign a credit rating to the debt</a:t>
            </a:r>
          </a:p>
          <a:p>
            <a:r>
              <a:rPr lang="en-US" dirty="0"/>
              <a:t>The treasury staff responds to information requests from the credit rating agency’s review team and provides it with additional information over time.</a:t>
            </a:r>
            <a:endParaRPr lang="en-ZM" dirty="0"/>
          </a:p>
        </p:txBody>
      </p:sp>
    </p:spTree>
    <p:extLst>
      <p:ext uri="{BB962C8B-B14F-4D97-AF65-F5344CB8AC3E}">
        <p14:creationId xmlns:p14="http://schemas.microsoft.com/office/powerpoint/2010/main" val="1336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03174-1453-4BF9-975A-023DF919D0F5}"/>
              </a:ext>
            </a:extLst>
          </p:cNvPr>
          <p:cNvSpPr>
            <a:spLocks noGrp="1"/>
          </p:cNvSpPr>
          <p:nvPr>
            <p:ph type="title"/>
          </p:nvPr>
        </p:nvSpPr>
        <p:spPr/>
        <p:txBody>
          <a:bodyPr/>
          <a:lstStyle/>
          <a:p>
            <a:r>
              <a:rPr lang="en-US" dirty="0"/>
              <a:t>Bank Relations</a:t>
            </a:r>
            <a:endParaRPr lang="en-ZM" dirty="0"/>
          </a:p>
        </p:txBody>
      </p:sp>
      <p:sp>
        <p:nvSpPr>
          <p:cNvPr id="3" name="Content Placeholder 2">
            <a:extLst>
              <a:ext uri="{FF2B5EF4-FFF2-40B4-BE49-F238E27FC236}">
                <a16:creationId xmlns:a16="http://schemas.microsoft.com/office/drawing/2014/main" id="{1EE8E067-DC1D-4B84-9E05-0D9E6C33CFB4}"/>
              </a:ext>
            </a:extLst>
          </p:cNvPr>
          <p:cNvSpPr>
            <a:spLocks noGrp="1"/>
          </p:cNvSpPr>
          <p:nvPr>
            <p:ph idx="1"/>
          </p:nvPr>
        </p:nvSpPr>
        <p:spPr/>
        <p:txBody>
          <a:bodyPr/>
          <a:lstStyle/>
          <a:p>
            <a:pPr algn="just"/>
            <a:r>
              <a:rPr lang="en-US" dirty="0"/>
              <a:t>The treasurer meets with the representatives of any bank that the company transacts with to discuss the company financial conditions, the banks fee structure, any debt granted to the company by the bank and other services such as  foreign exchange  transactions, hedges wire transfers.</a:t>
            </a:r>
          </a:p>
          <a:p>
            <a:pPr algn="just"/>
            <a:r>
              <a:rPr lang="en-US" dirty="0"/>
              <a:t>A long term and open relationships can lead to some degree of bank cooperation if a company is having  financial difficulties and may sometime lead to modest reductions in bank fees.</a:t>
            </a:r>
            <a:endParaRPr lang="en-ZM" dirty="0"/>
          </a:p>
        </p:txBody>
      </p:sp>
    </p:spTree>
    <p:extLst>
      <p:ext uri="{BB962C8B-B14F-4D97-AF65-F5344CB8AC3E}">
        <p14:creationId xmlns:p14="http://schemas.microsoft.com/office/powerpoint/2010/main" val="4113204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195FF-3188-440D-A0FC-2D830B62EAD9}"/>
              </a:ext>
            </a:extLst>
          </p:cNvPr>
          <p:cNvSpPr>
            <a:spLocks noGrp="1"/>
          </p:cNvSpPr>
          <p:nvPr>
            <p:ph type="title"/>
          </p:nvPr>
        </p:nvSpPr>
        <p:spPr/>
        <p:txBody>
          <a:bodyPr/>
          <a:lstStyle/>
          <a:p>
            <a:pPr algn="ctr"/>
            <a:r>
              <a:rPr lang="en-US" b="1" dirty="0"/>
              <a:t>Fund Raising</a:t>
            </a:r>
            <a:endParaRPr lang="en-ZM" b="1" dirty="0"/>
          </a:p>
        </p:txBody>
      </p:sp>
      <p:sp>
        <p:nvSpPr>
          <p:cNvPr id="3" name="Content Placeholder 2">
            <a:extLst>
              <a:ext uri="{FF2B5EF4-FFF2-40B4-BE49-F238E27FC236}">
                <a16:creationId xmlns:a16="http://schemas.microsoft.com/office/drawing/2014/main" id="{E04A5D13-C092-402D-8BC6-F8CFBE4DB702}"/>
              </a:ext>
            </a:extLst>
          </p:cNvPr>
          <p:cNvSpPr>
            <a:spLocks noGrp="1"/>
          </p:cNvSpPr>
          <p:nvPr>
            <p:ph idx="1"/>
          </p:nvPr>
        </p:nvSpPr>
        <p:spPr/>
        <p:txBody>
          <a:bodyPr/>
          <a:lstStyle/>
          <a:p>
            <a:r>
              <a:rPr lang="en-US" dirty="0"/>
              <a:t>A key function of treasurer is to maintain excellent relation with the investment company for fund  raising purposes.</a:t>
            </a:r>
          </a:p>
          <a:p>
            <a:r>
              <a:rPr lang="en-US" dirty="0"/>
              <a:t>This community is composed of the sell side which are those brokers and investment bankers who sell the company’s debt and equity and other sources of cash, who buy the company’s debt and equity.</a:t>
            </a:r>
          </a:p>
          <a:p>
            <a:r>
              <a:rPr lang="en-US" dirty="0"/>
              <a:t>While all funds ultimately come from the buy side and the sell side  in the valuable for the contacts with the buy side, and therefore is frequently worth the cost of its substantial fees associate with fund raising.</a:t>
            </a:r>
            <a:endParaRPr lang="en-ZM" dirty="0"/>
          </a:p>
        </p:txBody>
      </p:sp>
    </p:spTree>
    <p:extLst>
      <p:ext uri="{BB962C8B-B14F-4D97-AF65-F5344CB8AC3E}">
        <p14:creationId xmlns:p14="http://schemas.microsoft.com/office/powerpoint/2010/main" val="2477797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AE675-FF6F-44B6-AB1C-AEC985D86450}"/>
              </a:ext>
            </a:extLst>
          </p:cNvPr>
          <p:cNvSpPr>
            <a:spLocks noGrp="1"/>
          </p:cNvSpPr>
          <p:nvPr>
            <p:ph type="title"/>
          </p:nvPr>
        </p:nvSpPr>
        <p:spPr/>
        <p:txBody>
          <a:bodyPr/>
          <a:lstStyle/>
          <a:p>
            <a:r>
              <a:rPr lang="en-US" dirty="0"/>
              <a:t>Credit Granting</a:t>
            </a:r>
            <a:endParaRPr lang="en-ZM" dirty="0"/>
          </a:p>
        </p:txBody>
      </p:sp>
      <p:sp>
        <p:nvSpPr>
          <p:cNvPr id="3" name="Content Placeholder 2">
            <a:extLst>
              <a:ext uri="{FF2B5EF4-FFF2-40B4-BE49-F238E27FC236}">
                <a16:creationId xmlns:a16="http://schemas.microsoft.com/office/drawing/2014/main" id="{D4C4E077-BB2F-4370-96D1-8833D436F045}"/>
              </a:ext>
            </a:extLst>
          </p:cNvPr>
          <p:cNvSpPr>
            <a:spLocks noGrp="1"/>
          </p:cNvSpPr>
          <p:nvPr>
            <p:ph idx="1"/>
          </p:nvPr>
        </p:nvSpPr>
        <p:spPr/>
        <p:txBody>
          <a:bodyPr/>
          <a:lstStyle/>
          <a:p>
            <a:pPr algn="just"/>
            <a:r>
              <a:rPr lang="en-US" dirty="0"/>
              <a:t>The granting of credit to customers can lie  within scope of the treasury departments or may be handed off to the accounting staffs.</a:t>
            </a:r>
          </a:p>
          <a:p>
            <a:pPr algn="just"/>
            <a:r>
              <a:rPr lang="en-US" dirty="0"/>
              <a:t>This task is useful for the treasury staff to manage since it allows the treasurer some control over the amount of working capital locked up in accounts receivables.</a:t>
            </a:r>
            <a:endParaRPr lang="en-ZM" dirty="0"/>
          </a:p>
        </p:txBody>
      </p:sp>
    </p:spTree>
    <p:extLst>
      <p:ext uri="{BB962C8B-B14F-4D97-AF65-F5344CB8AC3E}">
        <p14:creationId xmlns:p14="http://schemas.microsoft.com/office/powerpoint/2010/main" val="27689042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2696</TotalTime>
  <Words>1625</Words>
  <Application>Microsoft Office PowerPoint</Application>
  <PresentationFormat>Widescreen</PresentationFormat>
  <Paragraphs>128</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Calibri Light</vt:lpstr>
      <vt:lpstr>Office Theme</vt:lpstr>
      <vt:lpstr>PowerPoint Presentation</vt:lpstr>
      <vt:lpstr>INTRODUCTION TO TREASURY MANAGEMENT</vt:lpstr>
      <vt:lpstr>PowerPoint Presentation</vt:lpstr>
      <vt:lpstr>What is treasury and Treasury Management</vt:lpstr>
      <vt:lpstr>What is Treasury and Treasury Management</vt:lpstr>
      <vt:lpstr>Scope of Treasury Management</vt:lpstr>
      <vt:lpstr>LIQUIDITY MANAGEMENT</vt:lpstr>
      <vt:lpstr>MONEY MARKET TRANSACTIONS</vt:lpstr>
      <vt:lpstr>Capital Market Transactions</vt:lpstr>
      <vt:lpstr>Corresponded Banking </vt:lpstr>
      <vt:lpstr>Foreign Exchange Management</vt:lpstr>
      <vt:lpstr>Rate Determination</vt:lpstr>
      <vt:lpstr>Principles of TM</vt:lpstr>
      <vt:lpstr>Principles of Security</vt:lpstr>
      <vt:lpstr>Principles of Liquidity</vt:lpstr>
      <vt:lpstr>PRINCIPLE OF PROFITABILITY</vt:lpstr>
      <vt:lpstr>Principle of portfolio</vt:lpstr>
      <vt:lpstr>Roles and Function of TM</vt:lpstr>
      <vt:lpstr>Cash forecasting</vt:lpstr>
      <vt:lpstr>Working Capital Management</vt:lpstr>
      <vt:lpstr>Cash Management</vt:lpstr>
      <vt:lpstr>Investment Management</vt:lpstr>
      <vt:lpstr>Treasury  Risk Management</vt:lpstr>
      <vt:lpstr>Management advise</vt:lpstr>
      <vt:lpstr>Credit Rating Agencies Relation</vt:lpstr>
      <vt:lpstr>Bank Relations</vt:lpstr>
      <vt:lpstr>Fund Raising</vt:lpstr>
      <vt:lpstr>Credit Granting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Jackson Sishumba</dc:creator>
  <cp:lastModifiedBy>Jackson Sishumba</cp:lastModifiedBy>
  <cp:revision>30</cp:revision>
  <dcterms:created xsi:type="dcterms:W3CDTF">2025-08-08T15:43:47Z</dcterms:created>
  <dcterms:modified xsi:type="dcterms:W3CDTF">2025-08-18T17:02:55Z</dcterms:modified>
</cp:coreProperties>
</file>