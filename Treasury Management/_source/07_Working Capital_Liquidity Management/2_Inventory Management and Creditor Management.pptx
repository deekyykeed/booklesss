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79" r:id="rId3"/>
    <p:sldId id="257" r:id="rId4"/>
    <p:sldId id="258" r:id="rId5"/>
    <p:sldId id="264" r:id="rId6"/>
    <p:sldId id="265" r:id="rId7"/>
    <p:sldId id="266" r:id="rId8"/>
    <p:sldId id="268" r:id="rId9"/>
    <p:sldId id="269" r:id="rId10"/>
    <p:sldId id="270" r:id="rId11"/>
    <p:sldId id="271" r:id="rId12"/>
    <p:sldId id="272" r:id="rId13"/>
    <p:sldId id="267" r:id="rId14"/>
    <p:sldId id="259" r:id="rId15"/>
    <p:sldId id="260" r:id="rId16"/>
    <p:sldId id="261" r:id="rId17"/>
    <p:sldId id="280" r:id="rId18"/>
    <p:sldId id="281" r:id="rId19"/>
    <p:sldId id="277" r:id="rId20"/>
    <p:sldId id="273" r:id="rId21"/>
    <p:sldId id="274" r:id="rId22"/>
    <p:sldId id="275" r:id="rId23"/>
    <p:sldId id="276" r:id="rId24"/>
    <p:sldId id="262" r:id="rId25"/>
    <p:sldId id="278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75" autoAdjust="0"/>
  </p:normalViewPr>
  <p:slideViewPr>
    <p:cSldViewPr snapToGrid="0" snapToObjects="1">
      <p:cViewPr varScale="1">
        <p:scale>
          <a:sx n="65" d="100"/>
          <a:sy n="65" d="100"/>
        </p:scale>
        <p:origin x="147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8T12:42:5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1 256,'0'0'2666,"-10"7"1887,7-5-4611,-7 3 5444,5-3-4806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8T13:03:48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1 128,'-11'0'144,"1"6"-32,-1-6-40,0 0-16,0 0-8,1 0-32,-1 0-8,0 0-32,0 0-32,1 0-16,-1 0-8,0 0 0,0 0-8,11 6 16,-10-6-8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27094"/>
            <a:ext cx="7772400" cy="1470025"/>
          </a:xfrm>
        </p:spPr>
        <p:txBody>
          <a:bodyPr anchor="b" anchorCtr="0"/>
          <a:lstStyle>
            <a:lvl1pPr>
              <a:defRPr sz="54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effectLst>
                  <a:outerShdw blurRad="50800" dist="254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1" y="3810000"/>
            <a:ext cx="7770812" cy="175260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6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CoverGly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25" y="3048000"/>
            <a:ext cx="1123950" cy="77152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26440"/>
            <a:ext cx="7770813" cy="1472184"/>
          </a:xfrm>
        </p:spPr>
        <p:txBody>
          <a:bodyPr anchor="b" anchorCtr="0"/>
          <a:lstStyle>
            <a:lvl1pPr algn="ctr">
              <a:defRPr sz="54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813048"/>
            <a:ext cx="7770813" cy="1755648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Glyph-Section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174066"/>
            <a:ext cx="1066800" cy="5905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209801"/>
            <a:ext cx="3657600" cy="36576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209801"/>
            <a:ext cx="3657600" cy="36576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27238"/>
            <a:ext cx="3657600" cy="639762"/>
          </a:xfrm>
        </p:spPr>
        <p:txBody>
          <a:bodyPr anchor="ctr" anchorCtr="0"/>
          <a:lstStyle>
            <a:lvl1pPr marL="0" indent="0" algn="ctr">
              <a:spcBef>
                <a:spcPts val="30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19400"/>
            <a:ext cx="3657600" cy="304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027238"/>
            <a:ext cx="3657600" cy="639762"/>
          </a:xfrm>
        </p:spPr>
        <p:txBody>
          <a:bodyPr anchor="ctr" anchorCtr="0"/>
          <a:lstStyle>
            <a:lvl1pPr marL="0" indent="0" algn="ctr">
              <a:spcBef>
                <a:spcPts val="30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2819400"/>
            <a:ext cx="3657600" cy="304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06" y="914400"/>
            <a:ext cx="3657600" cy="1162050"/>
          </a:xfrm>
        </p:spPr>
        <p:txBody>
          <a:bodyPr anchor="b"/>
          <a:lstStyle>
            <a:lvl1pPr algn="ctr">
              <a:defRPr sz="3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6118" y="457199"/>
            <a:ext cx="3657600" cy="54102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 marL="2290763" indent="-461963">
              <a:tabLst/>
              <a:defRPr sz="2000"/>
            </a:lvl6pPr>
            <a:lvl7pPr marL="2290763" indent="-461963">
              <a:tabLst/>
              <a:defRPr sz="2000"/>
            </a:lvl7pPr>
            <a:lvl8pPr marL="2290763" indent="-461963">
              <a:tabLst/>
              <a:defRPr sz="2000"/>
            </a:lvl8pPr>
            <a:lvl9pPr marL="2290763" indent="-461963">
              <a:tabLst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906" y="2590799"/>
            <a:ext cx="3657600" cy="2895601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4746" y="2286000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013" y="914400"/>
            <a:ext cx="3657600" cy="1161288"/>
          </a:xfrm>
          <a:effectLst/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800" b="0" kern="1200">
                <a:solidFill>
                  <a:schemeClr val="tx2"/>
                </a:solidFill>
                <a:effectLst>
                  <a:outerShdw blurRad="38100" dist="127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58906" y="457200"/>
            <a:ext cx="3657600" cy="5413248"/>
          </a:xfrm>
          <a:ln w="101600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9013" y="2587752"/>
            <a:ext cx="3657600" cy="289864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600"/>
              </a:spcBef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accent3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4853" y="2286000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738282"/>
            <a:ext cx="7770813" cy="1048870"/>
          </a:xfrm>
          <a:effectLst/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800" b="0" kern="1200">
                <a:solidFill>
                  <a:schemeClr val="tx2"/>
                </a:solidFill>
                <a:effectLst>
                  <a:outerShdw blurRad="38100" dist="127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0" y="457200"/>
            <a:ext cx="4572000" cy="3173506"/>
          </a:xfrm>
          <a:ln w="101600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181600"/>
            <a:ext cx="7770813" cy="6858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accent3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4890247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286000" indent="-457200">
              <a:defRPr/>
            </a:lvl6pPr>
            <a:lvl7pPr marL="2286000" indent="-457200">
              <a:defRPr/>
            </a:lvl7pPr>
            <a:lvl8pPr marL="2286000" indent="-457200">
              <a:defRPr/>
            </a:lvl8pPr>
            <a:lvl9pPr marL="2286000" indent="-4572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537882"/>
            <a:ext cx="1524000" cy="53250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7882"/>
            <a:ext cx="5889812" cy="5325036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6052928" y="3115195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5300" y="6289115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67236"/>
            <a:ext cx="7770813" cy="137160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9800"/>
            <a:ext cx="7770813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289115"/>
            <a:ext cx="2375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B690E-D504-EE46-BF09-1B8B105CE4C6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9624" y="6289115"/>
            <a:ext cx="31555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5000" kern="1200">
          <a:solidFill>
            <a:schemeClr val="tx2"/>
          </a:solidFill>
          <a:effectLst>
            <a:outerShdw blurRad="38100" dist="12700" algn="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2000"/>
        </a:spcBef>
        <a:buClr>
          <a:schemeClr val="accent3"/>
        </a:buClr>
        <a:buFont typeface="Wingdings" pitchFamily="2" charset="2"/>
        <a:buChar char="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457200" algn="l" defTabSz="91440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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457200" algn="l" defTabSz="914400" rtl="0" eaLnBrk="1" latinLnBrk="0" hangingPunct="1">
        <a:spcBef>
          <a:spcPts val="6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457200" algn="l" defTabSz="91440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461963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205163" indent="-461963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61963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119563" indent="-461963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AUXHJBB5CM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Treasury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Inventory Management</a:t>
            </a:r>
          </a:p>
        </p:txBody>
      </p:sp>
    </p:spTree>
    <p:extLst>
      <p:ext uri="{BB962C8B-B14F-4D97-AF65-F5344CB8AC3E}">
        <p14:creationId xmlns:p14="http://schemas.microsoft.com/office/powerpoint/2010/main" val="837277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54CF-E231-008A-4D7D-BDE747B74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3561D-6246-C1BD-36BF-66E297C69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  <a:p>
            <a:r>
              <a:rPr lang="en-GB" dirty="0"/>
              <a:t>Types of inventory</a:t>
            </a:r>
          </a:p>
          <a:p>
            <a:r>
              <a:rPr lang="en-GB" dirty="0"/>
              <a:t>Inventory financing alternatives</a:t>
            </a:r>
          </a:p>
          <a:p>
            <a:r>
              <a:rPr lang="en-GB" dirty="0"/>
              <a:t>Just In Time purchasing</a:t>
            </a:r>
          </a:p>
          <a:p>
            <a:r>
              <a:rPr lang="en-GB" dirty="0"/>
              <a:t>  Economic Order Quantity</a:t>
            </a:r>
          </a:p>
          <a:p>
            <a:r>
              <a:rPr lang="en-GB" dirty="0"/>
              <a:t>Creditor Management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863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8C5A-8676-4C8E-820C-4C12CDD62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F9870-F55B-4150-BB0D-33B732189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Stocks, like debtors involve the commitment of a large amount of a firm’s resources.</a:t>
            </a:r>
          </a:p>
          <a:p>
            <a:r>
              <a:rPr lang="en-GB" dirty="0"/>
              <a:t>Stocks include raw materials, bought in parts, finished goods and work in progress.</a:t>
            </a:r>
          </a:p>
          <a:p>
            <a:r>
              <a:rPr lang="en-GB" dirty="0"/>
              <a:t>Stocks are an essential part of a firm’s investment and operations</a:t>
            </a:r>
          </a:p>
          <a:p>
            <a:r>
              <a:rPr lang="en-GB" dirty="0"/>
              <a:t>The optimum holding of stocks will maximize the benefits less costs involved</a:t>
            </a:r>
          </a:p>
        </p:txBody>
      </p:sp>
    </p:spTree>
    <p:extLst>
      <p:ext uri="{BB962C8B-B14F-4D97-AF65-F5344CB8AC3E}">
        <p14:creationId xmlns:p14="http://schemas.microsoft.com/office/powerpoint/2010/main" val="388796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40F4-4E69-4603-8794-271870A5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DA49D-61B6-4C45-A88D-D5402CF8C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Holding higher levels of finished goods enables the company to be more flexible in supplying customers</a:t>
            </a:r>
          </a:p>
          <a:p>
            <a:r>
              <a:rPr lang="en-GB" dirty="0"/>
              <a:t>There is lower risk of sales disruption through interruptions in production</a:t>
            </a:r>
          </a:p>
          <a:p>
            <a:r>
              <a:rPr lang="en-GB" dirty="0"/>
              <a:t>These benefits must be balanced against storage costs incurred, capital costs of financing and stock becoming obsolete</a:t>
            </a:r>
          </a:p>
        </p:txBody>
      </p:sp>
    </p:spTree>
    <p:extLst>
      <p:ext uri="{BB962C8B-B14F-4D97-AF65-F5344CB8AC3E}">
        <p14:creationId xmlns:p14="http://schemas.microsoft.com/office/powerpoint/2010/main" val="117052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B5E58-B55A-427C-83AD-9ECAEE7FC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4CD81-2547-4F4C-B2BD-079BE7536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b="1" dirty="0"/>
              <a:t>Raw materials</a:t>
            </a:r>
          </a:p>
          <a:p>
            <a:r>
              <a:rPr lang="en-GB" dirty="0"/>
              <a:t>Represents basic input to the manufacturing process and allows arrivals to be separated from production scheduling</a:t>
            </a:r>
          </a:p>
          <a:p>
            <a:pPr marL="0" indent="0">
              <a:buNone/>
            </a:pPr>
            <a:r>
              <a:rPr lang="en-GB" b="1" dirty="0"/>
              <a:t>ii. Work in progress</a:t>
            </a:r>
          </a:p>
          <a:p>
            <a:r>
              <a:rPr lang="en-GB" dirty="0"/>
              <a:t>Represents items or materials that are in the process of being manufactured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73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3C231-C931-4AF7-AA84-C511ADB9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73D46-F1C2-4D3C-8464-03221602A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iii. </a:t>
            </a:r>
            <a:r>
              <a:rPr lang="en-GB" b="1" dirty="0"/>
              <a:t>Finished goods</a:t>
            </a:r>
          </a:p>
          <a:p>
            <a:r>
              <a:rPr lang="en-GB" dirty="0"/>
              <a:t>Consists of completed items or materials available for sale, and lets a company fill orders when received rather than depend upon product completion to satisfy customer demands</a:t>
            </a:r>
          </a:p>
          <a:p>
            <a:pPr marL="0" indent="0">
              <a:buNone/>
            </a:pPr>
            <a:r>
              <a:rPr lang="en-GB" b="1" dirty="0"/>
              <a:t>iv. Scrap or obsolete item</a:t>
            </a:r>
            <a:r>
              <a:rPr lang="en-GB" dirty="0"/>
              <a:t>s</a:t>
            </a:r>
          </a:p>
          <a:p>
            <a:r>
              <a:rPr lang="en-GB" dirty="0"/>
              <a:t>In industries such as steel and aluminium manufacturing, scrap from production can be reused in later batches or sold to recyclers </a:t>
            </a:r>
          </a:p>
        </p:txBody>
      </p:sp>
    </p:spTree>
    <p:extLst>
      <p:ext uri="{BB962C8B-B14F-4D97-AF65-F5344CB8AC3E}">
        <p14:creationId xmlns:p14="http://schemas.microsoft.com/office/powerpoint/2010/main" val="265710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820F-C519-4090-9F1D-363816FF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EA2C-C333-4BDF-8BD5-7765FB15B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Also, a portion of a company’s inventories may become obsolete or damaged, especially in environments where there are rapid changes in existing products or introductions of new products</a:t>
            </a:r>
          </a:p>
          <a:p>
            <a:pPr marL="0" indent="0">
              <a:buNone/>
            </a:pPr>
            <a:r>
              <a:rPr lang="en-GB" b="1" dirty="0"/>
              <a:t>v. Stores and supplies</a:t>
            </a:r>
          </a:p>
          <a:p>
            <a:r>
              <a:rPr lang="en-GB" dirty="0"/>
              <a:t>Sometimes referred to as indirect purchases</a:t>
            </a:r>
          </a:p>
          <a:p>
            <a:r>
              <a:rPr lang="en-GB" dirty="0"/>
              <a:t>These items are not used directly; rather, they support the production process e.g. lubricating oils or maintenance materials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267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39185-B5FC-4548-BA4A-E0F5C286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Inventory Financing Alternatives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17E40-F0E5-44D6-A1F0-41AAAC268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romanLcPeriod"/>
            </a:pPr>
            <a:r>
              <a:rPr lang="en-GB" b="1" dirty="0"/>
              <a:t>A/P or trade credit</a:t>
            </a:r>
          </a:p>
          <a:p>
            <a:r>
              <a:rPr lang="en-GB" dirty="0"/>
              <a:t>This is typically the least expensive alternative and finances a significant portion of inventory</a:t>
            </a:r>
          </a:p>
          <a:p>
            <a:r>
              <a:rPr lang="en-GB" dirty="0"/>
              <a:t>This spontaneous financing source increases and decreases with the level of inventory on hand</a:t>
            </a:r>
          </a:p>
          <a:p>
            <a:pPr marL="0" indent="0">
              <a:buNone/>
            </a:pPr>
            <a:r>
              <a:rPr lang="en-GB" dirty="0"/>
              <a:t>ii</a:t>
            </a:r>
            <a:r>
              <a:rPr lang="en-GB" b="1" dirty="0"/>
              <a:t>. Supply chain financing</a:t>
            </a:r>
          </a:p>
          <a:p>
            <a:r>
              <a:rPr lang="en-GB" dirty="0"/>
              <a:t>This is where a seller receives financing based upon the existence of sales contracts and purchase orders with large, financially stable, trading partners</a:t>
            </a:r>
          </a:p>
        </p:txBody>
      </p:sp>
    </p:spTree>
    <p:extLst>
      <p:ext uri="{BB962C8B-B14F-4D97-AF65-F5344CB8AC3E}">
        <p14:creationId xmlns:p14="http://schemas.microsoft.com/office/powerpoint/2010/main" val="160504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47379-DD38-4F9A-84B4-1F083025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Inventory Financing Alternatives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25FE-1069-47E2-8461-3D19BFA82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financing is typically arranged for by the buyer rather than the seller and provide lower-cost loans based upon the buyer’s credit rating and financial capabilities, rather than the seller’s.</a:t>
            </a:r>
          </a:p>
          <a:p>
            <a:r>
              <a:rPr lang="en-GB" dirty="0"/>
              <a:t>The seller benefits by receiving a lower interest rate, and the buyer benefits by not having to directly finance the seller and create on-balance-sheet debt</a:t>
            </a:r>
          </a:p>
        </p:txBody>
      </p:sp>
    </p:spTree>
    <p:extLst>
      <p:ext uri="{BB962C8B-B14F-4D97-AF65-F5344CB8AC3E}">
        <p14:creationId xmlns:p14="http://schemas.microsoft.com/office/powerpoint/2010/main" val="386233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9E147-0317-433F-918F-A13DEAB2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Inventory Financing Alternatives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103A7-2311-4B47-B18C-F365CDD61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iii</a:t>
            </a:r>
            <a:r>
              <a:rPr lang="en-GB" b="1" dirty="0"/>
              <a:t>. Collateralized loans</a:t>
            </a:r>
          </a:p>
          <a:p>
            <a:r>
              <a:rPr lang="en-GB" dirty="0"/>
              <a:t>These loans are arranged using inventory as collateral for a loan</a:t>
            </a:r>
          </a:p>
          <a:p>
            <a:r>
              <a:rPr lang="en-GB" dirty="0"/>
              <a:t>The lender provides financing for some predetermined percentage of the inventory’s value</a:t>
            </a:r>
          </a:p>
          <a:p>
            <a:r>
              <a:rPr lang="en-GB" dirty="0"/>
              <a:t>The company’s cash flows are viewed as the primary repayment source, and inventory as a secondary source</a:t>
            </a:r>
          </a:p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6351647-C904-213A-961D-54ED35807CBE}"/>
                  </a:ext>
                </a:extLst>
              </p14:cNvPr>
              <p14:cNvContentPartPr/>
              <p14:nvPr/>
            </p14:nvContentPartPr>
            <p14:xfrm>
              <a:off x="1630417" y="2437049"/>
              <a:ext cx="10440" cy="612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6351647-C904-213A-961D-54ED35807C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1417" y="2428409"/>
                <a:ext cx="28080" cy="2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068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353F9-115B-465E-A4A7-1CF8B402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Inventory Financing Alternatives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90F23-A1EA-4613-A0ED-0697C7B1E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 claim against the inventory is perfected in the form of a lien</a:t>
            </a:r>
          </a:p>
          <a:p>
            <a:pPr marL="0" indent="0">
              <a:buNone/>
            </a:pPr>
            <a:r>
              <a:rPr lang="en-GB" dirty="0"/>
              <a:t>iv</a:t>
            </a:r>
            <a:r>
              <a:rPr lang="en-GB" b="1" dirty="0"/>
              <a:t>. Asset-Based loans</a:t>
            </a:r>
          </a:p>
          <a:p>
            <a:r>
              <a:rPr lang="en-GB" dirty="0"/>
              <a:t>Lending based on the value of the inventory rather than the borrower’s general financial strength</a:t>
            </a:r>
          </a:p>
          <a:p>
            <a:r>
              <a:rPr lang="en-GB" dirty="0"/>
              <a:t>To enforce the claim on the inventory, the lender takes physical possession of it if the company defaults or files for bankruptcy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320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EC50-1D5D-4F90-AAD0-760ADA7EE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Inventory Financing Alternatives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F279A-2AE4-44C2-8917-BF7594155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If either occurs, the lender may store the inventory at a public warehouse or in a field warehouse rented by a company or on another firm’s premises</a:t>
            </a:r>
          </a:p>
          <a:p>
            <a:pPr marL="0" indent="0">
              <a:buNone/>
            </a:pPr>
            <a:r>
              <a:rPr lang="en-GB" b="1" dirty="0"/>
              <a:t>v. Floor planning</a:t>
            </a:r>
          </a:p>
          <a:p>
            <a:r>
              <a:rPr lang="en-GB" dirty="0"/>
              <a:t>Type of asset based lending used for high-value durable goods such as automobiles, trucks or heavy equipment</a:t>
            </a:r>
          </a:p>
          <a:p>
            <a:r>
              <a:rPr lang="en-GB" dirty="0"/>
              <a:t>Loans are made against each individual item, recorded by serial number, and are not fully repaid until the item is sold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27F5819-D605-85C3-23DC-9A1C9FE6E7B7}"/>
                  </a:ext>
                </a:extLst>
              </p14:cNvPr>
              <p14:cNvContentPartPr/>
              <p14:nvPr/>
            </p14:nvContentPartPr>
            <p14:xfrm>
              <a:off x="1462297" y="5807729"/>
              <a:ext cx="54720" cy="46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27F5819-D605-85C3-23DC-9A1C9FE6E7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3657" y="5799089"/>
                <a:ext cx="72360" cy="2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440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8BCC7-B5CC-45E5-963B-F4591BFF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in time (JIT) purchasing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59DE0-5BE3-4E7A-9D6A-0733EED62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Since excess inventory lowers profits, prudent inventory reduction is an ongoing management objective</a:t>
            </a:r>
          </a:p>
          <a:p>
            <a:r>
              <a:rPr lang="en-GB" dirty="0"/>
              <a:t>One of the most popular approaches is just-in-time (JIT)</a:t>
            </a:r>
          </a:p>
          <a:p>
            <a:r>
              <a:rPr lang="en-GB" dirty="0"/>
              <a:t>JIT attempts to minimise inventory levels by reducing the costs or uncertainties that underlie the motives for holding inventory</a:t>
            </a:r>
          </a:p>
        </p:txBody>
      </p:sp>
    </p:spTree>
    <p:extLst>
      <p:ext uri="{BB962C8B-B14F-4D97-AF65-F5344CB8AC3E}">
        <p14:creationId xmlns:p14="http://schemas.microsoft.com/office/powerpoint/2010/main" val="38664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A4F9-934A-4F5D-89D0-574C7821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in time (JIT) purchasing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1BA84-9CC9-43D4-AF75-D23635C98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JIT purchasing means that materials or components are received from the supplier just in time to use them</a:t>
            </a:r>
          </a:p>
          <a:p>
            <a:r>
              <a:rPr lang="en-GB" dirty="0"/>
              <a:t>Objectives of JIT purchasing: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Raw material stock reduction;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Frequent deliveries with smaller orders from a smaller number of suppliers;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Long term contracts with suppliers</a:t>
            </a:r>
          </a:p>
        </p:txBody>
      </p:sp>
    </p:spTree>
    <p:extLst>
      <p:ext uri="{BB962C8B-B14F-4D97-AF65-F5344CB8AC3E}">
        <p14:creationId xmlns:p14="http://schemas.microsoft.com/office/powerpoint/2010/main" val="79871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8360-D6EF-4E5F-938A-8096DF24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in time (JIT) purchasing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1AA86-5216-4718-92F3-9298F16F3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iv. Quality assurance, with supplier becoming responsible for inspection of goods supplied</a:t>
            </a:r>
          </a:p>
          <a:p>
            <a:r>
              <a:rPr lang="en-GB" dirty="0"/>
              <a:t>Objectives of JIT production are to obtain low-cost, high quality, on time production, to order, </a:t>
            </a:r>
          </a:p>
          <a:p>
            <a:r>
              <a:rPr lang="en-GB" dirty="0"/>
              <a:t>Achieved by minimising idle stock levels between successive processes and thereby minimising idle equipment, facilities and workers </a:t>
            </a:r>
          </a:p>
        </p:txBody>
      </p:sp>
    </p:spTree>
    <p:extLst>
      <p:ext uri="{BB962C8B-B14F-4D97-AF65-F5344CB8AC3E}">
        <p14:creationId xmlns:p14="http://schemas.microsoft.com/office/powerpoint/2010/main" val="57339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069A-70A4-479D-8F9D-29AB1E91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JIT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4CFA5-436B-47DB-8FA9-F0C481A2B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Reduced inventory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Savings in storage space required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Increased customer satisfaction – elimination of waste leads to better quality product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Weaknesses and problems may be identified e.g. bottlenecks, supplier reliability, inadequate documentation etc </a:t>
            </a:r>
          </a:p>
        </p:txBody>
      </p:sp>
    </p:spTree>
    <p:extLst>
      <p:ext uri="{BB962C8B-B14F-4D97-AF65-F5344CB8AC3E}">
        <p14:creationId xmlns:p14="http://schemas.microsoft.com/office/powerpoint/2010/main" val="218994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C519-9118-6101-53E1-D4FA37127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JIT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3A8F3-D007-16FC-AEFB-0102D7640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v. Flexibility and the ability to supply small batches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183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itle 1">
            <a:extLst>
              <a:ext uri="{FF2B5EF4-FFF2-40B4-BE49-F238E27FC236}">
                <a16:creationId xmlns:a16="http://schemas.microsoft.com/office/drawing/2014/main" id="{4F4A6391-5112-16F9-9FAE-02210646E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7236"/>
            <a:ext cx="7770813" cy="1371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 descr="There is No Questioning the Power of the Question - Business 2 Community">
            <a:extLst>
              <a:ext uri="{FF2B5EF4-FFF2-40B4-BE49-F238E27FC236}">
                <a16:creationId xmlns:a16="http://schemas.microsoft.com/office/drawing/2014/main" id="{9927FD88-30C7-E2AA-75F1-F2B1F469D7F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800" y="2209801"/>
            <a:ext cx="3657600" cy="36576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057" name="Content Placeholder 3">
            <a:extLst>
              <a:ext uri="{FF2B5EF4-FFF2-40B4-BE49-F238E27FC236}">
                <a16:creationId xmlns:a16="http://schemas.microsoft.com/office/drawing/2014/main" id="{C6926062-6798-F6E6-9DCA-DB1FA8EB1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2209801"/>
            <a:ext cx="3657600" cy="3657600"/>
          </a:xfrm>
        </p:spPr>
        <p:txBody>
          <a:bodyPr/>
          <a:lstStyle/>
          <a:p>
            <a:r>
              <a:rPr lang="en-US" dirty="0"/>
              <a:t>Can you recommend JIT to Zambian manufacturers? </a:t>
            </a:r>
          </a:p>
        </p:txBody>
      </p:sp>
    </p:spTree>
    <p:extLst>
      <p:ext uri="{BB962C8B-B14F-4D97-AF65-F5344CB8AC3E}">
        <p14:creationId xmlns:p14="http://schemas.microsoft.com/office/powerpoint/2010/main" val="49960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CB2B-68E0-4FB6-9092-F384F7869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JIT at Toyota</a:t>
            </a:r>
          </a:p>
        </p:txBody>
      </p:sp>
      <p:pic>
        <p:nvPicPr>
          <p:cNvPr id="4" name="Online Media 3" title="Just in Time by Toyota: The Smartest Production System in The World">
            <a:hlinkClick r:id="" action="ppaction://media"/>
            <a:extLst>
              <a:ext uri="{FF2B5EF4-FFF2-40B4-BE49-F238E27FC236}">
                <a16:creationId xmlns:a16="http://schemas.microsoft.com/office/drawing/2014/main" id="{AA8C5923-2BFE-44B6-A3ED-EBB271EBE47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28468" y="2011680"/>
            <a:ext cx="6794695" cy="461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93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720A-6678-4053-B562-560175D09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Economic Order Quantity (EOQ)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97487-AD81-4E64-9D62-7A06560E6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EOQ is the quantity which must be ordered any time a purchase order is sent to the supplier for fresh deliveries</a:t>
            </a:r>
          </a:p>
          <a:p>
            <a:r>
              <a:rPr lang="en-GB" dirty="0"/>
              <a:t>The EOQ is that size of order which minimises the total cost of investment in inventory of raw materials and administration costs</a:t>
            </a:r>
          </a:p>
          <a:p>
            <a:pPr marL="137160" indent="0">
              <a:buNone/>
            </a:pPr>
            <a:r>
              <a:rPr lang="en-GB" dirty="0"/>
              <a:t>EOQ= √ </a:t>
            </a:r>
            <a:r>
              <a:rPr lang="en-GB" u="sng" dirty="0"/>
              <a:t>2 ac</a:t>
            </a:r>
          </a:p>
          <a:p>
            <a:pPr marL="137160" indent="0">
              <a:buNone/>
            </a:pPr>
            <a:r>
              <a:rPr lang="en-GB" dirty="0"/>
              <a:t>		h </a:t>
            </a:r>
          </a:p>
        </p:txBody>
      </p:sp>
    </p:spTree>
    <p:extLst>
      <p:ext uri="{BB962C8B-B14F-4D97-AF65-F5344CB8AC3E}">
        <p14:creationId xmlns:p14="http://schemas.microsoft.com/office/powerpoint/2010/main" val="248084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67E24-5D1A-41D3-97A9-1BD0B23A4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Economic Order Quantity (EOQ)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00F53-1426-4644-AA93-F73BA3C21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GB" dirty="0"/>
              <a:t>Where:</a:t>
            </a:r>
          </a:p>
          <a:p>
            <a:pPr marL="137160" indent="0">
              <a:buNone/>
            </a:pPr>
            <a:r>
              <a:rPr lang="en-GB" dirty="0"/>
              <a:t>a = annual demand in units</a:t>
            </a:r>
          </a:p>
          <a:p>
            <a:pPr marL="137160" indent="0">
              <a:buNone/>
            </a:pPr>
            <a:r>
              <a:rPr lang="en-GB" dirty="0"/>
              <a:t>c = cost of ordering per order</a:t>
            </a:r>
          </a:p>
          <a:p>
            <a:pPr marL="137160" indent="0">
              <a:buNone/>
            </a:pPr>
            <a:r>
              <a:rPr lang="en-GB" dirty="0"/>
              <a:t>h= holding cost per item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250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B3F5-C2E1-4E5C-B42D-3D0F7653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Economic Order Quantity (EOQ)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8A82-E695-483D-B71E-FA018D2CA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Example</a:t>
            </a:r>
          </a:p>
          <a:p>
            <a:r>
              <a:rPr lang="en-GB" dirty="0"/>
              <a:t>XYZ Ltd requires 1,000 units of material X per month.</a:t>
            </a:r>
          </a:p>
          <a:p>
            <a:r>
              <a:rPr lang="en-GB" dirty="0"/>
              <a:t>The cost per order is K30 regardless of the size of the order</a:t>
            </a:r>
          </a:p>
          <a:p>
            <a:r>
              <a:rPr lang="en-GB" dirty="0"/>
              <a:t>The holding costs are K2.88 per unit </a:t>
            </a:r>
            <a:r>
              <a:rPr lang="en-GB" dirty="0" err="1"/>
              <a:t>p.a</a:t>
            </a:r>
            <a:endParaRPr lang="en-GB" dirty="0"/>
          </a:p>
          <a:p>
            <a:r>
              <a:rPr lang="en-GB" dirty="0"/>
              <a:t>Calculate the EOQ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389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57D75-B2AB-4B0D-AA0B-0AA3ED6B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Economic Order Quantity (EOQ)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F9CCF-1E0A-4E61-B6E6-8349E506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Solution</a:t>
            </a:r>
          </a:p>
          <a:p>
            <a:pPr marL="137160" indent="0">
              <a:buNone/>
            </a:pPr>
            <a:r>
              <a:rPr lang="en-GB" dirty="0"/>
              <a:t>EOQ= √ </a:t>
            </a:r>
            <a:r>
              <a:rPr lang="en-GB" u="sng" dirty="0"/>
              <a:t>2 ac</a:t>
            </a:r>
          </a:p>
          <a:p>
            <a:pPr marL="137160" indent="0">
              <a:buNone/>
            </a:pPr>
            <a:r>
              <a:rPr lang="en-GB" dirty="0"/>
              <a:t>		h </a:t>
            </a:r>
          </a:p>
          <a:p>
            <a:pPr marL="137160" indent="0">
              <a:buNone/>
            </a:pPr>
            <a:r>
              <a:rPr lang="en-GB" dirty="0"/>
              <a:t>            = √ </a:t>
            </a:r>
            <a:r>
              <a:rPr lang="en-GB" u="sng" dirty="0"/>
              <a:t>2 x 30 x 12,000</a:t>
            </a:r>
          </a:p>
          <a:p>
            <a:pPr marL="137160" indent="0">
              <a:buNone/>
            </a:pPr>
            <a:r>
              <a:rPr lang="en-GB" dirty="0"/>
              <a:t>                           2.88</a:t>
            </a:r>
          </a:p>
          <a:p>
            <a:pPr marL="137160" indent="0">
              <a:buNone/>
            </a:pPr>
            <a:r>
              <a:rPr lang="en-GB" dirty="0"/>
              <a:t>           = 500 units </a:t>
            </a:r>
          </a:p>
        </p:txBody>
      </p:sp>
    </p:spTree>
    <p:extLst>
      <p:ext uri="{BB962C8B-B14F-4D97-AF65-F5344CB8AC3E}">
        <p14:creationId xmlns:p14="http://schemas.microsoft.com/office/powerpoint/2010/main" val="85657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226F-056E-4E0D-B1E0-F3706C8B1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Creditor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C7C4A-6AC8-4C92-A37B-617A3E6B8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Trade credit is normally viewed as free source of finance </a:t>
            </a:r>
          </a:p>
          <a:p>
            <a:r>
              <a:rPr lang="en-GB" dirty="0"/>
              <a:t>Policy is to pay suppliers late in order to maximise this resource</a:t>
            </a:r>
          </a:p>
          <a:p>
            <a:r>
              <a:rPr lang="en-GB" dirty="0"/>
              <a:t>Leads to cash flow problems for key suppliers which could adversely affect viability of both organisations </a:t>
            </a:r>
          </a:p>
          <a:p>
            <a:r>
              <a:rPr lang="en-GB" dirty="0"/>
              <a:t>Creditor management reflects debtor management </a:t>
            </a:r>
          </a:p>
        </p:txBody>
      </p:sp>
    </p:spTree>
    <p:extLst>
      <p:ext uri="{BB962C8B-B14F-4D97-AF65-F5344CB8AC3E}">
        <p14:creationId xmlns:p14="http://schemas.microsoft.com/office/powerpoint/2010/main" val="394283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CBF3-F4F2-FCF9-B25E-D31D0E225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pic>
        <p:nvPicPr>
          <p:cNvPr id="1026" name="Picture 2" descr="20 Questions Every Leader Should Ask Themselves At The End Of Each Year |  The Make It Happen Moment ®">
            <a:extLst>
              <a:ext uri="{FF2B5EF4-FFF2-40B4-BE49-F238E27FC236}">
                <a16:creationId xmlns:a16="http://schemas.microsoft.com/office/drawing/2014/main" id="{2F97A919-8755-1202-CF66-325BD985F7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45" y="1681316"/>
            <a:ext cx="7506929" cy="4513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81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Folio">
  <a:themeElements>
    <a:clrScheme name="Folio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8E887C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Folio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Folio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40000"/>
                <a:satMod val="120000"/>
              </a:schemeClr>
              <a:schemeClr val="phClr">
                <a:tint val="70000"/>
                <a:satMod val="300000"/>
                <a:lumMod val="110000"/>
              </a:schemeClr>
            </a:duotone>
          </a:blip>
          <a:tile tx="0" ty="0" sx="50000" sy="50000" flip="none" algn="tl"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8100" dist="25400" dir="5400000" algn="br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st="25400">
              <a:srgbClr val="000000">
                <a:alpha val="50000"/>
              </a:srgbClr>
            </a:inn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10000"/>
                <a:satMod val="125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10000"/>
                <a:satMod val="125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3000"/>
                <a:lumMod val="10000"/>
              </a:schemeClr>
              <a:schemeClr val="phClr">
                <a:tint val="91000"/>
                <a:satMod val="500000"/>
                <a:lumMod val="125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Folio.thmx</Template>
  <TotalTime>2439</TotalTime>
  <Words>1032</Words>
  <Application>Microsoft Office PowerPoint</Application>
  <PresentationFormat>On-screen Show (4:3)</PresentationFormat>
  <Paragraphs>109</Paragraphs>
  <Slides>25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Calisto MT</vt:lpstr>
      <vt:lpstr>Wingdings</vt:lpstr>
      <vt:lpstr>Folio</vt:lpstr>
      <vt:lpstr>Treasury Management</vt:lpstr>
      <vt:lpstr>OUTLINE </vt:lpstr>
      <vt:lpstr>Introduction</vt:lpstr>
      <vt:lpstr>Introduction</vt:lpstr>
      <vt:lpstr>Types of Inventory</vt:lpstr>
      <vt:lpstr>Types of Inventory</vt:lpstr>
      <vt:lpstr>Types of Inventory</vt:lpstr>
      <vt:lpstr>Inventory Financing Alternatives </vt:lpstr>
      <vt:lpstr>Inventory Financing Alternatives </vt:lpstr>
      <vt:lpstr>Inventory Financing Alternatives </vt:lpstr>
      <vt:lpstr>Inventory Financing Alternatives </vt:lpstr>
      <vt:lpstr>Inventory Financing Alternatives </vt:lpstr>
      <vt:lpstr>Just in time (JIT) purchasing</vt:lpstr>
      <vt:lpstr>Just in time (JIT) purchasing</vt:lpstr>
      <vt:lpstr>Just in time (JIT) purchasing</vt:lpstr>
      <vt:lpstr>Benefits of JIT</vt:lpstr>
      <vt:lpstr>Benefits of JIT</vt:lpstr>
      <vt:lpstr>PowerPoint Presentation</vt:lpstr>
      <vt:lpstr>JIT at Toyota</vt:lpstr>
      <vt:lpstr>Economic Order Quantity (EOQ)</vt:lpstr>
      <vt:lpstr>Economic Order Quantity (EOQ)</vt:lpstr>
      <vt:lpstr>Economic Order Quantity (EOQ)</vt:lpstr>
      <vt:lpstr>Economic Order Quantity (EOQ)</vt:lpstr>
      <vt:lpstr>Creditor Management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BFS 322</dc:title>
  <dc:creator>Webster Sikazwe</dc:creator>
  <cp:lastModifiedBy>Webster Sikazwe</cp:lastModifiedBy>
  <cp:revision>152</cp:revision>
  <dcterms:created xsi:type="dcterms:W3CDTF">2018-08-06T09:52:02Z</dcterms:created>
  <dcterms:modified xsi:type="dcterms:W3CDTF">2022-09-18T14:08:32Z</dcterms:modified>
</cp:coreProperties>
</file>