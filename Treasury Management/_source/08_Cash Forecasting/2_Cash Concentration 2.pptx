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75" autoAdjust="0"/>
  </p:normalViewPr>
  <p:slideViewPr>
    <p:cSldViewPr snapToGrid="0" snapToObjects="1">
      <p:cViewPr varScale="1">
        <p:scale>
          <a:sx n="65" d="100"/>
          <a:sy n="65" d="100"/>
        </p:scale>
        <p:origin x="153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10-12T07:33:04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14130 14984 6 0,'2'-1'72'0,"-1"1"-8"16,1-1-11-16,-2-1-14 0,5 2-12 0,-1-1-16 16,6-1-28-16,-2 2-35 0,1 2-73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10-12T07:36:52.6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10461 14676 168 0,'-26'-18'421'0,"2"3"-135"0,11 2-200 15,8 6-130-15,8 4-102 0,10 1-125 16,6 0-92-16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7094"/>
            <a:ext cx="7772400" cy="1470025"/>
          </a:xfrm>
        </p:spPr>
        <p:txBody>
          <a:bodyPr anchor="b" anchorCtr="0"/>
          <a:lstStyle>
            <a:lvl1pPr>
              <a:defRPr sz="54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254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810000"/>
            <a:ext cx="7770812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over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048000"/>
            <a:ext cx="1123950" cy="7715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26440"/>
            <a:ext cx="7770813" cy="1472184"/>
          </a:xfrm>
        </p:spPr>
        <p:txBody>
          <a:bodyPr anchor="b" anchorCtr="0"/>
          <a:lstStyle>
            <a:lvl1pPr algn="ctr">
              <a:defRPr sz="54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813048"/>
            <a:ext cx="7770813" cy="1755648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Glyph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74066"/>
            <a:ext cx="1066800" cy="5905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914400"/>
            <a:ext cx="3657600" cy="1162050"/>
          </a:xfrm>
        </p:spPr>
        <p:txBody>
          <a:bodyPr anchor="b"/>
          <a:lstStyle>
            <a:lvl1pPr algn="ctr">
              <a:defRPr sz="3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6118" y="457199"/>
            <a:ext cx="3657600" cy="5410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290763" indent="-461963">
              <a:tabLst/>
              <a:defRPr sz="2000"/>
            </a:lvl6pPr>
            <a:lvl7pPr marL="2290763" indent="-461963">
              <a:tabLst/>
              <a:defRPr sz="2000"/>
            </a:lvl7pPr>
            <a:lvl8pPr marL="2290763" indent="-461963">
              <a:tabLst/>
              <a:defRPr sz="2000"/>
            </a:lvl8pPr>
            <a:lvl9pPr marL="2290763" indent="-461963">
              <a:tabLst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6" y="2590799"/>
            <a:ext cx="3657600" cy="2895601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746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013" y="914400"/>
            <a:ext cx="3657600" cy="1161288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906" y="457200"/>
            <a:ext cx="3657600" cy="5413248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013" y="2587752"/>
            <a:ext cx="3657600" cy="289864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4853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738282"/>
            <a:ext cx="7770813" cy="1048870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457200"/>
            <a:ext cx="4572000" cy="3173506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181600"/>
            <a:ext cx="7770813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4890247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286000" indent="-457200">
              <a:defRPr/>
            </a:lvl6pPr>
            <a:lvl7pPr marL="2286000" indent="-457200">
              <a:defRPr/>
            </a:lvl7pPr>
            <a:lvl8pPr marL="2286000" indent="-457200">
              <a:defRPr/>
            </a:lvl8pPr>
            <a:lvl9pPr marL="2286000" indent="-4572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7882"/>
            <a:ext cx="1524000" cy="53250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7882"/>
            <a:ext cx="5889812" cy="5325036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6052928" y="3115195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289115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9800"/>
            <a:ext cx="7770813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289115"/>
            <a:ext cx="2375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690E-D504-EE46-BF09-1B8B105CE4C6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9624" y="6289115"/>
            <a:ext cx="3155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2"/>
          </a:solidFill>
          <a:effectLst>
            <a:outerShdw blurRad="38100" dist="12700" algn="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Clr>
          <a:schemeClr val="accent3"/>
        </a:buClr>
        <a:buFont typeface="Wingdings" pitchFamily="2" charset="2"/>
        <a:buChar char="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countingtools.com/articles/2017/5/10/investment" TargetMode="External"/><Relationship Id="rId2" Type="http://schemas.openxmlformats.org/officeDocument/2006/relationships/hyperlink" Target="https://www.accountingtools.com/articles/2017/5/16/sweep-accoun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Treasury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Cash Concentration</a:t>
            </a:r>
          </a:p>
        </p:txBody>
      </p:sp>
    </p:spTree>
    <p:extLst>
      <p:ext uri="{BB962C8B-B14F-4D97-AF65-F5344CB8AC3E}">
        <p14:creationId xmlns:p14="http://schemas.microsoft.com/office/powerpoint/2010/main" val="83727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8CAD-E9F2-4E3A-8803-01045774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38DE-E6F2-48B3-AAAF-ED31DED81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Large organisations maintain different bank accounts with different banks as a way of cash management</a:t>
            </a:r>
          </a:p>
          <a:p>
            <a:r>
              <a:rPr lang="en-GB" dirty="0"/>
              <a:t>Treasury must track the balances in the individual bank accounts</a:t>
            </a:r>
          </a:p>
          <a:p>
            <a:r>
              <a:rPr lang="en-GB" dirty="0"/>
              <a:t>Fragmented cash balances make it difficult to fund centralised payments, pay down debt, or invest funds etc</a:t>
            </a:r>
          </a:p>
        </p:txBody>
      </p:sp>
    </p:spTree>
    <p:extLst>
      <p:ext uri="{BB962C8B-B14F-4D97-AF65-F5344CB8AC3E}">
        <p14:creationId xmlns:p14="http://schemas.microsoft.com/office/powerpoint/2010/main" val="38946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D9C2-0C74-475C-9B9D-9DB27E56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9D603-9E17-4415-B75C-476B39943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solution to these problems is cash concentration</a:t>
            </a:r>
          </a:p>
          <a:p>
            <a:r>
              <a:rPr lang="en-GB" dirty="0"/>
              <a:t>This is where cash in multiple accounts is pooled</a:t>
            </a:r>
          </a:p>
          <a:p>
            <a:r>
              <a:rPr lang="en-GB" dirty="0"/>
              <a:t>Pooling can be achieved either through physical sweeping or notional pooling</a:t>
            </a:r>
          </a:p>
          <a:p>
            <a:r>
              <a:rPr lang="en-GB" dirty="0"/>
              <a:t>Involves the physical movement of cash into a central pooling account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30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BFEE-7E2D-45E4-8373-15348420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Sweeping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180BA-1572-4E15-B4AB-0F036616D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Zero balance account (ZBA)</a:t>
            </a:r>
          </a:p>
          <a:p>
            <a:r>
              <a:rPr lang="en-GB" dirty="0"/>
              <a:t>Where the bank automatically moves cash from that account into a concentration account, usually within the same bank</a:t>
            </a:r>
          </a:p>
          <a:p>
            <a:r>
              <a:rPr lang="en-GB" dirty="0"/>
              <a:t>The cash balance in the zero balance account is reduced to zero whenever a sweep occurs </a:t>
            </a:r>
          </a:p>
          <a:p>
            <a:r>
              <a:rPr lang="en-GB" dirty="0"/>
              <a:t>Funds are transferred into the account where a debit balance occurs</a:t>
            </a:r>
          </a:p>
        </p:txBody>
      </p:sp>
    </p:spTree>
    <p:extLst>
      <p:ext uri="{BB962C8B-B14F-4D97-AF65-F5344CB8AC3E}">
        <p14:creationId xmlns:p14="http://schemas.microsoft.com/office/powerpoint/2010/main" val="277603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805F-5460-4674-AADD-38975E2C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Sweeping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0687-7EA1-4B29-A662-5A7F7AE9B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ii. Constant balancing </a:t>
            </a:r>
          </a:p>
          <a:p>
            <a:r>
              <a:rPr lang="en-GB" dirty="0"/>
              <a:t>Where a pre-determined minimum balance in a subsidiary account is maintained</a:t>
            </a:r>
          </a:p>
          <a:p>
            <a:r>
              <a:rPr lang="en-GB" dirty="0"/>
              <a:t>This involves sweeping only the cash levels above the minimum balance</a:t>
            </a:r>
          </a:p>
          <a:p>
            <a:r>
              <a:rPr lang="en-GB" dirty="0"/>
              <a:t>The reverse sweeping cash into the subsidiary account if the balance drops below the minimum balance </a:t>
            </a:r>
          </a:p>
        </p:txBody>
      </p:sp>
    </p:spTree>
    <p:extLst>
      <p:ext uri="{BB962C8B-B14F-4D97-AF65-F5344CB8AC3E}">
        <p14:creationId xmlns:p14="http://schemas.microsoft.com/office/powerpoint/2010/main" val="204481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F1F2-034A-442C-8715-5DAA59E0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Sweeping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1388-BD4D-412C-8962-E03113341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iii. Trigger balances</a:t>
            </a:r>
          </a:p>
          <a:p>
            <a:r>
              <a:rPr lang="en-GB" dirty="0"/>
              <a:t>It may be more cost effective to sweep balances less frequently by using trigger balances</a:t>
            </a:r>
          </a:p>
          <a:p>
            <a:r>
              <a:rPr lang="en-GB" dirty="0"/>
              <a:t>A trigger balance is an account balance level above which excess funds are automatically shifted out of a </a:t>
            </a:r>
            <a:r>
              <a:rPr lang="en-GB" dirty="0">
                <a:hlinkClick r:id="rId2"/>
              </a:rPr>
              <a:t>sweep account</a:t>
            </a:r>
            <a:r>
              <a:rPr lang="en-GB" dirty="0"/>
              <a:t> and into an </a:t>
            </a:r>
            <a:r>
              <a:rPr lang="en-GB" dirty="0">
                <a:hlinkClick r:id="rId3"/>
              </a:rPr>
              <a:t>investment</a:t>
            </a:r>
            <a:r>
              <a:rPr lang="en-GB" dirty="0"/>
              <a:t> account.</a:t>
            </a:r>
          </a:p>
          <a:p>
            <a:r>
              <a:rPr lang="en-GB" dirty="0"/>
              <a:t>A trigger balance may reduce the number of sweeps from a less-active sweep account, perhaps to as little as once a week or month.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794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47E88-77D7-4688-AE7E-7DFBB0EF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Balances Before sweep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21AFD-2990-4AF1-8F00-4F68565C8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D5904E-602A-4DE5-A64F-B5EAEB70CBF2}"/>
              </a:ext>
            </a:extLst>
          </p:cNvPr>
          <p:cNvSpPr/>
          <p:nvPr/>
        </p:nvSpPr>
        <p:spPr>
          <a:xfrm>
            <a:off x="4099560" y="2560320"/>
            <a:ext cx="1249680" cy="746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Concentration account</a:t>
            </a:r>
          </a:p>
          <a:p>
            <a:pPr algn="ctr"/>
            <a:r>
              <a:rPr lang="en-GB" sz="1050" dirty="0"/>
              <a:t>K0 initial </a:t>
            </a:r>
            <a:r>
              <a:rPr lang="en-GB" sz="1050" dirty="0" err="1"/>
              <a:t>balanmce</a:t>
            </a:r>
            <a:r>
              <a:rPr lang="en-GB" sz="105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50F4FE-158C-4E91-B84D-6E8363813297}"/>
              </a:ext>
            </a:extLst>
          </p:cNvPr>
          <p:cNvSpPr/>
          <p:nvPr/>
        </p:nvSpPr>
        <p:spPr>
          <a:xfrm>
            <a:off x="1478280" y="4663440"/>
            <a:ext cx="1432560" cy="868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Local Bank Account A</a:t>
            </a:r>
          </a:p>
          <a:p>
            <a:pPr algn="ctr"/>
            <a:r>
              <a:rPr lang="en-GB" sz="1050" dirty="0"/>
              <a:t>K10,000 CR</a:t>
            </a:r>
            <a:r>
              <a:rPr lang="en-GB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D4E36-F4F2-4EED-863F-84BD5E1DEFB9}"/>
              </a:ext>
            </a:extLst>
          </p:cNvPr>
          <p:cNvSpPr/>
          <p:nvPr/>
        </p:nvSpPr>
        <p:spPr>
          <a:xfrm>
            <a:off x="4251960" y="4663440"/>
            <a:ext cx="1249680" cy="868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Local Bank </a:t>
            </a:r>
          </a:p>
          <a:p>
            <a:pPr algn="ctr"/>
            <a:r>
              <a:rPr lang="en-GB" sz="1050" dirty="0"/>
              <a:t>Account B</a:t>
            </a:r>
          </a:p>
          <a:p>
            <a:pPr algn="ctr"/>
            <a:r>
              <a:rPr lang="en-GB" sz="1050" dirty="0"/>
              <a:t>K25,000 CR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EE8BA-7C79-4DBE-AEFC-E175D1DE71A4}"/>
              </a:ext>
            </a:extLst>
          </p:cNvPr>
          <p:cNvSpPr/>
          <p:nvPr/>
        </p:nvSpPr>
        <p:spPr>
          <a:xfrm>
            <a:off x="7222173" y="4663440"/>
            <a:ext cx="1082040" cy="868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Local Bank </a:t>
            </a:r>
          </a:p>
          <a:p>
            <a:pPr algn="ctr"/>
            <a:r>
              <a:rPr lang="en-GB" sz="1050" dirty="0"/>
              <a:t>Account C</a:t>
            </a:r>
          </a:p>
          <a:p>
            <a:pPr algn="ctr"/>
            <a:r>
              <a:rPr lang="en-GB" sz="1050" dirty="0"/>
              <a:t>K5,000 DR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768EDF-BCFD-4EE7-A22F-4B82FA5C667C}"/>
              </a:ext>
            </a:extLst>
          </p:cNvPr>
          <p:cNvCxnSpPr>
            <a:stCxn id="4" idx="2"/>
          </p:cNvCxnSpPr>
          <p:nvPr/>
        </p:nvCxnSpPr>
        <p:spPr>
          <a:xfrm>
            <a:off x="4724400" y="3307080"/>
            <a:ext cx="0" cy="135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4702F9-6C57-4009-8956-B460926E436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194560" y="3307080"/>
            <a:ext cx="2529840" cy="135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E0CC83-5C20-472A-8995-95322378F6A4}"/>
              </a:ext>
            </a:extLst>
          </p:cNvPr>
          <p:cNvCxnSpPr>
            <a:stCxn id="4" idx="2"/>
          </p:cNvCxnSpPr>
          <p:nvPr/>
        </p:nvCxnSpPr>
        <p:spPr>
          <a:xfrm>
            <a:off x="4724400" y="3307080"/>
            <a:ext cx="2941320" cy="135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FC9D0B-E0FD-4AC3-B150-C0FCC071D179}"/>
                  </a:ext>
                </a:extLst>
              </p14:cNvPr>
              <p14:cNvContentPartPr/>
              <p14:nvPr/>
            </p14:nvContentPartPr>
            <p14:xfrm>
              <a:off x="5086800" y="5391720"/>
              <a:ext cx="15120" cy="2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FC9D0B-E0FD-4AC3-B150-C0FCC071D1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7440" y="5382360"/>
                <a:ext cx="3384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742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C54D-0F31-4774-9767-C89AFF32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Balances after sweep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7B2AD-D8CA-479C-864C-4C80EDE1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423B6-A425-46DE-9322-E6286C307FAE}"/>
              </a:ext>
            </a:extLst>
          </p:cNvPr>
          <p:cNvSpPr/>
          <p:nvPr/>
        </p:nvSpPr>
        <p:spPr>
          <a:xfrm>
            <a:off x="4373880" y="2575560"/>
            <a:ext cx="1203960" cy="8534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Concentration Account</a:t>
            </a:r>
          </a:p>
          <a:p>
            <a:pPr algn="ctr"/>
            <a:r>
              <a:rPr lang="en-GB" sz="1050" dirty="0"/>
              <a:t>K35,000 balance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872E2B-949C-4F1E-B9AC-EE0CB531BC4F}"/>
              </a:ext>
            </a:extLst>
          </p:cNvPr>
          <p:cNvSpPr/>
          <p:nvPr/>
        </p:nvSpPr>
        <p:spPr>
          <a:xfrm>
            <a:off x="1495107" y="4511040"/>
            <a:ext cx="914400" cy="8534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Local Bank</a:t>
            </a:r>
          </a:p>
          <a:p>
            <a:pPr algn="ctr"/>
            <a:r>
              <a:rPr lang="en-GB" sz="1050" dirty="0"/>
              <a:t>Account A </a:t>
            </a:r>
          </a:p>
          <a:p>
            <a:pPr algn="ctr"/>
            <a:r>
              <a:rPr lang="en-GB" sz="1050" dirty="0"/>
              <a:t>K0 balance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2947C-617C-458E-B88C-B7D4B1F4F6F4}"/>
              </a:ext>
            </a:extLst>
          </p:cNvPr>
          <p:cNvSpPr/>
          <p:nvPr/>
        </p:nvSpPr>
        <p:spPr>
          <a:xfrm>
            <a:off x="4403566" y="4419600"/>
            <a:ext cx="1082040" cy="8534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Local Bank </a:t>
            </a:r>
          </a:p>
          <a:p>
            <a:pPr algn="ctr"/>
            <a:r>
              <a:rPr lang="en-GB" sz="1050" dirty="0"/>
              <a:t>Account B</a:t>
            </a:r>
          </a:p>
          <a:p>
            <a:pPr algn="ctr"/>
            <a:r>
              <a:rPr lang="en-GB" sz="1050" dirty="0"/>
              <a:t>K0 balance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9E46E1-C180-4A61-A342-8810654F2BE2}"/>
              </a:ext>
            </a:extLst>
          </p:cNvPr>
          <p:cNvSpPr/>
          <p:nvPr/>
        </p:nvSpPr>
        <p:spPr>
          <a:xfrm>
            <a:off x="6833554" y="4419600"/>
            <a:ext cx="108204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Local Bank </a:t>
            </a:r>
          </a:p>
          <a:p>
            <a:pPr algn="ctr"/>
            <a:r>
              <a:rPr lang="en-GB" sz="1050" dirty="0"/>
              <a:t>Account c</a:t>
            </a:r>
          </a:p>
          <a:p>
            <a:pPr algn="ctr"/>
            <a:r>
              <a:rPr lang="en-GB" sz="1050" dirty="0"/>
              <a:t>-K5, 000 balance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6FDA41-4576-42CD-927E-09A27C643855}"/>
              </a:ext>
            </a:extLst>
          </p:cNvPr>
          <p:cNvCxnSpPr>
            <a:stCxn id="4" idx="2"/>
          </p:cNvCxnSpPr>
          <p:nvPr/>
        </p:nvCxnSpPr>
        <p:spPr>
          <a:xfrm>
            <a:off x="4975860" y="3429000"/>
            <a:ext cx="0" cy="990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B3DBC1-DCEC-4DF6-83A1-9C7AC6D96F55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4975860" y="3429000"/>
            <a:ext cx="2398714" cy="990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CA719D-F7C3-49F7-AA55-100C8978D49F}"/>
              </a:ext>
            </a:extLst>
          </p:cNvPr>
          <p:cNvCxnSpPr>
            <a:stCxn id="4" idx="2"/>
          </p:cNvCxnSpPr>
          <p:nvPr/>
        </p:nvCxnSpPr>
        <p:spPr>
          <a:xfrm flipH="1">
            <a:off x="1952307" y="3429000"/>
            <a:ext cx="3023553" cy="1082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92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7C01-AA1C-436F-90A9-3715FE8D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Notional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AE7CF-CDC6-44F5-A2DA-117033021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Notional pooling is a mechanism for calculating interest on the combined credit and debit balances that a corporate parent chooses to cluster together without actually transferring any funds.</a:t>
            </a:r>
          </a:p>
          <a:p>
            <a:pPr algn="just"/>
            <a:r>
              <a:rPr lang="en-GB" dirty="0"/>
              <a:t>Approach allows each subsidiary to take advantage of a single, centralized liquidity position, while still retaining daily cash management privileges</a:t>
            </a:r>
          </a:p>
          <a:p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B37EF0-94A6-486F-85AC-B5AA4F771822}"/>
                  </a:ext>
                </a:extLst>
              </p14:cNvPr>
              <p14:cNvContentPartPr/>
              <p14:nvPr/>
            </p14:nvContentPartPr>
            <p14:xfrm>
              <a:off x="3741480" y="5261760"/>
              <a:ext cx="24840" cy="21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B37EF0-94A6-486F-85AC-B5AA4F7718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2120" y="5252400"/>
                <a:ext cx="43560" cy="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667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7C2F-8ABD-40C1-9CE2-23A6DD44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Notional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A0FD-D88F-4A30-9021-D3BDE3C18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avoids the use of cash transfers to a central pooling account </a:t>
            </a:r>
          </a:p>
          <a:p>
            <a:r>
              <a:rPr lang="en-GB" dirty="0"/>
              <a:t>There is no need to create or monitor intercompany loans, nor are there any bank fees related to cash transfers</a:t>
            </a:r>
          </a:p>
          <a:p>
            <a:r>
              <a:rPr lang="en-GB" dirty="0"/>
              <a:t>It largely eliminates the need to arrange overdraft lines with local banks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444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21E6-1817-46F7-8FFF-1024B8A6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Notional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CAB35-DBA5-474A-8B16-E37B1C77A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Interest earnings tend to be higher than if investments were made separately for the smaller individual accounts</a:t>
            </a:r>
          </a:p>
          <a:p>
            <a:r>
              <a:rPr lang="en-GB" dirty="0"/>
              <a:t>It offer solutions for partially owned subsidiaries whose owners may not be willing to physically transfer funds to an account controlled by another entity</a:t>
            </a:r>
          </a:p>
          <a:p>
            <a:r>
              <a:rPr lang="en-GB" dirty="0"/>
              <a:t>The use of notional pooling is not a long term commitment i.e. it is relatively easy to back out  </a:t>
            </a:r>
          </a:p>
        </p:txBody>
      </p:sp>
    </p:spTree>
    <p:extLst>
      <p:ext uri="{BB962C8B-B14F-4D97-AF65-F5344CB8AC3E}">
        <p14:creationId xmlns:p14="http://schemas.microsoft.com/office/powerpoint/2010/main" val="235654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8BEC-4DC2-4A61-851F-E57F60295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Notional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2E467-A065-4234-8E76-03A8BDC6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global pooling is offered, the pool offsets credit and debit balances on a multicurrency basis without the need to engage in any foreign exchange transactions</a:t>
            </a:r>
          </a:p>
          <a:p>
            <a:r>
              <a:rPr lang="en-GB" dirty="0"/>
              <a:t>Once a company earns interest on the funds in a notional account, interest income is usually allocated back to each of the accounts making up the pool</a:t>
            </a:r>
          </a:p>
        </p:txBody>
      </p:sp>
    </p:spTree>
    <p:extLst>
      <p:ext uri="{BB962C8B-B14F-4D97-AF65-F5344CB8AC3E}">
        <p14:creationId xmlns:p14="http://schemas.microsoft.com/office/powerpoint/2010/main" val="354033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66BE-D182-4062-808B-C74FEE8E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Notional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A215-626E-41BD-9170-FF8DF1492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disadvantage of notional pooling is that it is not allowed in some countries, especially in some parts of Africa, Asia and Latin America (although it is common in Europe)</a:t>
            </a:r>
          </a:p>
          <a:p>
            <a:r>
              <a:rPr lang="en-GB" dirty="0"/>
              <a:t>The precise form of notional pooling arrangement will vary according to local laws</a:t>
            </a:r>
          </a:p>
          <a:p>
            <a:r>
              <a:rPr lang="en-GB" dirty="0"/>
              <a:t>Some countries allow cross-border pooling while other do not</a:t>
            </a:r>
          </a:p>
        </p:txBody>
      </p:sp>
    </p:spTree>
    <p:extLst>
      <p:ext uri="{BB962C8B-B14F-4D97-AF65-F5344CB8AC3E}">
        <p14:creationId xmlns:p14="http://schemas.microsoft.com/office/powerpoint/2010/main" val="282863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BA8B-6D24-41F6-AA6D-832F6EFF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Comparisons of Account Sweeping and Notional Pooling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1EA78A-112E-457E-9971-E8910182A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110470"/>
              </p:ext>
            </p:extLst>
          </p:nvPr>
        </p:nvGraphicFramePr>
        <p:xfrm>
          <a:off x="685800" y="2209800"/>
          <a:ext cx="7770814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5407">
                  <a:extLst>
                    <a:ext uri="{9D8B030D-6E8A-4147-A177-3AD203B41FA5}">
                      <a16:colId xmlns:a16="http://schemas.microsoft.com/office/drawing/2014/main" val="2434745842"/>
                    </a:ext>
                  </a:extLst>
                </a:gridCol>
                <a:gridCol w="3885407">
                  <a:extLst>
                    <a:ext uri="{9D8B030D-6E8A-4147-A177-3AD203B41FA5}">
                      <a16:colId xmlns:a16="http://schemas.microsoft.com/office/drawing/2014/main" val="2318231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Account Sweeping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Notional Pooling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4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better alternative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4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Cash is swept out to a concentration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Cash does not physically leave the bank 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566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Transaction costs high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Transaction costs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31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If parent company allocates interest earned to various subsidiaries based on cash balances, this requires accounting resources to calculate interest income allocation based on intercompany loans and 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Bank may be able to automate the calculation of interest with a physical transfer of funds at month end to pay out interest income to each subsidiary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591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15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EA41-63D2-40BA-B9A3-57F50B9B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Comparisons of Account Sweeping and Notional Pooling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EEE5D8-CFB8-49CA-9263-DB04DC7E2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920671"/>
              </p:ext>
            </p:extLst>
          </p:nvPr>
        </p:nvGraphicFramePr>
        <p:xfrm>
          <a:off x="685800" y="2209800"/>
          <a:ext cx="7770814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5407">
                  <a:extLst>
                    <a:ext uri="{9D8B030D-6E8A-4147-A177-3AD203B41FA5}">
                      <a16:colId xmlns:a16="http://schemas.microsoft.com/office/drawing/2014/main" val="27320518"/>
                    </a:ext>
                  </a:extLst>
                </a:gridCol>
                <a:gridCol w="3885407">
                  <a:extLst>
                    <a:ext uri="{9D8B030D-6E8A-4147-A177-3AD203B41FA5}">
                      <a16:colId xmlns:a16="http://schemas.microsoft.com/office/drawing/2014/main" val="1841907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Account Sweeping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Notional Pooling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312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Requires the use of foreign exchange transactions and possibly hedging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Eliminates these activities since funds are not shifted from one currency to another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6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Can have adverse tax consequences in some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tax problems are triggered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13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Face resistance from local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More likely to be supported by local managers as they retain control over their cash balances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822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More acceptable in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Maybe illegal in some countries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549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596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olio">
  <a:themeElements>
    <a:clrScheme name="Folio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8E887C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Folio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Folio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40000"/>
                <a:satMod val="120000"/>
              </a:schemeClr>
              <a:schemeClr val="phClr">
                <a:tint val="70000"/>
                <a:satMod val="300000"/>
                <a:lumMod val="110000"/>
              </a:schemeClr>
            </a:duotone>
          </a:blip>
          <a:tile tx="0" ty="0" sx="50000" sy="50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algn="br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st="25400">
              <a:srgbClr val="000000">
                <a:alpha val="50000"/>
              </a:srgbClr>
            </a:inn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3000"/>
                <a:lumMod val="10000"/>
              </a:schemeClr>
              <a:schemeClr val="phClr">
                <a:tint val="91000"/>
                <a:satMod val="500000"/>
                <a:lumMod val="125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Folio.thmx</Template>
  <TotalTime>3278</TotalTime>
  <Words>763</Words>
  <Application>Microsoft Office PowerPoint</Application>
  <PresentationFormat>On-screen Show (4:3)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Calisto MT</vt:lpstr>
      <vt:lpstr>Wingdings</vt:lpstr>
      <vt:lpstr>Folio</vt:lpstr>
      <vt:lpstr>Treasury Management</vt:lpstr>
      <vt:lpstr>Introduction</vt:lpstr>
      <vt:lpstr>Introduction</vt:lpstr>
      <vt:lpstr>Physical Sweeping</vt:lpstr>
      <vt:lpstr>Physical Sweeping</vt:lpstr>
      <vt:lpstr>Physical Sweeping</vt:lpstr>
      <vt:lpstr>Balances Before sweep</vt:lpstr>
      <vt:lpstr>Balances after sweep</vt:lpstr>
      <vt:lpstr>Notional Pooling</vt:lpstr>
      <vt:lpstr>Notional Pooling</vt:lpstr>
      <vt:lpstr>Notional Pooling</vt:lpstr>
      <vt:lpstr>Notional Pooling</vt:lpstr>
      <vt:lpstr>Notional Pooling</vt:lpstr>
      <vt:lpstr>Comparisons of Account Sweeping and Notional Pooling</vt:lpstr>
      <vt:lpstr>Comparisons of Account Sweeping and Notional Pooling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322</dc:title>
  <dc:creator>Webster Sikazwe</dc:creator>
  <cp:lastModifiedBy>Jackson Sishumba</cp:lastModifiedBy>
  <cp:revision>246</cp:revision>
  <dcterms:created xsi:type="dcterms:W3CDTF">2018-08-06T09:52:02Z</dcterms:created>
  <dcterms:modified xsi:type="dcterms:W3CDTF">2023-10-08T16:39:37Z</dcterms:modified>
</cp:coreProperties>
</file>