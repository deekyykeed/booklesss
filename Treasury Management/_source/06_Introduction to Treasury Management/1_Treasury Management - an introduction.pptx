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450" r:id="rId3"/>
    <p:sldId id="280" r:id="rId4"/>
    <p:sldId id="281" r:id="rId5"/>
    <p:sldId id="257" r:id="rId6"/>
    <p:sldId id="258" r:id="rId7"/>
    <p:sldId id="263" r:id="rId8"/>
    <p:sldId id="264" r:id="rId9"/>
    <p:sldId id="265" r:id="rId10"/>
    <p:sldId id="267" r:id="rId11"/>
    <p:sldId id="274" r:id="rId12"/>
    <p:sldId id="275" r:id="rId13"/>
    <p:sldId id="276" r:id="rId14"/>
    <p:sldId id="268" r:id="rId15"/>
    <p:sldId id="270" r:id="rId16"/>
    <p:sldId id="277" r:id="rId17"/>
    <p:sldId id="278" r:id="rId18"/>
    <p:sldId id="272" r:id="rId19"/>
    <p:sldId id="273" r:id="rId20"/>
    <p:sldId id="451" r:id="rId21"/>
    <p:sldId id="271" r:id="rId22"/>
    <p:sldId id="452" r:id="rId23"/>
    <p:sldId id="260" r:id="rId24"/>
    <p:sldId id="453" r:id="rId25"/>
    <p:sldId id="266" r:id="rId26"/>
    <p:sldId id="454" r:id="rId27"/>
    <p:sldId id="455" r:id="rId28"/>
    <p:sldId id="456" r:id="rId29"/>
    <p:sldId id="457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0F424-746E-4632-8719-7A5D9BB4814D}" v="47" dt="2026-01-29T10:27:37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7" autoAdjust="0"/>
    <p:restoredTop sz="94669" autoAdjust="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bster Sikazwe" userId="fde8e4ff-e458-491d-986d-9074a4564a78" providerId="ADAL" clId="{36E80268-451A-4C0E-8851-DDE9740546F1}"/>
    <pc:docChg chg="custSel addSld delSld modSld">
      <pc:chgData name="Webster Sikazwe" userId="fde8e4ff-e458-491d-986d-9074a4564a78" providerId="ADAL" clId="{36E80268-451A-4C0E-8851-DDE9740546F1}" dt="2026-01-29T10:27:37.847" v="529" actId="113"/>
      <pc:docMkLst>
        <pc:docMk/>
      </pc:docMkLst>
      <pc:sldChg chg="modSp mod">
        <pc:chgData name="Webster Sikazwe" userId="fde8e4ff-e458-491d-986d-9074a4564a78" providerId="ADAL" clId="{36E80268-451A-4C0E-8851-DDE9740546F1}" dt="2026-01-27T20:11:47.665" v="20"/>
        <pc:sldMkLst>
          <pc:docMk/>
          <pc:sldMk cId="549172569" sldId="256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549172569" sldId="256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549172569" sldId="256"/>
            <ac:spMk id="3" creationId="{00000000-0000-0000-0000-000000000000}"/>
          </ac:spMkLst>
        </pc:spChg>
      </pc:sldChg>
      <pc:sldChg chg="modSp mod modAnim">
        <pc:chgData name="Webster Sikazwe" userId="fde8e4ff-e458-491d-986d-9074a4564a78" providerId="ADAL" clId="{36E80268-451A-4C0E-8851-DDE9740546F1}" dt="2026-01-27T20:25:39.317" v="101"/>
        <pc:sldMkLst>
          <pc:docMk/>
          <pc:sldMk cId="887280202" sldId="257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887280202" sldId="257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887280202" sldId="257"/>
            <ac:spMk id="3" creationId="{00000000-0000-0000-0000-000000000000}"/>
          </ac:spMkLst>
        </pc:spChg>
      </pc:sldChg>
      <pc:sldChg chg="modSp modAnim">
        <pc:chgData name="Webster Sikazwe" userId="fde8e4ff-e458-491d-986d-9074a4564a78" providerId="ADAL" clId="{36E80268-451A-4C0E-8851-DDE9740546F1}" dt="2026-01-27T20:25:51.036" v="102"/>
        <pc:sldMkLst>
          <pc:docMk/>
          <pc:sldMk cId="2860671852" sldId="258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860671852" sldId="258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860671852" sldId="258"/>
            <ac:spMk id="3" creationId="{00000000-0000-0000-0000-000000000000}"/>
          </ac:spMkLst>
        </pc:spChg>
      </pc:sldChg>
      <pc:sldChg chg="add">
        <pc:chgData name="Webster Sikazwe" userId="fde8e4ff-e458-491d-986d-9074a4564a78" providerId="ADAL" clId="{36E80268-451A-4C0E-8851-DDE9740546F1}" dt="2026-01-29T10:23:55.743" v="519"/>
        <pc:sldMkLst>
          <pc:docMk/>
          <pc:sldMk cId="1879609339" sldId="260"/>
        </pc:sldMkLst>
      </pc:sldChg>
      <pc:sldChg chg="modSp mod modAnim">
        <pc:chgData name="Webster Sikazwe" userId="fde8e4ff-e458-491d-986d-9074a4564a78" providerId="ADAL" clId="{36E80268-451A-4C0E-8851-DDE9740546F1}" dt="2026-01-28T14:06:38.515" v="130" actId="113"/>
        <pc:sldMkLst>
          <pc:docMk/>
          <pc:sldMk cId="821285633" sldId="263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821285633" sldId="263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8T14:06:38.515" v="130" actId="113"/>
          <ac:spMkLst>
            <pc:docMk/>
            <pc:sldMk cId="821285633" sldId="263"/>
            <ac:spMk id="3" creationId="{00000000-0000-0000-0000-000000000000}"/>
          </ac:spMkLst>
        </pc:spChg>
      </pc:sldChg>
      <pc:sldChg chg="modSp mod modAnim">
        <pc:chgData name="Webster Sikazwe" userId="fde8e4ff-e458-491d-986d-9074a4564a78" providerId="ADAL" clId="{36E80268-451A-4C0E-8851-DDE9740546F1}" dt="2026-01-28T14:06:49.147" v="131" actId="113"/>
        <pc:sldMkLst>
          <pc:docMk/>
          <pc:sldMk cId="3679925535" sldId="264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3679925535" sldId="264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8T14:06:49.147" v="131" actId="113"/>
          <ac:spMkLst>
            <pc:docMk/>
            <pc:sldMk cId="3679925535" sldId="264"/>
            <ac:spMk id="3" creationId="{00000000-0000-0000-0000-000000000000}"/>
          </ac:spMkLst>
        </pc:spChg>
      </pc:sldChg>
      <pc:sldChg chg="modSp mod modAnim">
        <pc:chgData name="Webster Sikazwe" userId="fde8e4ff-e458-491d-986d-9074a4564a78" providerId="ADAL" clId="{36E80268-451A-4C0E-8851-DDE9740546F1}" dt="2026-01-28T14:06:59.044" v="132" actId="113"/>
        <pc:sldMkLst>
          <pc:docMk/>
          <pc:sldMk cId="504908936" sldId="265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504908936" sldId="265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8T14:06:59.044" v="132" actId="113"/>
          <ac:spMkLst>
            <pc:docMk/>
            <pc:sldMk cId="504908936" sldId="265"/>
            <ac:spMk id="3" creationId="{00000000-0000-0000-0000-000000000000}"/>
          </ac:spMkLst>
        </pc:spChg>
      </pc:sldChg>
      <pc:sldChg chg="add">
        <pc:chgData name="Webster Sikazwe" userId="fde8e4ff-e458-491d-986d-9074a4564a78" providerId="ADAL" clId="{36E80268-451A-4C0E-8851-DDE9740546F1}" dt="2026-01-29T10:24:28.245" v="521"/>
        <pc:sldMkLst>
          <pc:docMk/>
          <pc:sldMk cId="4022980724" sldId="266"/>
        </pc:sldMkLst>
      </pc:sldChg>
      <pc:sldChg chg="modSp modAnim">
        <pc:chgData name="Webster Sikazwe" userId="fde8e4ff-e458-491d-986d-9074a4564a78" providerId="ADAL" clId="{36E80268-451A-4C0E-8851-DDE9740546F1}" dt="2026-01-27T20:26:30.645" v="107"/>
        <pc:sldMkLst>
          <pc:docMk/>
          <pc:sldMk cId="1263150270" sldId="267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1263150270" sldId="267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1263150270" sldId="267"/>
            <ac:spMk id="3" creationId="{00000000-0000-0000-0000-000000000000}"/>
          </ac:spMkLst>
        </pc:spChg>
      </pc:sldChg>
      <pc:sldChg chg="modSp modAnim">
        <pc:chgData name="Webster Sikazwe" userId="fde8e4ff-e458-491d-986d-9074a4564a78" providerId="ADAL" clId="{36E80268-451A-4C0E-8851-DDE9740546F1}" dt="2026-01-28T14:07:22.873" v="135" actId="113"/>
        <pc:sldMkLst>
          <pc:docMk/>
          <pc:sldMk cId="4061408979" sldId="268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4061408979" sldId="268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8T14:07:22.873" v="135" actId="113"/>
          <ac:spMkLst>
            <pc:docMk/>
            <pc:sldMk cId="4061408979" sldId="268"/>
            <ac:spMk id="3" creationId="{00000000-0000-0000-0000-000000000000}"/>
          </ac:spMkLst>
        </pc:spChg>
      </pc:sldChg>
      <pc:sldChg chg="modSp del modAnim">
        <pc:chgData name="Webster Sikazwe" userId="fde8e4ff-e458-491d-986d-9074a4564a78" providerId="ADAL" clId="{36E80268-451A-4C0E-8851-DDE9740546F1}" dt="2026-01-29T10:27:01.264" v="527" actId="2696"/>
        <pc:sldMkLst>
          <pc:docMk/>
          <pc:sldMk cId="1785375413" sldId="269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1785375413" sldId="269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1785375413" sldId="269"/>
            <ac:spMk id="3" creationId="{00000000-0000-0000-0000-000000000000}"/>
          </ac:spMkLst>
        </pc:spChg>
      </pc:sldChg>
      <pc:sldChg chg="modSp modAnim">
        <pc:chgData name="Webster Sikazwe" userId="fde8e4ff-e458-491d-986d-9074a4564a78" providerId="ADAL" clId="{36E80268-451A-4C0E-8851-DDE9740546F1}" dt="2026-01-27T20:27:18.492" v="113"/>
        <pc:sldMkLst>
          <pc:docMk/>
          <pc:sldMk cId="536679034" sldId="270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536679034" sldId="270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536679034" sldId="270"/>
            <ac:spMk id="3" creationId="{00000000-0000-0000-0000-000000000000}"/>
          </ac:spMkLst>
        </pc:spChg>
      </pc:sldChg>
      <pc:sldChg chg="add">
        <pc:chgData name="Webster Sikazwe" userId="fde8e4ff-e458-491d-986d-9074a4564a78" providerId="ADAL" clId="{36E80268-451A-4C0E-8851-DDE9740546F1}" dt="2026-01-29T10:23:24.332" v="517"/>
        <pc:sldMkLst>
          <pc:docMk/>
          <pc:sldMk cId="2374263046" sldId="271"/>
        </pc:sldMkLst>
      </pc:sldChg>
      <pc:sldChg chg="modSp modAnim">
        <pc:chgData name="Webster Sikazwe" userId="fde8e4ff-e458-491d-986d-9074a4564a78" providerId="ADAL" clId="{36E80268-451A-4C0E-8851-DDE9740546F1}" dt="2026-01-29T10:27:30.566" v="528" actId="113"/>
        <pc:sldMkLst>
          <pc:docMk/>
          <pc:sldMk cId="856199907" sldId="272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856199907" sldId="272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9T10:27:30.566" v="528" actId="113"/>
          <ac:spMkLst>
            <pc:docMk/>
            <pc:sldMk cId="856199907" sldId="272"/>
            <ac:spMk id="3" creationId="{00000000-0000-0000-0000-000000000000}"/>
          </ac:spMkLst>
        </pc:spChg>
      </pc:sldChg>
      <pc:sldChg chg="modSp modAnim">
        <pc:chgData name="Webster Sikazwe" userId="fde8e4ff-e458-491d-986d-9074a4564a78" providerId="ADAL" clId="{36E80268-451A-4C0E-8851-DDE9740546F1}" dt="2026-01-29T10:27:37.847" v="529" actId="113"/>
        <pc:sldMkLst>
          <pc:docMk/>
          <pc:sldMk cId="2256133137" sldId="273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256133137" sldId="273"/>
            <ac:spMk id="2" creationId="{00000000-0000-0000-0000-000000000000}"/>
          </ac:spMkLst>
        </pc:spChg>
        <pc:spChg chg="mod">
          <ac:chgData name="Webster Sikazwe" userId="fde8e4ff-e458-491d-986d-9074a4564a78" providerId="ADAL" clId="{36E80268-451A-4C0E-8851-DDE9740546F1}" dt="2026-01-29T10:27:37.847" v="529" actId="113"/>
          <ac:spMkLst>
            <pc:docMk/>
            <pc:sldMk cId="2256133137" sldId="273"/>
            <ac:spMk id="3" creationId="{00000000-0000-0000-0000-000000000000}"/>
          </ac:spMkLst>
        </pc:spChg>
      </pc:sldChg>
      <pc:sldChg chg="modSp modAnim">
        <pc:chgData name="Webster Sikazwe" userId="fde8e4ff-e458-491d-986d-9074a4564a78" providerId="ADAL" clId="{36E80268-451A-4C0E-8851-DDE9740546F1}" dt="2026-01-27T20:26:36.096" v="108"/>
        <pc:sldMkLst>
          <pc:docMk/>
          <pc:sldMk cId="715899412" sldId="274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715899412" sldId="274"/>
            <ac:spMk id="2" creationId="{44F176DA-4341-4138-A875-55B4EB500606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715899412" sldId="274"/>
            <ac:spMk id="3" creationId="{701DF6E8-225E-4687-A5E0-650953058AD2}"/>
          </ac:spMkLst>
        </pc:spChg>
      </pc:sldChg>
      <pc:sldChg chg="modSp modAnim">
        <pc:chgData name="Webster Sikazwe" userId="fde8e4ff-e458-491d-986d-9074a4564a78" providerId="ADAL" clId="{36E80268-451A-4C0E-8851-DDE9740546F1}" dt="2026-01-27T20:26:45.524" v="109"/>
        <pc:sldMkLst>
          <pc:docMk/>
          <pc:sldMk cId="2160623651" sldId="275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160623651" sldId="275"/>
            <ac:spMk id="2" creationId="{AF7B21CA-6D02-42AD-9581-0215E1DFACA8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160623651" sldId="275"/>
            <ac:spMk id="3" creationId="{835378F4-C740-49FA-A0CC-9E663BDF9412}"/>
          </ac:spMkLst>
        </pc:spChg>
      </pc:sldChg>
      <pc:sldChg chg="modSp modAnim">
        <pc:chgData name="Webster Sikazwe" userId="fde8e4ff-e458-491d-986d-9074a4564a78" providerId="ADAL" clId="{36E80268-451A-4C0E-8851-DDE9740546F1}" dt="2026-01-27T20:26:52.740" v="110"/>
        <pc:sldMkLst>
          <pc:docMk/>
          <pc:sldMk cId="2993666962" sldId="276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993666962" sldId="276"/>
            <ac:spMk id="2" creationId="{9E87B43C-8713-4C68-81C2-A64E53473EEE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993666962" sldId="276"/>
            <ac:spMk id="3" creationId="{19D3E7FE-12E0-4F8F-BF40-CD4F56F8F4CB}"/>
          </ac:spMkLst>
        </pc:spChg>
      </pc:sldChg>
      <pc:sldChg chg="modSp modAnim">
        <pc:chgData name="Webster Sikazwe" userId="fde8e4ff-e458-491d-986d-9074a4564a78" providerId="ADAL" clId="{36E80268-451A-4C0E-8851-DDE9740546F1}" dt="2026-01-27T20:27:23.950" v="114"/>
        <pc:sldMkLst>
          <pc:docMk/>
          <pc:sldMk cId="669366595" sldId="277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669366595" sldId="277"/>
            <ac:spMk id="2" creationId="{1AEC8190-0AD7-40E1-A304-70870B94D431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669366595" sldId="277"/>
            <ac:spMk id="3" creationId="{92B7AC6A-954B-4ECE-84C9-C92D46B45E4D}"/>
          </ac:spMkLst>
        </pc:spChg>
      </pc:sldChg>
      <pc:sldChg chg="modSp modAnim">
        <pc:chgData name="Webster Sikazwe" userId="fde8e4ff-e458-491d-986d-9074a4564a78" providerId="ADAL" clId="{36E80268-451A-4C0E-8851-DDE9740546F1}" dt="2026-01-27T20:27:28.920" v="115"/>
        <pc:sldMkLst>
          <pc:docMk/>
          <pc:sldMk cId="2530733554" sldId="278"/>
        </pc:sldMkLst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530733554" sldId="278"/>
            <ac:spMk id="2" creationId="{EF45BFFC-6383-416B-B413-B3D5FE3048BB}"/>
          </ac:spMkLst>
        </pc:spChg>
        <pc:spChg chg="mod">
          <ac:chgData name="Webster Sikazwe" userId="fde8e4ff-e458-491d-986d-9074a4564a78" providerId="ADAL" clId="{36E80268-451A-4C0E-8851-DDE9740546F1}" dt="2026-01-27T20:11:47.665" v="20"/>
          <ac:spMkLst>
            <pc:docMk/>
            <pc:sldMk cId="2530733554" sldId="278"/>
            <ac:spMk id="3" creationId="{6C7602A8-79C5-4D43-9D46-A064879A8AD8}"/>
          </ac:spMkLst>
        </pc:spChg>
      </pc:sldChg>
      <pc:sldChg chg="addSp delSp modSp new mod modAnim">
        <pc:chgData name="Webster Sikazwe" userId="fde8e4ff-e458-491d-986d-9074a4564a78" providerId="ADAL" clId="{36E80268-451A-4C0E-8851-DDE9740546F1}" dt="2026-01-27T20:27:45.372" v="118"/>
        <pc:sldMkLst>
          <pc:docMk/>
          <pc:sldMk cId="4268621369" sldId="279"/>
        </pc:sldMkLst>
        <pc:spChg chg="mod">
          <ac:chgData name="Webster Sikazwe" userId="fde8e4ff-e458-491d-986d-9074a4564a78" providerId="ADAL" clId="{36E80268-451A-4C0E-8851-DDE9740546F1}" dt="2026-01-27T20:15:55.475" v="41" actId="6549"/>
          <ac:spMkLst>
            <pc:docMk/>
            <pc:sldMk cId="4268621369" sldId="279"/>
            <ac:spMk id="2" creationId="{68097CD4-2005-14C4-4B32-DE2E1B176F62}"/>
          </ac:spMkLst>
        </pc:spChg>
        <pc:picChg chg="add mod">
          <ac:chgData name="Webster Sikazwe" userId="fde8e4ff-e458-491d-986d-9074a4564a78" providerId="ADAL" clId="{36E80268-451A-4C0E-8851-DDE9740546F1}" dt="2026-01-27T20:16:07.377" v="45" actId="14100"/>
          <ac:picMkLst>
            <pc:docMk/>
            <pc:sldMk cId="4268621369" sldId="279"/>
            <ac:picMk id="1026" creationId="{50F91E0D-8832-ACB1-C22D-8E756ABB589A}"/>
          </ac:picMkLst>
        </pc:picChg>
      </pc:sldChg>
      <pc:sldChg chg="modSp new mod modAnim">
        <pc:chgData name="Webster Sikazwe" userId="fde8e4ff-e458-491d-986d-9074a4564a78" providerId="ADAL" clId="{36E80268-451A-4C0E-8851-DDE9740546F1}" dt="2026-01-28T14:45:07.868" v="514"/>
        <pc:sldMkLst>
          <pc:docMk/>
          <pc:sldMk cId="3510106809" sldId="280"/>
        </pc:sldMkLst>
        <pc:spChg chg="mod">
          <ac:chgData name="Webster Sikazwe" userId="fde8e4ff-e458-491d-986d-9074a4564a78" providerId="ADAL" clId="{36E80268-451A-4C0E-8851-DDE9740546F1}" dt="2026-01-27T20:24:57.313" v="61" actId="20577"/>
          <ac:spMkLst>
            <pc:docMk/>
            <pc:sldMk cId="3510106809" sldId="280"/>
            <ac:spMk id="2" creationId="{EFFB967C-4E24-E24D-B5BC-5C2915ED9070}"/>
          </ac:spMkLst>
        </pc:spChg>
        <pc:spChg chg="mod">
          <ac:chgData name="Webster Sikazwe" userId="fde8e4ff-e458-491d-986d-9074a4564a78" providerId="ADAL" clId="{36E80268-451A-4C0E-8851-DDE9740546F1}" dt="2026-01-28T14:44:09.708" v="415" actId="20577"/>
          <ac:spMkLst>
            <pc:docMk/>
            <pc:sldMk cId="3510106809" sldId="280"/>
            <ac:spMk id="3" creationId="{2C772D11-FB3C-0198-EE91-3B781EB1DE35}"/>
          </ac:spMkLst>
        </pc:spChg>
      </pc:sldChg>
      <pc:sldChg chg="modSp new mod modAnim">
        <pc:chgData name="Webster Sikazwe" userId="fde8e4ff-e458-491d-986d-9074a4564a78" providerId="ADAL" clId="{36E80268-451A-4C0E-8851-DDE9740546F1}" dt="2026-01-28T14:45:13.155" v="515"/>
        <pc:sldMkLst>
          <pc:docMk/>
          <pc:sldMk cId="1841738268" sldId="281"/>
        </pc:sldMkLst>
        <pc:spChg chg="mod">
          <ac:chgData name="Webster Sikazwe" userId="fde8e4ff-e458-491d-986d-9074a4564a78" providerId="ADAL" clId="{36E80268-451A-4C0E-8851-DDE9740546F1}" dt="2026-01-27T20:25:05.903" v="76" actId="20577"/>
          <ac:spMkLst>
            <pc:docMk/>
            <pc:sldMk cId="1841738268" sldId="281"/>
            <ac:spMk id="2" creationId="{6524D542-109E-8F03-8DFE-1AF402BD5CBD}"/>
          </ac:spMkLst>
        </pc:spChg>
        <pc:spChg chg="mod">
          <ac:chgData name="Webster Sikazwe" userId="fde8e4ff-e458-491d-986d-9074a4564a78" providerId="ADAL" clId="{36E80268-451A-4C0E-8851-DDE9740546F1}" dt="2026-01-28T14:45:00.020" v="513" actId="20577"/>
          <ac:spMkLst>
            <pc:docMk/>
            <pc:sldMk cId="1841738268" sldId="281"/>
            <ac:spMk id="3" creationId="{78012A67-A94B-A1EB-E238-623A81B583EC}"/>
          </ac:spMkLst>
        </pc:spChg>
      </pc:sldChg>
      <pc:sldChg chg="modSp new del mod">
        <pc:chgData name="Webster Sikazwe" userId="fde8e4ff-e458-491d-986d-9074a4564a78" providerId="ADAL" clId="{36E80268-451A-4C0E-8851-DDE9740546F1}" dt="2026-01-28T14:05:23.293" v="121" actId="2696"/>
        <pc:sldMkLst>
          <pc:docMk/>
          <pc:sldMk cId="470136643" sldId="282"/>
        </pc:sldMkLst>
      </pc:sldChg>
      <pc:sldChg chg="modSp add mod">
        <pc:chgData name="Webster Sikazwe" userId="fde8e4ff-e458-491d-986d-9074a4564a78" providerId="ADAL" clId="{36E80268-451A-4C0E-8851-DDE9740546F1}" dt="2026-01-28T14:06:04.482" v="129" actId="14100"/>
        <pc:sldMkLst>
          <pc:docMk/>
          <pc:sldMk cId="3772423443" sldId="450"/>
        </pc:sldMkLst>
        <pc:spChg chg="mod">
          <ac:chgData name="Webster Sikazwe" userId="fde8e4ff-e458-491d-986d-9074a4564a78" providerId="ADAL" clId="{36E80268-451A-4C0E-8851-DDE9740546F1}" dt="2026-01-28T14:05:45.604" v="125" actId="27636"/>
          <ac:spMkLst>
            <pc:docMk/>
            <pc:sldMk cId="3772423443" sldId="450"/>
            <ac:spMk id="2" creationId="{1A166F84-01D0-084F-6205-C7CACF12D57D}"/>
          </ac:spMkLst>
        </pc:spChg>
        <pc:graphicFrameChg chg="mod">
          <ac:chgData name="Webster Sikazwe" userId="fde8e4ff-e458-491d-986d-9074a4564a78" providerId="ADAL" clId="{36E80268-451A-4C0E-8851-DDE9740546F1}" dt="2026-01-28T14:06:04.482" v="129" actId="14100"/>
          <ac:graphicFrameMkLst>
            <pc:docMk/>
            <pc:sldMk cId="3772423443" sldId="450"/>
            <ac:graphicFrameMk id="8" creationId="{20EAF3F0-EE25-2E90-D59E-9D5DD73AB659}"/>
          </ac:graphicFrameMkLst>
        </pc:graphicFrameChg>
      </pc:sldChg>
      <pc:sldChg chg="add">
        <pc:chgData name="Webster Sikazwe" userId="fde8e4ff-e458-491d-986d-9074a4564a78" providerId="ADAL" clId="{36E80268-451A-4C0E-8851-DDE9740546F1}" dt="2026-01-29T10:23:09.356" v="516"/>
        <pc:sldMkLst>
          <pc:docMk/>
          <pc:sldMk cId="1453298941" sldId="451"/>
        </pc:sldMkLst>
      </pc:sldChg>
      <pc:sldChg chg="add">
        <pc:chgData name="Webster Sikazwe" userId="fde8e4ff-e458-491d-986d-9074a4564a78" providerId="ADAL" clId="{36E80268-451A-4C0E-8851-DDE9740546F1}" dt="2026-01-29T10:23:40.827" v="518"/>
        <pc:sldMkLst>
          <pc:docMk/>
          <pc:sldMk cId="1613950304" sldId="452"/>
        </pc:sldMkLst>
      </pc:sldChg>
      <pc:sldChg chg="add">
        <pc:chgData name="Webster Sikazwe" userId="fde8e4ff-e458-491d-986d-9074a4564a78" providerId="ADAL" clId="{36E80268-451A-4C0E-8851-DDE9740546F1}" dt="2026-01-29T10:24:14.059" v="520"/>
        <pc:sldMkLst>
          <pc:docMk/>
          <pc:sldMk cId="2712750783" sldId="453"/>
        </pc:sldMkLst>
      </pc:sldChg>
      <pc:sldChg chg="add">
        <pc:chgData name="Webster Sikazwe" userId="fde8e4ff-e458-491d-986d-9074a4564a78" providerId="ADAL" clId="{36E80268-451A-4C0E-8851-DDE9740546F1}" dt="2026-01-29T10:24:46.233" v="522"/>
        <pc:sldMkLst>
          <pc:docMk/>
          <pc:sldMk cId="15533769" sldId="454"/>
        </pc:sldMkLst>
      </pc:sldChg>
      <pc:sldChg chg="add">
        <pc:chgData name="Webster Sikazwe" userId="fde8e4ff-e458-491d-986d-9074a4564a78" providerId="ADAL" clId="{36E80268-451A-4C0E-8851-DDE9740546F1}" dt="2026-01-29T10:25:00.882" v="523"/>
        <pc:sldMkLst>
          <pc:docMk/>
          <pc:sldMk cId="3750507465" sldId="455"/>
        </pc:sldMkLst>
      </pc:sldChg>
      <pc:sldChg chg="add">
        <pc:chgData name="Webster Sikazwe" userId="fde8e4ff-e458-491d-986d-9074a4564a78" providerId="ADAL" clId="{36E80268-451A-4C0E-8851-DDE9740546F1}" dt="2026-01-29T10:25:20.023" v="524"/>
        <pc:sldMkLst>
          <pc:docMk/>
          <pc:sldMk cId="4122432550" sldId="456"/>
        </pc:sldMkLst>
      </pc:sldChg>
      <pc:sldChg chg="add modAnim">
        <pc:chgData name="Webster Sikazwe" userId="fde8e4ff-e458-491d-986d-9074a4564a78" providerId="ADAL" clId="{36E80268-451A-4C0E-8851-DDE9740546F1}" dt="2026-01-29T10:25:45.444" v="526"/>
        <pc:sldMkLst>
          <pc:docMk/>
          <pc:sldMk cId="813667365" sldId="4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24C65F-8EF8-448A-80F1-6E6F39ACE7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3DD498B-C975-4C52-AD37-E5F00463A715}">
      <dgm:prSet/>
      <dgm:spPr/>
      <dgm:t>
        <a:bodyPr/>
        <a:lstStyle/>
        <a:p>
          <a:r>
            <a:rPr lang="en-ZW" b="1" dirty="0"/>
            <a:t>ABOUT ME:</a:t>
          </a:r>
          <a:endParaRPr lang="en-US" dirty="0"/>
        </a:p>
      </dgm:t>
    </dgm:pt>
    <dgm:pt modelId="{0D2EB84C-52E9-4170-8F3B-B5EBC53A7FE2}" type="parTrans" cxnId="{A7E01D01-EE22-4A1E-A640-B1031D06CB65}">
      <dgm:prSet/>
      <dgm:spPr/>
      <dgm:t>
        <a:bodyPr/>
        <a:lstStyle/>
        <a:p>
          <a:endParaRPr lang="en-US"/>
        </a:p>
      </dgm:t>
    </dgm:pt>
    <dgm:pt modelId="{B6654982-D44A-4165-8A61-3A6662A7FF50}" type="sibTrans" cxnId="{A7E01D01-EE22-4A1E-A640-B1031D06CB65}">
      <dgm:prSet/>
      <dgm:spPr/>
      <dgm:t>
        <a:bodyPr/>
        <a:lstStyle/>
        <a:p>
          <a:endParaRPr lang="en-US"/>
        </a:p>
      </dgm:t>
    </dgm:pt>
    <dgm:pt modelId="{231A5930-05E7-4808-ABE1-1BD964C0AD70}">
      <dgm:prSet/>
      <dgm:spPr/>
      <dgm:t>
        <a:bodyPr/>
        <a:lstStyle/>
        <a:p>
          <a:r>
            <a:rPr lang="en-ZW" dirty="0"/>
            <a:t>Married with 4 children</a:t>
          </a:r>
          <a:endParaRPr lang="en-US" dirty="0"/>
        </a:p>
      </dgm:t>
    </dgm:pt>
    <dgm:pt modelId="{C5E3E63B-339D-4070-A0D9-AB77BFB2FAC5}" type="parTrans" cxnId="{2AA97275-B85E-4A3B-8998-202960BF4F9C}">
      <dgm:prSet/>
      <dgm:spPr/>
      <dgm:t>
        <a:bodyPr/>
        <a:lstStyle/>
        <a:p>
          <a:endParaRPr lang="en-US"/>
        </a:p>
      </dgm:t>
    </dgm:pt>
    <dgm:pt modelId="{CDE45D16-1143-46E2-A5F0-5EC0972C92D2}" type="sibTrans" cxnId="{2AA97275-B85E-4A3B-8998-202960BF4F9C}">
      <dgm:prSet/>
      <dgm:spPr/>
      <dgm:t>
        <a:bodyPr/>
        <a:lstStyle/>
        <a:p>
          <a:endParaRPr lang="en-US"/>
        </a:p>
      </dgm:t>
    </dgm:pt>
    <dgm:pt modelId="{F84303B9-17CF-48E8-99A5-26C5B3890021}">
      <dgm:prSet/>
      <dgm:spPr/>
      <dgm:t>
        <a:bodyPr/>
        <a:lstStyle/>
        <a:p>
          <a:r>
            <a:rPr lang="en-ZW"/>
            <a:t>Bsc Banking and Finance</a:t>
          </a:r>
          <a:endParaRPr lang="en-US"/>
        </a:p>
      </dgm:t>
    </dgm:pt>
    <dgm:pt modelId="{720CC277-8698-404F-AA90-3D9D76B9042B}" type="parTrans" cxnId="{6824219B-DFD8-4B3D-B3AD-32EA1CE57631}">
      <dgm:prSet/>
      <dgm:spPr/>
      <dgm:t>
        <a:bodyPr/>
        <a:lstStyle/>
        <a:p>
          <a:endParaRPr lang="en-US"/>
        </a:p>
      </dgm:t>
    </dgm:pt>
    <dgm:pt modelId="{945FABFA-0972-465D-AA66-FA57DA93D047}" type="sibTrans" cxnId="{6824219B-DFD8-4B3D-B3AD-32EA1CE57631}">
      <dgm:prSet/>
      <dgm:spPr/>
      <dgm:t>
        <a:bodyPr/>
        <a:lstStyle/>
        <a:p>
          <a:endParaRPr lang="en-US"/>
        </a:p>
      </dgm:t>
    </dgm:pt>
    <dgm:pt modelId="{F5C37B35-ED9D-4D7B-B867-F182589541BF}">
      <dgm:prSet/>
      <dgm:spPr/>
      <dgm:t>
        <a:bodyPr/>
        <a:lstStyle/>
        <a:p>
          <a:r>
            <a:rPr lang="en-ZW"/>
            <a:t>MBA Finance</a:t>
          </a:r>
          <a:endParaRPr lang="en-US"/>
        </a:p>
      </dgm:t>
    </dgm:pt>
    <dgm:pt modelId="{479E8E33-DEFE-4CED-9713-A3A915A29654}" type="parTrans" cxnId="{FD67305F-ACB1-4AAD-B6F2-C2DCF6BE1590}">
      <dgm:prSet/>
      <dgm:spPr/>
      <dgm:t>
        <a:bodyPr/>
        <a:lstStyle/>
        <a:p>
          <a:endParaRPr lang="en-US"/>
        </a:p>
      </dgm:t>
    </dgm:pt>
    <dgm:pt modelId="{E7DECF33-0ECB-4DE3-BA72-034B4500306E}" type="sibTrans" cxnId="{FD67305F-ACB1-4AAD-B6F2-C2DCF6BE1590}">
      <dgm:prSet/>
      <dgm:spPr/>
      <dgm:t>
        <a:bodyPr/>
        <a:lstStyle/>
        <a:p>
          <a:endParaRPr lang="en-US"/>
        </a:p>
      </dgm:t>
    </dgm:pt>
    <dgm:pt modelId="{75CB49A6-5C63-4677-8E97-0EC245E2077F}">
      <dgm:prSet/>
      <dgm:spPr/>
      <dgm:t>
        <a:bodyPr/>
        <a:lstStyle/>
        <a:p>
          <a:r>
            <a:rPr lang="en-ZW" dirty="0"/>
            <a:t>Over 10 years lecturing experience</a:t>
          </a:r>
          <a:endParaRPr lang="en-US" dirty="0"/>
        </a:p>
      </dgm:t>
    </dgm:pt>
    <dgm:pt modelId="{29292F38-A5EC-4247-BE33-824264CAE18B}" type="parTrans" cxnId="{5FE72D6D-5460-4EC7-BA7F-99EE3A4CD0EB}">
      <dgm:prSet/>
      <dgm:spPr/>
      <dgm:t>
        <a:bodyPr/>
        <a:lstStyle/>
        <a:p>
          <a:endParaRPr lang="en-US"/>
        </a:p>
      </dgm:t>
    </dgm:pt>
    <dgm:pt modelId="{5FDC287B-8017-45CD-8F7D-B36408206CF1}" type="sibTrans" cxnId="{5FE72D6D-5460-4EC7-BA7F-99EE3A4CD0EB}">
      <dgm:prSet/>
      <dgm:spPr/>
      <dgm:t>
        <a:bodyPr/>
        <a:lstStyle/>
        <a:p>
          <a:endParaRPr lang="en-US"/>
        </a:p>
      </dgm:t>
    </dgm:pt>
    <dgm:pt modelId="{FAC8D4A0-3F11-4E63-9DF2-A7B0253D5057}">
      <dgm:prSet/>
      <dgm:spPr/>
      <dgm:t>
        <a:bodyPr/>
        <a:lstStyle/>
        <a:p>
          <a:r>
            <a:rPr lang="en-ZW" dirty="0"/>
            <a:t>Over 10 years industry experience</a:t>
          </a:r>
          <a:endParaRPr lang="en-US" dirty="0"/>
        </a:p>
      </dgm:t>
    </dgm:pt>
    <dgm:pt modelId="{5BFADF57-DE1F-42F5-BBD4-D3C2D8D2C306}" type="parTrans" cxnId="{F62FDA08-00CB-4D52-BC94-5AEE5265CE17}">
      <dgm:prSet/>
      <dgm:spPr/>
      <dgm:t>
        <a:bodyPr/>
        <a:lstStyle/>
        <a:p>
          <a:endParaRPr lang="en-US"/>
        </a:p>
      </dgm:t>
    </dgm:pt>
    <dgm:pt modelId="{038A2C22-BF37-4F91-B274-554002903EEB}" type="sibTrans" cxnId="{F62FDA08-00CB-4D52-BC94-5AEE5265CE17}">
      <dgm:prSet/>
      <dgm:spPr/>
      <dgm:t>
        <a:bodyPr/>
        <a:lstStyle/>
        <a:p>
          <a:endParaRPr lang="en-US"/>
        </a:p>
      </dgm:t>
    </dgm:pt>
    <dgm:pt modelId="{C6D2AE05-4A85-44ED-A20B-C3963B4B90E3}">
      <dgm:prSet/>
      <dgm:spPr/>
      <dgm:t>
        <a:bodyPr/>
        <a:lstStyle/>
        <a:p>
          <a:r>
            <a:rPr lang="en-ZW"/>
            <a:t>Research interest in Finance, Investment, Banking</a:t>
          </a:r>
          <a:endParaRPr lang="en-US"/>
        </a:p>
      </dgm:t>
    </dgm:pt>
    <dgm:pt modelId="{9A87CB7C-20B8-4CFE-9BE3-BB022679F5E7}" type="parTrans" cxnId="{E03D9977-3A8F-4347-A6EF-D605D9617EDB}">
      <dgm:prSet/>
      <dgm:spPr/>
      <dgm:t>
        <a:bodyPr/>
        <a:lstStyle/>
        <a:p>
          <a:endParaRPr lang="en-US"/>
        </a:p>
      </dgm:t>
    </dgm:pt>
    <dgm:pt modelId="{7F6B7D6F-BFD7-4B23-AB3C-D4ACEF4B1185}" type="sibTrans" cxnId="{E03D9977-3A8F-4347-A6EF-D605D9617EDB}">
      <dgm:prSet/>
      <dgm:spPr/>
      <dgm:t>
        <a:bodyPr/>
        <a:lstStyle/>
        <a:p>
          <a:endParaRPr lang="en-US"/>
        </a:p>
      </dgm:t>
    </dgm:pt>
    <dgm:pt modelId="{403706F1-A2E4-4E0F-85E1-A873DD162A9F}">
      <dgm:prSet/>
      <dgm:spPr/>
      <dgm:t>
        <a:bodyPr/>
        <a:lstStyle/>
        <a:p>
          <a:r>
            <a:rPr lang="en-ZW" dirty="0"/>
            <a:t>Passion in personal investing and planning</a:t>
          </a:r>
          <a:endParaRPr lang="en-US" dirty="0"/>
        </a:p>
      </dgm:t>
    </dgm:pt>
    <dgm:pt modelId="{95DC717E-0A8B-4AEB-A498-EFE7EDAEAADE}" type="parTrans" cxnId="{DA3E64E6-3079-4D35-AB47-E57ECFA7B1D6}">
      <dgm:prSet/>
      <dgm:spPr/>
      <dgm:t>
        <a:bodyPr/>
        <a:lstStyle/>
        <a:p>
          <a:endParaRPr lang="en-US"/>
        </a:p>
      </dgm:t>
    </dgm:pt>
    <dgm:pt modelId="{4C7AAF26-2CC1-4EA8-B8CA-D3DE58F5D3EE}" type="sibTrans" cxnId="{DA3E64E6-3079-4D35-AB47-E57ECFA7B1D6}">
      <dgm:prSet/>
      <dgm:spPr/>
      <dgm:t>
        <a:bodyPr/>
        <a:lstStyle/>
        <a:p>
          <a:endParaRPr lang="en-US"/>
        </a:p>
      </dgm:t>
    </dgm:pt>
    <dgm:pt modelId="{5E3F5188-D542-4E90-B252-A536C5D573E8}" type="pres">
      <dgm:prSet presAssocID="{9624C65F-8EF8-448A-80F1-6E6F39ACE722}" presName="linear" presStyleCnt="0">
        <dgm:presLayoutVars>
          <dgm:animLvl val="lvl"/>
          <dgm:resizeHandles val="exact"/>
        </dgm:presLayoutVars>
      </dgm:prSet>
      <dgm:spPr/>
    </dgm:pt>
    <dgm:pt modelId="{3C3F156E-B29E-4576-8062-85392471E49D}" type="pres">
      <dgm:prSet presAssocID="{C3DD498B-C975-4C52-AD37-E5F00463A71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F3049F3-9FCE-4EB9-BAF2-79CE9A67DC0F}" type="pres">
      <dgm:prSet presAssocID="{C3DD498B-C975-4C52-AD37-E5F00463A71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7E01D01-EE22-4A1E-A640-B1031D06CB65}" srcId="{9624C65F-8EF8-448A-80F1-6E6F39ACE722}" destId="{C3DD498B-C975-4C52-AD37-E5F00463A715}" srcOrd="0" destOrd="0" parTransId="{0D2EB84C-52E9-4170-8F3B-B5EBC53A7FE2}" sibTransId="{B6654982-D44A-4165-8A61-3A6662A7FF50}"/>
    <dgm:cxn modelId="{F62FDA08-00CB-4D52-BC94-5AEE5265CE17}" srcId="{C3DD498B-C975-4C52-AD37-E5F00463A715}" destId="{FAC8D4A0-3F11-4E63-9DF2-A7B0253D5057}" srcOrd="4" destOrd="0" parTransId="{5BFADF57-DE1F-42F5-BBD4-D3C2D8D2C306}" sibTransId="{038A2C22-BF37-4F91-B274-554002903EEB}"/>
    <dgm:cxn modelId="{A3B00537-EA93-44CF-A246-901EFD8E674C}" type="presOf" srcId="{C3DD498B-C975-4C52-AD37-E5F00463A715}" destId="{3C3F156E-B29E-4576-8062-85392471E49D}" srcOrd="0" destOrd="0" presId="urn:microsoft.com/office/officeart/2005/8/layout/vList2"/>
    <dgm:cxn modelId="{FD67305F-ACB1-4AAD-B6F2-C2DCF6BE1590}" srcId="{C3DD498B-C975-4C52-AD37-E5F00463A715}" destId="{F5C37B35-ED9D-4D7B-B867-F182589541BF}" srcOrd="2" destOrd="0" parTransId="{479E8E33-DEFE-4CED-9713-A3A915A29654}" sibTransId="{E7DECF33-0ECB-4DE3-BA72-034B4500306E}"/>
    <dgm:cxn modelId="{46716C41-27F5-4B6A-A11B-475192816A16}" type="presOf" srcId="{C6D2AE05-4A85-44ED-A20B-C3963B4B90E3}" destId="{5F3049F3-9FCE-4EB9-BAF2-79CE9A67DC0F}" srcOrd="0" destOrd="5" presId="urn:microsoft.com/office/officeart/2005/8/layout/vList2"/>
    <dgm:cxn modelId="{26051B63-E42D-487F-B93B-2A2691BBD17D}" type="presOf" srcId="{231A5930-05E7-4808-ABE1-1BD964C0AD70}" destId="{5F3049F3-9FCE-4EB9-BAF2-79CE9A67DC0F}" srcOrd="0" destOrd="0" presId="urn:microsoft.com/office/officeart/2005/8/layout/vList2"/>
    <dgm:cxn modelId="{0CB81D4A-6C0D-4267-AD5F-4E36FD8516D0}" type="presOf" srcId="{75CB49A6-5C63-4677-8E97-0EC245E2077F}" destId="{5F3049F3-9FCE-4EB9-BAF2-79CE9A67DC0F}" srcOrd="0" destOrd="3" presId="urn:microsoft.com/office/officeart/2005/8/layout/vList2"/>
    <dgm:cxn modelId="{FA85306B-C863-4F9E-AC4B-BE3036771C3B}" type="presOf" srcId="{403706F1-A2E4-4E0F-85E1-A873DD162A9F}" destId="{5F3049F3-9FCE-4EB9-BAF2-79CE9A67DC0F}" srcOrd="0" destOrd="6" presId="urn:microsoft.com/office/officeart/2005/8/layout/vList2"/>
    <dgm:cxn modelId="{5FE72D6D-5460-4EC7-BA7F-99EE3A4CD0EB}" srcId="{C3DD498B-C975-4C52-AD37-E5F00463A715}" destId="{75CB49A6-5C63-4677-8E97-0EC245E2077F}" srcOrd="3" destOrd="0" parTransId="{29292F38-A5EC-4247-BE33-824264CAE18B}" sibTransId="{5FDC287B-8017-45CD-8F7D-B36408206CF1}"/>
    <dgm:cxn modelId="{2AA97275-B85E-4A3B-8998-202960BF4F9C}" srcId="{C3DD498B-C975-4C52-AD37-E5F00463A715}" destId="{231A5930-05E7-4808-ABE1-1BD964C0AD70}" srcOrd="0" destOrd="0" parTransId="{C5E3E63B-339D-4070-A0D9-AB77BFB2FAC5}" sibTransId="{CDE45D16-1143-46E2-A5F0-5EC0972C92D2}"/>
    <dgm:cxn modelId="{E03D9977-3A8F-4347-A6EF-D605D9617EDB}" srcId="{C3DD498B-C975-4C52-AD37-E5F00463A715}" destId="{C6D2AE05-4A85-44ED-A20B-C3963B4B90E3}" srcOrd="5" destOrd="0" parTransId="{9A87CB7C-20B8-4CFE-9BE3-BB022679F5E7}" sibTransId="{7F6B7D6F-BFD7-4B23-AB3C-D4ACEF4B1185}"/>
    <dgm:cxn modelId="{7F122A58-E4CC-4CA2-8E92-9BAFFFF5A5D1}" type="presOf" srcId="{9624C65F-8EF8-448A-80F1-6E6F39ACE722}" destId="{5E3F5188-D542-4E90-B252-A536C5D573E8}" srcOrd="0" destOrd="0" presId="urn:microsoft.com/office/officeart/2005/8/layout/vList2"/>
    <dgm:cxn modelId="{52A43F93-4B2E-4312-B1A9-4BB38B8571FF}" type="presOf" srcId="{FAC8D4A0-3F11-4E63-9DF2-A7B0253D5057}" destId="{5F3049F3-9FCE-4EB9-BAF2-79CE9A67DC0F}" srcOrd="0" destOrd="4" presId="urn:microsoft.com/office/officeart/2005/8/layout/vList2"/>
    <dgm:cxn modelId="{6824219B-DFD8-4B3D-B3AD-32EA1CE57631}" srcId="{C3DD498B-C975-4C52-AD37-E5F00463A715}" destId="{F84303B9-17CF-48E8-99A5-26C5B3890021}" srcOrd="1" destOrd="0" parTransId="{720CC277-8698-404F-AA90-3D9D76B9042B}" sibTransId="{945FABFA-0972-465D-AA66-FA57DA93D047}"/>
    <dgm:cxn modelId="{5DA2639F-7442-42CC-8975-654BC6B8A8F1}" type="presOf" srcId="{F5C37B35-ED9D-4D7B-B867-F182589541BF}" destId="{5F3049F3-9FCE-4EB9-BAF2-79CE9A67DC0F}" srcOrd="0" destOrd="2" presId="urn:microsoft.com/office/officeart/2005/8/layout/vList2"/>
    <dgm:cxn modelId="{DA3E64E6-3079-4D35-AB47-E57ECFA7B1D6}" srcId="{C3DD498B-C975-4C52-AD37-E5F00463A715}" destId="{403706F1-A2E4-4E0F-85E1-A873DD162A9F}" srcOrd="6" destOrd="0" parTransId="{95DC717E-0A8B-4AEB-A498-EFE7EDAEAADE}" sibTransId="{4C7AAF26-2CC1-4EA8-B8CA-D3DE58F5D3EE}"/>
    <dgm:cxn modelId="{0D1B65FE-7A6B-4957-9E4C-6FB25A3F5EDC}" type="presOf" srcId="{F84303B9-17CF-48E8-99A5-26C5B3890021}" destId="{5F3049F3-9FCE-4EB9-BAF2-79CE9A67DC0F}" srcOrd="0" destOrd="1" presId="urn:microsoft.com/office/officeart/2005/8/layout/vList2"/>
    <dgm:cxn modelId="{3A2EA8B3-30C1-4B12-A044-09EAF1A68CD8}" type="presParOf" srcId="{5E3F5188-D542-4E90-B252-A536C5D573E8}" destId="{3C3F156E-B29E-4576-8062-85392471E49D}" srcOrd="0" destOrd="0" presId="urn:microsoft.com/office/officeart/2005/8/layout/vList2"/>
    <dgm:cxn modelId="{137F55DC-8DC3-4EA1-A287-FADFE62C8729}" type="presParOf" srcId="{5E3F5188-D542-4E90-B252-A536C5D573E8}" destId="{5F3049F3-9FCE-4EB9-BAF2-79CE9A67DC0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F156E-B29E-4576-8062-85392471E49D}">
      <dsp:nvSpPr>
        <dsp:cNvPr id="0" name=""/>
        <dsp:cNvSpPr/>
      </dsp:nvSpPr>
      <dsp:spPr>
        <a:xfrm>
          <a:off x="0" y="27154"/>
          <a:ext cx="4085880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W" sz="2600" b="1" kern="1200" dirty="0"/>
            <a:t>ABOUT ME:</a:t>
          </a:r>
          <a:endParaRPr lang="en-US" sz="2600" kern="1200" dirty="0"/>
        </a:p>
      </dsp:txBody>
      <dsp:txXfrm>
        <a:off x="29700" y="56854"/>
        <a:ext cx="4026480" cy="549000"/>
      </dsp:txXfrm>
    </dsp:sp>
    <dsp:sp modelId="{5F3049F3-9FCE-4EB9-BAF2-79CE9A67DC0F}">
      <dsp:nvSpPr>
        <dsp:cNvPr id="0" name=""/>
        <dsp:cNvSpPr/>
      </dsp:nvSpPr>
      <dsp:spPr>
        <a:xfrm>
          <a:off x="0" y="635555"/>
          <a:ext cx="4085880" cy="333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72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 dirty="0"/>
            <a:t>Married with 4 children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/>
            <a:t>Bsc Banking and Finance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/>
            <a:t>MBA Finance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 dirty="0"/>
            <a:t>Over 10 years lecturing experience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 dirty="0"/>
            <a:t>Over 10 years industry experience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/>
            <a:t>Research interest in Finance, Investment, Banking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W" sz="2000" kern="1200" dirty="0"/>
            <a:t>Passion in personal investing and planning</a:t>
          </a:r>
          <a:endParaRPr lang="en-US" sz="2000" kern="1200" dirty="0"/>
        </a:p>
      </dsp:txBody>
      <dsp:txXfrm>
        <a:off x="0" y="635555"/>
        <a:ext cx="4085880" cy="3336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DF7C7D4-723C-45DD-9092-909FD352B2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5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05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2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67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0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9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3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97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1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08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18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4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BBF4302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</p:spTree>
    <p:extLst>
      <p:ext uri="{BB962C8B-B14F-4D97-AF65-F5344CB8AC3E}">
        <p14:creationId xmlns:p14="http://schemas.microsoft.com/office/powerpoint/2010/main" val="54917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6F84-01D0-084F-6205-C7CACF12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771" y="489858"/>
            <a:ext cx="4085880" cy="662534"/>
          </a:xfrm>
        </p:spPr>
        <p:txBody>
          <a:bodyPr>
            <a:normAutofit fontScale="90000"/>
          </a:bodyPr>
          <a:lstStyle/>
          <a:p>
            <a:r>
              <a:rPr lang="en-ZW" b="1" dirty="0"/>
              <a:t>WELCOME TO THE COURSE </a:t>
            </a:r>
            <a:endParaRPr lang="en-US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120F433-BC7D-979F-1B4C-2359A92848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6" b="3536"/>
          <a:stretch>
            <a:fillRect/>
          </a:stretch>
        </p:blipFill>
        <p:spPr/>
      </p:pic>
      <p:graphicFrame>
        <p:nvGraphicFramePr>
          <p:cNvPr id="8" name="Text Placeholder 3">
            <a:extLst>
              <a:ext uri="{FF2B5EF4-FFF2-40B4-BE49-F238E27FC236}">
                <a16:creationId xmlns:a16="http://schemas.microsoft.com/office/drawing/2014/main" id="{20EAF3F0-EE25-2E90-D59E-9D5DD73AB6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3384101"/>
              </p:ext>
            </p:extLst>
          </p:nvPr>
        </p:nvGraphicFramePr>
        <p:xfrm>
          <a:off x="749294" y="1152392"/>
          <a:ext cx="4085880" cy="399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E2313CB-71D1-480D-D53A-212011ABB033}"/>
              </a:ext>
            </a:extLst>
          </p:cNvPr>
          <p:cNvGrpSpPr/>
          <p:nvPr/>
        </p:nvGrpSpPr>
        <p:grpSpPr>
          <a:xfrm>
            <a:off x="381000" y="5151942"/>
            <a:ext cx="1513421" cy="697883"/>
            <a:chOff x="0" y="0"/>
            <a:chExt cx="4035788" cy="186102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AB898E34-CCCF-A78E-A9FB-ABB1F6C0F7A7}"/>
                </a:ext>
              </a:extLst>
            </p:cNvPr>
            <p:cNvSpPr/>
            <p:nvPr/>
          </p:nvSpPr>
          <p:spPr>
            <a:xfrm>
              <a:off x="1383104" y="0"/>
              <a:ext cx="1269581" cy="1476444"/>
            </a:xfrm>
            <a:custGeom>
              <a:avLst/>
              <a:gdLst/>
              <a:ahLst/>
              <a:cxnLst/>
              <a:rect l="l" t="t" r="r" b="b"/>
              <a:pathLst>
                <a:path w="1269581" h="1476444">
                  <a:moveTo>
                    <a:pt x="0" y="0"/>
                  </a:moveTo>
                  <a:lnTo>
                    <a:pt x="1269581" y="0"/>
                  </a:lnTo>
                  <a:lnTo>
                    <a:pt x="1269581" y="1476444"/>
                  </a:lnTo>
                  <a:lnTo>
                    <a:pt x="0" y="1476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56453" t="-10657" r="-251686" b="-75420"/>
              </a:stretch>
            </a:blipFill>
          </p:spPr>
          <p:txBody>
            <a:bodyPr/>
            <a:lstStyle/>
            <a:p>
              <a:pPr algn="ctr"/>
              <a:endParaRPr lang="en-ZA" sz="90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21B2FD18-2A77-7713-A597-67499AD58D01}"/>
                </a:ext>
              </a:extLst>
            </p:cNvPr>
            <p:cNvSpPr/>
            <p:nvPr/>
          </p:nvSpPr>
          <p:spPr>
            <a:xfrm>
              <a:off x="0" y="1476444"/>
              <a:ext cx="4035788" cy="384576"/>
            </a:xfrm>
            <a:custGeom>
              <a:avLst/>
              <a:gdLst/>
              <a:ahLst/>
              <a:cxnLst/>
              <a:rect l="l" t="t" r="r" b="b"/>
              <a:pathLst>
                <a:path w="4035788" h="384576">
                  <a:moveTo>
                    <a:pt x="0" y="0"/>
                  </a:moveTo>
                  <a:lnTo>
                    <a:pt x="4035788" y="0"/>
                  </a:lnTo>
                  <a:lnTo>
                    <a:pt x="4035788" y="384576"/>
                  </a:lnTo>
                  <a:lnTo>
                    <a:pt x="0" y="384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719" t="-276447" r="-4833" b="-36374"/>
              </a:stretch>
            </a:blipFill>
          </p:spPr>
          <p:txBody>
            <a:bodyPr/>
            <a:lstStyle/>
            <a:p>
              <a:pPr algn="ctr"/>
              <a:endParaRPr lang="en-ZA" sz="900"/>
            </a:p>
          </p:txBody>
        </p:sp>
      </p:grpSp>
    </p:spTree>
    <p:extLst>
      <p:ext uri="{BB962C8B-B14F-4D97-AF65-F5344CB8AC3E}">
        <p14:creationId xmlns:p14="http://schemas.microsoft.com/office/powerpoint/2010/main" val="377242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967C-4E24-E24D-B5BC-5C2915ED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Course outline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72D11-FB3C-0198-EE91-3B781EB1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W" dirty="0"/>
              <a:t>Introduction to Treasury</a:t>
            </a:r>
          </a:p>
          <a:p>
            <a:r>
              <a:rPr lang="en-ZW" dirty="0"/>
              <a:t>Working capital/liquidity management</a:t>
            </a:r>
          </a:p>
          <a:p>
            <a:r>
              <a:rPr lang="en-ZW" dirty="0"/>
              <a:t>Management of Interest rate risk</a:t>
            </a:r>
          </a:p>
          <a:p>
            <a:r>
              <a:rPr lang="en-ZW" dirty="0"/>
              <a:t>Managing foreign currency risk</a:t>
            </a:r>
          </a:p>
          <a:p>
            <a:r>
              <a:rPr lang="en-ZW" dirty="0"/>
              <a:t>Debt Management</a:t>
            </a:r>
          </a:p>
          <a:p>
            <a:r>
              <a:rPr lang="en-ZW" dirty="0"/>
              <a:t>Investment Management</a:t>
            </a:r>
          </a:p>
          <a:p>
            <a:r>
              <a:rPr lang="en-ZW" dirty="0"/>
              <a:t>Clearing and settlement systems</a:t>
            </a:r>
          </a:p>
          <a:p>
            <a:r>
              <a:rPr lang="en-ZW" dirty="0"/>
              <a:t>Treasury management systems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0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D542-109E-8F03-8DFE-1AF402BD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Unit outline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2A67-A94B-A1EB-E238-623A81B58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Introduction to treasury</a:t>
            </a:r>
          </a:p>
          <a:p>
            <a:r>
              <a:rPr lang="en-ZW" dirty="0"/>
              <a:t>Treasury functions and roles </a:t>
            </a:r>
          </a:p>
          <a:p>
            <a:r>
              <a:rPr lang="en-ZW" dirty="0"/>
              <a:t>Treasury controls </a:t>
            </a:r>
          </a:p>
          <a:p>
            <a:r>
              <a:rPr lang="en-ZW" dirty="0"/>
              <a:t>Treasury centralisation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3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Treasury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Treasury department is the financial center of an organization</a:t>
            </a:r>
          </a:p>
          <a:p>
            <a:r>
              <a:rPr lang="en-US" dirty="0"/>
              <a:t>Key role is safeguarding and stewardship of organization's financial assets and management of liabilities</a:t>
            </a:r>
          </a:p>
          <a:p>
            <a:r>
              <a:rPr lang="en-US" dirty="0"/>
              <a:t>Treasury staff perform critically daily liquidity management tasks that help ensure the availability of adequate cash resources needed to sustain organization’s ongoing operational activities</a:t>
            </a:r>
          </a:p>
        </p:txBody>
      </p:sp>
    </p:spTree>
    <p:extLst>
      <p:ext uri="{BB962C8B-B14F-4D97-AF65-F5344CB8AC3E}">
        <p14:creationId xmlns:p14="http://schemas.microsoft.com/office/powerpoint/2010/main" val="88728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Treasury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Responsible for implementing various financial decisions made by management and board</a:t>
            </a:r>
          </a:p>
          <a:p>
            <a:r>
              <a:rPr lang="en-US" dirty="0"/>
              <a:t>Has important role in risk reduction and mitigation</a:t>
            </a:r>
          </a:p>
          <a:p>
            <a:r>
              <a:rPr lang="en-US" dirty="0"/>
              <a:t>Structure varies according to factors such as size, nature of business and complexity of 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286067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Decisions of the Finance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Grouped into three key decisions areas to provide and manage resources:</a:t>
            </a:r>
          </a:p>
          <a:p>
            <a:pPr marL="514350" indent="-514350">
              <a:buAutoNum type="alphaLcParenR"/>
            </a:pPr>
            <a:r>
              <a:rPr lang="en-US" b="1" dirty="0"/>
              <a:t>Investment decision</a:t>
            </a:r>
          </a:p>
          <a:p>
            <a:pPr>
              <a:buFont typeface="Wingdings" charset="2"/>
              <a:buChar char="u"/>
            </a:pPr>
            <a:r>
              <a:rPr lang="en-US" dirty="0"/>
              <a:t>How resources available are committed to projects</a:t>
            </a:r>
          </a:p>
          <a:p>
            <a:pPr>
              <a:buFont typeface="Wingdings" charset="2"/>
              <a:buChar char="u"/>
            </a:pPr>
            <a:r>
              <a:rPr lang="en-US" dirty="0"/>
              <a:t>Investment in working capital e.g. stocks and debtors</a:t>
            </a:r>
          </a:p>
          <a:p>
            <a:pPr>
              <a:buFont typeface="Wingdings" charset="2"/>
              <a:buChar char="u"/>
            </a:pPr>
            <a:r>
              <a:rPr lang="en-US" dirty="0"/>
              <a:t>Internal and external investment and disinvestment</a:t>
            </a:r>
          </a:p>
        </p:txBody>
      </p:sp>
    </p:spTree>
    <p:extLst>
      <p:ext uri="{BB962C8B-B14F-4D97-AF65-F5344CB8AC3E}">
        <p14:creationId xmlns:p14="http://schemas.microsoft.com/office/powerpoint/2010/main" val="82128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Decisions of the Finance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b) Financing decision</a:t>
            </a:r>
          </a:p>
          <a:p>
            <a:pPr>
              <a:buFont typeface="Wingdings" charset="2"/>
              <a:buChar char="§"/>
            </a:pPr>
            <a:r>
              <a:rPr lang="en-US" dirty="0"/>
              <a:t>Acquiring optimum finance to meet financial objectives and effective management of fixed and working capital</a:t>
            </a:r>
          </a:p>
          <a:p>
            <a:pPr>
              <a:buFont typeface="Wingdings" charset="2"/>
              <a:buChar char="§"/>
            </a:pPr>
            <a:r>
              <a:rPr lang="en-US" dirty="0"/>
              <a:t>Finance manager needs good knowledge of sources and cost of funds</a:t>
            </a:r>
          </a:p>
          <a:p>
            <a:pPr>
              <a:buFont typeface="Wingdings" charset="2"/>
              <a:buChar char="§"/>
            </a:pPr>
            <a:r>
              <a:rPr lang="en-US" dirty="0"/>
              <a:t>Needs to ensure entity has good sound capital structure</a:t>
            </a:r>
          </a:p>
          <a:p>
            <a:pPr>
              <a:buFont typeface="Wingdings" charset="2"/>
              <a:buChar char="§"/>
            </a:pPr>
            <a:r>
              <a:rPr lang="en-US" dirty="0"/>
              <a:t>Understand difference between profit and cash</a:t>
            </a:r>
          </a:p>
          <a:p>
            <a:pPr>
              <a:buFont typeface="Wingdings" charset="2"/>
              <a:buChar char="§"/>
            </a:pPr>
            <a:r>
              <a:rPr lang="en-US" dirty="0"/>
              <a:t>Risk and hedging </a:t>
            </a:r>
          </a:p>
        </p:txBody>
      </p:sp>
    </p:spTree>
    <p:extLst>
      <p:ext uri="{BB962C8B-B14F-4D97-AF65-F5344CB8AC3E}">
        <p14:creationId xmlns:p14="http://schemas.microsoft.com/office/powerpoint/2010/main" val="36799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Decisions of the Finance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c) Dividend policy</a:t>
            </a:r>
          </a:p>
          <a:p>
            <a:r>
              <a:rPr lang="en-US" dirty="0"/>
              <a:t>How much and how frequently cash can be paid out of profits</a:t>
            </a:r>
          </a:p>
          <a:p>
            <a:r>
              <a:rPr lang="en-US" dirty="0"/>
              <a:t>Has two elements; amount to be paid out and amount to be retained to support growth </a:t>
            </a:r>
            <a:r>
              <a:rPr lang="en-US" dirty="0" err="1"/>
              <a:t>i.e</a:t>
            </a:r>
            <a:r>
              <a:rPr lang="en-US" dirty="0"/>
              <a:t> retained earnings. </a:t>
            </a:r>
          </a:p>
          <a:p>
            <a:r>
              <a:rPr lang="en-US" dirty="0"/>
              <a:t>Level and growth of dividends determines companies market value </a:t>
            </a:r>
          </a:p>
        </p:txBody>
      </p:sp>
    </p:spTree>
    <p:extLst>
      <p:ext uri="{BB962C8B-B14F-4D97-AF65-F5344CB8AC3E}">
        <p14:creationId xmlns:p14="http://schemas.microsoft.com/office/powerpoint/2010/main" val="50490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Cash forecasting- compiles information from all subsidiaries into short and long term cash forecasts</a:t>
            </a:r>
          </a:p>
          <a:p>
            <a:pPr marL="514350" indent="-514350">
              <a:buAutoNum type="arabicParenR"/>
            </a:pPr>
            <a:r>
              <a:rPr lang="en-US" dirty="0"/>
              <a:t>Working capital management – treasurer should be aware of working capital levels and trends</a:t>
            </a:r>
          </a:p>
          <a:p>
            <a:pPr marL="514350" indent="-514350">
              <a:buAutoNum type="arabicParenR"/>
            </a:pPr>
            <a:r>
              <a:rPr lang="en-US" dirty="0"/>
              <a:t>Cash management – treasurer must ensure that sufficient cash is available for operational needs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5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76DA-4341-4138-A875-55B4EB50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F6E8-225E-4687-A5E0-65095305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Investment management – treasury staff is responsible for the proper investment of excess cash</a:t>
            </a:r>
          </a:p>
          <a:p>
            <a:pPr marL="0" indent="0">
              <a:buNone/>
            </a:pPr>
            <a:r>
              <a:rPr lang="en-GB" dirty="0"/>
              <a:t>5. Risk management – arising from changes in interest rates, exchange rates etc</a:t>
            </a:r>
          </a:p>
          <a:p>
            <a:pPr marL="0" indent="0">
              <a:buNone/>
            </a:pPr>
            <a:r>
              <a:rPr lang="en-GB" dirty="0"/>
              <a:t>6. Management advice- advices management on market conditions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9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21CA-6D02-42AD-9581-0215E1DF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78F4-C740-49FA-A0CC-9E663BDF9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7. Credit rating agency relations- liaises with credit agency’s review team when company issues marketable debt</a:t>
            </a:r>
          </a:p>
          <a:p>
            <a:pPr marL="0" indent="0">
              <a:buNone/>
            </a:pPr>
            <a:r>
              <a:rPr lang="en-GB" dirty="0"/>
              <a:t>8. Bank relationships- treasurer is the link with bank representatives concerning company’s financial condition, fee structure etc</a:t>
            </a:r>
          </a:p>
          <a:p>
            <a:pPr marL="0" indent="0">
              <a:buNone/>
            </a:pPr>
            <a:r>
              <a:rPr lang="en-GB" dirty="0"/>
              <a:t>9. Fund raising- treasury maintains relationships with investment community for fund raising purposes</a:t>
            </a:r>
          </a:p>
        </p:txBody>
      </p:sp>
    </p:spTree>
    <p:extLst>
      <p:ext uri="{BB962C8B-B14F-4D97-AF65-F5344CB8AC3E}">
        <p14:creationId xmlns:p14="http://schemas.microsoft.com/office/powerpoint/2010/main" val="21606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B43C-8713-4C68-81C2-A64E5347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E7FE-12E0-4F8F-BF40-CD4F56F8F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10. Credit granting- granting of credit to customers is within the responsibilities of treasury</a:t>
            </a:r>
          </a:p>
          <a:p>
            <a:pPr marL="0" indent="0">
              <a:buNone/>
            </a:pPr>
            <a:r>
              <a:rPr lang="en-GB" dirty="0"/>
              <a:t>11. Other activities- such as M&amp;A, maintaining insurance on behalf of the company etc</a:t>
            </a:r>
          </a:p>
        </p:txBody>
      </p:sp>
    </p:spTree>
    <p:extLst>
      <p:ext uri="{BB962C8B-B14F-4D97-AF65-F5344CB8AC3E}">
        <p14:creationId xmlns:p14="http://schemas.microsoft.com/office/powerpoint/2010/main" val="299366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Tasks of Treasury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/>
              <a:t>Strategic</a:t>
            </a:r>
            <a:r>
              <a:rPr lang="en-US" dirty="0"/>
              <a:t>- matters concerning capital structure of business and distribution/retention policies, capital raising, assessment of likely returns, dividend decisions etc.</a:t>
            </a:r>
          </a:p>
          <a:p>
            <a:pPr marL="514350" indent="-514350">
              <a:buAutoNum type="arabicPeriod"/>
            </a:pPr>
            <a:r>
              <a:rPr lang="en-US" b="1" dirty="0"/>
              <a:t>Tactical</a:t>
            </a:r>
            <a:r>
              <a:rPr lang="en-US" dirty="0"/>
              <a:t>- management of cash investments and decision as to hedging of currency or interest risk</a:t>
            </a:r>
          </a:p>
          <a:p>
            <a:pPr marL="514350" indent="-514350">
              <a:buAutoNum type="arabicPeriod"/>
            </a:pPr>
            <a:r>
              <a:rPr lang="en-US" b="1" dirty="0"/>
              <a:t>Operational</a:t>
            </a:r>
            <a:r>
              <a:rPr lang="en-US" dirty="0"/>
              <a:t>- e.g. transmission of cash, placing of surplus cash, dealing with banks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0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or Profit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Treasury operations can be set up as a cost or profit center</a:t>
            </a:r>
          </a:p>
          <a:p>
            <a:r>
              <a:rPr lang="en-US" dirty="0"/>
              <a:t>Cost center is common approach, as treasury is regarded as a support function to the organization and is not expected to make a profit</a:t>
            </a:r>
          </a:p>
          <a:p>
            <a:r>
              <a:rPr lang="en-US" dirty="0"/>
              <a:t>Disadvantage is that management may focus on cost of treasury operations and not the value provided by function</a:t>
            </a:r>
          </a:p>
        </p:txBody>
      </p:sp>
    </p:spTree>
    <p:extLst>
      <p:ext uri="{BB962C8B-B14F-4D97-AF65-F5344CB8AC3E}">
        <p14:creationId xmlns:p14="http://schemas.microsoft.com/office/powerpoint/2010/main" val="53667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8190-0AD7-40E1-A304-70870B94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or Profit Centre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7AC6A-954B-4ECE-84C9-C92D46B4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may lead to difficulties obtaining appropriate budget and staff</a:t>
            </a:r>
          </a:p>
          <a:p>
            <a:r>
              <a:rPr lang="en-GB" dirty="0"/>
              <a:t>Profit </a:t>
            </a:r>
            <a:r>
              <a:rPr lang="en-GB" dirty="0" err="1"/>
              <a:t>center</a:t>
            </a:r>
            <a:r>
              <a:rPr lang="en-GB" dirty="0"/>
              <a:t> approach applies to organisations that heavily involved in global finance, trade, or risk management or companies that are financial service providers</a:t>
            </a:r>
          </a:p>
          <a:p>
            <a:r>
              <a:rPr lang="en-GB" dirty="0"/>
              <a:t>Such have extensive dealings in money, capital, FX, interest rate, or commodities market</a:t>
            </a:r>
          </a:p>
        </p:txBody>
      </p:sp>
    </p:spTree>
    <p:extLst>
      <p:ext uri="{BB962C8B-B14F-4D97-AF65-F5344CB8AC3E}">
        <p14:creationId xmlns:p14="http://schemas.microsoft.com/office/powerpoint/2010/main" val="66936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5BFFC-6383-416B-B413-B3D5FE30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or Profit Centre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02A8-79C5-4D43-9D46-A064879A8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require buying/selling/holding of securities or use of derivatives and other hedging instruments to increase earnings and/or reduce losses</a:t>
            </a:r>
          </a:p>
          <a:p>
            <a:r>
              <a:rPr lang="en-GB" dirty="0"/>
              <a:t>Rationale for profit </a:t>
            </a:r>
            <a:r>
              <a:rPr lang="en-GB" dirty="0" err="1"/>
              <a:t>center</a:t>
            </a:r>
            <a:r>
              <a:rPr lang="en-GB" dirty="0"/>
              <a:t> is to generate income from either trading operations or from hedging and/or speculative activities</a:t>
            </a:r>
          </a:p>
        </p:txBody>
      </p:sp>
    </p:spTree>
    <p:extLst>
      <p:ext uri="{BB962C8B-B14F-4D97-AF65-F5344CB8AC3E}">
        <p14:creationId xmlns:p14="http://schemas.microsoft.com/office/powerpoint/2010/main" val="253073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or Profit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 of profit </a:t>
            </a:r>
            <a:r>
              <a:rPr lang="en-US" b="1" dirty="0" err="1"/>
              <a:t>centre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Individual business units charged a market rate for the service provided, making operating costs more realistic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Treasurer motivated to provide services as effectively as possible to ensure that profit is made at market rate</a:t>
            </a:r>
          </a:p>
        </p:txBody>
      </p:sp>
    </p:spTree>
    <p:extLst>
      <p:ext uri="{BB962C8B-B14F-4D97-AF65-F5344CB8AC3E}">
        <p14:creationId xmlns:p14="http://schemas.microsoft.com/office/powerpoint/2010/main" val="85619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or Profit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 of profit </a:t>
            </a:r>
            <a:r>
              <a:rPr lang="en-US" b="1" dirty="0" err="1"/>
              <a:t>centre</a:t>
            </a:r>
            <a:endParaRPr lang="en-US" b="1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Profit concept is temptation to speculate e.g. swapping funds from currencies expected to depreciate into those expected to appreciate (i.e. shorting)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Management time unduly spent on arguments with business units over charges for services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Additional admin costs may be excessive</a:t>
            </a:r>
          </a:p>
        </p:txBody>
      </p:sp>
    </p:spTree>
    <p:extLst>
      <p:ext uri="{BB962C8B-B14F-4D97-AF65-F5344CB8AC3E}">
        <p14:creationId xmlns:p14="http://schemas.microsoft.com/office/powerpoint/2010/main" val="225613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Given large sums of cash involved in many treasury transactions it is important to set controls that ensure transactions are appropriate </a:t>
            </a:r>
            <a:r>
              <a:rPr lang="en-US" b="1" dirty="0">
                <a:solidFill>
                  <a:srgbClr val="FF0000"/>
                </a:solidFill>
              </a:rPr>
              <a:t>(RE: Nick Leeson and Barings Bank)</a:t>
            </a:r>
          </a:p>
          <a:p>
            <a:pPr marL="457200" indent="-457200">
              <a:buAutoNum type="arabicPeriod"/>
            </a:pPr>
            <a:r>
              <a:rPr lang="en-US" b="1" dirty="0"/>
              <a:t>Segregation </a:t>
            </a:r>
          </a:p>
          <a:p>
            <a:r>
              <a:rPr lang="en-US" dirty="0"/>
              <a:t>Duties must be segregated among treasury staff, i.e. between front office and back office</a:t>
            </a:r>
          </a:p>
          <a:p>
            <a:r>
              <a:rPr lang="en-US" dirty="0"/>
              <a:t>E.g. trading activities must be separated from confirmation activities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29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70BC-192F-CDEC-FA52-D5F1D393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27FE-46F7-752A-0A31-1142F1A29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W" dirty="0"/>
              <a:t>2. </a:t>
            </a:r>
            <a:r>
              <a:rPr lang="en-ZW" b="1" dirty="0"/>
              <a:t>Delegation of authority</a:t>
            </a:r>
          </a:p>
          <a:p>
            <a:r>
              <a:rPr lang="en-ZW" dirty="0"/>
              <a:t>Treasury staff require a sufficient level of autonomy </a:t>
            </a:r>
          </a:p>
          <a:p>
            <a:r>
              <a:rPr lang="en-ZW" dirty="0"/>
              <a:t>Delegation ensures that decision-making and power is in the right hands  </a:t>
            </a:r>
          </a:p>
          <a:p>
            <a:pPr marL="0" indent="0">
              <a:buNone/>
            </a:pPr>
            <a:r>
              <a:rPr lang="en-ZW" dirty="0"/>
              <a:t>3. </a:t>
            </a:r>
            <a:r>
              <a:rPr lang="en-ZW" b="1" dirty="0"/>
              <a:t>Limits</a:t>
            </a:r>
          </a:p>
          <a:p>
            <a:r>
              <a:rPr lang="en-US" dirty="0"/>
              <a:t>Treasurer should impose </a:t>
            </a:r>
            <a:r>
              <a:rPr lang="en-US" b="1" dirty="0"/>
              <a:t>limit </a:t>
            </a:r>
            <a:r>
              <a:rPr lang="en-US" dirty="0"/>
              <a:t>controls on a variety of transactions</a:t>
            </a:r>
          </a:p>
          <a:p>
            <a:r>
              <a:rPr lang="en-US" dirty="0"/>
              <a:t>Limits can prohibit or severely restrict treasury staff from investing in certain types of financial instruments that present an unduly high risk of capital loss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6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Approvals </a:t>
            </a:r>
          </a:p>
          <a:p>
            <a:r>
              <a:rPr lang="en-US" dirty="0"/>
              <a:t>Senior level treasury manager should approve all trades, another person should reconcile and account for all transactions</a:t>
            </a:r>
          </a:p>
          <a:p>
            <a:pPr marL="0" indent="0">
              <a:buNone/>
            </a:pPr>
            <a:r>
              <a:rPr lang="en-US" b="1" dirty="0"/>
              <a:t>5. Internal audits </a:t>
            </a:r>
            <a:r>
              <a:rPr lang="en-US" dirty="0"/>
              <a:t>should be scheduled in order to match actual transactions against company policies and procedures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Automation</a:t>
            </a:r>
          </a:p>
          <a:p>
            <a:r>
              <a:rPr lang="en-US" b="1" dirty="0"/>
              <a:t>STP </a:t>
            </a:r>
          </a:p>
        </p:txBody>
      </p:sp>
    </p:spTree>
    <p:extLst>
      <p:ext uri="{BB962C8B-B14F-4D97-AF65-F5344CB8AC3E}">
        <p14:creationId xmlns:p14="http://schemas.microsoft.com/office/powerpoint/2010/main" val="16139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company that operates geographically dispersed sales offices with limited personnel may centralize its treasury functions at the HQ</a:t>
            </a:r>
          </a:p>
          <a:p>
            <a:r>
              <a:rPr lang="en-US" dirty="0"/>
              <a:t>MNC may centralize all treasury operations in one country</a:t>
            </a:r>
          </a:p>
          <a:p>
            <a:r>
              <a:rPr lang="en-US" dirty="0"/>
              <a:t>Centralized treasury offers the following advantages:</a:t>
            </a:r>
          </a:p>
        </p:txBody>
      </p:sp>
    </p:spTree>
    <p:extLst>
      <p:ext uri="{BB962C8B-B14F-4D97-AF65-F5344CB8AC3E}">
        <p14:creationId xmlns:p14="http://schemas.microsoft.com/office/powerpoint/2010/main" val="187960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C313-35B2-4D9E-8876-708EA8F1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B5CF-B9A0-43AB-A7AE-0B66A6DF1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Stronger controls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Economies of scale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Lower operating costs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tax advantages for MNCs</a:t>
            </a:r>
          </a:p>
          <a:p>
            <a:r>
              <a:rPr lang="en-GB" dirty="0"/>
              <a:t>Centralized treasury grants less autonomy to field office personnel or subsidiaries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275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2860-8B12-4596-B349-C3EBDB42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535A-BCB6-49C2-83AE-0100B72C1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company with autonomous subsidiaries and/or multiple operational entities may operate with a decentralized treasury structure </a:t>
            </a:r>
          </a:p>
          <a:p>
            <a:r>
              <a:rPr lang="en-GB" dirty="0"/>
              <a:t>They will use guidelines and/or policies established by the company headquarters</a:t>
            </a:r>
          </a:p>
          <a:p>
            <a:r>
              <a:rPr lang="en-GB" dirty="0"/>
              <a:t>Local subsidiary personnel can offer the advantages of possessing familiarity with local business and banking practice  </a:t>
            </a:r>
          </a:p>
        </p:txBody>
      </p:sp>
    </p:spTree>
    <p:extLst>
      <p:ext uri="{BB962C8B-B14F-4D97-AF65-F5344CB8AC3E}">
        <p14:creationId xmlns:p14="http://schemas.microsoft.com/office/powerpoint/2010/main" val="402298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C63D-4CBD-4203-A474-296729CA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FE8F-8764-4F97-A903-CC3A7E150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staff have intimate knowledge of languages, customs, and cultures</a:t>
            </a:r>
          </a:p>
          <a:p>
            <a:r>
              <a:rPr lang="en-GB" dirty="0"/>
              <a:t>Decentralized structure may result in duplication of effort and resources across units</a:t>
            </a:r>
          </a:p>
          <a:p>
            <a:r>
              <a:rPr lang="en-GB" dirty="0"/>
              <a:t>Decentralized offices may also have a heavier burden with regards to compliance efforts, due to span of control issues and increased need for coordination</a:t>
            </a:r>
          </a:p>
        </p:txBody>
      </p:sp>
    </p:spTree>
    <p:extLst>
      <p:ext uri="{BB962C8B-B14F-4D97-AF65-F5344CB8AC3E}">
        <p14:creationId xmlns:p14="http://schemas.microsoft.com/office/powerpoint/2010/main" val="1553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9E1A-7DDF-4D22-844D-D0D7D071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30A69-92D5-424E-8526-DBA5A0B4A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Some large MNCs operate regional treasury </a:t>
            </a:r>
            <a:r>
              <a:rPr lang="en-GB" dirty="0" err="1"/>
              <a:t>centers</a:t>
            </a:r>
            <a:r>
              <a:rPr lang="en-GB" dirty="0"/>
              <a:t> that combine aspects of centralized and decentralized systems</a:t>
            </a:r>
          </a:p>
          <a:p>
            <a:r>
              <a:rPr lang="en-GB" dirty="0"/>
              <a:t>i.e. while each region is centralized, overall treasury operations are decentralized to regional </a:t>
            </a:r>
            <a:r>
              <a:rPr lang="en-GB" dirty="0" err="1"/>
              <a:t>centers</a:t>
            </a:r>
            <a:endParaRPr lang="en-GB" dirty="0"/>
          </a:p>
          <a:p>
            <a:r>
              <a:rPr lang="en-GB" dirty="0"/>
              <a:t>These regional </a:t>
            </a:r>
            <a:r>
              <a:rPr lang="en-GB" dirty="0" err="1"/>
              <a:t>centers</a:t>
            </a:r>
            <a:r>
              <a:rPr lang="en-GB" dirty="0"/>
              <a:t> typically provide treasury services to specific subsidiaries within a designated geographic area (e.g. North America, Europe, Asia Pacific etc)</a:t>
            </a:r>
          </a:p>
        </p:txBody>
      </p:sp>
    </p:spTree>
    <p:extLst>
      <p:ext uri="{BB962C8B-B14F-4D97-AF65-F5344CB8AC3E}">
        <p14:creationId xmlns:p14="http://schemas.microsoft.com/office/powerpoint/2010/main" val="375050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ED66-CDCC-4A59-9872-5FBA52A3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1B0B-8C22-44FD-8EF5-B443CCDC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advent of </a:t>
            </a:r>
            <a:r>
              <a:rPr lang="en-GB" b="1" dirty="0"/>
              <a:t>enterprise-wide accounting and information systems</a:t>
            </a:r>
            <a:r>
              <a:rPr lang="en-GB" dirty="0"/>
              <a:t> combined with the growth of </a:t>
            </a:r>
            <a:r>
              <a:rPr lang="en-GB" b="1" dirty="0"/>
              <a:t>automated treasury management systems </a:t>
            </a:r>
            <a:r>
              <a:rPr lang="en-GB" dirty="0"/>
              <a:t>has resulted in the introduction of hybrid centralized treasury systems with decentralized or distributed input and output</a:t>
            </a:r>
          </a:p>
        </p:txBody>
      </p:sp>
    </p:spTree>
    <p:extLst>
      <p:ext uri="{BB962C8B-B14F-4D97-AF65-F5344CB8AC3E}">
        <p14:creationId xmlns:p14="http://schemas.microsoft.com/office/powerpoint/2010/main" val="41224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F844-BB71-4C65-9444-F2E657D5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Centralization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8588D-4FCD-4EDF-847D-2E5919B0B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personnel are responsible for entering local information into a common treasury management or accounting system, while a centralized treasury staff manages and is responsible for overall treasury operations and cash management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66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7CD4-2005-14C4-4B32-DE2E1B17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y Use Practice Questions ...">
            <a:extLst>
              <a:ext uri="{FF2B5EF4-FFF2-40B4-BE49-F238E27FC236}">
                <a16:creationId xmlns:a16="http://schemas.microsoft.com/office/drawing/2014/main" id="{50F91E0D-8832-ACB1-C22D-8E756ABB58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491" y="1970314"/>
            <a:ext cx="6992938" cy="394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428</TotalTime>
  <Words>1295</Words>
  <Application>Microsoft Office PowerPoint</Application>
  <PresentationFormat>On-screen Show (4:3)</PresentationFormat>
  <Paragraphs>135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Gill Sans MT</vt:lpstr>
      <vt:lpstr>Wingdings</vt:lpstr>
      <vt:lpstr>Gallery</vt:lpstr>
      <vt:lpstr>BBF4302</vt:lpstr>
      <vt:lpstr>WELCOME TO THE COURSE </vt:lpstr>
      <vt:lpstr>Course outline </vt:lpstr>
      <vt:lpstr>Unit outline </vt:lpstr>
      <vt:lpstr>Introduction to Treasury</vt:lpstr>
      <vt:lpstr>Introduction to Treasury </vt:lpstr>
      <vt:lpstr>Key Decisions of the Finance Function</vt:lpstr>
      <vt:lpstr>Key Decisions of the Finance Function</vt:lpstr>
      <vt:lpstr>Key Decisions of the Finance Function</vt:lpstr>
      <vt:lpstr>Main Functions</vt:lpstr>
      <vt:lpstr>Main Functions</vt:lpstr>
      <vt:lpstr>Main Functions</vt:lpstr>
      <vt:lpstr>Main Functions</vt:lpstr>
      <vt:lpstr>Key Tasks of Treasury</vt:lpstr>
      <vt:lpstr>Cost or Profit Centre</vt:lpstr>
      <vt:lpstr>Cost or Profit Centre</vt:lpstr>
      <vt:lpstr>Cost or Profit Centre</vt:lpstr>
      <vt:lpstr>Cost or Profit Centre</vt:lpstr>
      <vt:lpstr>Cost or Profit Centre</vt:lpstr>
      <vt:lpstr>Treasury Controls</vt:lpstr>
      <vt:lpstr>Treasury Controls</vt:lpstr>
      <vt:lpstr>Treasury Controls</vt:lpstr>
      <vt:lpstr>Treasury Centralization</vt:lpstr>
      <vt:lpstr>Treasury Centralization</vt:lpstr>
      <vt:lpstr>Treasury Centralization</vt:lpstr>
      <vt:lpstr>Treasury Centralization</vt:lpstr>
      <vt:lpstr>Treasury Centralization</vt:lpstr>
      <vt:lpstr>Treasury Centralization</vt:lpstr>
      <vt:lpstr>Treasury Centralization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Webster Sikazwe</cp:lastModifiedBy>
  <cp:revision>31</cp:revision>
  <dcterms:created xsi:type="dcterms:W3CDTF">2018-08-06T09:52:02Z</dcterms:created>
  <dcterms:modified xsi:type="dcterms:W3CDTF">2026-01-29T10:27:39Z</dcterms:modified>
</cp:coreProperties>
</file>