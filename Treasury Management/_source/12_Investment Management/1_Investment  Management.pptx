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94675" autoAdjust="0"/>
  </p:normalViewPr>
  <p:slideViewPr>
    <p:cSldViewPr snapToGrid="0" snapToObjects="1">
      <p:cViewPr varScale="1">
        <p:scale>
          <a:sx n="68" d="100"/>
          <a:sy n="68" d="100"/>
        </p:scale>
        <p:origin x="144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27094"/>
            <a:ext cx="7772400" cy="1470025"/>
          </a:xfrm>
        </p:spPr>
        <p:txBody>
          <a:bodyPr anchor="b" anchorCtr="0"/>
          <a:lstStyle>
            <a:lvl1pPr>
              <a:defRPr sz="5400">
                <a:gradFill>
                  <a:gsLst>
                    <a:gs pos="0">
                      <a:schemeClr val="tx2"/>
                    </a:gs>
                    <a:gs pos="100000">
                      <a:schemeClr val="tx2">
                        <a:lumMod val="75000"/>
                      </a:schemeClr>
                    </a:gs>
                  </a:gsLst>
                  <a:lin ang="5400000" scaled="0"/>
                </a:gradFill>
                <a:effectLst>
                  <a:outerShdw blurRad="50800" dist="25400" dir="5400000" algn="t" rotWithShape="0">
                    <a:prstClr val="black">
                      <a:alpha val="40000"/>
                    </a:prstClr>
                  </a:outerShdw>
                </a:effectLst>
              </a:defRPr>
            </a:lvl1pPr>
          </a:lstStyle>
          <a:p>
            <a:r>
              <a:rPr lang="en-US"/>
              <a:t>Click to edit Master title style</a:t>
            </a:r>
            <a:endParaRPr/>
          </a:p>
        </p:txBody>
      </p:sp>
      <p:sp>
        <p:nvSpPr>
          <p:cNvPr id="3" name="Subtitle 2"/>
          <p:cNvSpPr>
            <a:spLocks noGrp="1"/>
          </p:cNvSpPr>
          <p:nvPr>
            <p:ph type="subTitle" idx="1"/>
          </p:nvPr>
        </p:nvSpPr>
        <p:spPr>
          <a:xfrm>
            <a:off x="685801" y="3810000"/>
            <a:ext cx="7770812" cy="1752600"/>
          </a:xfrm>
        </p:spPr>
        <p:txBody>
          <a:bodyPr>
            <a:normAutofit/>
          </a:bodyPr>
          <a:lstStyle>
            <a:lvl1pPr marL="0" indent="0" algn="ctr">
              <a:spcBef>
                <a:spcPts val="300"/>
              </a:spcBef>
              <a:buNone/>
              <a:defRPr sz="1600">
                <a:gradFill>
                  <a:gsLst>
                    <a:gs pos="0">
                      <a:schemeClr val="tx2"/>
                    </a:gs>
                    <a:gs pos="100000">
                      <a:schemeClr val="tx2">
                        <a:lumMod val="75000"/>
                      </a:schemeClr>
                    </a:gs>
                  </a:gsLst>
                  <a:lin ang="5400000" scaled="0"/>
                </a:gra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1CDB690E-D504-EE46-BF09-1B8B105CE4C6}" type="datetimeFigureOut">
              <a:rPr lang="en-US" smtClean="0"/>
              <a:t>10/12/2020</a:t>
            </a:fld>
            <a:endParaRPr lang="en-US"/>
          </a:p>
        </p:txBody>
      </p:sp>
      <p:sp>
        <p:nvSpPr>
          <p:cNvPr id="5" name="Footer Placeholder 4"/>
          <p:cNvSpPr>
            <a:spLocks noGrp="1"/>
          </p:cNvSpPr>
          <p:nvPr>
            <p:ph type="ftr" sz="quarter" idx="11"/>
          </p:nvPr>
        </p:nvSpPr>
        <p:spPr/>
        <p:txBody>
          <a:bodyPr/>
          <a:lstStyle/>
          <a:p>
            <a:endParaRPr lang="en-US"/>
          </a:p>
        </p:txBody>
      </p:sp>
      <p:pic>
        <p:nvPicPr>
          <p:cNvPr id="7" name="Picture 6" descr="CoverGlyph.png"/>
          <p:cNvPicPr>
            <a:picLocks noChangeAspect="1"/>
          </p:cNvPicPr>
          <p:nvPr/>
        </p:nvPicPr>
        <p:blipFill>
          <a:blip r:embed="rId2"/>
          <a:stretch>
            <a:fillRect/>
          </a:stretch>
        </p:blipFill>
        <p:spPr>
          <a:xfrm>
            <a:off x="4010025" y="3048000"/>
            <a:ext cx="1123950" cy="77152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10/12/2020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626440"/>
            <a:ext cx="7770813" cy="1472184"/>
          </a:xfrm>
        </p:spPr>
        <p:txBody>
          <a:bodyPr anchor="b" anchorCtr="0"/>
          <a:lstStyle>
            <a:lvl1pPr algn="ctr">
              <a:defRPr sz="5400" b="0" i="0" cap="none" baseline="0"/>
            </a:lvl1pPr>
          </a:lstStyle>
          <a:p>
            <a:r>
              <a:rPr lang="en-US"/>
              <a:t>Click to edit Master title style</a:t>
            </a:r>
            <a:endParaRPr/>
          </a:p>
        </p:txBody>
      </p:sp>
      <p:sp>
        <p:nvSpPr>
          <p:cNvPr id="3" name="Text Placeholder 2"/>
          <p:cNvSpPr>
            <a:spLocks noGrp="1"/>
          </p:cNvSpPr>
          <p:nvPr>
            <p:ph type="body" idx="1"/>
          </p:nvPr>
        </p:nvSpPr>
        <p:spPr>
          <a:xfrm>
            <a:off x="685800" y="3813048"/>
            <a:ext cx="7770813" cy="1755648"/>
          </a:xfrm>
        </p:spPr>
        <p:txBody>
          <a:bodyPr anchor="t" anchorCtr="0">
            <a:normAutofit/>
          </a:bodyPr>
          <a:lstStyle>
            <a:lvl1pPr marL="0" indent="0" algn="ctr">
              <a:spcBef>
                <a:spcPts val="30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DB690E-D504-EE46-BF09-1B8B105CE4C6}" type="datetimeFigureOut">
              <a:rPr lang="en-US" smtClean="0"/>
              <a:t>10/12/2020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7" name="Picture 6" descr="Glyph-SectionHeader.png"/>
          <p:cNvPicPr>
            <a:picLocks noChangeAspect="1"/>
          </p:cNvPicPr>
          <p:nvPr/>
        </p:nvPicPr>
        <p:blipFill>
          <a:blip r:embed="rId2"/>
          <a:stretch>
            <a:fillRect/>
          </a:stretch>
        </p:blipFill>
        <p:spPr>
          <a:xfrm>
            <a:off x="4038600" y="3174066"/>
            <a:ext cx="1066800" cy="5905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858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8006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1CDB690E-D504-EE46-BF09-1B8B105CE4C6}" type="datetimeFigureOut">
              <a:rPr lang="en-US" smtClean="0"/>
              <a:t>10/12/2020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858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8006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006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1CDB690E-D504-EE46-BF09-1B8B105CE4C6}" type="datetimeFigureOut">
              <a:rPr lang="en-US" smtClean="0"/>
              <a:t>10/12/2020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CDB690E-D504-EE46-BF09-1B8B105CE4C6}" type="datetimeFigureOut">
              <a:rPr lang="en-US" smtClean="0"/>
              <a:t>10/12/2020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B690E-D504-EE46-BF09-1B8B105CE4C6}" type="datetimeFigureOut">
              <a:rPr lang="en-US" smtClean="0"/>
              <a:t>10/12/2020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6D9AA8-3163-9341-B184-8747F5D2BF2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906" y="914400"/>
            <a:ext cx="3657600" cy="1162050"/>
          </a:xfrm>
        </p:spPr>
        <p:txBody>
          <a:bodyPr anchor="b"/>
          <a:lstStyle>
            <a:lvl1pPr algn="ctr">
              <a:defRPr sz="3800" b="0"/>
            </a:lvl1pPr>
          </a:lstStyle>
          <a:p>
            <a:r>
              <a:rPr lang="en-US"/>
              <a:t>Click to edit Master title style</a:t>
            </a:r>
            <a:endParaRPr/>
          </a:p>
        </p:txBody>
      </p:sp>
      <p:sp>
        <p:nvSpPr>
          <p:cNvPr id="3" name="Content Placeholder 2"/>
          <p:cNvSpPr>
            <a:spLocks noGrp="1"/>
          </p:cNvSpPr>
          <p:nvPr>
            <p:ph idx="1"/>
          </p:nvPr>
        </p:nvSpPr>
        <p:spPr>
          <a:xfrm>
            <a:off x="4796118" y="457199"/>
            <a:ext cx="3657600" cy="5410201"/>
          </a:xfrm>
        </p:spPr>
        <p:txBody>
          <a:bodyPr>
            <a:normAutofit/>
          </a:bodyPr>
          <a:lstStyle>
            <a:lvl1pPr>
              <a:defRPr sz="2400"/>
            </a:lvl1pPr>
            <a:lvl2pPr>
              <a:defRPr sz="2200"/>
            </a:lvl2pPr>
            <a:lvl3pPr>
              <a:defRPr sz="2000"/>
            </a:lvl3pPr>
            <a:lvl4pPr>
              <a:defRPr sz="1800"/>
            </a:lvl4pPr>
            <a:lvl5pPr>
              <a:defRPr sz="1800"/>
            </a:lvl5pPr>
            <a:lvl6pPr marL="2290763" indent="-461963">
              <a:tabLst/>
              <a:defRPr sz="2000"/>
            </a:lvl6pPr>
            <a:lvl7pPr marL="2290763" indent="-461963">
              <a:tabLst/>
              <a:defRPr sz="2000"/>
            </a:lvl7pPr>
            <a:lvl8pPr marL="2290763" indent="-461963">
              <a:tabLst/>
              <a:defRPr sz="2000"/>
            </a:lvl8pPr>
            <a:lvl9pPr marL="2290763" indent="-461963">
              <a:tabLst/>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58906" y="2590799"/>
            <a:ext cx="3657600" cy="2895601"/>
          </a:xfrm>
        </p:spPr>
        <p:txBody>
          <a:bodyPr>
            <a:normAutofit/>
          </a:bodyPr>
          <a:lstStyle>
            <a:lvl1pPr marL="0" indent="0" algn="ctr">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10/12/2020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1664746" y="2286000"/>
            <a:ext cx="1645920" cy="170411"/>
          </a:xfrm>
          <a:prstGeom prst="rect">
            <a:avLst/>
          </a:prstGeom>
          <a:noFill/>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99013" y="914400"/>
            <a:ext cx="3657600" cy="1161288"/>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658906" y="457200"/>
            <a:ext cx="3657600" cy="5413248"/>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4799013" y="2587752"/>
            <a:ext cx="3657600" cy="2898648"/>
          </a:xfrm>
        </p:spPr>
        <p:txBody>
          <a:bodyPr vert="horz" lIns="91440" tIns="45720" rIns="91440" bIns="45720" rtlCol="0">
            <a:normAutofit/>
          </a:bodyPr>
          <a:lstStyle>
            <a:lvl1pPr marL="0" indent="0" algn="ctr">
              <a:spcBef>
                <a:spcPts val="6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10/12/2020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5804853" y="2286000"/>
            <a:ext cx="1645920" cy="170411"/>
          </a:xfrm>
          <a:prstGeom prst="rect">
            <a:avLst/>
          </a:prstGeom>
          <a:noFill/>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3738282"/>
            <a:ext cx="7770813" cy="1048870"/>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286000" y="457200"/>
            <a:ext cx="4572000" cy="3173506"/>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685800" y="5181600"/>
            <a:ext cx="7770813" cy="685800"/>
          </a:xfrm>
        </p:spPr>
        <p:txBody>
          <a:bodyPr vert="horz" lIns="91440" tIns="45720" rIns="91440" bIns="45720" rtlCol="0">
            <a:normAutofit/>
          </a:bodyPr>
          <a:lstStyle>
            <a:lvl1pPr marL="0" indent="0" algn="ctr">
              <a:spcBef>
                <a:spcPts val="3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10/12/2020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4890247"/>
            <a:ext cx="1645920" cy="170411"/>
          </a:xfrm>
          <a:prstGeom prst="rect">
            <a:avLst/>
          </a:prstGeom>
          <a:noFill/>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286000" indent="-457200">
              <a:defRPr/>
            </a:lvl6pPr>
            <a:lvl7pPr marL="2286000" indent="-457200">
              <a:defRPr/>
            </a:lvl7pPr>
            <a:lvl8pPr marL="2286000" indent="-457200">
              <a:defRPr/>
            </a:lvl8pPr>
            <a:lvl9pPr marL="2286000" indent="-4572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10/12/2020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2800" y="537882"/>
            <a:ext cx="1524000" cy="5325036"/>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85800" y="537882"/>
            <a:ext cx="5889812" cy="5325036"/>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10/12/2020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rot="5400000">
            <a:off x="6052928" y="3115195"/>
            <a:ext cx="1645920" cy="170411"/>
          </a:xfrm>
          <a:prstGeom prst="rect">
            <a:avLst/>
          </a:prstGeom>
          <a:noFill/>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4305300" y="6289115"/>
            <a:ext cx="5334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DE6D9AA8-3163-9341-B184-8747F5D2BF21}" type="slidenum">
              <a:rPr lang="en-US" smtClean="0"/>
              <a:t>‹#›</a:t>
            </a:fld>
            <a:endParaRPr lang="en-US"/>
          </a:p>
        </p:txBody>
      </p:sp>
      <p:sp>
        <p:nvSpPr>
          <p:cNvPr id="2" name="Title Placeholder 1"/>
          <p:cNvSpPr>
            <a:spLocks noGrp="1"/>
          </p:cNvSpPr>
          <p:nvPr>
            <p:ph type="title"/>
          </p:nvPr>
        </p:nvSpPr>
        <p:spPr>
          <a:xfrm>
            <a:off x="685800" y="67236"/>
            <a:ext cx="7770813" cy="1371600"/>
          </a:xfrm>
          <a:prstGeom prst="rect">
            <a:avLst/>
          </a:prstGeom>
          <a:effectLst/>
        </p:spPr>
        <p:txBody>
          <a:bodyPr vert="horz" lIns="91440" tIns="45720" rIns="91440" bIns="45720" rtlCol="0" anchor="ctr" anchorCtr="0">
            <a:noAutofit/>
          </a:bodyPr>
          <a:lstStyle/>
          <a:p>
            <a:r>
              <a:rPr lang="en-US"/>
              <a:t>Click to edit Master title style</a:t>
            </a:r>
            <a:endParaRPr/>
          </a:p>
        </p:txBody>
      </p:sp>
      <p:sp>
        <p:nvSpPr>
          <p:cNvPr id="3" name="Text Placeholder 2"/>
          <p:cNvSpPr>
            <a:spLocks noGrp="1"/>
          </p:cNvSpPr>
          <p:nvPr>
            <p:ph type="body" idx="1"/>
          </p:nvPr>
        </p:nvSpPr>
        <p:spPr>
          <a:xfrm>
            <a:off x="685800" y="2209800"/>
            <a:ext cx="7770813"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400800" y="6289115"/>
            <a:ext cx="237564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DB690E-D504-EE46-BF09-1B8B105CE4C6}" type="datetimeFigureOut">
              <a:rPr lang="en-US" smtClean="0"/>
              <a:t>10/12/2020</a:t>
            </a:fld>
            <a:endParaRPr lang="en-US"/>
          </a:p>
        </p:txBody>
      </p:sp>
      <p:sp>
        <p:nvSpPr>
          <p:cNvPr id="5" name="Footer Placeholder 4"/>
          <p:cNvSpPr>
            <a:spLocks noGrp="1"/>
          </p:cNvSpPr>
          <p:nvPr>
            <p:ph type="ftr" sz="quarter" idx="3"/>
          </p:nvPr>
        </p:nvSpPr>
        <p:spPr>
          <a:xfrm>
            <a:off x="349624" y="6289115"/>
            <a:ext cx="3155576"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5000" kern="1200">
          <a:solidFill>
            <a:schemeClr val="tx2"/>
          </a:solidFill>
          <a:effectLst>
            <a:outerShdw blurRad="38100" dist="12700" algn="l" rotWithShape="0">
              <a:prstClr val="black">
                <a:alpha val="40000"/>
              </a:prstClr>
            </a:outerShdw>
          </a:effectLst>
          <a:latin typeface="+mj-lt"/>
          <a:ea typeface="+mj-ea"/>
          <a:cs typeface="+mj-cs"/>
        </a:defRPr>
      </a:lvl1pPr>
    </p:titleStyle>
    <p:bodyStyle>
      <a:lvl1pPr marL="457200" indent="-457200" algn="l" defTabSz="914400" rtl="0" eaLnBrk="1" latinLnBrk="0" hangingPunct="1">
        <a:spcBef>
          <a:spcPts val="2000"/>
        </a:spcBef>
        <a:buClr>
          <a:schemeClr val="accent3"/>
        </a:buClr>
        <a:buFont typeface="Wingdings" pitchFamily="2" charset="2"/>
        <a:buChar char=""/>
        <a:defRPr sz="2400" kern="1200">
          <a:solidFill>
            <a:schemeClr val="tx2"/>
          </a:solidFill>
          <a:latin typeface="+mn-lt"/>
          <a:ea typeface="+mn-ea"/>
          <a:cs typeface="+mn-cs"/>
        </a:defRPr>
      </a:lvl1pPr>
      <a:lvl2pPr marL="914400" indent="-457200" algn="l" defTabSz="914400" rtl="0" eaLnBrk="1" latinLnBrk="0" hangingPunct="1">
        <a:spcBef>
          <a:spcPts val="600"/>
        </a:spcBef>
        <a:buClr>
          <a:schemeClr val="accent3">
            <a:lumMod val="50000"/>
          </a:schemeClr>
        </a:buClr>
        <a:buFont typeface="Wingdings" pitchFamily="2" charset="2"/>
        <a:buChar char=""/>
        <a:defRPr sz="2200" kern="1200">
          <a:solidFill>
            <a:schemeClr val="tx2"/>
          </a:solidFill>
          <a:latin typeface="+mn-lt"/>
          <a:ea typeface="+mn-ea"/>
          <a:cs typeface="+mn-cs"/>
        </a:defRPr>
      </a:lvl2pPr>
      <a:lvl3pPr marL="1371600" indent="-457200" algn="l" defTabSz="914400" rtl="0" eaLnBrk="1" latinLnBrk="0" hangingPunct="1">
        <a:spcBef>
          <a:spcPts val="600"/>
        </a:spcBef>
        <a:buClr>
          <a:schemeClr val="accent3"/>
        </a:buClr>
        <a:buFont typeface="Wingdings" pitchFamily="2" charset="2"/>
        <a:buChar char=""/>
        <a:defRPr sz="2000" kern="1200">
          <a:solidFill>
            <a:schemeClr val="tx2"/>
          </a:solidFill>
          <a:latin typeface="+mn-lt"/>
          <a:ea typeface="+mn-ea"/>
          <a:cs typeface="+mn-cs"/>
        </a:defRPr>
      </a:lvl3pPr>
      <a:lvl4pPr marL="1828800" indent="-457200" algn="l" defTabSz="914400" rtl="0" eaLnBrk="1" latinLnBrk="0" hangingPunct="1">
        <a:spcBef>
          <a:spcPts val="600"/>
        </a:spcBef>
        <a:buClr>
          <a:schemeClr val="accent3">
            <a:lumMod val="50000"/>
          </a:schemeClr>
        </a:buClr>
        <a:buFont typeface="Wingdings" pitchFamily="2" charset="2"/>
        <a:buChar char=""/>
        <a:defRPr sz="1800" kern="1200">
          <a:solidFill>
            <a:schemeClr val="tx2"/>
          </a:solidFill>
          <a:latin typeface="+mn-lt"/>
          <a:ea typeface="+mn-ea"/>
          <a:cs typeface="+mn-cs"/>
        </a:defRPr>
      </a:lvl4pPr>
      <a:lvl5pPr marL="2286000" indent="-457200" algn="l" defTabSz="914400" rtl="0" eaLnBrk="1" latinLnBrk="0" hangingPunct="1">
        <a:spcBef>
          <a:spcPts val="600"/>
        </a:spcBef>
        <a:buClr>
          <a:schemeClr val="accent3"/>
        </a:buClr>
        <a:buFont typeface="Wingdings" pitchFamily="2" charset="2"/>
        <a:buChar char=""/>
        <a:defRPr sz="1800" kern="1200">
          <a:solidFill>
            <a:schemeClr val="tx2"/>
          </a:solidFill>
          <a:latin typeface="+mn-lt"/>
          <a:ea typeface="+mn-ea"/>
          <a:cs typeface="+mn-cs"/>
        </a:defRPr>
      </a:lvl5pPr>
      <a:lvl6pPr marL="27432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6pPr>
      <a:lvl7pPr marL="32051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7pPr>
      <a:lvl8pPr marL="36576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8pPr>
      <a:lvl9pPr marL="41195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Treasury Management</a:t>
            </a:r>
          </a:p>
        </p:txBody>
      </p:sp>
      <p:sp>
        <p:nvSpPr>
          <p:cNvPr id="3" name="Subtitle 2"/>
          <p:cNvSpPr>
            <a:spLocks noGrp="1"/>
          </p:cNvSpPr>
          <p:nvPr>
            <p:ph type="subTitle" idx="1"/>
          </p:nvPr>
        </p:nvSpPr>
        <p:spPr/>
        <p:txBody>
          <a:bodyPr/>
          <a:lstStyle/>
          <a:p>
            <a:r>
              <a:rPr lang="en-US" dirty="0"/>
              <a:t>Investment Management</a:t>
            </a:r>
          </a:p>
        </p:txBody>
      </p:sp>
    </p:spTree>
    <p:extLst>
      <p:ext uri="{BB962C8B-B14F-4D97-AF65-F5344CB8AC3E}">
        <p14:creationId xmlns:p14="http://schemas.microsoft.com/office/powerpoint/2010/main" val="837277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Criteria</a:t>
            </a:r>
            <a:endParaRPr lang="en-US" dirty="0"/>
          </a:p>
        </p:txBody>
      </p:sp>
      <p:sp>
        <p:nvSpPr>
          <p:cNvPr id="3" name="Content Placeholder 2"/>
          <p:cNvSpPr>
            <a:spLocks noGrp="1"/>
          </p:cNvSpPr>
          <p:nvPr>
            <p:ph idx="1"/>
          </p:nvPr>
        </p:nvSpPr>
        <p:spPr/>
        <p:txBody>
          <a:bodyPr>
            <a:normAutofit fontScale="92500"/>
          </a:bodyPr>
          <a:lstStyle/>
          <a:p>
            <a:r>
              <a:rPr lang="en-GB" dirty="0"/>
              <a:t>Surplus funds not needed for either operating purposes or compensating bank balances are available for investment</a:t>
            </a:r>
          </a:p>
          <a:p>
            <a:r>
              <a:rPr lang="en-GB" dirty="0"/>
              <a:t>When considering various forms of cash investment, the treasurer should first consider the following:</a:t>
            </a:r>
          </a:p>
          <a:p>
            <a:pPr marL="514350" indent="-514350">
              <a:buAutoNum type="romanLcParenBoth"/>
            </a:pPr>
            <a:r>
              <a:rPr lang="en-GB" dirty="0"/>
              <a:t>Safety of the principal being invested</a:t>
            </a:r>
          </a:p>
          <a:p>
            <a:pPr marL="514350" indent="-514350">
              <a:buAutoNum type="romanLcParenBoth"/>
            </a:pPr>
            <a:r>
              <a:rPr lang="en-GB" dirty="0"/>
              <a:t>Maturity and marketability</a:t>
            </a:r>
          </a:p>
          <a:p>
            <a:pPr marL="514350" indent="-514350">
              <a:buAutoNum type="romanLcParenBoth"/>
            </a:pPr>
            <a:r>
              <a:rPr lang="en-GB" dirty="0"/>
              <a:t>Yield </a:t>
            </a:r>
            <a:endParaRPr lang="en-US" dirty="0"/>
          </a:p>
        </p:txBody>
      </p:sp>
    </p:spTree>
    <p:extLst>
      <p:ext uri="{BB962C8B-B14F-4D97-AF65-F5344CB8AC3E}">
        <p14:creationId xmlns:p14="http://schemas.microsoft.com/office/powerpoint/2010/main" val="87028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Options</a:t>
            </a:r>
            <a:endParaRPr lang="en-US" dirty="0"/>
          </a:p>
        </p:txBody>
      </p:sp>
      <p:sp>
        <p:nvSpPr>
          <p:cNvPr id="3" name="Content Placeholder 2"/>
          <p:cNvSpPr>
            <a:spLocks noGrp="1"/>
          </p:cNvSpPr>
          <p:nvPr>
            <p:ph idx="1"/>
          </p:nvPr>
        </p:nvSpPr>
        <p:spPr/>
        <p:txBody>
          <a:bodyPr/>
          <a:lstStyle/>
          <a:p>
            <a:pPr>
              <a:buFont typeface="+mj-lt"/>
              <a:buAutoNum type="alphaLcPeriod"/>
            </a:pPr>
            <a:r>
              <a:rPr lang="en-GB" dirty="0"/>
              <a:t> Bankers acceptances</a:t>
            </a:r>
          </a:p>
          <a:p>
            <a:r>
              <a:rPr lang="en-GB" dirty="0"/>
              <a:t>Banks sometimes guarantee (or accept) corporate debt, usually when they issue a loan to a corporate customer, and then sell the debt to investors.</a:t>
            </a:r>
          </a:p>
          <a:p>
            <a:r>
              <a:rPr lang="en-GB" dirty="0"/>
              <a:t>Because of the bank guarantee, they are viewed as obligations of the bank</a:t>
            </a:r>
          </a:p>
          <a:p>
            <a:pPr marL="0" indent="0">
              <a:buNone/>
            </a:pPr>
            <a:endParaRPr lang="en-US" dirty="0"/>
          </a:p>
        </p:txBody>
      </p:sp>
    </p:spTree>
    <p:extLst>
      <p:ext uri="{BB962C8B-B14F-4D97-AF65-F5344CB8AC3E}">
        <p14:creationId xmlns:p14="http://schemas.microsoft.com/office/powerpoint/2010/main" val="308288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Options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GB" dirty="0"/>
              <a:t>b. Bonds near maturity dates</a:t>
            </a:r>
          </a:p>
          <a:p>
            <a:r>
              <a:rPr lang="en-GB" dirty="0"/>
              <a:t>A corporate bond may not mature for many years, but one can purchase a bond that is close to its maturity date.</a:t>
            </a:r>
          </a:p>
          <a:p>
            <a:r>
              <a:rPr lang="en-GB" dirty="0"/>
              <a:t>Their tends to be a minimal risk of loss (or gain) on the principal amount of this investment, since there is low risk that interest rates will change so much in the short period of time left to maturity date that will impact its value</a:t>
            </a:r>
            <a:endParaRPr lang="en-US" dirty="0"/>
          </a:p>
        </p:txBody>
      </p:sp>
    </p:spTree>
    <p:extLst>
      <p:ext uri="{BB962C8B-B14F-4D97-AF65-F5344CB8AC3E}">
        <p14:creationId xmlns:p14="http://schemas.microsoft.com/office/powerpoint/2010/main" val="12456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Options</a:t>
            </a:r>
            <a:endParaRPr lang="en-US" dirty="0"/>
          </a:p>
        </p:txBody>
      </p:sp>
      <p:sp>
        <p:nvSpPr>
          <p:cNvPr id="3" name="Content Placeholder 2"/>
          <p:cNvSpPr>
            <a:spLocks noGrp="1"/>
          </p:cNvSpPr>
          <p:nvPr>
            <p:ph idx="1"/>
          </p:nvPr>
        </p:nvSpPr>
        <p:spPr/>
        <p:txBody>
          <a:bodyPr/>
          <a:lstStyle/>
          <a:p>
            <a:pPr marL="0" indent="0">
              <a:buNone/>
            </a:pPr>
            <a:r>
              <a:rPr lang="en-GB" dirty="0"/>
              <a:t>c. Certificate of deposits</a:t>
            </a:r>
          </a:p>
          <a:p>
            <a:r>
              <a:rPr lang="en-GB" dirty="0"/>
              <a:t>Are term bank deposits, typically having durations of up to two years.</a:t>
            </a:r>
          </a:p>
          <a:p>
            <a:r>
              <a:rPr lang="en-GB" dirty="0"/>
              <a:t>Pay a fixed interest rate, though some variable rate CDs are available</a:t>
            </a:r>
          </a:p>
          <a:p>
            <a:r>
              <a:rPr lang="en-GB" dirty="0"/>
              <a:t>Perception that they are more secure than CP since they are issued by banks</a:t>
            </a:r>
          </a:p>
          <a:p>
            <a:pPr marL="0" indent="0">
              <a:buNone/>
            </a:pPr>
            <a:endParaRPr lang="en-US" dirty="0"/>
          </a:p>
        </p:txBody>
      </p:sp>
    </p:spTree>
    <p:extLst>
      <p:ext uri="{BB962C8B-B14F-4D97-AF65-F5344CB8AC3E}">
        <p14:creationId xmlns:p14="http://schemas.microsoft.com/office/powerpoint/2010/main" val="164088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Options</a:t>
            </a:r>
            <a:endParaRPr lang="en-US" dirty="0"/>
          </a:p>
        </p:txBody>
      </p:sp>
      <p:sp>
        <p:nvSpPr>
          <p:cNvPr id="3" name="Content Placeholder 2"/>
          <p:cNvSpPr>
            <a:spLocks noGrp="1"/>
          </p:cNvSpPr>
          <p:nvPr>
            <p:ph idx="1"/>
          </p:nvPr>
        </p:nvSpPr>
        <p:spPr/>
        <p:txBody>
          <a:bodyPr/>
          <a:lstStyle/>
          <a:p>
            <a:pPr marL="0" indent="0">
              <a:buNone/>
            </a:pPr>
            <a:r>
              <a:rPr lang="en-GB" dirty="0"/>
              <a:t>d. Commercial Paper</a:t>
            </a:r>
          </a:p>
          <a:p>
            <a:r>
              <a:rPr lang="en-GB" dirty="0"/>
              <a:t>Large corporations issue short-term notes that carry higher yields than government debt issues</a:t>
            </a:r>
          </a:p>
          <a:p>
            <a:r>
              <a:rPr lang="en-GB" dirty="0"/>
              <a:t>There is an active secondary market for them, so they are very liquid</a:t>
            </a:r>
          </a:p>
          <a:p>
            <a:r>
              <a:rPr lang="en-GB" dirty="0"/>
              <a:t>CP is generally not secured, however investing in CP issued by ‘blue chip’ companies reduces default risk</a:t>
            </a:r>
            <a:endParaRPr lang="en-US" dirty="0"/>
          </a:p>
        </p:txBody>
      </p:sp>
    </p:spTree>
    <p:extLst>
      <p:ext uri="{BB962C8B-B14F-4D97-AF65-F5344CB8AC3E}">
        <p14:creationId xmlns:p14="http://schemas.microsoft.com/office/powerpoint/2010/main" val="1210980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Options</a:t>
            </a:r>
            <a:endParaRPr lang="en-US" dirty="0"/>
          </a:p>
        </p:txBody>
      </p:sp>
      <p:sp>
        <p:nvSpPr>
          <p:cNvPr id="3" name="Content Placeholder 2"/>
          <p:cNvSpPr>
            <a:spLocks noGrp="1"/>
          </p:cNvSpPr>
          <p:nvPr>
            <p:ph idx="1"/>
          </p:nvPr>
        </p:nvSpPr>
        <p:spPr/>
        <p:txBody>
          <a:bodyPr>
            <a:normAutofit lnSpcReduction="10000"/>
          </a:bodyPr>
          <a:lstStyle/>
          <a:p>
            <a:r>
              <a:rPr lang="en-GB" dirty="0"/>
              <a:t>Most CP matures in 30 days or less, and rarely matures in greater than 270 days, in order to avoid registration requirements of the SEC</a:t>
            </a:r>
          </a:p>
          <a:p>
            <a:r>
              <a:rPr lang="en-GB" dirty="0"/>
              <a:t>CP is issued at a discount</a:t>
            </a:r>
          </a:p>
          <a:p>
            <a:pPr marL="0" indent="0">
              <a:buNone/>
            </a:pPr>
            <a:r>
              <a:rPr lang="en-GB" dirty="0"/>
              <a:t>e. Money market fund</a:t>
            </a:r>
          </a:p>
          <a:p>
            <a:r>
              <a:rPr lang="en-GB" dirty="0"/>
              <a:t>Package of government instruments, usually composed of treasury bills, notes, and bonds assembled by a fund management company</a:t>
            </a:r>
          </a:p>
          <a:p>
            <a:endParaRPr lang="en-US" dirty="0"/>
          </a:p>
        </p:txBody>
      </p:sp>
    </p:spTree>
    <p:extLst>
      <p:ext uri="{BB962C8B-B14F-4D97-AF65-F5344CB8AC3E}">
        <p14:creationId xmlns:p14="http://schemas.microsoft.com/office/powerpoint/2010/main" val="397870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Options</a:t>
            </a:r>
            <a:endParaRPr lang="en-US" dirty="0"/>
          </a:p>
        </p:txBody>
      </p:sp>
      <p:sp>
        <p:nvSpPr>
          <p:cNvPr id="3" name="Content Placeholder 2"/>
          <p:cNvSpPr>
            <a:spLocks noGrp="1"/>
          </p:cNvSpPr>
          <p:nvPr>
            <p:ph idx="1"/>
          </p:nvPr>
        </p:nvSpPr>
        <p:spPr/>
        <p:txBody>
          <a:bodyPr/>
          <a:lstStyle/>
          <a:p>
            <a:r>
              <a:rPr lang="en-GB" dirty="0"/>
              <a:t>Investment is highly liquid with many investors putting in funds for as little as a day</a:t>
            </a:r>
          </a:p>
          <a:p>
            <a:r>
              <a:rPr lang="en-GB" dirty="0"/>
              <a:t>There are varying levels of risk between different money market funds, since some funds are more active in trying to outperform the market (with an attendant increase in risk</a:t>
            </a:r>
          </a:p>
          <a:p>
            <a:pPr marL="0" indent="0">
              <a:buNone/>
            </a:pPr>
            <a:endParaRPr lang="en-GB" dirty="0"/>
          </a:p>
          <a:p>
            <a:pPr marL="0" indent="0">
              <a:buNone/>
            </a:pPr>
            <a:endParaRPr lang="en-US" dirty="0"/>
          </a:p>
        </p:txBody>
      </p:sp>
    </p:spTree>
    <p:extLst>
      <p:ext uri="{BB962C8B-B14F-4D97-AF65-F5344CB8AC3E}">
        <p14:creationId xmlns:p14="http://schemas.microsoft.com/office/powerpoint/2010/main" val="30430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Options</a:t>
            </a:r>
            <a:endParaRPr lang="en-US" dirty="0"/>
          </a:p>
        </p:txBody>
      </p:sp>
      <p:sp>
        <p:nvSpPr>
          <p:cNvPr id="3" name="Content Placeholder 2"/>
          <p:cNvSpPr>
            <a:spLocks noGrp="1"/>
          </p:cNvSpPr>
          <p:nvPr>
            <p:ph idx="1"/>
          </p:nvPr>
        </p:nvSpPr>
        <p:spPr/>
        <p:txBody>
          <a:bodyPr/>
          <a:lstStyle/>
          <a:p>
            <a:pPr marL="0" indent="0">
              <a:buNone/>
            </a:pPr>
            <a:r>
              <a:rPr lang="en-GB" dirty="0"/>
              <a:t>f. Repurchase agreement (REPO)</a:t>
            </a:r>
          </a:p>
          <a:p>
            <a:r>
              <a:rPr lang="en-GB" dirty="0"/>
              <a:t>A package of securities that an investor buys from a financial institution, with an agreement that the institution will buy it back at a specified date</a:t>
            </a:r>
          </a:p>
          <a:p>
            <a:r>
              <a:rPr lang="en-GB" dirty="0"/>
              <a:t>Most commonly used for the overnight investment of excess cash </a:t>
            </a:r>
          </a:p>
          <a:p>
            <a:r>
              <a:rPr lang="en-GB" dirty="0"/>
              <a:t>Interest rate is equal to or less than money market rate</a:t>
            </a:r>
          </a:p>
          <a:p>
            <a:pPr marL="0" indent="0">
              <a:buNone/>
            </a:pPr>
            <a:endParaRPr lang="en-GB" dirty="0"/>
          </a:p>
          <a:p>
            <a:endParaRPr lang="en-US" dirty="0"/>
          </a:p>
        </p:txBody>
      </p:sp>
    </p:spTree>
    <p:extLst>
      <p:ext uri="{BB962C8B-B14F-4D97-AF65-F5344CB8AC3E}">
        <p14:creationId xmlns:p14="http://schemas.microsoft.com/office/powerpoint/2010/main" val="189408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Options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GB" dirty="0"/>
              <a:t>g. Treasury bills issuance</a:t>
            </a:r>
          </a:p>
          <a:p>
            <a:r>
              <a:rPr lang="en-GB" dirty="0"/>
              <a:t>Issued by the Central Bank on behalf of government to finance budget deficits</a:t>
            </a:r>
          </a:p>
          <a:p>
            <a:r>
              <a:rPr lang="en-GB" dirty="0"/>
              <a:t>Considered as risk free investments</a:t>
            </a:r>
          </a:p>
          <a:p>
            <a:r>
              <a:rPr lang="en-GB" dirty="0"/>
              <a:t>Issued at a discount to their face value</a:t>
            </a:r>
          </a:p>
          <a:p>
            <a:r>
              <a:rPr lang="en-GB" dirty="0"/>
              <a:t>Have lower yields than most other forms of investments</a:t>
            </a:r>
            <a:endParaRPr lang="en-US" dirty="0"/>
          </a:p>
        </p:txBody>
      </p:sp>
    </p:spTree>
    <p:extLst>
      <p:ext uri="{BB962C8B-B14F-4D97-AF65-F5344CB8AC3E}">
        <p14:creationId xmlns:p14="http://schemas.microsoft.com/office/powerpoint/2010/main" val="50176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normAutofit fontScale="92500"/>
          </a:bodyPr>
          <a:lstStyle/>
          <a:p>
            <a:r>
              <a:rPr lang="en-GB" dirty="0"/>
              <a:t>Treasurer should develop a standard methodology for investing funds.</a:t>
            </a:r>
          </a:p>
          <a:p>
            <a:pPr marL="514350" indent="-514350">
              <a:buFont typeface="+mj-lt"/>
              <a:buAutoNum type="romanLcPeriod"/>
            </a:pPr>
            <a:r>
              <a:rPr lang="en-GB" dirty="0"/>
              <a:t>Earnings credit strategy</a:t>
            </a:r>
          </a:p>
          <a:p>
            <a:r>
              <a:rPr lang="en-GB" dirty="0"/>
              <a:t>At the most minimal level where the treasurer does nothing and leaves idle balances in the corporate bank accounts</a:t>
            </a:r>
          </a:p>
          <a:p>
            <a:r>
              <a:rPr lang="en-GB" dirty="0"/>
              <a:t>Earnings from idle balances offset its service fees</a:t>
            </a:r>
          </a:p>
          <a:p>
            <a:r>
              <a:rPr lang="en-GB" dirty="0"/>
              <a:t>Ideal for firms with minimal cash balances</a:t>
            </a:r>
            <a:endParaRPr lang="en-US" dirty="0"/>
          </a:p>
        </p:txBody>
      </p:sp>
    </p:spTree>
    <p:extLst>
      <p:ext uri="{BB962C8B-B14F-4D97-AF65-F5344CB8AC3E}">
        <p14:creationId xmlns:p14="http://schemas.microsoft.com/office/powerpoint/2010/main" val="3863976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lstStyle/>
          <a:p>
            <a:pPr marL="0" indent="0">
              <a:buNone/>
            </a:pPr>
            <a:r>
              <a:rPr lang="en-GB" dirty="0"/>
              <a:t>ii. Matching strategy</a:t>
            </a:r>
          </a:p>
          <a:p>
            <a:r>
              <a:rPr lang="en-GB" dirty="0"/>
              <a:t>Treasurer matches the maturity date of an investment to the cash flow availability dates listed on the cash forecast.</a:t>
            </a:r>
          </a:p>
          <a:p>
            <a:r>
              <a:rPr lang="en-GB" dirty="0"/>
              <a:t>For example, ABC Co. cash forecast indicates that ZMW80,000 will be available for investment immediately, but must be used in two months for a capital project</a:t>
            </a:r>
          </a:p>
          <a:p>
            <a:pPr marL="0" indent="0">
              <a:buNone/>
            </a:pPr>
            <a:endParaRPr lang="en-US" dirty="0"/>
          </a:p>
        </p:txBody>
      </p:sp>
    </p:spTree>
    <p:extLst>
      <p:ext uri="{BB962C8B-B14F-4D97-AF65-F5344CB8AC3E}">
        <p14:creationId xmlns:p14="http://schemas.microsoft.com/office/powerpoint/2010/main" val="2909996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normAutofit lnSpcReduction="10000"/>
          </a:bodyPr>
          <a:lstStyle/>
          <a:p>
            <a:r>
              <a:rPr lang="en-GB" dirty="0"/>
              <a:t>The treasurer can invest the funds in a two-month instrument, such that its maturity date is just prior to when the funds will be needed</a:t>
            </a:r>
          </a:p>
          <a:p>
            <a:r>
              <a:rPr lang="en-GB" dirty="0"/>
              <a:t>This investment strategy is more concerned with short-term liquidity than return on investment</a:t>
            </a:r>
          </a:p>
          <a:p>
            <a:pPr marL="0" indent="0">
              <a:buNone/>
            </a:pPr>
            <a:r>
              <a:rPr lang="en-GB" dirty="0"/>
              <a:t>iii. Laddering Strategy</a:t>
            </a:r>
          </a:p>
          <a:p>
            <a:r>
              <a:rPr lang="en-GB" dirty="0"/>
              <a:t>Involves creating a set of investments that have a series of consecutive maturity dates</a:t>
            </a:r>
          </a:p>
          <a:p>
            <a:pPr marL="0" indent="0">
              <a:buNone/>
            </a:pPr>
            <a:endParaRPr lang="en-GB" dirty="0"/>
          </a:p>
          <a:p>
            <a:pPr marL="0" indent="0">
              <a:buNone/>
            </a:pPr>
            <a:endParaRPr lang="en-US" dirty="0"/>
          </a:p>
        </p:txBody>
      </p:sp>
    </p:spTree>
    <p:extLst>
      <p:ext uri="{BB962C8B-B14F-4D97-AF65-F5344CB8AC3E}">
        <p14:creationId xmlns:p14="http://schemas.microsoft.com/office/powerpoint/2010/main" val="9092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lstStyle/>
          <a:p>
            <a:r>
              <a:rPr lang="en-GB" dirty="0"/>
              <a:t>For example, ABC Co. cash forecast indicates that ZMW150,000 of excess cash will be available for the foreseeable future, and its investment policy forbids any investments having a duration of greater than three months</a:t>
            </a:r>
          </a:p>
          <a:p>
            <a:r>
              <a:rPr lang="en-GB" dirty="0"/>
              <a:t>The treasurer could invest the entire amount in a three month instrument to take advantage of the higher interest rate</a:t>
            </a:r>
          </a:p>
          <a:p>
            <a:endParaRPr lang="en-US" dirty="0"/>
          </a:p>
        </p:txBody>
      </p:sp>
    </p:spTree>
    <p:extLst>
      <p:ext uri="{BB962C8B-B14F-4D97-AF65-F5344CB8AC3E}">
        <p14:creationId xmlns:p14="http://schemas.microsoft.com/office/powerpoint/2010/main" val="406153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lstStyle/>
          <a:p>
            <a:r>
              <a:rPr lang="en-GB" dirty="0"/>
              <a:t>However there is a risk that some portion of the cash will be needed sooner</a:t>
            </a:r>
          </a:p>
          <a:p>
            <a:r>
              <a:rPr lang="en-GB" dirty="0"/>
              <a:t>Instead the treasurer will break the available cash into thirds, and invests ZMW50,000 in a month instrument, another in a two month instrument, and the final ZMW50,000 in a three month instrument</a:t>
            </a:r>
          </a:p>
          <a:p>
            <a:r>
              <a:rPr lang="en-GB" dirty="0"/>
              <a:t>As each investment matures, the treasurer reinvests it into a three month instrument</a:t>
            </a:r>
            <a:endParaRPr lang="en-US" dirty="0"/>
          </a:p>
        </p:txBody>
      </p:sp>
    </p:spTree>
    <p:extLst>
      <p:ext uri="{BB962C8B-B14F-4D97-AF65-F5344CB8AC3E}">
        <p14:creationId xmlns:p14="http://schemas.microsoft.com/office/powerpoint/2010/main" val="183483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lstStyle/>
          <a:p>
            <a:r>
              <a:rPr lang="en-GB" dirty="0"/>
              <a:t>By doing so, ABC always has ZMW50,000 of the invested amount coming due within one month or less.</a:t>
            </a:r>
          </a:p>
          <a:p>
            <a:r>
              <a:rPr lang="en-GB" dirty="0"/>
              <a:t>This improves liquidity, while still taking advantage of longer term interest rates</a:t>
            </a:r>
          </a:p>
          <a:p>
            <a:pPr marL="0" indent="0">
              <a:buNone/>
            </a:pPr>
            <a:r>
              <a:rPr lang="en-GB" dirty="0"/>
              <a:t>iv. Tranched cash flow strategy</a:t>
            </a:r>
          </a:p>
          <a:p>
            <a:r>
              <a:rPr lang="en-GB" dirty="0"/>
              <a:t>Requires the treasurer to determine what cash is available for short, medium, and long term investment</a:t>
            </a:r>
          </a:p>
          <a:p>
            <a:pPr marL="0" indent="0">
              <a:buNone/>
            </a:pPr>
            <a:endParaRPr lang="en-GB" dirty="0"/>
          </a:p>
          <a:p>
            <a:pPr marL="0" indent="0">
              <a:buNone/>
            </a:pPr>
            <a:endParaRPr lang="en-US" dirty="0"/>
          </a:p>
        </p:txBody>
      </p:sp>
    </p:spTree>
    <p:extLst>
      <p:ext uri="{BB962C8B-B14F-4D97-AF65-F5344CB8AC3E}">
        <p14:creationId xmlns:p14="http://schemas.microsoft.com/office/powerpoint/2010/main" val="403357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lstStyle/>
          <a:p>
            <a:r>
              <a:rPr lang="en-GB" dirty="0"/>
              <a:t>He can then adopt different investment criteria for each investment tranche e.g.:</a:t>
            </a:r>
          </a:p>
          <a:p>
            <a:pPr>
              <a:buFont typeface="Wingdings" pitchFamily="2" charset="2"/>
              <a:buChar char="Ø"/>
            </a:pPr>
            <a:r>
              <a:rPr lang="en-GB" dirty="0"/>
              <a:t>Short term tranche is treated as cash that may be needed for operational requirements on a moments notice. Return on investment is not a key criterion-instead the treasurer focuses on very high levels of liquidity</a:t>
            </a:r>
          </a:p>
          <a:p>
            <a:pPr marL="0" indent="0">
              <a:buNone/>
            </a:pPr>
            <a:endParaRPr lang="en-US" dirty="0"/>
          </a:p>
        </p:txBody>
      </p:sp>
    </p:spTree>
    <p:extLst>
      <p:ext uri="{BB962C8B-B14F-4D97-AF65-F5344CB8AC3E}">
        <p14:creationId xmlns:p14="http://schemas.microsoft.com/office/powerpoint/2010/main" val="349148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GB" dirty="0"/>
              <a:t>Medium term tranche- includes cash that may be required for use within the next 3 to 12 months and usually for predictable events such as periodic tax or dividend payments. Given the much higher level of predictability in this tranche, the treasurer can accept longer term maturities with moderate levels of volatility that have higher returns on investment</a:t>
            </a:r>
            <a:endParaRPr lang="en-US" dirty="0"/>
          </a:p>
        </p:txBody>
      </p:sp>
    </p:spTree>
    <p:extLst>
      <p:ext uri="{BB962C8B-B14F-4D97-AF65-F5344CB8AC3E}">
        <p14:creationId xmlns:p14="http://schemas.microsoft.com/office/powerpoint/2010/main" val="676166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GB" dirty="0"/>
              <a:t>The long term tranche includes cash for which there is no planned operational use, and which the treasurer feels can be safely invested for at least one year.</a:t>
            </a:r>
          </a:p>
          <a:p>
            <a:pPr>
              <a:buFont typeface="Wingdings" pitchFamily="2" charset="2"/>
              <a:buChar char="Ø"/>
            </a:pPr>
            <a:r>
              <a:rPr lang="en-GB" dirty="0"/>
              <a:t> The priority for this tranche shifts more in </a:t>
            </a:r>
            <a:r>
              <a:rPr lang="en-GB" dirty="0" err="1"/>
              <a:t>favor</a:t>
            </a:r>
            <a:r>
              <a:rPr lang="en-GB" dirty="0"/>
              <a:t> of a higher return on investment, with an attendant potential for higher levels of volatility and perhaps short term capital loss, with a reduction in the level of liquidity</a:t>
            </a:r>
            <a:endParaRPr lang="en-US" dirty="0"/>
          </a:p>
        </p:txBody>
      </p:sp>
    </p:spTree>
    <p:extLst>
      <p:ext uri="{BB962C8B-B14F-4D97-AF65-F5344CB8AC3E}">
        <p14:creationId xmlns:p14="http://schemas.microsoft.com/office/powerpoint/2010/main" val="123036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GB" dirty="0"/>
              <a:t>v. Riding the yield curve </a:t>
            </a:r>
          </a:p>
          <a:p>
            <a:r>
              <a:rPr lang="en-GB" dirty="0"/>
              <a:t>A strategy of buying longer term securities and selling them prior to their maturity dates</a:t>
            </a:r>
          </a:p>
          <a:p>
            <a:r>
              <a:rPr lang="en-GB" dirty="0"/>
              <a:t>Strategy works when interest rates on short term securities are lower than rates on longer term securities (i.e. normal yield curve)</a:t>
            </a:r>
          </a:p>
          <a:p>
            <a:r>
              <a:rPr lang="en-GB" dirty="0"/>
              <a:t>For example ABC Co. has ZMW75,000 of cash available for investment  for a three month period</a:t>
            </a:r>
            <a:endParaRPr lang="en-US" dirty="0"/>
          </a:p>
        </p:txBody>
      </p:sp>
    </p:spTree>
    <p:extLst>
      <p:ext uri="{BB962C8B-B14F-4D97-AF65-F5344CB8AC3E}">
        <p14:creationId xmlns:p14="http://schemas.microsoft.com/office/powerpoint/2010/main" val="69244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lstStyle/>
          <a:p>
            <a:r>
              <a:rPr lang="en-GB" dirty="0"/>
              <a:t>The treasurer invests in a six month security and sells it after three months, achieving a higher than usual rate of return</a:t>
            </a:r>
          </a:p>
          <a:p>
            <a:r>
              <a:rPr lang="en-GB" dirty="0"/>
              <a:t>However, if the yield curve had changed during the interim, so that short term rates were higher than long term rates, then the treasurer would have sold the security and earned a below market return on the investment</a:t>
            </a:r>
            <a:endParaRPr lang="en-US" dirty="0"/>
          </a:p>
        </p:txBody>
      </p:sp>
    </p:spTree>
    <p:extLst>
      <p:ext uri="{BB962C8B-B14F-4D97-AF65-F5344CB8AC3E}">
        <p14:creationId xmlns:p14="http://schemas.microsoft.com/office/powerpoint/2010/main" val="2532594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GB" dirty="0"/>
              <a:t>vi. Credit rating strategy</a:t>
            </a:r>
          </a:p>
          <a:p>
            <a:r>
              <a:rPr lang="en-GB" dirty="0"/>
              <a:t>The treasurer buys the debt of a company that may be on the verge of having its credit rating upgraded</a:t>
            </a:r>
          </a:p>
          <a:p>
            <a:r>
              <a:rPr lang="en-GB" dirty="0"/>
              <a:t>By doing so, the investment ends up earning a higher interest rate than would other investments with comparable credit rating.</a:t>
            </a:r>
          </a:p>
          <a:p>
            <a:r>
              <a:rPr lang="en-GB" dirty="0"/>
              <a:t>This strategy works best when the treasurer is very familiar with the debt issuer and has confidence in the credit assessment</a:t>
            </a:r>
          </a:p>
          <a:p>
            <a:endParaRPr lang="en-US" dirty="0"/>
          </a:p>
        </p:txBody>
      </p:sp>
    </p:spTree>
    <p:extLst>
      <p:ext uri="{BB962C8B-B14F-4D97-AF65-F5344CB8AC3E}">
        <p14:creationId xmlns:p14="http://schemas.microsoft.com/office/powerpoint/2010/main" val="2334602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Investment Strategies</a:t>
            </a:r>
            <a:endParaRPr lang="en-US" dirty="0"/>
          </a:p>
        </p:txBody>
      </p:sp>
      <p:sp>
        <p:nvSpPr>
          <p:cNvPr id="3" name="Content Placeholder 2"/>
          <p:cNvSpPr>
            <a:spLocks noGrp="1"/>
          </p:cNvSpPr>
          <p:nvPr>
            <p:ph idx="1"/>
          </p:nvPr>
        </p:nvSpPr>
        <p:spPr/>
        <p:txBody>
          <a:bodyPr/>
          <a:lstStyle/>
          <a:p>
            <a:r>
              <a:rPr lang="en-GB" dirty="0"/>
              <a:t>However, the company’s stated investment policy may prevent the treasurer from buying debt below a fairly high credit rating</a:t>
            </a:r>
          </a:p>
          <a:p>
            <a:r>
              <a:rPr lang="en-GB" dirty="0"/>
              <a:t>Also it is difficult to time a possible credit rating upgrade to be within the term of an investment</a:t>
            </a:r>
          </a:p>
          <a:p>
            <a:r>
              <a:rPr lang="en-GB" dirty="0"/>
              <a:t>Finally investing into lower grade debt increases the risk of an outright default on payments by the debtor</a:t>
            </a:r>
            <a:endParaRPr lang="en-US" dirty="0"/>
          </a:p>
        </p:txBody>
      </p:sp>
    </p:spTree>
    <p:extLst>
      <p:ext uri="{BB962C8B-B14F-4D97-AF65-F5344CB8AC3E}">
        <p14:creationId xmlns:p14="http://schemas.microsoft.com/office/powerpoint/2010/main" val="455137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Outsourced Investment Management</a:t>
            </a:r>
            <a:endParaRPr lang="en-US" dirty="0"/>
          </a:p>
        </p:txBody>
      </p:sp>
      <p:sp>
        <p:nvSpPr>
          <p:cNvPr id="3" name="Content Placeholder 2"/>
          <p:cNvSpPr>
            <a:spLocks noGrp="1"/>
          </p:cNvSpPr>
          <p:nvPr>
            <p:ph idx="1"/>
          </p:nvPr>
        </p:nvSpPr>
        <p:spPr/>
        <p:txBody>
          <a:bodyPr/>
          <a:lstStyle/>
          <a:p>
            <a:r>
              <a:rPr lang="en-GB" dirty="0"/>
              <a:t>The investment function is outsourced from the in-house investment staff to an outside investment advisors.</a:t>
            </a:r>
          </a:p>
          <a:p>
            <a:r>
              <a:rPr lang="en-GB" dirty="0"/>
              <a:t>Outside firm invests the cash under the terms of a customised investment agreement with the company</a:t>
            </a:r>
          </a:p>
          <a:p>
            <a:r>
              <a:rPr lang="en-GB" dirty="0"/>
              <a:t>The company can choose from a variety of possible investment strategies, as well as restrict investments to certain classes of assets</a:t>
            </a:r>
            <a:endParaRPr lang="en-US" dirty="0"/>
          </a:p>
        </p:txBody>
      </p:sp>
    </p:spTree>
    <p:extLst>
      <p:ext uri="{BB962C8B-B14F-4D97-AF65-F5344CB8AC3E}">
        <p14:creationId xmlns:p14="http://schemas.microsoft.com/office/powerpoint/2010/main" val="414500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Outsourced Investment Management</a:t>
            </a:r>
            <a:endParaRPr lang="en-US" dirty="0"/>
          </a:p>
        </p:txBody>
      </p:sp>
      <p:sp>
        <p:nvSpPr>
          <p:cNvPr id="3" name="Content Placeholder 2"/>
          <p:cNvSpPr>
            <a:spLocks noGrp="1"/>
          </p:cNvSpPr>
          <p:nvPr>
            <p:ph idx="1"/>
          </p:nvPr>
        </p:nvSpPr>
        <p:spPr/>
        <p:txBody>
          <a:bodyPr/>
          <a:lstStyle/>
          <a:p>
            <a:r>
              <a:rPr lang="en-GB" dirty="0"/>
              <a:t>Approach gives the company access to an experienced group of investment managers that presumably uses strong systems of control when initiating and tracking transactions</a:t>
            </a:r>
          </a:p>
          <a:p>
            <a:r>
              <a:rPr lang="en-GB" dirty="0"/>
              <a:t>The fees a company incurs through outsourcing can be quite competitive in comparison to the cost of maintaining a similarly experienced in house staff </a:t>
            </a:r>
            <a:endParaRPr lang="en-US" dirty="0"/>
          </a:p>
        </p:txBody>
      </p:sp>
    </p:spTree>
    <p:extLst>
      <p:ext uri="{BB962C8B-B14F-4D97-AF65-F5344CB8AC3E}">
        <p14:creationId xmlns:p14="http://schemas.microsoft.com/office/powerpoint/2010/main" val="634679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Reduction Strategies</a:t>
            </a:r>
            <a:endParaRPr lang="en-US" dirty="0"/>
          </a:p>
        </p:txBody>
      </p:sp>
      <p:sp>
        <p:nvSpPr>
          <p:cNvPr id="3" name="Content Placeholder 2"/>
          <p:cNvSpPr>
            <a:spLocks noGrp="1"/>
          </p:cNvSpPr>
          <p:nvPr>
            <p:ph idx="1"/>
          </p:nvPr>
        </p:nvSpPr>
        <p:spPr/>
        <p:txBody>
          <a:bodyPr>
            <a:normAutofit lnSpcReduction="10000"/>
          </a:bodyPr>
          <a:lstStyle/>
          <a:p>
            <a:r>
              <a:rPr lang="en-GB" dirty="0"/>
              <a:t>A simple risk-reduction strategy is to avoid investments in the securities of any single entity, in </a:t>
            </a:r>
            <a:r>
              <a:rPr lang="en-GB" dirty="0" err="1"/>
              <a:t>favor</a:t>
            </a:r>
            <a:r>
              <a:rPr lang="en-GB" dirty="0"/>
              <a:t> of investments solely in one or more money market funds.</a:t>
            </a:r>
          </a:p>
          <a:p>
            <a:r>
              <a:rPr lang="en-GB" dirty="0"/>
              <a:t>These funds provide instant diversification across a multitude of issuers, with the attendant risk being constantly reviewed by a staff of risk management professionals</a:t>
            </a:r>
          </a:p>
          <a:p>
            <a:r>
              <a:rPr lang="en-GB" dirty="0"/>
              <a:t>This is cost effective for smaller firms who might not afford services of an in-house investment manager</a:t>
            </a:r>
            <a:endParaRPr lang="en-US" dirty="0"/>
          </a:p>
        </p:txBody>
      </p:sp>
    </p:spTree>
    <p:extLst>
      <p:ext uri="{BB962C8B-B14F-4D97-AF65-F5344CB8AC3E}">
        <p14:creationId xmlns:p14="http://schemas.microsoft.com/office/powerpoint/2010/main" val="197339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Folio">
  <a:themeElements>
    <a:clrScheme name="Folio">
      <a:dk1>
        <a:sysClr val="windowText" lastClr="000000"/>
      </a:dk1>
      <a:lt1>
        <a:sysClr val="window" lastClr="FFFFFF"/>
      </a:lt1>
      <a:dk2>
        <a:srgbClr val="2D2F2B"/>
      </a:dk2>
      <a:lt2>
        <a:srgbClr val="DEDED7"/>
      </a:lt2>
      <a:accent1>
        <a:srgbClr val="294171"/>
      </a:accent1>
      <a:accent2>
        <a:srgbClr val="748CBC"/>
      </a:accent2>
      <a:accent3>
        <a:srgbClr val="8E887C"/>
      </a:accent3>
      <a:accent4>
        <a:srgbClr val="834736"/>
      </a:accent4>
      <a:accent5>
        <a:srgbClr val="5A1705"/>
      </a:accent5>
      <a:accent6>
        <a:srgbClr val="A0A16A"/>
      </a:accent6>
      <a:hlink>
        <a:srgbClr val="74B6BC"/>
      </a:hlink>
      <a:folHlink>
        <a:srgbClr val="7F95A4"/>
      </a:folHlink>
    </a:clrScheme>
    <a:fontScheme name="Folio">
      <a:majorFont>
        <a:latin typeface="Calisto MT"/>
        <a:ea typeface=""/>
        <a:cs typeface=""/>
        <a:font script="Jpan" typeface="ＭＳ 明朝"/>
        <a:font script="Hans" typeface="宋体"/>
        <a:font script="Hant" typeface="新細明體"/>
      </a:majorFont>
      <a:minorFont>
        <a:latin typeface="Calisto MT"/>
        <a:ea typeface=""/>
        <a:cs typeface=""/>
        <a:font script="Jpan" typeface="ＭＳ 明朝"/>
        <a:font script="Hans" typeface="宋体"/>
        <a:font script="Hant" typeface="新細明體"/>
      </a:minorFont>
    </a:fontScheme>
    <a:fmtScheme name="Folio">
      <a:fillStyleLst>
        <a:solidFill>
          <a:schemeClr val="phClr"/>
        </a:solidFill>
        <a:blipFill rotWithShape="1">
          <a:blip xmlns:r="http://schemas.openxmlformats.org/officeDocument/2006/relationships" r:embed="rId1">
            <a:duotone>
              <a:schemeClr val="phClr">
                <a:shade val="30000"/>
                <a:satMod val="120000"/>
              </a:schemeClr>
              <a:schemeClr val="phClr">
                <a:tint val="70000"/>
                <a:satMod val="350000"/>
                <a:lumMod val="110000"/>
              </a:schemeClr>
            </a:duotone>
          </a:blip>
          <a:stretch/>
        </a:blipFill>
        <a:blipFill rotWithShape="1">
          <a:blip xmlns:r="http://schemas.openxmlformats.org/officeDocument/2006/relationships" r:embed="rId2">
            <a:duotone>
              <a:schemeClr val="phClr">
                <a:shade val="40000"/>
                <a:satMod val="120000"/>
              </a:schemeClr>
              <a:schemeClr val="phClr">
                <a:tint val="70000"/>
                <a:satMod val="300000"/>
                <a:lumMod val="110000"/>
              </a:schemeClr>
            </a:duotone>
          </a:blip>
          <a:tile tx="0" ty="0" sx="50000" sy="50000" flip="none" algn="tl"/>
        </a:blipFill>
      </a:fillStyleLst>
      <a:lnStyleLst>
        <a:ln w="12700" cap="flat" cmpd="sng" algn="ctr">
          <a:solidFill>
            <a:schemeClr val="phClr">
              <a:shade val="95000"/>
              <a:satMod val="105000"/>
            </a:schemeClr>
          </a:solidFill>
          <a:prstDash val="solid"/>
        </a:ln>
        <a:ln w="3175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38100" dist="25400" dir="5400000" algn="br" rotWithShape="0">
              <a:srgbClr val="000000">
                <a:alpha val="50000"/>
              </a:srgbClr>
            </a:outerShdw>
          </a:effectLst>
        </a:effectStyle>
        <a:effectStyle>
          <a:effectLst>
            <a:innerShdw blurRad="190500" dist="25400">
              <a:srgbClr val="000000">
                <a:alpha val="50000"/>
              </a:srgbClr>
            </a:innerShdw>
          </a:effectLst>
        </a:effectStyle>
      </a:effectStyleLst>
      <a:bgFillStyleLst>
        <a:blipFill rotWithShape="1">
          <a:blip xmlns:r="http://schemas.openxmlformats.org/officeDocument/2006/relationships" r:embed="rId3">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4">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5">
            <a:duotone>
              <a:schemeClr val="phClr">
                <a:shade val="3000"/>
                <a:lumMod val="10000"/>
              </a:schemeClr>
              <a:schemeClr val="phClr">
                <a:tint val="91000"/>
                <a:satMod val="500000"/>
                <a:lumMod val="125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Folio.thmx</Template>
  <TotalTime>2641</TotalTime>
  <Words>1464</Words>
  <Application>Microsoft Office PowerPoint</Application>
  <PresentationFormat>On-screen Show (4:3)</PresentationFormat>
  <Paragraphs>108</Paragraphs>
  <Slides>26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Calisto MT</vt:lpstr>
      <vt:lpstr>Wingdings</vt:lpstr>
      <vt:lpstr>Folio</vt:lpstr>
      <vt:lpstr>Treasury Management</vt:lpstr>
      <vt:lpstr>Investment Criteria</vt:lpstr>
      <vt:lpstr>Investment Options</vt:lpstr>
      <vt:lpstr>Investment Options</vt:lpstr>
      <vt:lpstr>Investment Options</vt:lpstr>
      <vt:lpstr>Investment Options</vt:lpstr>
      <vt:lpstr>Investment Options</vt:lpstr>
      <vt:lpstr>Investment Options</vt:lpstr>
      <vt:lpstr>Investment Options</vt:lpstr>
      <vt:lpstr>Investment Options</vt:lpstr>
      <vt:lpstr>Investment Strategies</vt:lpstr>
      <vt:lpstr>Investment Strategies</vt:lpstr>
      <vt:lpstr>Investment Strategies</vt:lpstr>
      <vt:lpstr>Investment Strategies</vt:lpstr>
      <vt:lpstr>Investment Strategies</vt:lpstr>
      <vt:lpstr>Investment Strategies</vt:lpstr>
      <vt:lpstr>Investment Strategies</vt:lpstr>
      <vt:lpstr>Investment Strategies</vt:lpstr>
      <vt:lpstr>Investment Strategies</vt:lpstr>
      <vt:lpstr>Investment Strategies</vt:lpstr>
      <vt:lpstr>Investment Strategies</vt:lpstr>
      <vt:lpstr>Investment Strategies</vt:lpstr>
      <vt:lpstr>Investment Strategies</vt:lpstr>
      <vt:lpstr>Outsourced Investment Management</vt:lpstr>
      <vt:lpstr>Outsourced Investment Management</vt:lpstr>
      <vt:lpstr>Risk Reduction Strategies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BFS 322</dc:title>
  <dc:creator>Webster Sikazwe</dc:creator>
  <cp:lastModifiedBy>Webster Sikazwe</cp:lastModifiedBy>
  <cp:revision>186</cp:revision>
  <dcterms:created xsi:type="dcterms:W3CDTF">2018-08-06T09:52:02Z</dcterms:created>
  <dcterms:modified xsi:type="dcterms:W3CDTF">2020-10-12T08:23:36Z</dcterms:modified>
</cp:coreProperties>
</file>