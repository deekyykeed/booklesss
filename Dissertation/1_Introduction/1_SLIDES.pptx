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5"/>
  </p:notesMasterIdLst>
  <p:sldIdLst>
    <p:sldId id="256" r:id="rId2"/>
    <p:sldId id="268" r:id="rId3"/>
    <p:sldId id="265" r:id="rId4"/>
    <p:sldId id="467" r:id="rId5"/>
    <p:sldId id="434" r:id="rId6"/>
    <p:sldId id="468" r:id="rId7"/>
    <p:sldId id="490" r:id="rId8"/>
    <p:sldId id="469" r:id="rId9"/>
    <p:sldId id="470" r:id="rId10"/>
    <p:sldId id="436" r:id="rId11"/>
    <p:sldId id="318" r:id="rId12"/>
    <p:sldId id="479" r:id="rId13"/>
    <p:sldId id="481" r:id="rId14"/>
    <p:sldId id="482" r:id="rId15"/>
    <p:sldId id="483" r:id="rId16"/>
    <p:sldId id="484" r:id="rId17"/>
    <p:sldId id="485" r:id="rId18"/>
    <p:sldId id="486" r:id="rId19"/>
    <p:sldId id="487" r:id="rId20"/>
    <p:sldId id="488" r:id="rId21"/>
    <p:sldId id="489" r:id="rId22"/>
    <p:sldId id="351" r:id="rId23"/>
    <p:sldId id="352" r:id="rId24"/>
    <p:sldId id="353" r:id="rId25"/>
    <p:sldId id="354" r:id="rId26"/>
    <p:sldId id="477" r:id="rId27"/>
    <p:sldId id="478" r:id="rId28"/>
    <p:sldId id="495" r:id="rId29"/>
    <p:sldId id="496" r:id="rId30"/>
    <p:sldId id="498" r:id="rId31"/>
    <p:sldId id="499" r:id="rId32"/>
    <p:sldId id="491" r:id="rId33"/>
    <p:sldId id="492" r:id="rId34"/>
    <p:sldId id="493" r:id="rId35"/>
    <p:sldId id="494" r:id="rId36"/>
    <p:sldId id="466" r:id="rId37"/>
    <p:sldId id="472" r:id="rId38"/>
    <p:sldId id="349" r:id="rId39"/>
    <p:sldId id="350" r:id="rId40"/>
    <p:sldId id="473" r:id="rId41"/>
    <p:sldId id="359" r:id="rId42"/>
    <p:sldId id="364" r:id="rId43"/>
    <p:sldId id="360" r:id="rId44"/>
    <p:sldId id="257" r:id="rId45"/>
    <p:sldId id="361" r:id="rId46"/>
    <p:sldId id="365" r:id="rId47"/>
    <p:sldId id="459" r:id="rId48"/>
    <p:sldId id="460" r:id="rId49"/>
    <p:sldId id="366" r:id="rId50"/>
    <p:sldId id="367" r:id="rId51"/>
    <p:sldId id="363" r:id="rId52"/>
    <p:sldId id="386" r:id="rId53"/>
    <p:sldId id="387" r:id="rId54"/>
    <p:sldId id="388" r:id="rId55"/>
    <p:sldId id="461" r:id="rId56"/>
    <p:sldId id="362" r:id="rId57"/>
    <p:sldId id="458" r:id="rId58"/>
    <p:sldId id="471" r:id="rId59"/>
    <p:sldId id="371" r:id="rId60"/>
    <p:sldId id="372" r:id="rId61"/>
    <p:sldId id="373" r:id="rId62"/>
    <p:sldId id="374" r:id="rId63"/>
    <p:sldId id="375" r:id="rId64"/>
    <p:sldId id="370" r:id="rId65"/>
    <p:sldId id="376" r:id="rId66"/>
    <p:sldId id="464" r:id="rId67"/>
    <p:sldId id="377" r:id="rId68"/>
    <p:sldId id="378" r:id="rId69"/>
    <p:sldId id="381" r:id="rId70"/>
    <p:sldId id="380" r:id="rId71"/>
    <p:sldId id="379" r:id="rId72"/>
    <p:sldId id="383" r:id="rId73"/>
    <p:sldId id="408" r:id="rId74"/>
    <p:sldId id="389" r:id="rId75"/>
    <p:sldId id="385" r:id="rId76"/>
    <p:sldId id="390" r:id="rId77"/>
    <p:sldId id="391" r:id="rId78"/>
    <p:sldId id="392" r:id="rId79"/>
    <p:sldId id="393" r:id="rId80"/>
    <p:sldId id="462" r:id="rId81"/>
    <p:sldId id="409" r:id="rId82"/>
    <p:sldId id="394" r:id="rId83"/>
    <p:sldId id="396" r:id="rId84"/>
    <p:sldId id="463" r:id="rId85"/>
    <p:sldId id="457" r:id="rId86"/>
    <p:sldId id="456" r:id="rId87"/>
    <p:sldId id="454" r:id="rId88"/>
    <p:sldId id="455" r:id="rId89"/>
    <p:sldId id="258" r:id="rId90"/>
    <p:sldId id="475" r:id="rId91"/>
    <p:sldId id="259" r:id="rId92"/>
    <p:sldId id="465" r:id="rId93"/>
    <p:sldId id="476"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7" autoAdjust="0"/>
    <p:restoredTop sz="94660"/>
  </p:normalViewPr>
  <p:slideViewPr>
    <p:cSldViewPr snapToGrid="0">
      <p:cViewPr>
        <p:scale>
          <a:sx n="60" d="100"/>
          <a:sy n="60" d="100"/>
        </p:scale>
        <p:origin x="108"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97CDFF-E275-4EE3-B26A-5DBA4A3CF477}" type="doc">
      <dgm:prSet loTypeId="urn:microsoft.com/office/officeart/2005/8/layout/process5" loCatId="process" qsTypeId="urn:microsoft.com/office/officeart/2005/8/quickstyle/3d2" qsCatId="3D" csTypeId="urn:microsoft.com/office/officeart/2005/8/colors/colorful1" csCatId="colorful" phldr="1"/>
      <dgm:spPr/>
      <dgm:t>
        <a:bodyPr/>
        <a:lstStyle/>
        <a:p>
          <a:endParaRPr lang="en-GB"/>
        </a:p>
      </dgm:t>
    </dgm:pt>
    <dgm:pt modelId="{902DAB2B-68BF-4017-BC90-F80A8E014904}">
      <dgm:prSet phldrT="[Text]"/>
      <dgm:spPr/>
      <dgm:t>
        <a:bodyPr/>
        <a:lstStyle/>
        <a:p>
          <a:r>
            <a:rPr lang="en-GB" b="1" dirty="0">
              <a:solidFill>
                <a:schemeClr val="tx1"/>
              </a:solidFill>
            </a:rPr>
            <a:t>Identify a problem.</a:t>
          </a:r>
        </a:p>
        <a:p>
          <a:r>
            <a:rPr lang="en-GB" b="1" dirty="0">
              <a:solidFill>
                <a:schemeClr val="tx1"/>
              </a:solidFill>
            </a:rPr>
            <a:t>And frame a research topic and tittle</a:t>
          </a:r>
        </a:p>
      </dgm:t>
    </dgm:pt>
    <dgm:pt modelId="{DA70EC8B-5187-470C-96DD-A6FCAE19AADE}" type="parTrans" cxnId="{18E0F597-DEA5-49ED-B2BC-BBCE1046333B}">
      <dgm:prSet/>
      <dgm:spPr/>
      <dgm:t>
        <a:bodyPr/>
        <a:lstStyle/>
        <a:p>
          <a:endParaRPr lang="en-GB"/>
        </a:p>
      </dgm:t>
    </dgm:pt>
    <dgm:pt modelId="{270645B3-0E97-4E2B-A3A9-B83A6FABC3D7}" type="sibTrans" cxnId="{18E0F597-DEA5-49ED-B2BC-BBCE1046333B}">
      <dgm:prSet/>
      <dgm:spPr/>
      <dgm:t>
        <a:bodyPr/>
        <a:lstStyle/>
        <a:p>
          <a:endParaRPr lang="en-GB"/>
        </a:p>
      </dgm:t>
    </dgm:pt>
    <dgm:pt modelId="{B9BBCC9D-D6A8-4E40-A0E6-D762F9D84052}">
      <dgm:prSet phldrT="[Text]" custT="1"/>
      <dgm:spPr/>
      <dgm:t>
        <a:bodyPr/>
        <a:lstStyle/>
        <a:p>
          <a:r>
            <a:rPr lang="en-GB" sz="1800" b="1" dirty="0">
              <a:solidFill>
                <a:schemeClr val="tx1"/>
              </a:solidFill>
            </a:rPr>
            <a:t>Frame the unknown into a research aim or question(objectives or hypothesis)</a:t>
          </a:r>
        </a:p>
      </dgm:t>
    </dgm:pt>
    <dgm:pt modelId="{C8E85B04-1C6D-4BAD-B196-F6841A27A0A3}" type="parTrans" cxnId="{D80AA05C-9547-4018-9331-9A3292DFFA02}">
      <dgm:prSet/>
      <dgm:spPr/>
      <dgm:t>
        <a:bodyPr/>
        <a:lstStyle/>
        <a:p>
          <a:endParaRPr lang="en-GB"/>
        </a:p>
      </dgm:t>
    </dgm:pt>
    <dgm:pt modelId="{C460D4DC-A090-498F-B417-764B53140D0B}" type="sibTrans" cxnId="{D80AA05C-9547-4018-9331-9A3292DFFA02}">
      <dgm:prSet/>
      <dgm:spPr/>
      <dgm:t>
        <a:bodyPr/>
        <a:lstStyle/>
        <a:p>
          <a:endParaRPr lang="en-GB"/>
        </a:p>
      </dgm:t>
    </dgm:pt>
    <dgm:pt modelId="{9FE70194-F1B7-4228-9FB4-0073E00EA68E}">
      <dgm:prSet phldrT="[Text]"/>
      <dgm:spPr/>
      <dgm:t>
        <a:bodyPr/>
        <a:lstStyle/>
        <a:p>
          <a:r>
            <a:rPr lang="en-GB" b="1">
              <a:solidFill>
                <a:schemeClr val="tx1"/>
              </a:solidFill>
            </a:rPr>
            <a:t>Design a study that will  address the research question(s</a:t>
          </a:r>
          <a:r>
            <a:rPr lang="en-GB" b="1"/>
            <a:t>)</a:t>
          </a:r>
          <a:endParaRPr lang="en-GB" b="1" dirty="0"/>
        </a:p>
      </dgm:t>
    </dgm:pt>
    <dgm:pt modelId="{3524D38F-46D1-4602-8F45-A17349C29448}" type="parTrans" cxnId="{FBC86C1D-26C4-43AA-BE11-88ABF197AC90}">
      <dgm:prSet/>
      <dgm:spPr/>
      <dgm:t>
        <a:bodyPr/>
        <a:lstStyle/>
        <a:p>
          <a:endParaRPr lang="en-GB"/>
        </a:p>
      </dgm:t>
    </dgm:pt>
    <dgm:pt modelId="{41557917-864A-4D40-850E-5DD8F004144E}" type="sibTrans" cxnId="{FBC86C1D-26C4-43AA-BE11-88ABF197AC90}">
      <dgm:prSet/>
      <dgm:spPr/>
      <dgm:t>
        <a:bodyPr/>
        <a:lstStyle/>
        <a:p>
          <a:endParaRPr lang="en-GB"/>
        </a:p>
      </dgm:t>
    </dgm:pt>
    <dgm:pt modelId="{74251EC5-8322-459C-9476-3AEE4482DD03}">
      <dgm:prSet phldrT="[Text]" custT="1"/>
      <dgm:spPr/>
      <dgm:t>
        <a:bodyPr/>
        <a:lstStyle/>
        <a:p>
          <a:r>
            <a:rPr lang="en-GB" sz="2000" b="1">
              <a:solidFill>
                <a:schemeClr val="tx1"/>
              </a:solidFill>
            </a:rPr>
            <a:t>Gather the relevant data</a:t>
          </a:r>
          <a:endParaRPr lang="en-GB" sz="2000" b="1" dirty="0">
            <a:solidFill>
              <a:schemeClr val="tx1"/>
            </a:solidFill>
          </a:endParaRPr>
        </a:p>
      </dgm:t>
    </dgm:pt>
    <dgm:pt modelId="{64CB6F9E-6A5E-4D7A-AF96-4298EBC2E166}" type="parTrans" cxnId="{29D37B88-E31E-4422-81E7-E2B3C54E127C}">
      <dgm:prSet/>
      <dgm:spPr/>
      <dgm:t>
        <a:bodyPr/>
        <a:lstStyle/>
        <a:p>
          <a:endParaRPr lang="en-GB"/>
        </a:p>
      </dgm:t>
    </dgm:pt>
    <dgm:pt modelId="{890216E7-2377-459B-A5D8-52171C76E360}" type="sibTrans" cxnId="{29D37B88-E31E-4422-81E7-E2B3C54E127C}">
      <dgm:prSet/>
      <dgm:spPr/>
      <dgm:t>
        <a:bodyPr/>
        <a:lstStyle/>
        <a:p>
          <a:endParaRPr lang="en-GB"/>
        </a:p>
      </dgm:t>
    </dgm:pt>
    <dgm:pt modelId="{0ABBBB0B-BC3C-4065-96F0-A408D7200C3A}">
      <dgm:prSet phldrT="[Text]" custT="1"/>
      <dgm:spPr/>
      <dgm:t>
        <a:bodyPr/>
        <a:lstStyle/>
        <a:p>
          <a:r>
            <a:rPr lang="en-GB" sz="2400" b="1">
              <a:solidFill>
                <a:schemeClr val="tx1"/>
              </a:solidFill>
            </a:rPr>
            <a:t>Analyse and interpret the data</a:t>
          </a:r>
          <a:endParaRPr lang="en-GB" sz="2400" b="1" dirty="0">
            <a:solidFill>
              <a:schemeClr val="tx1"/>
            </a:solidFill>
          </a:endParaRPr>
        </a:p>
      </dgm:t>
    </dgm:pt>
    <dgm:pt modelId="{B58B563B-0A8E-4974-A991-2874695B596E}" type="parTrans" cxnId="{D603775F-2434-4C34-84AB-78FB81315B40}">
      <dgm:prSet/>
      <dgm:spPr/>
      <dgm:t>
        <a:bodyPr/>
        <a:lstStyle/>
        <a:p>
          <a:endParaRPr lang="en-GB"/>
        </a:p>
      </dgm:t>
    </dgm:pt>
    <dgm:pt modelId="{564C3E49-07CA-4426-9FDB-1681E4465CDD}" type="sibTrans" cxnId="{D603775F-2434-4C34-84AB-78FB81315B40}">
      <dgm:prSet/>
      <dgm:spPr/>
      <dgm:t>
        <a:bodyPr/>
        <a:lstStyle/>
        <a:p>
          <a:endParaRPr lang="en-GB"/>
        </a:p>
      </dgm:t>
    </dgm:pt>
    <dgm:pt modelId="{CB60C41E-3BE5-402E-903B-4CA7269529B2}">
      <dgm:prSet custT="1"/>
      <dgm:spPr/>
      <dgm:t>
        <a:bodyPr/>
        <a:lstStyle/>
        <a:p>
          <a:r>
            <a:rPr lang="en-GB" sz="2000" b="1">
              <a:solidFill>
                <a:schemeClr val="tx1"/>
              </a:solidFill>
            </a:rPr>
            <a:t>publishing the results, and anticipating further future research </a:t>
          </a:r>
          <a:endParaRPr lang="en-GB" sz="2000" b="1" dirty="0">
            <a:solidFill>
              <a:schemeClr val="tx1"/>
            </a:solidFill>
          </a:endParaRPr>
        </a:p>
      </dgm:t>
    </dgm:pt>
    <dgm:pt modelId="{C4772B8B-30BC-46DB-9500-CEC99CCCCFC6}" type="parTrans" cxnId="{3BD46722-73B3-4354-85EB-9769D087EBC4}">
      <dgm:prSet/>
      <dgm:spPr/>
      <dgm:t>
        <a:bodyPr/>
        <a:lstStyle/>
        <a:p>
          <a:endParaRPr lang="en-GB"/>
        </a:p>
      </dgm:t>
    </dgm:pt>
    <dgm:pt modelId="{7B3B298D-B647-4F44-85D4-2B1AE247BA98}" type="sibTrans" cxnId="{3BD46722-73B3-4354-85EB-9769D087EBC4}">
      <dgm:prSet/>
      <dgm:spPr/>
      <dgm:t>
        <a:bodyPr/>
        <a:lstStyle/>
        <a:p>
          <a:endParaRPr lang="en-GB"/>
        </a:p>
      </dgm:t>
    </dgm:pt>
    <dgm:pt modelId="{C2FDE31B-D537-4F89-8609-97FA38D372D0}" type="pres">
      <dgm:prSet presAssocID="{ED97CDFF-E275-4EE3-B26A-5DBA4A3CF477}" presName="diagram" presStyleCnt="0">
        <dgm:presLayoutVars>
          <dgm:dir/>
          <dgm:resizeHandles val="exact"/>
        </dgm:presLayoutVars>
      </dgm:prSet>
      <dgm:spPr/>
      <dgm:t>
        <a:bodyPr/>
        <a:lstStyle/>
        <a:p>
          <a:endParaRPr lang="en-US"/>
        </a:p>
      </dgm:t>
    </dgm:pt>
    <dgm:pt modelId="{24DCFE5C-3235-4137-919B-1373906E5921}" type="pres">
      <dgm:prSet presAssocID="{902DAB2B-68BF-4017-BC90-F80A8E014904}" presName="node" presStyleLbl="node1" presStyleIdx="0" presStyleCnt="6" custScaleX="200568" custScaleY="162555" custLinFactNeighborX="-28334" custLinFactNeighborY="-12015">
        <dgm:presLayoutVars>
          <dgm:bulletEnabled val="1"/>
        </dgm:presLayoutVars>
      </dgm:prSet>
      <dgm:spPr/>
      <dgm:t>
        <a:bodyPr/>
        <a:lstStyle/>
        <a:p>
          <a:endParaRPr lang="en-US"/>
        </a:p>
      </dgm:t>
    </dgm:pt>
    <dgm:pt modelId="{D0EE65AC-2E66-49AE-9C7E-1FD8947B2EFA}" type="pres">
      <dgm:prSet presAssocID="{270645B3-0E97-4E2B-A3A9-B83A6FABC3D7}" presName="sibTrans" presStyleLbl="sibTrans2D1" presStyleIdx="0" presStyleCnt="5" custLinFactNeighborX="-84254" custLinFactNeighborY="3317"/>
      <dgm:spPr/>
      <dgm:t>
        <a:bodyPr/>
        <a:lstStyle/>
        <a:p>
          <a:endParaRPr lang="en-US"/>
        </a:p>
      </dgm:t>
    </dgm:pt>
    <dgm:pt modelId="{08B5088B-6CD9-47AC-9A1A-57D9CBE10103}" type="pres">
      <dgm:prSet presAssocID="{270645B3-0E97-4E2B-A3A9-B83A6FABC3D7}" presName="connectorText" presStyleLbl="sibTrans2D1" presStyleIdx="0" presStyleCnt="5"/>
      <dgm:spPr/>
      <dgm:t>
        <a:bodyPr/>
        <a:lstStyle/>
        <a:p>
          <a:endParaRPr lang="en-US"/>
        </a:p>
      </dgm:t>
    </dgm:pt>
    <dgm:pt modelId="{1BAC9B67-2800-4CB5-8CA6-F056FC8F1DD8}" type="pres">
      <dgm:prSet presAssocID="{B9BBCC9D-D6A8-4E40-A0E6-D762F9D84052}" presName="node" presStyleLbl="node1" presStyleIdx="1" presStyleCnt="6" custScaleX="116725" custScaleY="253153" custLinFactNeighborX="7171" custLinFactNeighborY="-9348">
        <dgm:presLayoutVars>
          <dgm:bulletEnabled val="1"/>
        </dgm:presLayoutVars>
      </dgm:prSet>
      <dgm:spPr/>
      <dgm:t>
        <a:bodyPr/>
        <a:lstStyle/>
        <a:p>
          <a:endParaRPr lang="en-US"/>
        </a:p>
      </dgm:t>
    </dgm:pt>
    <dgm:pt modelId="{98268FF4-04B5-41BE-A445-1084CE0AC3EF}" type="pres">
      <dgm:prSet presAssocID="{C460D4DC-A090-498F-B417-764B53140D0B}" presName="sibTrans" presStyleLbl="sibTrans2D1" presStyleIdx="1" presStyleCnt="5"/>
      <dgm:spPr/>
      <dgm:t>
        <a:bodyPr/>
        <a:lstStyle/>
        <a:p>
          <a:endParaRPr lang="en-US"/>
        </a:p>
      </dgm:t>
    </dgm:pt>
    <dgm:pt modelId="{EE795C22-51BE-492F-B9D5-FABBF2D075A2}" type="pres">
      <dgm:prSet presAssocID="{C460D4DC-A090-498F-B417-764B53140D0B}" presName="connectorText" presStyleLbl="sibTrans2D1" presStyleIdx="1" presStyleCnt="5"/>
      <dgm:spPr/>
      <dgm:t>
        <a:bodyPr/>
        <a:lstStyle/>
        <a:p>
          <a:endParaRPr lang="en-US"/>
        </a:p>
      </dgm:t>
    </dgm:pt>
    <dgm:pt modelId="{78337C7C-8CCD-4893-8F5B-10CE164616D4}" type="pres">
      <dgm:prSet presAssocID="{9FE70194-F1B7-4228-9FB4-0073E00EA68E}" presName="node" presStyleLbl="node1" presStyleIdx="2" presStyleCnt="6" custScaleY="149615">
        <dgm:presLayoutVars>
          <dgm:bulletEnabled val="1"/>
        </dgm:presLayoutVars>
      </dgm:prSet>
      <dgm:spPr/>
      <dgm:t>
        <a:bodyPr/>
        <a:lstStyle/>
        <a:p>
          <a:endParaRPr lang="en-US"/>
        </a:p>
      </dgm:t>
    </dgm:pt>
    <dgm:pt modelId="{EFD79A0D-AB06-4BEA-936A-7F5C89A2713C}" type="pres">
      <dgm:prSet presAssocID="{41557917-864A-4D40-850E-5DD8F004144E}" presName="sibTrans" presStyleLbl="sibTrans2D1" presStyleIdx="2" presStyleCnt="5"/>
      <dgm:spPr/>
      <dgm:t>
        <a:bodyPr/>
        <a:lstStyle/>
        <a:p>
          <a:endParaRPr lang="en-US"/>
        </a:p>
      </dgm:t>
    </dgm:pt>
    <dgm:pt modelId="{4D153799-23BA-4EAD-8EBA-D864EF5C1D23}" type="pres">
      <dgm:prSet presAssocID="{41557917-864A-4D40-850E-5DD8F004144E}" presName="connectorText" presStyleLbl="sibTrans2D1" presStyleIdx="2" presStyleCnt="5"/>
      <dgm:spPr/>
      <dgm:t>
        <a:bodyPr/>
        <a:lstStyle/>
        <a:p>
          <a:endParaRPr lang="en-US"/>
        </a:p>
      </dgm:t>
    </dgm:pt>
    <dgm:pt modelId="{4863ADC4-A047-4623-895E-758CD35E2AE0}" type="pres">
      <dgm:prSet presAssocID="{74251EC5-8322-459C-9476-3AEE4482DD03}" presName="node" presStyleLbl="node1" presStyleIdx="3" presStyleCnt="6" custScaleY="127216" custLinFactNeighborX="1234" custLinFactNeighborY="8168">
        <dgm:presLayoutVars>
          <dgm:bulletEnabled val="1"/>
        </dgm:presLayoutVars>
      </dgm:prSet>
      <dgm:spPr/>
      <dgm:t>
        <a:bodyPr/>
        <a:lstStyle/>
        <a:p>
          <a:endParaRPr lang="en-US"/>
        </a:p>
      </dgm:t>
    </dgm:pt>
    <dgm:pt modelId="{1DCD08D1-26C3-4DCC-848D-19AB0AEE34C4}" type="pres">
      <dgm:prSet presAssocID="{890216E7-2377-459B-A5D8-52171C76E360}" presName="sibTrans" presStyleLbl="sibTrans2D1" presStyleIdx="3" presStyleCnt="5"/>
      <dgm:spPr/>
      <dgm:t>
        <a:bodyPr/>
        <a:lstStyle/>
        <a:p>
          <a:endParaRPr lang="en-US"/>
        </a:p>
      </dgm:t>
    </dgm:pt>
    <dgm:pt modelId="{C1E4B785-EBAD-426B-8406-68B17E5684FF}" type="pres">
      <dgm:prSet presAssocID="{890216E7-2377-459B-A5D8-52171C76E360}" presName="connectorText" presStyleLbl="sibTrans2D1" presStyleIdx="3" presStyleCnt="5"/>
      <dgm:spPr/>
      <dgm:t>
        <a:bodyPr/>
        <a:lstStyle/>
        <a:p>
          <a:endParaRPr lang="en-US"/>
        </a:p>
      </dgm:t>
    </dgm:pt>
    <dgm:pt modelId="{F1418878-B5F0-4BCC-A6C2-C97F39376763}" type="pres">
      <dgm:prSet presAssocID="{0ABBBB0B-BC3C-4065-96F0-A408D7200C3A}" presName="node" presStyleLbl="node1" presStyleIdx="4" presStyleCnt="6" custScaleX="144078" custScaleY="144270" custLinFactNeighborX="6562" custLinFactNeighborY="9247">
        <dgm:presLayoutVars>
          <dgm:bulletEnabled val="1"/>
        </dgm:presLayoutVars>
      </dgm:prSet>
      <dgm:spPr/>
      <dgm:t>
        <a:bodyPr/>
        <a:lstStyle/>
        <a:p>
          <a:endParaRPr lang="en-US"/>
        </a:p>
      </dgm:t>
    </dgm:pt>
    <dgm:pt modelId="{CDC74C0F-75CF-4C56-BED8-0C60EFF6096B}" type="pres">
      <dgm:prSet presAssocID="{564C3E49-07CA-4426-9FDB-1681E4465CDD}" presName="sibTrans" presStyleLbl="sibTrans2D1" presStyleIdx="4" presStyleCnt="5"/>
      <dgm:spPr/>
      <dgm:t>
        <a:bodyPr/>
        <a:lstStyle/>
        <a:p>
          <a:endParaRPr lang="en-US"/>
        </a:p>
      </dgm:t>
    </dgm:pt>
    <dgm:pt modelId="{374AAE08-CF90-4A2C-AADF-BD93EDAE68F2}" type="pres">
      <dgm:prSet presAssocID="{564C3E49-07CA-4426-9FDB-1681E4465CDD}" presName="connectorText" presStyleLbl="sibTrans2D1" presStyleIdx="4" presStyleCnt="5"/>
      <dgm:spPr/>
      <dgm:t>
        <a:bodyPr/>
        <a:lstStyle/>
        <a:p>
          <a:endParaRPr lang="en-US"/>
        </a:p>
      </dgm:t>
    </dgm:pt>
    <dgm:pt modelId="{D3378070-5350-43B7-BF90-521352D5CABB}" type="pres">
      <dgm:prSet presAssocID="{CB60C41E-3BE5-402E-903B-4CA7269529B2}" presName="node" presStyleLbl="node1" presStyleIdx="5" presStyleCnt="6" custScaleX="186267" custScaleY="192218" custLinFactNeighborX="9390" custLinFactNeighborY="-11466">
        <dgm:presLayoutVars>
          <dgm:bulletEnabled val="1"/>
        </dgm:presLayoutVars>
      </dgm:prSet>
      <dgm:spPr/>
      <dgm:t>
        <a:bodyPr/>
        <a:lstStyle/>
        <a:p>
          <a:endParaRPr lang="en-US"/>
        </a:p>
      </dgm:t>
    </dgm:pt>
  </dgm:ptLst>
  <dgm:cxnLst>
    <dgm:cxn modelId="{5985C89B-2C03-4CD8-A7B1-B1736654679A}" type="presOf" srcId="{902DAB2B-68BF-4017-BC90-F80A8E014904}" destId="{24DCFE5C-3235-4137-919B-1373906E5921}" srcOrd="0" destOrd="0" presId="urn:microsoft.com/office/officeart/2005/8/layout/process5"/>
    <dgm:cxn modelId="{25C20CED-85E9-4469-B80D-8A0EA6B0BF8E}" type="presOf" srcId="{270645B3-0E97-4E2B-A3A9-B83A6FABC3D7}" destId="{D0EE65AC-2E66-49AE-9C7E-1FD8947B2EFA}" srcOrd="0" destOrd="0" presId="urn:microsoft.com/office/officeart/2005/8/layout/process5"/>
    <dgm:cxn modelId="{4FD7F9E8-77B6-4EE2-8DDE-69AE68D8638B}" type="presOf" srcId="{270645B3-0E97-4E2B-A3A9-B83A6FABC3D7}" destId="{08B5088B-6CD9-47AC-9A1A-57D9CBE10103}" srcOrd="1" destOrd="0" presId="urn:microsoft.com/office/officeart/2005/8/layout/process5"/>
    <dgm:cxn modelId="{CE68E43C-55E8-45E6-B519-78C50925EBAF}" type="presOf" srcId="{564C3E49-07CA-4426-9FDB-1681E4465CDD}" destId="{CDC74C0F-75CF-4C56-BED8-0C60EFF6096B}" srcOrd="0" destOrd="0" presId="urn:microsoft.com/office/officeart/2005/8/layout/process5"/>
    <dgm:cxn modelId="{D603775F-2434-4C34-84AB-78FB81315B40}" srcId="{ED97CDFF-E275-4EE3-B26A-5DBA4A3CF477}" destId="{0ABBBB0B-BC3C-4065-96F0-A408D7200C3A}" srcOrd="4" destOrd="0" parTransId="{B58B563B-0A8E-4974-A991-2874695B596E}" sibTransId="{564C3E49-07CA-4426-9FDB-1681E4465CDD}"/>
    <dgm:cxn modelId="{AB6533AF-2A49-4EFD-ABD4-A8C1E917784C}" type="presOf" srcId="{41557917-864A-4D40-850E-5DD8F004144E}" destId="{4D153799-23BA-4EAD-8EBA-D864EF5C1D23}" srcOrd="1" destOrd="0" presId="urn:microsoft.com/office/officeart/2005/8/layout/process5"/>
    <dgm:cxn modelId="{152962AB-6850-4F35-9C58-B19E1CA4C346}" type="presOf" srcId="{41557917-864A-4D40-850E-5DD8F004144E}" destId="{EFD79A0D-AB06-4BEA-936A-7F5C89A2713C}" srcOrd="0" destOrd="0" presId="urn:microsoft.com/office/officeart/2005/8/layout/process5"/>
    <dgm:cxn modelId="{74A4AC48-9840-40A4-BCB3-B5CF8E421867}" type="presOf" srcId="{74251EC5-8322-459C-9476-3AEE4482DD03}" destId="{4863ADC4-A047-4623-895E-758CD35E2AE0}" srcOrd="0" destOrd="0" presId="urn:microsoft.com/office/officeart/2005/8/layout/process5"/>
    <dgm:cxn modelId="{503E26E1-60E4-4620-A538-C2C57A7A280C}" type="presOf" srcId="{564C3E49-07CA-4426-9FDB-1681E4465CDD}" destId="{374AAE08-CF90-4A2C-AADF-BD93EDAE68F2}" srcOrd="1" destOrd="0" presId="urn:microsoft.com/office/officeart/2005/8/layout/process5"/>
    <dgm:cxn modelId="{0B68F588-739E-43AF-82F0-11BBE81412BD}" type="presOf" srcId="{890216E7-2377-459B-A5D8-52171C76E360}" destId="{1DCD08D1-26C3-4DCC-848D-19AB0AEE34C4}" srcOrd="0" destOrd="0" presId="urn:microsoft.com/office/officeart/2005/8/layout/process5"/>
    <dgm:cxn modelId="{345FADB8-A957-4A89-AC8F-B0406B6840D0}" type="presOf" srcId="{890216E7-2377-459B-A5D8-52171C76E360}" destId="{C1E4B785-EBAD-426B-8406-68B17E5684FF}" srcOrd="1" destOrd="0" presId="urn:microsoft.com/office/officeart/2005/8/layout/process5"/>
    <dgm:cxn modelId="{D80AA05C-9547-4018-9331-9A3292DFFA02}" srcId="{ED97CDFF-E275-4EE3-B26A-5DBA4A3CF477}" destId="{B9BBCC9D-D6A8-4E40-A0E6-D762F9D84052}" srcOrd="1" destOrd="0" parTransId="{C8E85B04-1C6D-4BAD-B196-F6841A27A0A3}" sibTransId="{C460D4DC-A090-498F-B417-764B53140D0B}"/>
    <dgm:cxn modelId="{29D37B88-E31E-4422-81E7-E2B3C54E127C}" srcId="{ED97CDFF-E275-4EE3-B26A-5DBA4A3CF477}" destId="{74251EC5-8322-459C-9476-3AEE4482DD03}" srcOrd="3" destOrd="0" parTransId="{64CB6F9E-6A5E-4D7A-AF96-4298EBC2E166}" sibTransId="{890216E7-2377-459B-A5D8-52171C76E360}"/>
    <dgm:cxn modelId="{18E0F597-DEA5-49ED-B2BC-BBCE1046333B}" srcId="{ED97CDFF-E275-4EE3-B26A-5DBA4A3CF477}" destId="{902DAB2B-68BF-4017-BC90-F80A8E014904}" srcOrd="0" destOrd="0" parTransId="{DA70EC8B-5187-470C-96DD-A6FCAE19AADE}" sibTransId="{270645B3-0E97-4E2B-A3A9-B83A6FABC3D7}"/>
    <dgm:cxn modelId="{3B47DA82-421A-49F6-B6B1-B2F3F006617B}" type="presOf" srcId="{C460D4DC-A090-498F-B417-764B53140D0B}" destId="{98268FF4-04B5-41BE-A445-1084CE0AC3EF}" srcOrd="0" destOrd="0" presId="urn:microsoft.com/office/officeart/2005/8/layout/process5"/>
    <dgm:cxn modelId="{F91DECB2-9662-41D3-B0D7-F4D6F4990C67}" type="presOf" srcId="{9FE70194-F1B7-4228-9FB4-0073E00EA68E}" destId="{78337C7C-8CCD-4893-8F5B-10CE164616D4}" srcOrd="0" destOrd="0" presId="urn:microsoft.com/office/officeart/2005/8/layout/process5"/>
    <dgm:cxn modelId="{FBC86C1D-26C4-43AA-BE11-88ABF197AC90}" srcId="{ED97CDFF-E275-4EE3-B26A-5DBA4A3CF477}" destId="{9FE70194-F1B7-4228-9FB4-0073E00EA68E}" srcOrd="2" destOrd="0" parTransId="{3524D38F-46D1-4602-8F45-A17349C29448}" sibTransId="{41557917-864A-4D40-850E-5DD8F004144E}"/>
    <dgm:cxn modelId="{1659CC81-901B-4BBA-AF7A-E39753A2FEDB}" type="presOf" srcId="{0ABBBB0B-BC3C-4065-96F0-A408D7200C3A}" destId="{F1418878-B5F0-4BCC-A6C2-C97F39376763}" srcOrd="0" destOrd="0" presId="urn:microsoft.com/office/officeart/2005/8/layout/process5"/>
    <dgm:cxn modelId="{2668448C-5E2D-4A4D-B649-0A98F7165811}" type="presOf" srcId="{CB60C41E-3BE5-402E-903B-4CA7269529B2}" destId="{D3378070-5350-43B7-BF90-521352D5CABB}" srcOrd="0" destOrd="0" presId="urn:microsoft.com/office/officeart/2005/8/layout/process5"/>
    <dgm:cxn modelId="{3BD46722-73B3-4354-85EB-9769D087EBC4}" srcId="{ED97CDFF-E275-4EE3-B26A-5DBA4A3CF477}" destId="{CB60C41E-3BE5-402E-903B-4CA7269529B2}" srcOrd="5" destOrd="0" parTransId="{C4772B8B-30BC-46DB-9500-CEC99CCCCFC6}" sibTransId="{7B3B298D-B647-4F44-85D4-2B1AE247BA98}"/>
    <dgm:cxn modelId="{DD13A16F-6567-4583-8896-41FB6B4608D6}" type="presOf" srcId="{ED97CDFF-E275-4EE3-B26A-5DBA4A3CF477}" destId="{C2FDE31B-D537-4F89-8609-97FA38D372D0}" srcOrd="0" destOrd="0" presId="urn:microsoft.com/office/officeart/2005/8/layout/process5"/>
    <dgm:cxn modelId="{141CB362-1B9B-4F56-BBA6-C47E9DC1C797}" type="presOf" srcId="{C460D4DC-A090-498F-B417-764B53140D0B}" destId="{EE795C22-51BE-492F-B9D5-FABBF2D075A2}" srcOrd="1" destOrd="0" presId="urn:microsoft.com/office/officeart/2005/8/layout/process5"/>
    <dgm:cxn modelId="{33F48CDE-B417-44F6-AD2C-A687DDC3C6C7}" type="presOf" srcId="{B9BBCC9D-D6A8-4E40-A0E6-D762F9D84052}" destId="{1BAC9B67-2800-4CB5-8CA6-F056FC8F1DD8}" srcOrd="0" destOrd="0" presId="urn:microsoft.com/office/officeart/2005/8/layout/process5"/>
    <dgm:cxn modelId="{04152134-9AC5-4A48-9465-B757F7487B08}" type="presParOf" srcId="{C2FDE31B-D537-4F89-8609-97FA38D372D0}" destId="{24DCFE5C-3235-4137-919B-1373906E5921}" srcOrd="0" destOrd="0" presId="urn:microsoft.com/office/officeart/2005/8/layout/process5"/>
    <dgm:cxn modelId="{2E257ABD-72CA-436A-B036-B1EE6C1C2347}" type="presParOf" srcId="{C2FDE31B-D537-4F89-8609-97FA38D372D0}" destId="{D0EE65AC-2E66-49AE-9C7E-1FD8947B2EFA}" srcOrd="1" destOrd="0" presId="urn:microsoft.com/office/officeart/2005/8/layout/process5"/>
    <dgm:cxn modelId="{8C87D66C-8FF3-4F7F-A12E-3EA9EAE6B85A}" type="presParOf" srcId="{D0EE65AC-2E66-49AE-9C7E-1FD8947B2EFA}" destId="{08B5088B-6CD9-47AC-9A1A-57D9CBE10103}" srcOrd="0" destOrd="0" presId="urn:microsoft.com/office/officeart/2005/8/layout/process5"/>
    <dgm:cxn modelId="{437E367B-02F6-4317-A7F8-04A1752BFB23}" type="presParOf" srcId="{C2FDE31B-D537-4F89-8609-97FA38D372D0}" destId="{1BAC9B67-2800-4CB5-8CA6-F056FC8F1DD8}" srcOrd="2" destOrd="0" presId="urn:microsoft.com/office/officeart/2005/8/layout/process5"/>
    <dgm:cxn modelId="{D6B767A1-85C1-4C8F-AE3E-BFF2F79A3B17}" type="presParOf" srcId="{C2FDE31B-D537-4F89-8609-97FA38D372D0}" destId="{98268FF4-04B5-41BE-A445-1084CE0AC3EF}" srcOrd="3" destOrd="0" presId="urn:microsoft.com/office/officeart/2005/8/layout/process5"/>
    <dgm:cxn modelId="{A4C41D19-3014-4BDD-8703-80D30232A47B}" type="presParOf" srcId="{98268FF4-04B5-41BE-A445-1084CE0AC3EF}" destId="{EE795C22-51BE-492F-B9D5-FABBF2D075A2}" srcOrd="0" destOrd="0" presId="urn:microsoft.com/office/officeart/2005/8/layout/process5"/>
    <dgm:cxn modelId="{3F816C95-393F-48A0-8C2C-A4F535EBB0A3}" type="presParOf" srcId="{C2FDE31B-D537-4F89-8609-97FA38D372D0}" destId="{78337C7C-8CCD-4893-8F5B-10CE164616D4}" srcOrd="4" destOrd="0" presId="urn:microsoft.com/office/officeart/2005/8/layout/process5"/>
    <dgm:cxn modelId="{EC926FB8-DC41-4632-87DE-84DD9870B777}" type="presParOf" srcId="{C2FDE31B-D537-4F89-8609-97FA38D372D0}" destId="{EFD79A0D-AB06-4BEA-936A-7F5C89A2713C}" srcOrd="5" destOrd="0" presId="urn:microsoft.com/office/officeart/2005/8/layout/process5"/>
    <dgm:cxn modelId="{49CB04F6-68B8-4997-A3CD-B572F9A49AA4}" type="presParOf" srcId="{EFD79A0D-AB06-4BEA-936A-7F5C89A2713C}" destId="{4D153799-23BA-4EAD-8EBA-D864EF5C1D23}" srcOrd="0" destOrd="0" presId="urn:microsoft.com/office/officeart/2005/8/layout/process5"/>
    <dgm:cxn modelId="{5D12AE25-9ACA-4004-80B7-1CB2AEDDF1C0}" type="presParOf" srcId="{C2FDE31B-D537-4F89-8609-97FA38D372D0}" destId="{4863ADC4-A047-4623-895E-758CD35E2AE0}" srcOrd="6" destOrd="0" presId="urn:microsoft.com/office/officeart/2005/8/layout/process5"/>
    <dgm:cxn modelId="{5E7B3C57-19BD-49E7-8444-B369CE23C52A}" type="presParOf" srcId="{C2FDE31B-D537-4F89-8609-97FA38D372D0}" destId="{1DCD08D1-26C3-4DCC-848D-19AB0AEE34C4}" srcOrd="7" destOrd="0" presId="urn:microsoft.com/office/officeart/2005/8/layout/process5"/>
    <dgm:cxn modelId="{790AF75F-27AE-49D6-A1BE-B0B628FBE744}" type="presParOf" srcId="{1DCD08D1-26C3-4DCC-848D-19AB0AEE34C4}" destId="{C1E4B785-EBAD-426B-8406-68B17E5684FF}" srcOrd="0" destOrd="0" presId="urn:microsoft.com/office/officeart/2005/8/layout/process5"/>
    <dgm:cxn modelId="{924949FD-87AF-441F-A63D-D410E7ACB3E7}" type="presParOf" srcId="{C2FDE31B-D537-4F89-8609-97FA38D372D0}" destId="{F1418878-B5F0-4BCC-A6C2-C97F39376763}" srcOrd="8" destOrd="0" presId="urn:microsoft.com/office/officeart/2005/8/layout/process5"/>
    <dgm:cxn modelId="{4D1B1EE1-FE9E-4753-B380-10D9F2A9C1EE}" type="presParOf" srcId="{C2FDE31B-D537-4F89-8609-97FA38D372D0}" destId="{CDC74C0F-75CF-4C56-BED8-0C60EFF6096B}" srcOrd="9" destOrd="0" presId="urn:microsoft.com/office/officeart/2005/8/layout/process5"/>
    <dgm:cxn modelId="{085504FE-2A74-4B36-B2CE-B0E7D6FF781F}" type="presParOf" srcId="{CDC74C0F-75CF-4C56-BED8-0C60EFF6096B}" destId="{374AAE08-CF90-4A2C-AADF-BD93EDAE68F2}" srcOrd="0" destOrd="0" presId="urn:microsoft.com/office/officeart/2005/8/layout/process5"/>
    <dgm:cxn modelId="{E8515FCF-D622-47FB-9217-3E590D92B370}" type="presParOf" srcId="{C2FDE31B-D537-4F89-8609-97FA38D372D0}" destId="{D3378070-5350-43B7-BF90-521352D5CABB}"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CFE5C-3235-4137-919B-1373906E5921}">
      <dsp:nvSpPr>
        <dsp:cNvPr id="0" name=""/>
        <dsp:cNvSpPr/>
      </dsp:nvSpPr>
      <dsp:spPr>
        <a:xfrm>
          <a:off x="0" y="389795"/>
          <a:ext cx="3231876" cy="1571609"/>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GB" sz="1700" b="1" kern="1200" dirty="0">
              <a:solidFill>
                <a:schemeClr val="tx1"/>
              </a:solidFill>
            </a:rPr>
            <a:t>Identify a problem.</a:t>
          </a:r>
        </a:p>
        <a:p>
          <a:pPr lvl="0" algn="ctr" defTabSz="755650">
            <a:lnSpc>
              <a:spcPct val="90000"/>
            </a:lnSpc>
            <a:spcBef>
              <a:spcPct val="0"/>
            </a:spcBef>
            <a:spcAft>
              <a:spcPct val="35000"/>
            </a:spcAft>
          </a:pPr>
          <a:r>
            <a:rPr lang="en-GB" sz="1700" b="1" kern="1200" dirty="0">
              <a:solidFill>
                <a:schemeClr val="tx1"/>
              </a:solidFill>
            </a:rPr>
            <a:t>And frame a research topic and tittle</a:t>
          </a:r>
        </a:p>
      </dsp:txBody>
      <dsp:txXfrm>
        <a:off x="46031" y="435826"/>
        <a:ext cx="3139814" cy="1479547"/>
      </dsp:txXfrm>
    </dsp:sp>
    <dsp:sp modelId="{D0EE65AC-2E66-49AE-9C7E-1FD8947B2EFA}">
      <dsp:nvSpPr>
        <dsp:cNvPr id="0" name=""/>
        <dsp:cNvSpPr/>
      </dsp:nvSpPr>
      <dsp:spPr>
        <a:xfrm rot="46904">
          <a:off x="3011279" y="1017537"/>
          <a:ext cx="515980" cy="399617"/>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GB" sz="1400" kern="1200"/>
        </a:p>
      </dsp:txBody>
      <dsp:txXfrm>
        <a:off x="3011285" y="1096642"/>
        <a:ext cx="396095" cy="239771"/>
      </dsp:txXfrm>
    </dsp:sp>
    <dsp:sp modelId="{1BAC9B67-2800-4CB5-8CA6-F056FC8F1DD8}">
      <dsp:nvSpPr>
        <dsp:cNvPr id="0" name=""/>
        <dsp:cNvSpPr/>
      </dsp:nvSpPr>
      <dsp:spPr>
        <a:xfrm>
          <a:off x="4205334" y="0"/>
          <a:ext cx="1880862" cy="244752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GB" sz="1800" b="1" kern="1200" dirty="0">
              <a:solidFill>
                <a:schemeClr val="tx1"/>
              </a:solidFill>
            </a:rPr>
            <a:t>Frame the unknown into a research aim or question(objectives or hypothesis)</a:t>
          </a:r>
        </a:p>
      </dsp:txBody>
      <dsp:txXfrm>
        <a:off x="4260423" y="55089"/>
        <a:ext cx="1770684" cy="2337348"/>
      </dsp:txXfrm>
    </dsp:sp>
    <dsp:sp modelId="{98268FF4-04B5-41BE-A445-1084CE0AC3EF}">
      <dsp:nvSpPr>
        <dsp:cNvPr id="0" name=""/>
        <dsp:cNvSpPr/>
      </dsp:nvSpPr>
      <dsp:spPr>
        <a:xfrm rot="102720">
          <a:off x="6202512" y="1059731"/>
          <a:ext cx="280492" cy="399617"/>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GB" sz="1400" kern="1200"/>
        </a:p>
      </dsp:txBody>
      <dsp:txXfrm>
        <a:off x="6202531" y="1138397"/>
        <a:ext cx="196344" cy="239771"/>
      </dsp:txXfrm>
    </dsp:sp>
    <dsp:sp modelId="{78337C7C-8CCD-4893-8F5B-10CE164616D4}">
      <dsp:nvSpPr>
        <dsp:cNvPr id="0" name=""/>
        <dsp:cNvSpPr/>
      </dsp:nvSpPr>
      <dsp:spPr>
        <a:xfrm>
          <a:off x="6615190" y="568511"/>
          <a:ext cx="1611362" cy="1446503"/>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GB" sz="1700" b="1" kern="1200">
              <a:solidFill>
                <a:schemeClr val="tx1"/>
              </a:solidFill>
            </a:rPr>
            <a:t>Design a study that will  address the research question(s</a:t>
          </a:r>
          <a:r>
            <a:rPr lang="en-GB" sz="1700" b="1" kern="1200"/>
            <a:t>)</a:t>
          </a:r>
          <a:endParaRPr lang="en-GB" sz="1700" b="1" kern="1200" dirty="0"/>
        </a:p>
      </dsp:txBody>
      <dsp:txXfrm>
        <a:off x="6657557" y="610878"/>
        <a:ext cx="1526628" cy="1361769"/>
      </dsp:txXfrm>
    </dsp:sp>
    <dsp:sp modelId="{EFD79A0D-AB06-4BEA-936A-7F5C89A2713C}">
      <dsp:nvSpPr>
        <dsp:cNvPr id="0" name=""/>
        <dsp:cNvSpPr/>
      </dsp:nvSpPr>
      <dsp:spPr>
        <a:xfrm rot="5396358">
          <a:off x="7014791" y="2561258"/>
          <a:ext cx="815273" cy="399617"/>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GB" sz="1400" kern="1200"/>
        </a:p>
      </dsp:txBody>
      <dsp:txXfrm rot="-5400000">
        <a:off x="7302478" y="2353431"/>
        <a:ext cx="239771" cy="695388"/>
      </dsp:txXfrm>
    </dsp:sp>
    <dsp:sp modelId="{4863ADC4-A047-4623-895E-758CD35E2AE0}">
      <dsp:nvSpPr>
        <dsp:cNvPr id="0" name=""/>
        <dsp:cNvSpPr/>
      </dsp:nvSpPr>
      <dsp:spPr>
        <a:xfrm>
          <a:off x="6618237" y="3553266"/>
          <a:ext cx="1611362" cy="1229946"/>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1" kern="1200">
              <a:solidFill>
                <a:schemeClr val="tx1"/>
              </a:solidFill>
            </a:rPr>
            <a:t>Gather the relevant data</a:t>
          </a:r>
          <a:endParaRPr lang="en-GB" sz="2000" b="1" kern="1200" dirty="0">
            <a:solidFill>
              <a:schemeClr val="tx1"/>
            </a:solidFill>
          </a:endParaRPr>
        </a:p>
      </dsp:txBody>
      <dsp:txXfrm>
        <a:off x="6654261" y="3589290"/>
        <a:ext cx="1539314" cy="1157898"/>
      </dsp:txXfrm>
    </dsp:sp>
    <dsp:sp modelId="{1DCD08D1-26C3-4DCC-848D-19AB0AEE34C4}">
      <dsp:nvSpPr>
        <dsp:cNvPr id="0" name=""/>
        <dsp:cNvSpPr/>
      </dsp:nvSpPr>
      <dsp:spPr>
        <a:xfrm rot="10785703">
          <a:off x="6211845" y="3972874"/>
          <a:ext cx="287185" cy="39961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GB" sz="1400" kern="1200"/>
        </a:p>
      </dsp:txBody>
      <dsp:txXfrm rot="10800000">
        <a:off x="6298000" y="4052618"/>
        <a:ext cx="201030" cy="239771"/>
      </dsp:txXfrm>
    </dsp:sp>
    <dsp:sp modelId="{F1418878-B5F0-4BCC-A6C2-C97F39376763}">
      <dsp:nvSpPr>
        <dsp:cNvPr id="0" name=""/>
        <dsp:cNvSpPr/>
      </dsp:nvSpPr>
      <dsp:spPr>
        <a:xfrm>
          <a:off x="3754765" y="3481258"/>
          <a:ext cx="2321618" cy="139482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b="1" kern="1200">
              <a:solidFill>
                <a:schemeClr val="tx1"/>
              </a:solidFill>
            </a:rPr>
            <a:t>Analyse and interpret the data</a:t>
          </a:r>
          <a:endParaRPr lang="en-GB" sz="2400" b="1" kern="1200" dirty="0">
            <a:solidFill>
              <a:schemeClr val="tx1"/>
            </a:solidFill>
          </a:endParaRPr>
        </a:p>
      </dsp:txBody>
      <dsp:txXfrm>
        <a:off x="3795618" y="3522111"/>
        <a:ext cx="2239912" cy="1313121"/>
      </dsp:txXfrm>
    </dsp:sp>
    <dsp:sp modelId="{CDC74C0F-75CF-4C56-BED8-0C60EFF6096B}">
      <dsp:nvSpPr>
        <dsp:cNvPr id="0" name=""/>
        <dsp:cNvSpPr/>
      </dsp:nvSpPr>
      <dsp:spPr>
        <a:xfrm rot="11010878">
          <a:off x="3305234" y="3889724"/>
          <a:ext cx="318055" cy="399617"/>
        </a:xfrm>
        <a:prstGeom prst="rightArrow">
          <a:avLst>
            <a:gd name="adj1" fmla="val 60000"/>
            <a:gd name="adj2" fmla="val 50000"/>
          </a:avLst>
        </a:prstGeom>
        <a:solidFill>
          <a:schemeClr val="accent6">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GB" sz="1400" kern="1200"/>
        </a:p>
      </dsp:txBody>
      <dsp:txXfrm rot="10800000">
        <a:off x="3400560" y="3972572"/>
        <a:ext cx="222639" cy="239771"/>
      </dsp:txXfrm>
    </dsp:sp>
    <dsp:sp modelId="{D3378070-5350-43B7-BF90-521352D5CABB}">
      <dsp:nvSpPr>
        <dsp:cNvPr id="0" name=""/>
        <dsp:cNvSpPr/>
      </dsp:nvSpPr>
      <dsp:spPr>
        <a:xfrm>
          <a:off x="154353" y="3049216"/>
          <a:ext cx="3001435" cy="185839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GB" sz="2000" b="1" kern="1200">
              <a:solidFill>
                <a:schemeClr val="tx1"/>
              </a:solidFill>
            </a:rPr>
            <a:t>publishing the results, and anticipating further future research </a:t>
          </a:r>
          <a:endParaRPr lang="en-GB" sz="2000" b="1" kern="1200" dirty="0">
            <a:solidFill>
              <a:schemeClr val="tx1"/>
            </a:solidFill>
          </a:endParaRPr>
        </a:p>
      </dsp:txBody>
      <dsp:txXfrm>
        <a:off x="208784" y="3103647"/>
        <a:ext cx="2892573" cy="17495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09091C-919A-4495-8D08-FC5DE5AE301C}" type="datetimeFigureOut">
              <a:rPr lang="en-US" smtClean="0"/>
              <a:t>2/12/2023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471D40-6BEA-44B1-A221-F694C21FC203}" type="slidenum">
              <a:rPr lang="en-US" smtClean="0"/>
              <a:t>‹#›</a:t>
            </a:fld>
            <a:endParaRPr lang="en-US"/>
          </a:p>
        </p:txBody>
      </p:sp>
    </p:spTree>
    <p:extLst>
      <p:ext uri="{BB962C8B-B14F-4D97-AF65-F5344CB8AC3E}">
        <p14:creationId xmlns:p14="http://schemas.microsoft.com/office/powerpoint/2010/main" val="202806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9791-346E-45FA-9E07-A22205DD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C32086-7D90-425F-A952-AF3CB656DC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F97FA9-675D-4AB6-896D-5D0EDDC3E1F0}"/>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11C7FD6C-C1A7-4388-90CB-3EC58CE05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5537F5-476F-4BA7-855C-2CA182C0BFF9}"/>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1192113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E447F-BB9D-473A-834F-831306AC8B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06E13F-0185-4F34-8A44-568413A6D22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6EE7D-8FB7-44D4-BC45-79D573D24EFE}"/>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04419A84-E96A-4C74-8704-A98FB563F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CAFAD-5722-4B5E-A13D-0E7AFED3A6F8}"/>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874682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2B0E4-BFA0-457B-A2DE-CCDCB7380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884015B-AD8B-477F-8751-DC5A5C9E42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B32B27-44FD-44B0-9A5F-307424A998EB}"/>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4EAD3866-0AA5-49BD-899C-C2DA2C422D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2641D-5931-4A23-9F57-947C9DB15C4A}"/>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146846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F142D-3E08-4958-BC83-69F4F1CE3F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17745C-40E0-433C-9B66-9A71EAE7F8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032746-E8E3-45E9-9769-D65AADF433E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B04477-D594-4CDB-A307-817A7A245233}"/>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6" name="Footer Placeholder 5">
            <a:extLst>
              <a:ext uri="{FF2B5EF4-FFF2-40B4-BE49-F238E27FC236}">
                <a16:creationId xmlns:a16="http://schemas.microsoft.com/office/drawing/2014/main" id="{38FC1CED-3861-4AF4-9F9C-CB6BC82834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73AB57-B715-4F26-BBBD-699C7B3A6502}"/>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2278484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487F-3C6D-43D8-9D91-1CB23ED545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3DEF2E-6421-4463-B74B-62B98423FE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B9DDCF5-1B3B-4E40-AED4-792A5E5820B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0369C1-3D23-4B72-B8F5-E680B1B9F2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A49FF4E-7144-4032-9CF5-3FA14BB329D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4B8F29-A12A-45B9-A683-2658F1B72A13}"/>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8" name="Footer Placeholder 7">
            <a:extLst>
              <a:ext uri="{FF2B5EF4-FFF2-40B4-BE49-F238E27FC236}">
                <a16:creationId xmlns:a16="http://schemas.microsoft.com/office/drawing/2014/main" id="{DC4FBB34-9AF3-4A50-92F7-08B9F9A8A1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A793E16-03DB-4737-9AF1-87F9EB0CEA4C}"/>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1928808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CD414-B052-4349-A721-F2FED1D8AA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6B35AB-C5C4-4F7A-BCBD-46850D036054}"/>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4" name="Footer Placeholder 3">
            <a:extLst>
              <a:ext uri="{FF2B5EF4-FFF2-40B4-BE49-F238E27FC236}">
                <a16:creationId xmlns:a16="http://schemas.microsoft.com/office/drawing/2014/main" id="{1385ADD4-6B09-4845-BF6D-C3E65C5A35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8BC4FE-CCB7-433B-8A6F-AFD0D9166BD4}"/>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2245848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325B7F-C344-44A8-870E-733F38689B28}"/>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3" name="Footer Placeholder 2">
            <a:extLst>
              <a:ext uri="{FF2B5EF4-FFF2-40B4-BE49-F238E27FC236}">
                <a16:creationId xmlns:a16="http://schemas.microsoft.com/office/drawing/2014/main" id="{57703FA1-3552-49D4-8F61-4DE131476C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F02F0C-8386-47F1-BA3F-35D0DC2C45D3}"/>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54312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73CBD-799C-48B4-951A-F29E2E3047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9E7B66-9296-409C-96FA-23456A56FB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E99CF5-C651-42B2-9675-320E00333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DE4ED7-D9B9-485E-9067-239E12AA690B}"/>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6" name="Footer Placeholder 5">
            <a:extLst>
              <a:ext uri="{FF2B5EF4-FFF2-40B4-BE49-F238E27FC236}">
                <a16:creationId xmlns:a16="http://schemas.microsoft.com/office/drawing/2014/main" id="{EEC7873D-8B6B-4165-874A-EBBCECBFB4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6B9D6C-AC84-4C92-8D2F-D3FBF995140D}"/>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3773441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6B7D6-ABC3-4407-8E37-C5FE8E160B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A0964E-634B-4662-A817-AA2542BE78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F79A50-3220-409C-BBEF-1C9C6FBA0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C11184F-22BF-4DA4-8A46-96BA2EFF75A0}"/>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6" name="Footer Placeholder 5">
            <a:extLst>
              <a:ext uri="{FF2B5EF4-FFF2-40B4-BE49-F238E27FC236}">
                <a16:creationId xmlns:a16="http://schemas.microsoft.com/office/drawing/2014/main" id="{EEF96C64-831C-4BA8-B80C-89F044B698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4E2C8-9003-469D-8AA5-E82F634FAD0F}"/>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2618846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E5BE2-2B68-417A-8C22-740C1C66B63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45DE5F-F01B-4298-9481-C88E66E35DD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4D28E0-4C45-493E-9BE0-398F49EBB1C8}"/>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52734BA5-5058-4F9E-BD57-22CCB3B9B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81D34-4804-4CFD-8D84-0582AD85C306}"/>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471424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D7632E-0A7B-41A0-BE01-F335B36F3C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36DD68-CA2E-4F9D-A782-F4F0125FE07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5C168-7AB2-4926-B672-057292613427}"/>
              </a:ext>
            </a:extLst>
          </p:cNvPr>
          <p:cNvSpPr>
            <a:spLocks noGrp="1"/>
          </p:cNvSpPr>
          <p:nvPr>
            <p:ph type="dt" sz="half" idx="10"/>
          </p:nvPr>
        </p:nvSpPr>
        <p:spPr/>
        <p:txBody>
          <a:body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42EF7C1C-7CB4-4B93-987F-DDE942476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EDB6-AF60-427C-93C5-2037707566B4}"/>
              </a:ext>
            </a:extLst>
          </p:cNvPr>
          <p:cNvSpPr>
            <a:spLocks noGrp="1"/>
          </p:cNvSpPr>
          <p:nvPr>
            <p:ph type="sldNum" sz="quarter" idx="12"/>
          </p:nvPr>
        </p:nvSpPr>
        <p:spPr/>
        <p:txBody>
          <a:bodyPr/>
          <a:lstStyle/>
          <a:p>
            <a:fld id="{4E03767A-E84A-4301-9462-469920E6BB81}" type="slidenum">
              <a:rPr lang="en-US" smtClean="0"/>
              <a:t>‹#›</a:t>
            </a:fld>
            <a:endParaRPr lang="en-US"/>
          </a:p>
        </p:txBody>
      </p:sp>
    </p:spTree>
    <p:extLst>
      <p:ext uri="{BB962C8B-B14F-4D97-AF65-F5344CB8AC3E}">
        <p14:creationId xmlns:p14="http://schemas.microsoft.com/office/powerpoint/2010/main" val="1214884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DBB6AF-6382-4392-86DB-6D79C2C39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570565-FE49-4B21-B5B1-C09F93B155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86E138-5C49-4C81-B93C-ECA7BF4FE8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01A8B4-37FD-4DA9-AD56-EEC3E54C4DDF}" type="datetimeFigureOut">
              <a:rPr lang="en-US" smtClean="0"/>
              <a:t>2/12/2023</a:t>
            </a:fld>
            <a:endParaRPr lang="en-US"/>
          </a:p>
        </p:txBody>
      </p:sp>
      <p:sp>
        <p:nvSpPr>
          <p:cNvPr id="5" name="Footer Placeholder 4">
            <a:extLst>
              <a:ext uri="{FF2B5EF4-FFF2-40B4-BE49-F238E27FC236}">
                <a16:creationId xmlns:a16="http://schemas.microsoft.com/office/drawing/2014/main" id="{94B3D99F-98A3-45D1-B6F0-0DB395494F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80F134-FF69-4DF8-A1AB-C6A94F47DD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03767A-E84A-4301-9462-469920E6BB81}" type="slidenum">
              <a:rPr lang="en-US" smtClean="0"/>
              <a:t>‹#›</a:t>
            </a:fld>
            <a:endParaRPr lang="en-US"/>
          </a:p>
        </p:txBody>
      </p:sp>
    </p:spTree>
    <p:extLst>
      <p:ext uri="{BB962C8B-B14F-4D97-AF65-F5344CB8AC3E}">
        <p14:creationId xmlns:p14="http://schemas.microsoft.com/office/powerpoint/2010/main" val="1035651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4CAEA-0128-4591-9B57-E348FE6629A6}"/>
              </a:ext>
            </a:extLst>
          </p:cNvPr>
          <p:cNvSpPr>
            <a:spLocks noGrp="1"/>
          </p:cNvSpPr>
          <p:nvPr>
            <p:ph type="ctrTitle"/>
          </p:nvPr>
        </p:nvSpPr>
        <p:spPr/>
        <p:txBody>
          <a:bodyPr/>
          <a:lstStyle/>
          <a:p>
            <a:r>
              <a:rPr lang="en-US" dirty="0"/>
              <a:t>Dissertation writing </a:t>
            </a:r>
          </a:p>
        </p:txBody>
      </p:sp>
      <p:sp>
        <p:nvSpPr>
          <p:cNvPr id="3" name="Subtitle 2">
            <a:extLst>
              <a:ext uri="{FF2B5EF4-FFF2-40B4-BE49-F238E27FC236}">
                <a16:creationId xmlns:a16="http://schemas.microsoft.com/office/drawing/2014/main" id="{5403440C-8728-4A6F-BEC0-6D3385B9443C}"/>
              </a:ext>
            </a:extLst>
          </p:cNvPr>
          <p:cNvSpPr>
            <a:spLocks noGrp="1"/>
          </p:cNvSpPr>
          <p:nvPr>
            <p:ph type="subTitle" idx="1"/>
          </p:nvPr>
        </p:nvSpPr>
        <p:spPr/>
        <p:txBody>
          <a:bodyPr/>
          <a:lstStyle/>
          <a:p>
            <a:r>
              <a:rPr lang="en-US" dirty="0"/>
              <a:t>Marien Matafwali</a:t>
            </a:r>
          </a:p>
        </p:txBody>
      </p:sp>
      <mc:AlternateContent xmlns:mc="http://schemas.openxmlformats.org/markup-compatibility/2006">
        <mc:Choice xmlns:pslz="http://schemas.microsoft.com/office/powerpoint/2016/slidezoom" xmlns="" Requires="pslz">
          <p:graphicFrame>
            <p:nvGraphicFramePr>
              <p:cNvPr id="5" name="Slide Zoom 4">
                <a:extLst>
                  <a:ext uri="{FF2B5EF4-FFF2-40B4-BE49-F238E27FC236}">
                    <a16:creationId xmlns:a16="http://schemas.microsoft.com/office/drawing/2014/main" id="{FAFD0C3F-0C17-42BF-882E-F0C620A4F392}"/>
                  </a:ext>
                </a:extLst>
              </p:cNvPr>
              <p:cNvGraphicFramePr>
                <a:graphicFrameLocks noChangeAspect="1"/>
              </p:cNvGraphicFramePr>
              <p:nvPr>
                <p:extLst>
                  <p:ext uri="{D42A27DB-BD31-4B8C-83A1-F6EECF244321}">
                    <p14:modId xmlns:p14="http://schemas.microsoft.com/office/powerpoint/2010/main" val="4186132117"/>
                  </p:ext>
                </p:extLst>
              </p:nvPr>
            </p:nvGraphicFramePr>
            <p:xfrm>
              <a:off x="4349262" y="3562350"/>
              <a:ext cx="3048000" cy="1714500"/>
            </p:xfrm>
            <a:graphic>
              <a:graphicData uri="http://schemas.microsoft.com/office/powerpoint/2016/slidezoom">
                <pslz:sldZm>
                  <pslz:sldZmObj sldId="256" cId="2811283723">
                    <pslz:zmPr id="{56E705F7-0C2D-42B3-B2AE-4DDFF04838BB}"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FAFD0C3F-0C17-42BF-882E-F0C620A4F392}"/>
                  </a:ext>
                </a:extLst>
              </p:cNvPr>
              <p:cNvPicPr>
                <a:picLocks noGrp="1" noRot="1" noChangeAspect="1" noMove="1" noResize="1" noEditPoints="1" noAdjustHandles="1" noChangeArrowheads="1" noChangeShapeType="1"/>
              </p:cNvPicPr>
              <p:nvPr/>
            </p:nvPicPr>
            <p:blipFill>
              <a:blip r:embed="rId4"/>
              <a:stretch>
                <a:fillRect/>
              </a:stretch>
            </p:blipFill>
            <p:spPr>
              <a:xfrm>
                <a:off x="4349262" y="3562350"/>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2811283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Aims of the course</a:t>
            </a:r>
          </a:p>
        </p:txBody>
      </p:sp>
      <p:sp>
        <p:nvSpPr>
          <p:cNvPr id="3" name="Content Placeholder 2"/>
          <p:cNvSpPr>
            <a:spLocks noGrp="1"/>
          </p:cNvSpPr>
          <p:nvPr>
            <p:ph idx="1"/>
          </p:nvPr>
        </p:nvSpPr>
        <p:spPr/>
        <p:txBody>
          <a:bodyPr>
            <a:normAutofit/>
          </a:bodyPr>
          <a:lstStyle/>
          <a:p>
            <a:pPr lvl="1" algn="just"/>
            <a:r>
              <a:rPr lang="en-GB" sz="5400" b="1" dirty="0"/>
              <a:t>To facilitate the development of the academic and research skills in order to enable you to complete your dissertation</a:t>
            </a:r>
          </a:p>
        </p:txBody>
      </p:sp>
    </p:spTree>
    <p:extLst>
      <p:ext uri="{BB962C8B-B14F-4D97-AF65-F5344CB8AC3E}">
        <p14:creationId xmlns:p14="http://schemas.microsoft.com/office/powerpoint/2010/main" val="703629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Purpose of research</a:t>
            </a:r>
          </a:p>
        </p:txBody>
      </p:sp>
      <p:sp>
        <p:nvSpPr>
          <p:cNvPr id="3" name="Content Placeholder 2"/>
          <p:cNvSpPr>
            <a:spLocks noGrp="1"/>
          </p:cNvSpPr>
          <p:nvPr>
            <p:ph idx="1"/>
          </p:nvPr>
        </p:nvSpPr>
        <p:spPr/>
        <p:txBody>
          <a:bodyPr>
            <a:normAutofit/>
          </a:bodyPr>
          <a:lstStyle/>
          <a:p>
            <a:endParaRPr lang="en-GB" dirty="0"/>
          </a:p>
          <a:p>
            <a:pPr algn="just"/>
            <a:r>
              <a:rPr lang="en-GB" sz="4000" b="1" dirty="0"/>
              <a:t>To review and synthesise existing knowledge; investigate existing situations or problems, provide solutions to a problem; </a:t>
            </a:r>
          </a:p>
          <a:p>
            <a:pPr algn="just"/>
            <a:r>
              <a:rPr lang="en-GB" sz="4000" b="1" dirty="0"/>
              <a:t>Explore and analyse more general issues;  construct or create a new procedure system and generate new knowledge.</a:t>
            </a:r>
          </a:p>
        </p:txBody>
      </p:sp>
    </p:spTree>
    <p:extLst>
      <p:ext uri="{BB962C8B-B14F-4D97-AF65-F5344CB8AC3E}">
        <p14:creationId xmlns:p14="http://schemas.microsoft.com/office/powerpoint/2010/main" val="156985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ECE57-FB8C-4805-A14E-F495E9266B26}"/>
              </a:ext>
            </a:extLst>
          </p:cNvPr>
          <p:cNvSpPr>
            <a:spLocks noGrp="1"/>
          </p:cNvSpPr>
          <p:nvPr>
            <p:ph type="title"/>
          </p:nvPr>
        </p:nvSpPr>
        <p:spPr/>
        <p:txBody>
          <a:bodyPr/>
          <a:lstStyle/>
          <a:p>
            <a:r>
              <a:rPr lang="en-GB" dirty="0"/>
              <a:t>Summary of assessment</a:t>
            </a:r>
            <a:endParaRPr lang="en-US" dirty="0"/>
          </a:p>
        </p:txBody>
      </p:sp>
      <p:graphicFrame>
        <p:nvGraphicFramePr>
          <p:cNvPr id="4" name="Content Placeholder 3">
            <a:extLst>
              <a:ext uri="{FF2B5EF4-FFF2-40B4-BE49-F238E27FC236}">
                <a16:creationId xmlns:a16="http://schemas.microsoft.com/office/drawing/2014/main" id="{AC4D1622-93B4-4C20-BC67-AA8485100472}"/>
              </a:ext>
            </a:extLst>
          </p:cNvPr>
          <p:cNvGraphicFramePr>
            <a:graphicFrameLocks noGrp="1"/>
          </p:cNvGraphicFramePr>
          <p:nvPr>
            <p:ph idx="1"/>
            <p:extLst>
              <p:ext uri="{D42A27DB-BD31-4B8C-83A1-F6EECF244321}">
                <p14:modId xmlns:p14="http://schemas.microsoft.com/office/powerpoint/2010/main" val="3931367662"/>
              </p:ext>
            </p:extLst>
          </p:nvPr>
        </p:nvGraphicFramePr>
        <p:xfrm>
          <a:off x="838200" y="1918390"/>
          <a:ext cx="10515600" cy="4154218"/>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157147656"/>
                    </a:ext>
                  </a:extLst>
                </a:gridCol>
                <a:gridCol w="3505200">
                  <a:extLst>
                    <a:ext uri="{9D8B030D-6E8A-4147-A177-3AD203B41FA5}">
                      <a16:colId xmlns:a16="http://schemas.microsoft.com/office/drawing/2014/main" val="91202231"/>
                    </a:ext>
                  </a:extLst>
                </a:gridCol>
                <a:gridCol w="3505200">
                  <a:extLst>
                    <a:ext uri="{9D8B030D-6E8A-4147-A177-3AD203B41FA5}">
                      <a16:colId xmlns:a16="http://schemas.microsoft.com/office/drawing/2014/main" val="141988130"/>
                    </a:ext>
                  </a:extLst>
                </a:gridCol>
              </a:tblGrid>
              <a:tr h="830680">
                <a:tc>
                  <a:txBody>
                    <a:bodyPr/>
                    <a:lstStyle/>
                    <a:p>
                      <a:r>
                        <a:rPr lang="en-GB" sz="2800" dirty="0"/>
                        <a:t>Assessment tittle</a:t>
                      </a:r>
                      <a:endParaRPr lang="en-US" sz="2800" dirty="0"/>
                    </a:p>
                  </a:txBody>
                  <a:tcPr/>
                </a:tc>
                <a:tc>
                  <a:txBody>
                    <a:bodyPr/>
                    <a:lstStyle/>
                    <a:p>
                      <a:r>
                        <a:rPr lang="en-GB" sz="2800" dirty="0"/>
                        <a:t>Weight towards that grade</a:t>
                      </a:r>
                      <a:endParaRPr lang="en-US" sz="2800" dirty="0"/>
                    </a:p>
                  </a:txBody>
                  <a:tcPr/>
                </a:tc>
                <a:tc>
                  <a:txBody>
                    <a:bodyPr/>
                    <a:lstStyle/>
                    <a:p>
                      <a:r>
                        <a:rPr lang="en-GB" sz="2800" dirty="0"/>
                        <a:t>Word count</a:t>
                      </a:r>
                      <a:endParaRPr lang="en-US" sz="2800" dirty="0"/>
                    </a:p>
                  </a:txBody>
                  <a:tcPr/>
                </a:tc>
                <a:extLst>
                  <a:ext uri="{0D108BD9-81ED-4DB2-BD59-A6C34878D82A}">
                    <a16:rowId xmlns:a16="http://schemas.microsoft.com/office/drawing/2014/main" val="1153293536"/>
                  </a:ext>
                </a:extLst>
              </a:tr>
              <a:tr h="1433778">
                <a:tc>
                  <a:txBody>
                    <a:bodyPr/>
                    <a:lstStyle/>
                    <a:p>
                      <a:r>
                        <a:rPr lang="en-GB" sz="2800" dirty="0"/>
                        <a:t>Introduction (1,000 words) and literature review (2,000 words))</a:t>
                      </a:r>
                      <a:endParaRPr lang="en-US" sz="2800" dirty="0"/>
                    </a:p>
                  </a:txBody>
                  <a:tcPr/>
                </a:tc>
                <a:tc>
                  <a:txBody>
                    <a:bodyPr/>
                    <a:lstStyle/>
                    <a:p>
                      <a:endParaRPr lang="en-US" sz="2800" dirty="0"/>
                    </a:p>
                  </a:txBody>
                  <a:tcPr/>
                </a:tc>
                <a:tc>
                  <a:txBody>
                    <a:bodyPr/>
                    <a:lstStyle/>
                    <a:p>
                      <a:r>
                        <a:rPr lang="en-GB" sz="2800" dirty="0"/>
                        <a:t>3,000 words (+/- 10%)</a:t>
                      </a:r>
                      <a:endParaRPr lang="en-US" sz="2800" dirty="0"/>
                    </a:p>
                  </a:txBody>
                  <a:tcPr/>
                </a:tc>
                <a:extLst>
                  <a:ext uri="{0D108BD9-81ED-4DB2-BD59-A6C34878D82A}">
                    <a16:rowId xmlns:a16="http://schemas.microsoft.com/office/drawing/2014/main" val="1165416957"/>
                  </a:ext>
                </a:extLst>
              </a:tr>
              <a:tr h="830680">
                <a:tc>
                  <a:txBody>
                    <a:bodyPr/>
                    <a:lstStyle/>
                    <a:p>
                      <a:r>
                        <a:rPr lang="en-GB" sz="2800" dirty="0"/>
                        <a:t>Methodology</a:t>
                      </a:r>
                      <a:endParaRPr lang="en-US" sz="2800" dirty="0"/>
                    </a:p>
                  </a:txBody>
                  <a:tcPr/>
                </a:tc>
                <a:tc>
                  <a:txBody>
                    <a:bodyPr/>
                    <a:lstStyle/>
                    <a:p>
                      <a:endParaRPr lang="en-US" sz="2800" dirty="0"/>
                    </a:p>
                  </a:txBody>
                  <a:tcPr/>
                </a:tc>
                <a:tc>
                  <a:txBody>
                    <a:bodyPr/>
                    <a:lstStyle/>
                    <a:p>
                      <a:r>
                        <a:rPr lang="en-GB" sz="2800" dirty="0"/>
                        <a:t>2,000 words (+/- 10%)</a:t>
                      </a:r>
                      <a:endParaRPr lang="en-US" sz="2800" dirty="0"/>
                    </a:p>
                  </a:txBody>
                  <a:tcPr/>
                </a:tc>
                <a:extLst>
                  <a:ext uri="{0D108BD9-81ED-4DB2-BD59-A6C34878D82A}">
                    <a16:rowId xmlns:a16="http://schemas.microsoft.com/office/drawing/2014/main" val="832408838"/>
                  </a:ext>
                </a:extLst>
              </a:tr>
              <a:tr h="830680">
                <a:tc>
                  <a:txBody>
                    <a:bodyPr/>
                    <a:lstStyle/>
                    <a:p>
                      <a:r>
                        <a:rPr lang="en-GB" sz="2800" dirty="0"/>
                        <a:t>Completed dissertation</a:t>
                      </a:r>
                      <a:endParaRPr lang="en-US" sz="2800" dirty="0"/>
                    </a:p>
                  </a:txBody>
                  <a:tcPr/>
                </a:tc>
                <a:tc>
                  <a:txBody>
                    <a:bodyPr/>
                    <a:lstStyle/>
                    <a:p>
                      <a:r>
                        <a:rPr lang="en-GB" sz="2800" dirty="0"/>
                        <a:t>100%</a:t>
                      </a:r>
                      <a:endParaRPr lang="en-US" sz="2800" dirty="0"/>
                    </a:p>
                  </a:txBody>
                  <a:tcPr/>
                </a:tc>
                <a:tc>
                  <a:txBody>
                    <a:bodyPr/>
                    <a:lstStyle/>
                    <a:p>
                      <a:r>
                        <a:rPr lang="en-GB" sz="2800" dirty="0"/>
                        <a:t>10.000 words (=/- 10%)</a:t>
                      </a:r>
                      <a:endParaRPr lang="en-US" sz="2800" dirty="0"/>
                    </a:p>
                  </a:txBody>
                  <a:tcPr/>
                </a:tc>
                <a:extLst>
                  <a:ext uri="{0D108BD9-81ED-4DB2-BD59-A6C34878D82A}">
                    <a16:rowId xmlns:a16="http://schemas.microsoft.com/office/drawing/2014/main" val="857020574"/>
                  </a:ext>
                </a:extLst>
              </a:tr>
            </a:tbl>
          </a:graphicData>
        </a:graphic>
      </p:graphicFrame>
    </p:spTree>
    <p:extLst>
      <p:ext uri="{BB962C8B-B14F-4D97-AF65-F5344CB8AC3E}">
        <p14:creationId xmlns:p14="http://schemas.microsoft.com/office/powerpoint/2010/main" val="3670040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Characteristics of Scientific Research methods</a:t>
            </a:r>
            <a:endParaRPr lang="en-GB" dirty="0"/>
          </a:p>
        </p:txBody>
      </p:sp>
      <p:sp>
        <p:nvSpPr>
          <p:cNvPr id="3" name="Content Placeholder 2"/>
          <p:cNvSpPr>
            <a:spLocks noGrp="1"/>
          </p:cNvSpPr>
          <p:nvPr>
            <p:ph idx="1"/>
          </p:nvPr>
        </p:nvSpPr>
        <p:spPr/>
        <p:txBody>
          <a:bodyPr>
            <a:noAutofit/>
          </a:bodyPr>
          <a:lstStyle/>
          <a:p>
            <a:r>
              <a:rPr lang="en-GB" sz="3600" b="1" dirty="0"/>
              <a:t>Empirical (observations</a:t>
            </a:r>
            <a:r>
              <a:rPr lang="en-GB" sz="3600" dirty="0"/>
              <a:t>): demands accurate observations and description</a:t>
            </a:r>
          </a:p>
          <a:p>
            <a:r>
              <a:rPr lang="en-GB" sz="3600" b="1" dirty="0"/>
              <a:t>Objective (not subjective). </a:t>
            </a:r>
            <a:r>
              <a:rPr lang="en-GB" sz="3600" dirty="0"/>
              <a:t>It strives to be objective and logical</a:t>
            </a:r>
          </a:p>
          <a:p>
            <a:r>
              <a:rPr lang="en-GB" sz="3600" b="1" dirty="0"/>
              <a:t>Generalisation</a:t>
            </a:r>
            <a:r>
              <a:rPr lang="en-GB" sz="3600" dirty="0"/>
              <a:t> ( statistically useful, relate to whole population)</a:t>
            </a:r>
          </a:p>
          <a:p>
            <a:r>
              <a:rPr lang="en-GB" sz="3600" b="1" dirty="0"/>
              <a:t>Replicable and Verifiable</a:t>
            </a:r>
            <a:r>
              <a:rPr lang="en-GB" sz="3600" dirty="0"/>
              <a:t> ( others can replicate it and come up with same results)</a:t>
            </a:r>
          </a:p>
        </p:txBody>
      </p:sp>
    </p:spTree>
    <p:extLst>
      <p:ext uri="{BB962C8B-B14F-4D97-AF65-F5344CB8AC3E}">
        <p14:creationId xmlns:p14="http://schemas.microsoft.com/office/powerpoint/2010/main" val="1433482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FA59-CCB8-4E19-93A7-EAF3EBD7DC2F}"/>
              </a:ext>
            </a:extLst>
          </p:cNvPr>
          <p:cNvSpPr>
            <a:spLocks noGrp="1"/>
          </p:cNvSpPr>
          <p:nvPr>
            <p:ph type="title"/>
          </p:nvPr>
        </p:nvSpPr>
        <p:spPr/>
        <p:txBody>
          <a:bodyPr/>
          <a:lstStyle/>
          <a:p>
            <a:r>
              <a:rPr lang="en-GB" dirty="0"/>
              <a:t>Roles of the student</a:t>
            </a:r>
            <a:endParaRPr lang="en-US" dirty="0"/>
          </a:p>
        </p:txBody>
      </p:sp>
      <p:sp>
        <p:nvSpPr>
          <p:cNvPr id="3" name="Content Placeholder 2">
            <a:extLst>
              <a:ext uri="{FF2B5EF4-FFF2-40B4-BE49-F238E27FC236}">
                <a16:creationId xmlns:a16="http://schemas.microsoft.com/office/drawing/2014/main" id="{2D19CF37-2E05-4FB0-B062-77387C0A9F41}"/>
              </a:ext>
            </a:extLst>
          </p:cNvPr>
          <p:cNvSpPr>
            <a:spLocks noGrp="1"/>
          </p:cNvSpPr>
          <p:nvPr>
            <p:ph idx="1"/>
          </p:nvPr>
        </p:nvSpPr>
        <p:spPr>
          <a:xfrm>
            <a:off x="715617" y="1338470"/>
            <a:ext cx="11145079" cy="5287617"/>
          </a:xfrm>
        </p:spPr>
        <p:txBody>
          <a:bodyPr>
            <a:noAutofit/>
          </a:bodyPr>
          <a:lstStyle/>
          <a:p>
            <a:r>
              <a:rPr lang="en-GB" sz="3200" b="1" dirty="0"/>
              <a:t>Under take all the work required</a:t>
            </a:r>
          </a:p>
          <a:p>
            <a:r>
              <a:rPr lang="en-GB" sz="3200" b="1" dirty="0"/>
              <a:t>Submit the topic on time</a:t>
            </a:r>
          </a:p>
          <a:p>
            <a:r>
              <a:rPr lang="en-GB" sz="3200" b="1" dirty="0"/>
              <a:t>Meet your supervisor as soon as you are assigned to him/her</a:t>
            </a:r>
          </a:p>
          <a:p>
            <a:r>
              <a:rPr lang="en-GB" sz="3200" b="1" dirty="0"/>
              <a:t>Keep your supervisor informed of your progress</a:t>
            </a:r>
          </a:p>
          <a:p>
            <a:r>
              <a:rPr lang="en-GB" sz="3200" b="1" dirty="0"/>
              <a:t>Work on the feedback from the supervisor as soon as possible</a:t>
            </a:r>
          </a:p>
          <a:p>
            <a:r>
              <a:rPr lang="en-GB" sz="3200" b="1" dirty="0"/>
              <a:t>Ask questions or seek advice</a:t>
            </a:r>
          </a:p>
          <a:p>
            <a:r>
              <a:rPr lang="en-GB" sz="3200" b="1" dirty="0"/>
              <a:t>If you are sick notify the programme manager/coordinator</a:t>
            </a:r>
          </a:p>
          <a:p>
            <a:r>
              <a:rPr lang="en-GB" sz="3200" b="1" dirty="0"/>
              <a:t>Engage in intensive literature search and analysis</a:t>
            </a:r>
          </a:p>
          <a:p>
            <a:r>
              <a:rPr lang="en-GB" sz="3200" b="1" dirty="0"/>
              <a:t>Ensure that your work is signed by the supervisor before submitting it for marking</a:t>
            </a:r>
            <a:endParaRPr lang="en-US" sz="3200" b="1" dirty="0"/>
          </a:p>
        </p:txBody>
      </p:sp>
    </p:spTree>
    <p:extLst>
      <p:ext uri="{BB962C8B-B14F-4D97-AF65-F5344CB8AC3E}">
        <p14:creationId xmlns:p14="http://schemas.microsoft.com/office/powerpoint/2010/main" val="505562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85196-E1EE-4FAC-BCC5-9C746934F2F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D90F3FB-7411-4765-9B6C-8178CE8D0B14}"/>
              </a:ext>
            </a:extLst>
          </p:cNvPr>
          <p:cNvSpPr>
            <a:spLocks noGrp="1"/>
          </p:cNvSpPr>
          <p:nvPr>
            <p:ph idx="1"/>
          </p:nvPr>
        </p:nvSpPr>
        <p:spPr/>
        <p:txBody>
          <a:bodyPr>
            <a:noAutofit/>
          </a:bodyPr>
          <a:lstStyle/>
          <a:p>
            <a:r>
              <a:rPr lang="en-US" sz="3600" dirty="0"/>
              <a:t>Supervision: minimum of 5 reviews</a:t>
            </a:r>
          </a:p>
          <a:p>
            <a:r>
              <a:rPr lang="en-US" sz="3600" dirty="0"/>
              <a:t>Any work submitted to the supervisor at the last minute (one month before the deadline) for the first time will not be marked</a:t>
            </a:r>
          </a:p>
          <a:p>
            <a:r>
              <a:rPr lang="en-US" sz="3600" dirty="0"/>
              <a:t>Changing the research topic at the last minute= two months before the due date will not be accepted</a:t>
            </a:r>
          </a:p>
          <a:p>
            <a:r>
              <a:rPr lang="en-US" sz="3600" dirty="0"/>
              <a:t>Students to request change of  the supervisor if he/she is not supervising them </a:t>
            </a:r>
          </a:p>
        </p:txBody>
      </p:sp>
    </p:spTree>
    <p:extLst>
      <p:ext uri="{BB962C8B-B14F-4D97-AF65-F5344CB8AC3E}">
        <p14:creationId xmlns:p14="http://schemas.microsoft.com/office/powerpoint/2010/main" val="167284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7696C-4786-46B7-9901-5A083752EDAB}"/>
              </a:ext>
            </a:extLst>
          </p:cNvPr>
          <p:cNvSpPr>
            <a:spLocks noGrp="1"/>
          </p:cNvSpPr>
          <p:nvPr>
            <p:ph type="title"/>
          </p:nvPr>
        </p:nvSpPr>
        <p:spPr/>
        <p:txBody>
          <a:bodyPr/>
          <a:lstStyle/>
          <a:p>
            <a:r>
              <a:rPr lang="en-GB" dirty="0"/>
              <a:t>Roles of the supervisor</a:t>
            </a:r>
            <a:endParaRPr lang="en-US" dirty="0"/>
          </a:p>
        </p:txBody>
      </p:sp>
      <p:sp>
        <p:nvSpPr>
          <p:cNvPr id="3" name="Content Placeholder 2">
            <a:extLst>
              <a:ext uri="{FF2B5EF4-FFF2-40B4-BE49-F238E27FC236}">
                <a16:creationId xmlns:a16="http://schemas.microsoft.com/office/drawing/2014/main" id="{5F66C6A3-08D1-42D7-8A33-5446A66FEDE4}"/>
              </a:ext>
            </a:extLst>
          </p:cNvPr>
          <p:cNvSpPr>
            <a:spLocks noGrp="1"/>
          </p:cNvSpPr>
          <p:nvPr>
            <p:ph idx="1"/>
          </p:nvPr>
        </p:nvSpPr>
        <p:spPr/>
        <p:txBody>
          <a:bodyPr>
            <a:noAutofit/>
          </a:bodyPr>
          <a:lstStyle/>
          <a:p>
            <a:r>
              <a:rPr lang="en-GB" sz="3600" dirty="0"/>
              <a:t>Provide academic guidance</a:t>
            </a:r>
          </a:p>
          <a:p>
            <a:r>
              <a:rPr lang="en-GB" sz="3600" dirty="0"/>
              <a:t>To help and work with the student to have a clear set of aims, objectives</a:t>
            </a:r>
          </a:p>
          <a:p>
            <a:r>
              <a:rPr lang="en-GB" sz="3600" dirty="0"/>
              <a:t>Engage in discussions with the student</a:t>
            </a:r>
          </a:p>
          <a:p>
            <a:r>
              <a:rPr lang="en-GB" sz="3600" dirty="0"/>
              <a:t>Provide appropriate feedback to the student</a:t>
            </a:r>
          </a:p>
          <a:p>
            <a:r>
              <a:rPr lang="en-GB" sz="3600" dirty="0"/>
              <a:t>Sign the work before submission to show that he/she has accepted the quality of the work submitted by student.</a:t>
            </a:r>
            <a:endParaRPr lang="en-US" sz="3600" dirty="0"/>
          </a:p>
        </p:txBody>
      </p:sp>
    </p:spTree>
    <p:extLst>
      <p:ext uri="{BB962C8B-B14F-4D97-AF65-F5344CB8AC3E}">
        <p14:creationId xmlns:p14="http://schemas.microsoft.com/office/powerpoint/2010/main" val="3044631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FA2E-610E-48D2-BA6D-A75B468DED21}"/>
              </a:ext>
            </a:extLst>
          </p:cNvPr>
          <p:cNvSpPr>
            <a:spLocks noGrp="1"/>
          </p:cNvSpPr>
          <p:nvPr>
            <p:ph type="title"/>
          </p:nvPr>
        </p:nvSpPr>
        <p:spPr/>
        <p:txBody>
          <a:bodyPr/>
          <a:lstStyle/>
          <a:p>
            <a:r>
              <a:rPr lang="en-GB" b="1" dirty="0"/>
              <a:t>Characteristics of academic writing</a:t>
            </a:r>
            <a:endParaRPr lang="en-US" dirty="0"/>
          </a:p>
        </p:txBody>
      </p:sp>
      <p:sp>
        <p:nvSpPr>
          <p:cNvPr id="3" name="Content Placeholder 2">
            <a:extLst>
              <a:ext uri="{FF2B5EF4-FFF2-40B4-BE49-F238E27FC236}">
                <a16:creationId xmlns:a16="http://schemas.microsoft.com/office/drawing/2014/main" id="{271FFD7B-DFEB-4A40-9F85-4DB2245D8825}"/>
              </a:ext>
            </a:extLst>
          </p:cNvPr>
          <p:cNvSpPr>
            <a:spLocks noGrp="1"/>
          </p:cNvSpPr>
          <p:nvPr>
            <p:ph idx="1"/>
          </p:nvPr>
        </p:nvSpPr>
        <p:spPr>
          <a:xfrm>
            <a:off x="824948" y="1414808"/>
            <a:ext cx="10515600" cy="5317296"/>
          </a:xfrm>
        </p:spPr>
        <p:txBody>
          <a:bodyPr>
            <a:normAutofit lnSpcReduction="10000"/>
          </a:bodyPr>
          <a:lstStyle/>
          <a:p>
            <a:r>
              <a:rPr lang="en-US" sz="3200" b="1" dirty="0"/>
              <a:t>Formality: </a:t>
            </a:r>
            <a:r>
              <a:rPr lang="en-US" sz="3200" dirty="0"/>
              <a:t>Academic writing is relatively formal. And avoid colloquial words and expressions.</a:t>
            </a:r>
          </a:p>
          <a:p>
            <a:r>
              <a:rPr lang="en-US" sz="3200" b="1" dirty="0"/>
              <a:t>Precision: </a:t>
            </a:r>
            <a:r>
              <a:rPr lang="en-US" sz="3200" dirty="0"/>
              <a:t>In academic writing, facts and figures are given precisely.</a:t>
            </a:r>
          </a:p>
          <a:p>
            <a:r>
              <a:rPr lang="en-US" sz="3200" b="1" dirty="0"/>
              <a:t>Objectivity: l</a:t>
            </a:r>
            <a:r>
              <a:rPr lang="en-US" sz="3200" dirty="0"/>
              <a:t>anguage is objective rather than personal. It therefore has fewer words that refer to the writer or the reader. </a:t>
            </a:r>
          </a:p>
          <a:p>
            <a:r>
              <a:rPr lang="en-US" sz="3200" b="1" dirty="0"/>
              <a:t>Explicitness</a:t>
            </a:r>
          </a:p>
          <a:p>
            <a:r>
              <a:rPr lang="en-GB" sz="3200" b="1" dirty="0"/>
              <a:t>Responsibility:</a:t>
            </a:r>
            <a:r>
              <a:rPr lang="en-US" sz="3200" dirty="0"/>
              <a:t> provide evidence and justification for, any claims you make</a:t>
            </a:r>
            <a:endParaRPr lang="en-GB" sz="3200" b="1" dirty="0"/>
          </a:p>
          <a:p>
            <a:r>
              <a:rPr lang="en-GB" sz="3200" b="1" dirty="0"/>
              <a:t>Academic integrity and plagiarism</a:t>
            </a:r>
          </a:p>
          <a:p>
            <a:pPr marL="0" indent="0">
              <a:buNone/>
            </a:pPr>
            <a:endParaRPr lang="en-US" b="1" dirty="0"/>
          </a:p>
          <a:p>
            <a:endParaRPr lang="en-US" dirty="0"/>
          </a:p>
          <a:p>
            <a:endParaRPr lang="en-US" dirty="0"/>
          </a:p>
          <a:p>
            <a:endParaRPr lang="en-GB" dirty="0"/>
          </a:p>
          <a:p>
            <a:endParaRPr lang="en-US" dirty="0"/>
          </a:p>
        </p:txBody>
      </p:sp>
    </p:spTree>
    <p:extLst>
      <p:ext uri="{BB962C8B-B14F-4D97-AF65-F5344CB8AC3E}">
        <p14:creationId xmlns:p14="http://schemas.microsoft.com/office/powerpoint/2010/main" val="856379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30037456"/>
              </p:ext>
            </p:extLst>
          </p:nvPr>
        </p:nvGraphicFramePr>
        <p:xfrm>
          <a:off x="2007704" y="1179443"/>
          <a:ext cx="8229600" cy="5086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6755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Proposal</a:t>
            </a:r>
          </a:p>
        </p:txBody>
      </p:sp>
      <p:sp>
        <p:nvSpPr>
          <p:cNvPr id="3" name="Content Placeholder 2"/>
          <p:cNvSpPr>
            <a:spLocks noGrp="1"/>
          </p:cNvSpPr>
          <p:nvPr>
            <p:ph idx="1"/>
          </p:nvPr>
        </p:nvSpPr>
        <p:spPr/>
        <p:txBody>
          <a:bodyPr>
            <a:normAutofit/>
          </a:bodyPr>
          <a:lstStyle/>
          <a:p>
            <a:r>
              <a:rPr lang="en-GB" sz="3600" dirty="0"/>
              <a:t>A research proposal is a research plan, request or suggestion.</a:t>
            </a:r>
          </a:p>
          <a:p>
            <a:r>
              <a:rPr lang="en-GB" sz="3600" dirty="0"/>
              <a:t>It  is written in future tense</a:t>
            </a:r>
          </a:p>
          <a:p>
            <a:r>
              <a:rPr lang="en-GB" sz="3600" dirty="0"/>
              <a:t>It includes three main chapters</a:t>
            </a:r>
          </a:p>
          <a:p>
            <a:pPr marL="514350" indent="-514350">
              <a:buFont typeface="+mj-lt"/>
              <a:buAutoNum type="arabicPeriod"/>
            </a:pPr>
            <a:r>
              <a:rPr lang="en-GB" sz="3600" dirty="0"/>
              <a:t>Introduction</a:t>
            </a:r>
          </a:p>
          <a:p>
            <a:pPr marL="514350" indent="-514350">
              <a:buFont typeface="+mj-lt"/>
              <a:buAutoNum type="arabicPeriod"/>
            </a:pPr>
            <a:r>
              <a:rPr lang="en-GB" sz="3600" dirty="0"/>
              <a:t>Literature Review</a:t>
            </a:r>
          </a:p>
          <a:p>
            <a:pPr marL="514350" indent="-514350">
              <a:buFont typeface="+mj-lt"/>
              <a:buAutoNum type="arabicPeriod"/>
            </a:pPr>
            <a:r>
              <a:rPr lang="en-GB" sz="3600" dirty="0"/>
              <a:t>methodology</a:t>
            </a:r>
          </a:p>
        </p:txBody>
      </p:sp>
    </p:spTree>
    <p:extLst>
      <p:ext uri="{BB962C8B-B14F-4D97-AF65-F5344CB8AC3E}">
        <p14:creationId xmlns:p14="http://schemas.microsoft.com/office/powerpoint/2010/main" val="81186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1C336-81BD-40AB-A3E3-E45C7C6421F8}"/>
              </a:ext>
            </a:extLst>
          </p:cNvPr>
          <p:cNvSpPr>
            <a:spLocks noGrp="1"/>
          </p:cNvSpPr>
          <p:nvPr>
            <p:ph type="title"/>
          </p:nvPr>
        </p:nvSpPr>
        <p:spPr/>
        <p:txBody>
          <a:bodyPr/>
          <a:lstStyle/>
          <a:p>
            <a:r>
              <a:rPr lang="en-GB" dirty="0"/>
              <a:t>What is the research topic</a:t>
            </a:r>
            <a:endParaRPr lang="en-US" dirty="0"/>
          </a:p>
        </p:txBody>
      </p:sp>
      <p:sp>
        <p:nvSpPr>
          <p:cNvPr id="3" name="Content Placeholder 2">
            <a:extLst>
              <a:ext uri="{FF2B5EF4-FFF2-40B4-BE49-F238E27FC236}">
                <a16:creationId xmlns:a16="http://schemas.microsoft.com/office/drawing/2014/main" id="{14416727-A8E4-4BF0-B0BF-00455FA93DDE}"/>
              </a:ext>
            </a:extLst>
          </p:cNvPr>
          <p:cNvSpPr>
            <a:spLocks noGrp="1"/>
          </p:cNvSpPr>
          <p:nvPr>
            <p:ph idx="1"/>
          </p:nvPr>
        </p:nvSpPr>
        <p:spPr/>
        <p:txBody>
          <a:bodyPr/>
          <a:lstStyle/>
          <a:p>
            <a:r>
              <a:rPr lang="en-GB" dirty="0"/>
              <a:t>Students to define a research topic based on the knowledge from the </a:t>
            </a:r>
            <a:r>
              <a:rPr lang="en-GB"/>
              <a:t>research methods</a:t>
            </a:r>
            <a:endParaRPr lang="en-US" dirty="0"/>
          </a:p>
        </p:txBody>
      </p:sp>
    </p:spTree>
    <p:extLst>
      <p:ext uri="{BB962C8B-B14F-4D97-AF65-F5344CB8AC3E}">
        <p14:creationId xmlns:p14="http://schemas.microsoft.com/office/powerpoint/2010/main" val="707321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CA6B-4311-4EE2-B8E5-ACE7062A8A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D12DF6-04A1-430B-B10B-077D37C46110}"/>
              </a:ext>
            </a:extLst>
          </p:cNvPr>
          <p:cNvSpPr>
            <a:spLocks noGrp="1"/>
          </p:cNvSpPr>
          <p:nvPr>
            <p:ph idx="1"/>
          </p:nvPr>
        </p:nvSpPr>
        <p:spPr/>
        <p:txBody>
          <a:bodyPr>
            <a:normAutofit fontScale="92500" lnSpcReduction="20000"/>
          </a:bodyPr>
          <a:lstStyle/>
          <a:p>
            <a:r>
              <a:rPr lang="en-US" sz="3200" b="1" dirty="0"/>
              <a:t>Selecting a Topic</a:t>
            </a:r>
            <a:endParaRPr lang="en-US" sz="3200" dirty="0"/>
          </a:p>
          <a:p>
            <a:r>
              <a:rPr lang="en-US" sz="3200" dirty="0"/>
              <a:t>brainstorm for </a:t>
            </a:r>
            <a:r>
              <a:rPr lang="en-US" sz="3200" b="1" dirty="0"/>
              <a:t>ideas</a:t>
            </a:r>
            <a:r>
              <a:rPr lang="en-US" sz="3200" dirty="0"/>
              <a:t>.</a:t>
            </a:r>
          </a:p>
          <a:p>
            <a:r>
              <a:rPr lang="en-US" sz="3200" dirty="0"/>
              <a:t>choose a </a:t>
            </a:r>
            <a:r>
              <a:rPr lang="en-US" sz="3200" b="1" dirty="0"/>
              <a:t>topic</a:t>
            </a:r>
            <a:r>
              <a:rPr lang="en-US" sz="3200" dirty="0"/>
              <a:t> that will enable you to read and understand the literature.</a:t>
            </a:r>
          </a:p>
          <a:p>
            <a:r>
              <a:rPr lang="en-US" sz="3200" dirty="0"/>
              <a:t>ensure that the </a:t>
            </a:r>
            <a:r>
              <a:rPr lang="en-US" sz="3200" b="1" dirty="0"/>
              <a:t>topic</a:t>
            </a:r>
            <a:r>
              <a:rPr lang="en-US" sz="3200" dirty="0"/>
              <a:t> is manageable and that material is available.</a:t>
            </a:r>
          </a:p>
          <a:p>
            <a:r>
              <a:rPr lang="en-US" sz="3200" dirty="0"/>
              <a:t>make a list of key words.</a:t>
            </a:r>
          </a:p>
          <a:p>
            <a:r>
              <a:rPr lang="en-US" sz="3200" dirty="0"/>
              <a:t>be flexible.</a:t>
            </a:r>
          </a:p>
          <a:p>
            <a:r>
              <a:rPr lang="en-US" sz="3200" dirty="0"/>
              <a:t>define your </a:t>
            </a:r>
            <a:r>
              <a:rPr lang="en-US" sz="3200" b="1" dirty="0"/>
              <a:t>topic</a:t>
            </a:r>
            <a:r>
              <a:rPr lang="en-US" sz="3200" dirty="0"/>
              <a:t> as a focused </a:t>
            </a:r>
            <a:r>
              <a:rPr lang="en-US" sz="3200" b="1" dirty="0"/>
              <a:t>research</a:t>
            </a:r>
            <a:r>
              <a:rPr lang="en-US" sz="3200" dirty="0"/>
              <a:t> question.</a:t>
            </a:r>
          </a:p>
          <a:p>
            <a:r>
              <a:rPr lang="en-US" sz="3200" b="1" dirty="0"/>
              <a:t>research</a:t>
            </a:r>
            <a:r>
              <a:rPr lang="en-US" sz="3200" dirty="0"/>
              <a:t> and read more about your </a:t>
            </a:r>
            <a:r>
              <a:rPr lang="en-US" sz="3200" b="1" dirty="0"/>
              <a:t>topic</a:t>
            </a:r>
            <a:r>
              <a:rPr lang="en-US" sz="3200" dirty="0"/>
              <a:t>.</a:t>
            </a:r>
          </a:p>
          <a:p>
            <a:endParaRPr lang="en-US" dirty="0"/>
          </a:p>
        </p:txBody>
      </p:sp>
    </p:spTree>
    <p:extLst>
      <p:ext uri="{BB962C8B-B14F-4D97-AF65-F5344CB8AC3E}">
        <p14:creationId xmlns:p14="http://schemas.microsoft.com/office/powerpoint/2010/main" val="60554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292B-D13A-488C-8A91-0C90B4E2395B}"/>
              </a:ext>
            </a:extLst>
          </p:cNvPr>
          <p:cNvSpPr>
            <a:spLocks noGrp="1"/>
          </p:cNvSpPr>
          <p:nvPr>
            <p:ph type="title"/>
          </p:nvPr>
        </p:nvSpPr>
        <p:spPr/>
        <p:txBody>
          <a:bodyPr/>
          <a:lstStyle/>
          <a:p>
            <a:r>
              <a:rPr lang="en-GB" dirty="0"/>
              <a:t>Steps in research topic selection</a:t>
            </a:r>
            <a:endParaRPr lang="en-US" dirty="0"/>
          </a:p>
        </p:txBody>
      </p:sp>
      <p:sp>
        <p:nvSpPr>
          <p:cNvPr id="3" name="Content Placeholder 2">
            <a:extLst>
              <a:ext uri="{FF2B5EF4-FFF2-40B4-BE49-F238E27FC236}">
                <a16:creationId xmlns:a16="http://schemas.microsoft.com/office/drawing/2014/main" id="{B5EF865D-CAE0-424E-BB0D-EFC321D6E451}"/>
              </a:ext>
            </a:extLst>
          </p:cNvPr>
          <p:cNvSpPr>
            <a:spLocks noGrp="1"/>
          </p:cNvSpPr>
          <p:nvPr>
            <p:ph idx="1"/>
          </p:nvPr>
        </p:nvSpPr>
        <p:spPr/>
        <p:txBody>
          <a:bodyPr>
            <a:normAutofit/>
          </a:bodyPr>
          <a:lstStyle/>
          <a:p>
            <a:r>
              <a:rPr lang="en-US" dirty="0"/>
              <a:t>Step 1: Brainstorm for ideas</a:t>
            </a:r>
          </a:p>
          <a:p>
            <a:r>
              <a:rPr lang="en-US" dirty="0"/>
              <a:t>Choose a topic that interests you. Use the following questions to help generate topic ideas.</a:t>
            </a:r>
          </a:p>
          <a:p>
            <a:r>
              <a:rPr lang="en-US" dirty="0"/>
              <a:t>Do you have a strong opinion on a current social or political controversy</a:t>
            </a:r>
          </a:p>
          <a:p>
            <a:r>
              <a:rPr lang="en-US" dirty="0"/>
              <a:t>Did you read or see a news story recently that has piqued your interest or made you angry or anxious?</a:t>
            </a:r>
          </a:p>
          <a:p>
            <a:r>
              <a:rPr lang="en-US" dirty="0"/>
              <a:t>Do you have a personal issue, problem or interest that you would like to know more about?</a:t>
            </a:r>
          </a:p>
          <a:p>
            <a:pPr marL="0" indent="0">
              <a:buNone/>
            </a:pPr>
            <a:endParaRPr lang="en-US" dirty="0"/>
          </a:p>
        </p:txBody>
      </p:sp>
    </p:spTree>
    <p:extLst>
      <p:ext uri="{BB962C8B-B14F-4D97-AF65-F5344CB8AC3E}">
        <p14:creationId xmlns:p14="http://schemas.microsoft.com/office/powerpoint/2010/main" val="204497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F036F-593A-4111-9FC9-F221792E0F6E}"/>
              </a:ext>
            </a:extLst>
          </p:cNvPr>
          <p:cNvSpPr>
            <a:spLocks noGrp="1"/>
          </p:cNvSpPr>
          <p:nvPr>
            <p:ph type="title"/>
          </p:nvPr>
        </p:nvSpPr>
        <p:spPr/>
        <p:txBody>
          <a:bodyPr/>
          <a:lstStyle/>
          <a:p>
            <a:r>
              <a:rPr lang="en-US" dirty="0"/>
              <a:t>Step 2: Read General Background Information</a:t>
            </a:r>
            <a:br>
              <a:rPr lang="en-US" dirty="0"/>
            </a:br>
            <a:endParaRPr lang="en-US" dirty="0"/>
          </a:p>
        </p:txBody>
      </p:sp>
      <p:sp>
        <p:nvSpPr>
          <p:cNvPr id="3" name="Content Placeholder 2">
            <a:extLst>
              <a:ext uri="{FF2B5EF4-FFF2-40B4-BE49-F238E27FC236}">
                <a16:creationId xmlns:a16="http://schemas.microsoft.com/office/drawing/2014/main" id="{453417EB-2241-4A8B-8B28-C2D0D1244CD8}"/>
              </a:ext>
            </a:extLst>
          </p:cNvPr>
          <p:cNvSpPr>
            <a:spLocks noGrp="1"/>
          </p:cNvSpPr>
          <p:nvPr>
            <p:ph idx="1"/>
          </p:nvPr>
        </p:nvSpPr>
        <p:spPr/>
        <p:txBody>
          <a:bodyPr>
            <a:normAutofit/>
          </a:bodyPr>
          <a:lstStyle/>
          <a:p>
            <a:r>
              <a:rPr lang="en-US" sz="4400" dirty="0"/>
              <a:t>Read a general encyclopedia article on the top two or three topics you are considering. </a:t>
            </a:r>
          </a:p>
          <a:p>
            <a:r>
              <a:rPr lang="en-US" sz="4400" dirty="0"/>
              <a:t>Reading a broad summary enables you to get an overview of the topic and see how your idea relates to broader, narrower, and related issues</a:t>
            </a:r>
          </a:p>
        </p:txBody>
      </p:sp>
    </p:spTree>
    <p:extLst>
      <p:ext uri="{BB962C8B-B14F-4D97-AF65-F5344CB8AC3E}">
        <p14:creationId xmlns:p14="http://schemas.microsoft.com/office/powerpoint/2010/main" val="2278210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BA499-A76A-4D00-A075-D9434BE34E8B}"/>
              </a:ext>
            </a:extLst>
          </p:cNvPr>
          <p:cNvSpPr>
            <a:spLocks noGrp="1"/>
          </p:cNvSpPr>
          <p:nvPr>
            <p:ph type="title"/>
          </p:nvPr>
        </p:nvSpPr>
        <p:spPr/>
        <p:txBody>
          <a:bodyPr/>
          <a:lstStyle/>
          <a:p>
            <a:r>
              <a:rPr lang="en-US" dirty="0"/>
              <a:t>Step 3: Focus on Your Topic</a:t>
            </a:r>
            <a:br>
              <a:rPr lang="en-US" dirty="0"/>
            </a:br>
            <a:endParaRPr lang="en-US" dirty="0"/>
          </a:p>
        </p:txBody>
      </p:sp>
      <p:sp>
        <p:nvSpPr>
          <p:cNvPr id="3" name="Content Placeholder 2">
            <a:extLst>
              <a:ext uri="{FF2B5EF4-FFF2-40B4-BE49-F238E27FC236}">
                <a16:creationId xmlns:a16="http://schemas.microsoft.com/office/drawing/2014/main" id="{39055EBA-04E3-4263-87B2-2414501B25C5}"/>
              </a:ext>
            </a:extLst>
          </p:cNvPr>
          <p:cNvSpPr>
            <a:spLocks noGrp="1"/>
          </p:cNvSpPr>
          <p:nvPr>
            <p:ph idx="1"/>
          </p:nvPr>
        </p:nvSpPr>
        <p:spPr/>
        <p:txBody>
          <a:bodyPr/>
          <a:lstStyle/>
          <a:p>
            <a:r>
              <a:rPr lang="en-US" dirty="0"/>
              <a:t>by geographical area</a:t>
            </a:r>
          </a:p>
          <a:p>
            <a:r>
              <a:rPr lang="en-US" dirty="0"/>
              <a:t>by time frame:</a:t>
            </a:r>
          </a:p>
          <a:p>
            <a:r>
              <a:rPr lang="en-US" dirty="0"/>
              <a:t>by discipline</a:t>
            </a:r>
          </a:p>
          <a:p>
            <a:r>
              <a:rPr lang="en-US" dirty="0"/>
              <a:t>by population group</a:t>
            </a:r>
          </a:p>
          <a:p>
            <a:r>
              <a:rPr lang="en-GB" dirty="0"/>
              <a:t>By culture</a:t>
            </a:r>
            <a:endParaRPr lang="en-US" dirty="0"/>
          </a:p>
        </p:txBody>
      </p:sp>
    </p:spTree>
    <p:extLst>
      <p:ext uri="{BB962C8B-B14F-4D97-AF65-F5344CB8AC3E}">
        <p14:creationId xmlns:p14="http://schemas.microsoft.com/office/powerpoint/2010/main" val="3499303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39968-39C3-4ABD-BAF5-4702D5A2FE24}"/>
              </a:ext>
            </a:extLst>
          </p:cNvPr>
          <p:cNvSpPr>
            <a:spLocks noGrp="1"/>
          </p:cNvSpPr>
          <p:nvPr>
            <p:ph type="title"/>
          </p:nvPr>
        </p:nvSpPr>
        <p:spPr/>
        <p:txBody>
          <a:bodyPr/>
          <a:lstStyle/>
          <a:p>
            <a:r>
              <a:rPr lang="en-US" dirty="0"/>
              <a:t>Step 4: Make a List of Useful Keywords</a:t>
            </a:r>
            <a:br>
              <a:rPr lang="en-US" dirty="0"/>
            </a:br>
            <a:endParaRPr lang="en-US" dirty="0"/>
          </a:p>
        </p:txBody>
      </p:sp>
      <p:sp>
        <p:nvSpPr>
          <p:cNvPr id="3" name="Content Placeholder 2">
            <a:extLst>
              <a:ext uri="{FF2B5EF4-FFF2-40B4-BE49-F238E27FC236}">
                <a16:creationId xmlns:a16="http://schemas.microsoft.com/office/drawing/2014/main" id="{9AE7FDD2-B0C1-4DE9-9780-BE82BD290BB3}"/>
              </a:ext>
            </a:extLst>
          </p:cNvPr>
          <p:cNvSpPr>
            <a:spLocks noGrp="1"/>
          </p:cNvSpPr>
          <p:nvPr>
            <p:ph idx="1"/>
          </p:nvPr>
        </p:nvSpPr>
        <p:spPr/>
        <p:txBody>
          <a:bodyPr/>
          <a:lstStyle/>
          <a:p>
            <a:r>
              <a:rPr lang="en-US" dirty="0"/>
              <a:t>Look for words that best describe your topic</a:t>
            </a:r>
          </a:p>
          <a:p>
            <a:endParaRPr lang="en-US" dirty="0"/>
          </a:p>
        </p:txBody>
      </p:sp>
    </p:spTree>
    <p:extLst>
      <p:ext uri="{BB962C8B-B14F-4D97-AF65-F5344CB8AC3E}">
        <p14:creationId xmlns:p14="http://schemas.microsoft.com/office/powerpoint/2010/main" val="1198041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5742-D0E0-45A9-B473-FE8AC665C532}"/>
              </a:ext>
            </a:extLst>
          </p:cNvPr>
          <p:cNvSpPr>
            <a:spLocks noGrp="1"/>
          </p:cNvSpPr>
          <p:nvPr>
            <p:ph type="title"/>
          </p:nvPr>
        </p:nvSpPr>
        <p:spPr/>
        <p:txBody>
          <a:bodyPr/>
          <a:lstStyle/>
          <a:p>
            <a:r>
              <a:rPr lang="en-US" dirty="0"/>
              <a:t>Step 5: Be Flexible</a:t>
            </a:r>
            <a:br>
              <a:rPr lang="en-US" dirty="0"/>
            </a:br>
            <a:endParaRPr lang="en-US" dirty="0"/>
          </a:p>
        </p:txBody>
      </p:sp>
      <p:sp>
        <p:nvSpPr>
          <p:cNvPr id="3" name="Content Placeholder 2">
            <a:extLst>
              <a:ext uri="{FF2B5EF4-FFF2-40B4-BE49-F238E27FC236}">
                <a16:creationId xmlns:a16="http://schemas.microsoft.com/office/drawing/2014/main" id="{3DF04D05-E74D-49D3-B162-2EC1ABDD9E04}"/>
              </a:ext>
            </a:extLst>
          </p:cNvPr>
          <p:cNvSpPr>
            <a:spLocks noGrp="1"/>
          </p:cNvSpPr>
          <p:nvPr>
            <p:ph idx="1"/>
          </p:nvPr>
        </p:nvSpPr>
        <p:spPr/>
        <p:txBody>
          <a:bodyPr/>
          <a:lstStyle/>
          <a:p>
            <a:r>
              <a:rPr lang="en-US" sz="3600" dirty="0"/>
              <a:t>It is common to modify your topic during the research process. You can never be sure of what you may find. You may find too much and need to narrow your focus, or too little and need to broaden your focus.</a:t>
            </a:r>
          </a:p>
          <a:p>
            <a:r>
              <a:rPr lang="en-US" sz="3600" dirty="0"/>
              <a:t> This is a normal part of the research process. When researching, you may not wish to change your topic, but you may decide that some other aspect of the topic is more interesting or manageable</a:t>
            </a:r>
            <a:r>
              <a:rPr lang="en-US" dirty="0"/>
              <a:t>.</a:t>
            </a:r>
          </a:p>
        </p:txBody>
      </p:sp>
    </p:spTree>
    <p:extLst>
      <p:ext uri="{BB962C8B-B14F-4D97-AF65-F5344CB8AC3E}">
        <p14:creationId xmlns:p14="http://schemas.microsoft.com/office/powerpoint/2010/main" val="2517465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F4018-9173-48FC-9CF3-CB688975F7EC}"/>
              </a:ext>
            </a:extLst>
          </p:cNvPr>
          <p:cNvSpPr>
            <a:spLocks noGrp="1"/>
          </p:cNvSpPr>
          <p:nvPr>
            <p:ph type="title"/>
          </p:nvPr>
        </p:nvSpPr>
        <p:spPr/>
        <p:txBody>
          <a:bodyPr>
            <a:normAutofit fontScale="90000"/>
          </a:bodyPr>
          <a:lstStyle/>
          <a:p>
            <a:r>
              <a:rPr lang="en-US" dirty="0"/>
              <a:t>Step 6: Define Your Topic as a Focused Research Question</a:t>
            </a:r>
            <a:br>
              <a:rPr lang="en-US" dirty="0"/>
            </a:br>
            <a:endParaRPr lang="en-US" dirty="0"/>
          </a:p>
        </p:txBody>
      </p:sp>
      <p:sp>
        <p:nvSpPr>
          <p:cNvPr id="3" name="Content Placeholder 2">
            <a:extLst>
              <a:ext uri="{FF2B5EF4-FFF2-40B4-BE49-F238E27FC236}">
                <a16:creationId xmlns:a16="http://schemas.microsoft.com/office/drawing/2014/main" id="{B5B6E483-D2E7-4456-81AB-31AD8362E36F}"/>
              </a:ext>
            </a:extLst>
          </p:cNvPr>
          <p:cNvSpPr>
            <a:spLocks noGrp="1"/>
          </p:cNvSpPr>
          <p:nvPr>
            <p:ph idx="1"/>
          </p:nvPr>
        </p:nvSpPr>
        <p:spPr/>
        <p:txBody>
          <a:bodyPr>
            <a:normAutofit/>
          </a:bodyPr>
          <a:lstStyle/>
          <a:p>
            <a:r>
              <a:rPr lang="en-US" sz="4000" dirty="0"/>
              <a:t>You will often begin with a word, develop a more focused interest in an aspect of something relating to that word, then begin to have questions about the topic.</a:t>
            </a:r>
          </a:p>
        </p:txBody>
      </p:sp>
    </p:spTree>
    <p:extLst>
      <p:ext uri="{BB962C8B-B14F-4D97-AF65-F5344CB8AC3E}">
        <p14:creationId xmlns:p14="http://schemas.microsoft.com/office/powerpoint/2010/main" val="4131426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85510-B51A-46DB-A14A-654D79799A14}"/>
              </a:ext>
            </a:extLst>
          </p:cNvPr>
          <p:cNvSpPr>
            <a:spLocks noGrp="1"/>
          </p:cNvSpPr>
          <p:nvPr>
            <p:ph type="title"/>
          </p:nvPr>
        </p:nvSpPr>
        <p:spPr/>
        <p:txBody>
          <a:bodyPr>
            <a:normAutofit fontScale="90000"/>
          </a:bodyPr>
          <a:lstStyle/>
          <a:p>
            <a:r>
              <a:rPr lang="en-US" dirty="0"/>
              <a:t>Step 7: Research and Read More About Your Topic</a:t>
            </a:r>
            <a:br>
              <a:rPr lang="en-US" dirty="0"/>
            </a:br>
            <a:endParaRPr lang="en-US" dirty="0"/>
          </a:p>
        </p:txBody>
      </p:sp>
      <p:sp>
        <p:nvSpPr>
          <p:cNvPr id="3" name="Content Placeholder 2">
            <a:extLst>
              <a:ext uri="{FF2B5EF4-FFF2-40B4-BE49-F238E27FC236}">
                <a16:creationId xmlns:a16="http://schemas.microsoft.com/office/drawing/2014/main" id="{BCD084AC-FCD9-46DA-9B1E-C7BB216F4A95}"/>
              </a:ext>
            </a:extLst>
          </p:cNvPr>
          <p:cNvSpPr>
            <a:spLocks noGrp="1"/>
          </p:cNvSpPr>
          <p:nvPr>
            <p:ph idx="1"/>
          </p:nvPr>
        </p:nvSpPr>
        <p:spPr/>
        <p:txBody>
          <a:bodyPr>
            <a:normAutofit/>
          </a:bodyPr>
          <a:lstStyle/>
          <a:p>
            <a:r>
              <a:rPr lang="en-US" sz="3600" dirty="0"/>
              <a:t>Use the key words you have gathered to research in the catalog, article databases, and Internet search engines. Find more information to help you answer your research question.</a:t>
            </a:r>
          </a:p>
        </p:txBody>
      </p:sp>
    </p:spTree>
    <p:extLst>
      <p:ext uri="{BB962C8B-B14F-4D97-AF65-F5344CB8AC3E}">
        <p14:creationId xmlns:p14="http://schemas.microsoft.com/office/powerpoint/2010/main" val="36254178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2193-6B78-4710-87EF-45A1D34E4E90}"/>
              </a:ext>
            </a:extLst>
          </p:cNvPr>
          <p:cNvSpPr>
            <a:spLocks noGrp="1"/>
          </p:cNvSpPr>
          <p:nvPr>
            <p:ph type="title"/>
          </p:nvPr>
        </p:nvSpPr>
        <p:spPr/>
        <p:txBody>
          <a:bodyPr/>
          <a:lstStyle/>
          <a:p>
            <a:r>
              <a:rPr lang="en-US" dirty="0"/>
              <a:t>Step 8: Formulate a Thesis Statement</a:t>
            </a:r>
            <a:br>
              <a:rPr lang="en-US" dirty="0"/>
            </a:br>
            <a:endParaRPr lang="en-US" dirty="0"/>
          </a:p>
        </p:txBody>
      </p:sp>
      <p:sp>
        <p:nvSpPr>
          <p:cNvPr id="3" name="Content Placeholder 2">
            <a:extLst>
              <a:ext uri="{FF2B5EF4-FFF2-40B4-BE49-F238E27FC236}">
                <a16:creationId xmlns:a16="http://schemas.microsoft.com/office/drawing/2014/main" id="{E8428610-6CBC-4C96-BC97-0ABD6864E1FB}"/>
              </a:ext>
            </a:extLst>
          </p:cNvPr>
          <p:cNvSpPr>
            <a:spLocks noGrp="1"/>
          </p:cNvSpPr>
          <p:nvPr>
            <p:ph idx="1"/>
          </p:nvPr>
        </p:nvSpPr>
        <p:spPr/>
        <p:txBody>
          <a:bodyPr>
            <a:noAutofit/>
          </a:bodyPr>
          <a:lstStyle/>
          <a:p>
            <a:r>
              <a:rPr lang="en-US" sz="4400" dirty="0"/>
              <a:t>Write your topic as a thesis statement. This may be the answer to your research question and/or a way to clearly state the purpose of your research.</a:t>
            </a:r>
          </a:p>
          <a:p>
            <a:r>
              <a:rPr lang="en-US" sz="4400" dirty="0"/>
              <a:t> Your thesis statement will usually be one or two sentences that states precisely what is to be answered, proven, or what you will inform your audience about your topic.</a:t>
            </a:r>
          </a:p>
        </p:txBody>
      </p:sp>
    </p:spTree>
    <p:extLst>
      <p:ext uri="{BB962C8B-B14F-4D97-AF65-F5344CB8AC3E}">
        <p14:creationId xmlns:p14="http://schemas.microsoft.com/office/powerpoint/2010/main" val="131088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CONCLUDING </a:t>
            </a:r>
            <a:r>
              <a:rPr lang="en-GB"/>
              <a:t>THOUGHTS ON </a:t>
            </a:r>
            <a:r>
              <a:rPr lang="en-GB" dirty="0"/>
              <a:t>TOPIC SELECTION</a:t>
            </a:r>
          </a:p>
        </p:txBody>
      </p:sp>
      <p:sp>
        <p:nvSpPr>
          <p:cNvPr id="3" name="Content Placeholder 2"/>
          <p:cNvSpPr>
            <a:spLocks noGrp="1"/>
          </p:cNvSpPr>
          <p:nvPr>
            <p:ph idx="1"/>
          </p:nvPr>
        </p:nvSpPr>
        <p:spPr/>
        <p:txBody>
          <a:bodyPr/>
          <a:lstStyle/>
          <a:p>
            <a:r>
              <a:rPr lang="en-US" sz="3600" dirty="0"/>
              <a:t>What is your subject or field of study? </a:t>
            </a:r>
          </a:p>
          <a:p>
            <a:r>
              <a:rPr lang="en-GB" sz="3600" dirty="0"/>
              <a:t>Identify a topic within your academic  the academic discipline </a:t>
            </a:r>
          </a:p>
          <a:p>
            <a:r>
              <a:rPr lang="en-GB" sz="3600" dirty="0"/>
              <a:t>Identify what interests or puzzles in one area of study</a:t>
            </a:r>
          </a:p>
          <a:p>
            <a:r>
              <a:rPr lang="en-GB" sz="3600" dirty="0"/>
              <a:t>Identify key words</a:t>
            </a:r>
          </a:p>
          <a:p>
            <a:r>
              <a:rPr lang="en-GB" sz="3600" dirty="0"/>
              <a:t>Define the topic</a:t>
            </a:r>
          </a:p>
          <a:p>
            <a:r>
              <a:rPr lang="en-GB" sz="3600" dirty="0"/>
              <a:t>Formulate the topic</a:t>
            </a:r>
          </a:p>
          <a:p>
            <a:endParaRPr lang="en-GB" dirty="0"/>
          </a:p>
        </p:txBody>
      </p:sp>
    </p:spTree>
    <p:extLst>
      <p:ext uri="{BB962C8B-B14F-4D97-AF65-F5344CB8AC3E}">
        <p14:creationId xmlns:p14="http://schemas.microsoft.com/office/powerpoint/2010/main" val="3323667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Qualities of an effective research topic</a:t>
            </a:r>
          </a:p>
        </p:txBody>
      </p:sp>
      <p:sp>
        <p:nvSpPr>
          <p:cNvPr id="3" name="Content Placeholder 2"/>
          <p:cNvSpPr>
            <a:spLocks noGrp="1"/>
          </p:cNvSpPr>
          <p:nvPr>
            <p:ph idx="1"/>
          </p:nvPr>
        </p:nvSpPr>
        <p:spPr/>
        <p:txBody>
          <a:bodyPr/>
          <a:lstStyle/>
          <a:p>
            <a:r>
              <a:rPr lang="en-GB" dirty="0"/>
              <a:t>It is researchable</a:t>
            </a:r>
          </a:p>
          <a:p>
            <a:r>
              <a:rPr lang="en-GB" dirty="0"/>
              <a:t>It makes a contribution to knowledge</a:t>
            </a:r>
          </a:p>
          <a:p>
            <a:r>
              <a:rPr lang="en-GB" dirty="0"/>
              <a:t>It is provocative-open to various views and interpretations</a:t>
            </a:r>
          </a:p>
          <a:p>
            <a:r>
              <a:rPr lang="en-GB" dirty="0"/>
              <a:t>It captivates the interest of the researcher</a:t>
            </a:r>
          </a:p>
        </p:txBody>
      </p:sp>
    </p:spTree>
    <p:extLst>
      <p:ext uri="{BB962C8B-B14F-4D97-AF65-F5344CB8AC3E}">
        <p14:creationId xmlns:p14="http://schemas.microsoft.com/office/powerpoint/2010/main" val="299577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Challenges  in topic selection</a:t>
            </a:r>
          </a:p>
        </p:txBody>
      </p:sp>
      <p:sp>
        <p:nvSpPr>
          <p:cNvPr id="3" name="Content Placeholder 2"/>
          <p:cNvSpPr>
            <a:spLocks noGrp="1"/>
          </p:cNvSpPr>
          <p:nvPr>
            <p:ph idx="1"/>
          </p:nvPr>
        </p:nvSpPr>
        <p:spPr/>
        <p:txBody>
          <a:bodyPr/>
          <a:lstStyle/>
          <a:p>
            <a:r>
              <a:rPr lang="en-GB" dirty="0"/>
              <a:t>Choosing the topic that is too complex</a:t>
            </a:r>
          </a:p>
          <a:p>
            <a:r>
              <a:rPr lang="en-GB" dirty="0"/>
              <a:t>Choosing a topic that is to wide. The effects of studying</a:t>
            </a:r>
          </a:p>
          <a:p>
            <a:r>
              <a:rPr lang="en-GB" dirty="0"/>
              <a:t>Poor timing</a:t>
            </a:r>
          </a:p>
          <a:p>
            <a:endParaRPr lang="en-GB" dirty="0"/>
          </a:p>
        </p:txBody>
      </p:sp>
    </p:spTree>
    <p:extLst>
      <p:ext uri="{BB962C8B-B14F-4D97-AF65-F5344CB8AC3E}">
        <p14:creationId xmlns:p14="http://schemas.microsoft.com/office/powerpoint/2010/main" val="752132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Qualities of an effective tittle</a:t>
            </a:r>
          </a:p>
        </p:txBody>
      </p:sp>
      <p:sp>
        <p:nvSpPr>
          <p:cNvPr id="3" name="Content Placeholder 2"/>
          <p:cNvSpPr>
            <a:spLocks noGrp="1"/>
          </p:cNvSpPr>
          <p:nvPr>
            <p:ph idx="1"/>
          </p:nvPr>
        </p:nvSpPr>
        <p:spPr/>
        <p:txBody>
          <a:bodyPr>
            <a:noAutofit/>
          </a:bodyPr>
          <a:lstStyle/>
          <a:p>
            <a:r>
              <a:rPr lang="en-GB" sz="3600" dirty="0"/>
              <a:t>A tittle refers to heading or log. </a:t>
            </a:r>
          </a:p>
          <a:p>
            <a:r>
              <a:rPr lang="en-GB" sz="3600" dirty="0"/>
              <a:t>It describes what the study is about and it is a mini abstract.</a:t>
            </a:r>
          </a:p>
          <a:p>
            <a:r>
              <a:rPr lang="en-GB" sz="3600" dirty="0"/>
              <a:t>Brief and specific – not more than 20 words</a:t>
            </a:r>
          </a:p>
          <a:p>
            <a:r>
              <a:rPr lang="en-GB" sz="3600" dirty="0"/>
              <a:t>In line with objectives</a:t>
            </a:r>
          </a:p>
          <a:p>
            <a:r>
              <a:rPr lang="en-GB" sz="3600" dirty="0"/>
              <a:t>Should reflect the relationship between the independent and dependant variables.</a:t>
            </a:r>
          </a:p>
          <a:p>
            <a:r>
              <a:rPr lang="en-GB" sz="3600" dirty="0"/>
              <a:t>It should portray an issue that is researchable</a:t>
            </a:r>
          </a:p>
        </p:txBody>
      </p:sp>
    </p:spTree>
    <p:extLst>
      <p:ext uri="{BB962C8B-B14F-4D97-AF65-F5344CB8AC3E}">
        <p14:creationId xmlns:p14="http://schemas.microsoft.com/office/powerpoint/2010/main" val="803910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A3BF3-2B96-4804-9C89-24E6821C0C86}"/>
              </a:ext>
            </a:extLst>
          </p:cNvPr>
          <p:cNvSpPr>
            <a:spLocks noGrp="1"/>
          </p:cNvSpPr>
          <p:nvPr>
            <p:ph type="title"/>
          </p:nvPr>
        </p:nvSpPr>
        <p:spPr/>
        <p:txBody>
          <a:bodyPr/>
          <a:lstStyle/>
          <a:p>
            <a:r>
              <a:rPr lang="en-GB" dirty="0"/>
              <a:t>EXAMPLES OF RESEARCH TOPICS AND TITTLES</a:t>
            </a:r>
            <a:endParaRPr lang="en-US" dirty="0"/>
          </a:p>
        </p:txBody>
      </p:sp>
      <p:sp>
        <p:nvSpPr>
          <p:cNvPr id="3" name="Content Placeholder 2">
            <a:extLst>
              <a:ext uri="{FF2B5EF4-FFF2-40B4-BE49-F238E27FC236}">
                <a16:creationId xmlns:a16="http://schemas.microsoft.com/office/drawing/2014/main" id="{91DA6052-881A-4591-BD3A-F17029117F7E}"/>
              </a:ext>
            </a:extLst>
          </p:cNvPr>
          <p:cNvSpPr>
            <a:spLocks noGrp="1"/>
          </p:cNvSpPr>
          <p:nvPr>
            <p:ph idx="1"/>
          </p:nvPr>
        </p:nvSpPr>
        <p:spPr/>
        <p:txBody>
          <a:bodyPr/>
          <a:lstStyle/>
          <a:p>
            <a:r>
              <a:rPr lang="en-US" dirty="0"/>
              <a:t>Free Market </a:t>
            </a:r>
          </a:p>
          <a:p>
            <a:r>
              <a:rPr lang="en-US" dirty="0"/>
              <a:t>minimum wage and job creation.</a:t>
            </a:r>
          </a:p>
          <a:p>
            <a:r>
              <a:rPr lang="en-GB" dirty="0"/>
              <a:t> A</a:t>
            </a:r>
            <a:r>
              <a:rPr lang="en-US" dirty="0" err="1"/>
              <a:t>dvertisement</a:t>
            </a:r>
            <a:r>
              <a:rPr lang="en-US" dirty="0"/>
              <a:t> and consumer preferences</a:t>
            </a:r>
          </a:p>
          <a:p>
            <a:r>
              <a:rPr lang="en-GB" dirty="0"/>
              <a:t>T</a:t>
            </a:r>
            <a:r>
              <a:rPr lang="en-US" dirty="0" err="1"/>
              <a:t>axation</a:t>
            </a:r>
            <a:endParaRPr lang="en-US" dirty="0"/>
          </a:p>
          <a:p>
            <a:pPr marL="0" indent="0">
              <a:buNone/>
            </a:pPr>
            <a:endParaRPr lang="en-US" dirty="0"/>
          </a:p>
          <a:p>
            <a:endParaRPr lang="en-US" dirty="0"/>
          </a:p>
        </p:txBody>
      </p:sp>
    </p:spTree>
    <p:extLst>
      <p:ext uri="{BB962C8B-B14F-4D97-AF65-F5344CB8AC3E}">
        <p14:creationId xmlns:p14="http://schemas.microsoft.com/office/powerpoint/2010/main" val="2008539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193F-4BCF-4289-94B0-BBF06A905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12DA2C-AA6F-40F7-A1FA-788807DD4090}"/>
              </a:ext>
            </a:extLst>
          </p:cNvPr>
          <p:cNvSpPr>
            <a:spLocks noGrp="1"/>
          </p:cNvSpPr>
          <p:nvPr>
            <p:ph idx="1"/>
          </p:nvPr>
        </p:nvSpPr>
        <p:spPr/>
        <p:txBody>
          <a:bodyPr/>
          <a:lstStyle/>
          <a:p>
            <a:r>
              <a:rPr lang="en-GB" dirty="0"/>
              <a:t>T</a:t>
            </a:r>
            <a:r>
              <a:rPr lang="en-US" b="1" dirty="0"/>
              <a:t>ITTLE  OF THE STUDY</a:t>
            </a:r>
          </a:p>
          <a:p>
            <a:pPr marL="0" indent="0">
              <a:buNone/>
            </a:pPr>
            <a:r>
              <a:rPr lang="en-US" dirty="0"/>
              <a:t>An investigation of the introduction of  minimum wage and permanent job creation in the private sector in Zambia.</a:t>
            </a:r>
            <a:endParaRPr lang="en-GB" dirty="0"/>
          </a:p>
          <a:p>
            <a:r>
              <a:rPr lang="en-GB" dirty="0"/>
              <a:t>Assessment of the impact of free market policies on the growth of SME: A case of cross-</a:t>
            </a:r>
            <a:r>
              <a:rPr lang="en-GB" dirty="0" err="1"/>
              <a:t>boader</a:t>
            </a:r>
            <a:r>
              <a:rPr lang="en-GB" dirty="0"/>
              <a:t>  traders in </a:t>
            </a:r>
            <a:r>
              <a:rPr lang="en-GB" dirty="0" err="1"/>
              <a:t>Nakonde</a:t>
            </a:r>
            <a:endParaRPr lang="en-US" dirty="0"/>
          </a:p>
          <a:p>
            <a:r>
              <a:rPr lang="en-US"/>
              <a:t>THE IMPACT </a:t>
            </a:r>
            <a:r>
              <a:rPr lang="en-US" dirty="0"/>
              <a:t>OF ADVERTISEMENT ON CONSUMER PREFERENCE AND BEHAVIOR.</a:t>
            </a:r>
          </a:p>
          <a:p>
            <a:endParaRPr lang="en-US" dirty="0"/>
          </a:p>
        </p:txBody>
      </p:sp>
    </p:spTree>
    <p:extLst>
      <p:ext uri="{BB962C8B-B14F-4D97-AF65-F5344CB8AC3E}">
        <p14:creationId xmlns:p14="http://schemas.microsoft.com/office/powerpoint/2010/main" val="3882501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FDDB-6EE1-4A1E-BBF7-4D9927B17649}"/>
              </a:ext>
            </a:extLst>
          </p:cNvPr>
          <p:cNvSpPr>
            <a:spLocks noGrp="1"/>
          </p:cNvSpPr>
          <p:nvPr>
            <p:ph type="title"/>
          </p:nvPr>
        </p:nvSpPr>
        <p:spPr/>
        <p:txBody>
          <a:bodyPr/>
          <a:lstStyle/>
          <a:p>
            <a:r>
              <a:rPr lang="en-GB" dirty="0"/>
              <a:t>A practical way of phrasing a research topic</a:t>
            </a:r>
            <a:endParaRPr lang="en-US" dirty="0"/>
          </a:p>
        </p:txBody>
      </p:sp>
      <p:sp>
        <p:nvSpPr>
          <p:cNvPr id="3" name="Content Placeholder 2">
            <a:extLst>
              <a:ext uri="{FF2B5EF4-FFF2-40B4-BE49-F238E27FC236}">
                <a16:creationId xmlns:a16="http://schemas.microsoft.com/office/drawing/2014/main" id="{46ADDB9D-3D90-4A0E-A2ED-4FEE9ADEEAB8}"/>
              </a:ext>
            </a:extLst>
          </p:cNvPr>
          <p:cNvSpPr>
            <a:spLocks noGrp="1"/>
          </p:cNvSpPr>
          <p:nvPr>
            <p:ph idx="1"/>
          </p:nvPr>
        </p:nvSpPr>
        <p:spPr/>
        <p:txBody>
          <a:bodyPr>
            <a:normAutofit/>
          </a:bodyPr>
          <a:lstStyle/>
          <a:p>
            <a:pPr algn="just"/>
            <a:r>
              <a:rPr lang="en-US" sz="3200" dirty="0"/>
              <a:t>framing a study using these variables is a common approach to organizing the elements of a social sciences research study in order to discover relevant and meaningful results. Specifically, it is important for these two reasons:</a:t>
            </a:r>
          </a:p>
          <a:p>
            <a:pPr algn="just"/>
            <a:r>
              <a:rPr lang="en-US" sz="3200" dirty="0"/>
              <a:t>You need to understand and be able to evaluate their application in other people's research.</a:t>
            </a:r>
          </a:p>
          <a:p>
            <a:pPr algn="just"/>
            <a:r>
              <a:rPr lang="en-US" sz="3200" dirty="0"/>
              <a:t>You need to apply them correctly in your own research.</a:t>
            </a:r>
          </a:p>
          <a:p>
            <a:endParaRPr lang="en-US" dirty="0"/>
          </a:p>
        </p:txBody>
      </p:sp>
    </p:spTree>
    <p:extLst>
      <p:ext uri="{BB962C8B-B14F-4D97-AF65-F5344CB8AC3E}">
        <p14:creationId xmlns:p14="http://schemas.microsoft.com/office/powerpoint/2010/main" val="3848546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0DCD3-DCFD-4A25-A5D3-24E3A1B9F608}"/>
              </a:ext>
            </a:extLst>
          </p:cNvPr>
          <p:cNvSpPr>
            <a:spLocks noGrp="1"/>
          </p:cNvSpPr>
          <p:nvPr>
            <p:ph type="title"/>
          </p:nvPr>
        </p:nvSpPr>
        <p:spPr/>
        <p:txBody>
          <a:bodyPr/>
          <a:lstStyle/>
          <a:p>
            <a:r>
              <a:rPr lang="en-GB" dirty="0"/>
              <a:t>TOPIC SELECTION AND RESEARCH VARIABLES</a:t>
            </a:r>
            <a:endParaRPr lang="en-US" dirty="0"/>
          </a:p>
        </p:txBody>
      </p:sp>
      <p:sp>
        <p:nvSpPr>
          <p:cNvPr id="3" name="Content Placeholder 2">
            <a:extLst>
              <a:ext uri="{FF2B5EF4-FFF2-40B4-BE49-F238E27FC236}">
                <a16:creationId xmlns:a16="http://schemas.microsoft.com/office/drawing/2014/main" id="{B4379E50-2CA7-4443-B70F-BD7B855C7D80}"/>
              </a:ext>
            </a:extLst>
          </p:cNvPr>
          <p:cNvSpPr>
            <a:spLocks noGrp="1"/>
          </p:cNvSpPr>
          <p:nvPr>
            <p:ph idx="1"/>
          </p:nvPr>
        </p:nvSpPr>
        <p:spPr/>
        <p:txBody>
          <a:bodyPr/>
          <a:lstStyle/>
          <a:p>
            <a:r>
              <a:rPr lang="en-US" sz="3600" dirty="0"/>
              <a:t>A variable in research simply refers </a:t>
            </a:r>
            <a:r>
              <a:rPr lang="en-US" sz="3600" b="1" dirty="0"/>
              <a:t>to a person, place, thing, or phenomenon that you are trying to measure in your research</a:t>
            </a:r>
            <a:r>
              <a:rPr lang="en-US" sz="3600" dirty="0"/>
              <a:t>.</a:t>
            </a:r>
          </a:p>
          <a:p>
            <a:r>
              <a:rPr lang="en-US" sz="3600" dirty="0"/>
              <a:t>The </a:t>
            </a:r>
            <a:r>
              <a:rPr lang="en-US" sz="3600" b="1" dirty="0"/>
              <a:t>independent variable</a:t>
            </a:r>
            <a:r>
              <a:rPr lang="en-US" sz="3600" dirty="0"/>
              <a:t> is the </a:t>
            </a:r>
            <a:r>
              <a:rPr lang="en-US" sz="3600" b="1" dirty="0"/>
              <a:t>cause</a:t>
            </a:r>
            <a:r>
              <a:rPr lang="en-US" sz="3600" dirty="0"/>
              <a:t>. Its value is </a:t>
            </a:r>
            <a:r>
              <a:rPr lang="en-US" sz="3600" i="1" dirty="0"/>
              <a:t>independent</a:t>
            </a:r>
            <a:r>
              <a:rPr lang="en-US" sz="3600" dirty="0"/>
              <a:t> of other variables in your study.</a:t>
            </a:r>
          </a:p>
          <a:p>
            <a:r>
              <a:rPr lang="en-US" sz="3600" dirty="0"/>
              <a:t>The </a:t>
            </a:r>
            <a:r>
              <a:rPr lang="en-US" sz="3600" b="1" dirty="0"/>
              <a:t>dependent variable</a:t>
            </a:r>
            <a:r>
              <a:rPr lang="en-US" sz="3600" dirty="0"/>
              <a:t> is the </a:t>
            </a:r>
            <a:r>
              <a:rPr lang="en-US" sz="3600" b="1" dirty="0"/>
              <a:t>effect</a:t>
            </a:r>
            <a:r>
              <a:rPr lang="en-US" sz="3600" dirty="0"/>
              <a:t>. Its value </a:t>
            </a:r>
            <a:r>
              <a:rPr lang="en-US" sz="3600" i="1" dirty="0"/>
              <a:t>depends</a:t>
            </a:r>
            <a:r>
              <a:rPr lang="en-US" sz="3600" dirty="0"/>
              <a:t> on changes in the independent variable.</a:t>
            </a:r>
          </a:p>
          <a:p>
            <a:endParaRPr lang="en-US" dirty="0"/>
          </a:p>
        </p:txBody>
      </p:sp>
    </p:spTree>
    <p:extLst>
      <p:ext uri="{BB962C8B-B14F-4D97-AF65-F5344CB8AC3E}">
        <p14:creationId xmlns:p14="http://schemas.microsoft.com/office/powerpoint/2010/main" val="1575782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09429-C76D-4ECF-9EC3-A1767838A870}"/>
              </a:ext>
            </a:extLst>
          </p:cNvPr>
          <p:cNvSpPr>
            <a:spLocks noGrp="1"/>
          </p:cNvSpPr>
          <p:nvPr>
            <p:ph type="title"/>
          </p:nvPr>
        </p:nvSpPr>
        <p:spPr/>
        <p:txBody>
          <a:bodyPr/>
          <a:lstStyle/>
          <a:p>
            <a:endParaRPr lang="en-US" b="1" dirty="0"/>
          </a:p>
        </p:txBody>
      </p:sp>
      <p:sp>
        <p:nvSpPr>
          <p:cNvPr id="3" name="Content Placeholder 2">
            <a:extLst>
              <a:ext uri="{FF2B5EF4-FFF2-40B4-BE49-F238E27FC236}">
                <a16:creationId xmlns:a16="http://schemas.microsoft.com/office/drawing/2014/main" id="{1F748F1E-28FE-49D3-A3FB-C7AD72B94257}"/>
              </a:ext>
            </a:extLst>
          </p:cNvPr>
          <p:cNvSpPr>
            <a:spLocks noGrp="1"/>
          </p:cNvSpPr>
          <p:nvPr>
            <p:ph idx="1"/>
          </p:nvPr>
        </p:nvSpPr>
        <p:spPr/>
        <p:txBody>
          <a:bodyPr/>
          <a:lstStyle/>
          <a:p>
            <a:endParaRPr lang="en-GB" dirty="0"/>
          </a:p>
          <a:p>
            <a:endParaRPr lang="en-GB" sz="4400" dirty="0"/>
          </a:p>
          <a:p>
            <a:r>
              <a:rPr lang="en-GB" sz="4400" dirty="0"/>
              <a:t>T</a:t>
            </a:r>
            <a:r>
              <a:rPr lang="en-US" sz="4400" dirty="0"/>
              <a:t>ASK WPRDS(to investigate, </a:t>
            </a:r>
            <a:r>
              <a:rPr lang="en-US" sz="4400" dirty="0" err="1"/>
              <a:t>analyse</a:t>
            </a:r>
            <a:r>
              <a:rPr lang="en-US" sz="4400" dirty="0"/>
              <a:t>, assess </a:t>
            </a:r>
            <a:r>
              <a:rPr lang="en-US" sz="4400" dirty="0" err="1"/>
              <a:t>etc</a:t>
            </a:r>
            <a:r>
              <a:rPr lang="en-US" sz="4400" dirty="0"/>
              <a:t>)= INDEPENDENT VARIABLE= DEPENDANT VARIABLE AND RESTRICTION OF YOUR STUDY</a:t>
            </a:r>
          </a:p>
        </p:txBody>
      </p:sp>
    </p:spTree>
    <p:extLst>
      <p:ext uri="{BB962C8B-B14F-4D97-AF65-F5344CB8AC3E}">
        <p14:creationId xmlns:p14="http://schemas.microsoft.com/office/powerpoint/2010/main" val="1014898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CF3A6-94E9-41CB-9D08-3A005F9AD8AC}"/>
              </a:ext>
            </a:extLst>
          </p:cNvPr>
          <p:cNvSpPr>
            <a:spLocks noGrp="1"/>
          </p:cNvSpPr>
          <p:nvPr>
            <p:ph type="title"/>
          </p:nvPr>
        </p:nvSpPr>
        <p:spPr/>
        <p:txBody>
          <a:bodyPr/>
          <a:lstStyle/>
          <a:p>
            <a:r>
              <a:rPr lang="en-GB" b="1" dirty="0"/>
              <a:t>RESEARCH THEMES- ZCASU</a:t>
            </a:r>
            <a:endParaRPr lang="en-US" dirty="0"/>
          </a:p>
        </p:txBody>
      </p:sp>
      <p:sp>
        <p:nvSpPr>
          <p:cNvPr id="3" name="Content Placeholder 2">
            <a:extLst>
              <a:ext uri="{FF2B5EF4-FFF2-40B4-BE49-F238E27FC236}">
                <a16:creationId xmlns:a16="http://schemas.microsoft.com/office/drawing/2014/main" id="{19F6398B-CBBB-431B-BCEA-7F665FAD9856}"/>
              </a:ext>
            </a:extLst>
          </p:cNvPr>
          <p:cNvSpPr>
            <a:spLocks noGrp="1"/>
          </p:cNvSpPr>
          <p:nvPr>
            <p:ph idx="1"/>
          </p:nvPr>
        </p:nvSpPr>
        <p:spPr/>
        <p:txBody>
          <a:bodyPr/>
          <a:lstStyle/>
          <a:p>
            <a:r>
              <a:rPr lang="en-GB" dirty="0"/>
              <a:t>Three are four major research themes that should help you to select your topic from.</a:t>
            </a:r>
          </a:p>
          <a:p>
            <a:endParaRPr lang="en-US" dirty="0"/>
          </a:p>
        </p:txBody>
      </p:sp>
    </p:spTree>
    <p:extLst>
      <p:ext uri="{BB962C8B-B14F-4D97-AF65-F5344CB8AC3E}">
        <p14:creationId xmlns:p14="http://schemas.microsoft.com/office/powerpoint/2010/main" val="1082119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AA89-FA64-4214-9407-D66AFFF854DE}"/>
              </a:ext>
            </a:extLst>
          </p:cNvPr>
          <p:cNvSpPr>
            <a:spLocks noGrp="1"/>
          </p:cNvSpPr>
          <p:nvPr>
            <p:ph type="title"/>
          </p:nvPr>
        </p:nvSpPr>
        <p:spPr/>
        <p:txBody>
          <a:bodyPr>
            <a:normAutofit fontScale="90000"/>
          </a:bodyPr>
          <a:lstStyle/>
          <a:p>
            <a:r>
              <a:rPr lang="en-GB" sz="4000" dirty="0"/>
              <a:t>PROBLEM AREA number one: Public sector under performance</a:t>
            </a:r>
            <a:r>
              <a:rPr lang="en-US" dirty="0"/>
              <a:t/>
            </a:r>
            <a:br>
              <a:rPr lang="en-US" dirty="0"/>
            </a:br>
            <a:endParaRPr lang="en-US" dirty="0"/>
          </a:p>
        </p:txBody>
      </p:sp>
      <p:sp>
        <p:nvSpPr>
          <p:cNvPr id="3" name="Content Placeholder 2">
            <a:extLst>
              <a:ext uri="{FF2B5EF4-FFF2-40B4-BE49-F238E27FC236}">
                <a16:creationId xmlns:a16="http://schemas.microsoft.com/office/drawing/2014/main" id="{747654FE-DC57-4E2B-B4B3-953F645B5E84}"/>
              </a:ext>
            </a:extLst>
          </p:cNvPr>
          <p:cNvSpPr>
            <a:spLocks noGrp="1"/>
          </p:cNvSpPr>
          <p:nvPr>
            <p:ph idx="1"/>
          </p:nvPr>
        </p:nvSpPr>
        <p:spPr/>
        <p:txBody>
          <a:bodyPr/>
          <a:lstStyle/>
          <a:p>
            <a:r>
              <a:rPr lang="en-GB" dirty="0"/>
              <a:t>Public sector internal and external audit</a:t>
            </a:r>
          </a:p>
          <a:p>
            <a:r>
              <a:rPr lang="en-GB" dirty="0"/>
              <a:t>Impact of policy on public finance</a:t>
            </a:r>
          </a:p>
          <a:p>
            <a:r>
              <a:rPr lang="en-GB" dirty="0"/>
              <a:t>Public finance management</a:t>
            </a:r>
            <a:endParaRPr lang="en-US" dirty="0"/>
          </a:p>
        </p:txBody>
      </p:sp>
    </p:spTree>
    <p:extLst>
      <p:ext uri="{BB962C8B-B14F-4D97-AF65-F5344CB8AC3E}">
        <p14:creationId xmlns:p14="http://schemas.microsoft.com/office/powerpoint/2010/main" val="1049782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76E31-B08A-4656-A3CF-D5009AED00FA}"/>
              </a:ext>
            </a:extLst>
          </p:cNvPr>
          <p:cNvSpPr>
            <a:spLocks noGrp="1"/>
          </p:cNvSpPr>
          <p:nvPr>
            <p:ph type="title"/>
          </p:nvPr>
        </p:nvSpPr>
        <p:spPr/>
        <p:txBody>
          <a:bodyPr/>
          <a:lstStyle/>
          <a:p>
            <a:r>
              <a:rPr lang="en-GB" dirty="0"/>
              <a:t>Problem area two: weak and unsustainable business strategies and models</a:t>
            </a:r>
            <a:endParaRPr lang="en-US" dirty="0"/>
          </a:p>
        </p:txBody>
      </p:sp>
      <p:sp>
        <p:nvSpPr>
          <p:cNvPr id="3" name="Content Placeholder 2">
            <a:extLst>
              <a:ext uri="{FF2B5EF4-FFF2-40B4-BE49-F238E27FC236}">
                <a16:creationId xmlns:a16="http://schemas.microsoft.com/office/drawing/2014/main" id="{64B4A8CE-90AA-4854-A783-05DC8BA4D949}"/>
              </a:ext>
            </a:extLst>
          </p:cNvPr>
          <p:cNvSpPr>
            <a:spLocks noGrp="1"/>
          </p:cNvSpPr>
          <p:nvPr>
            <p:ph idx="1"/>
          </p:nvPr>
        </p:nvSpPr>
        <p:spPr/>
        <p:txBody>
          <a:bodyPr/>
          <a:lstStyle/>
          <a:p>
            <a:r>
              <a:rPr lang="en-GB" dirty="0"/>
              <a:t>To research on accounting finance and business innovations</a:t>
            </a:r>
          </a:p>
          <a:p>
            <a:r>
              <a:rPr lang="en-GB" dirty="0"/>
              <a:t>Research areas</a:t>
            </a:r>
          </a:p>
          <a:p>
            <a:r>
              <a:rPr lang="en-GB" dirty="0"/>
              <a:t>Strategic accounting and finance</a:t>
            </a:r>
          </a:p>
          <a:p>
            <a:r>
              <a:rPr lang="en-GB" dirty="0"/>
              <a:t>Strategic business models</a:t>
            </a:r>
          </a:p>
          <a:p>
            <a:r>
              <a:rPr lang="en-GB" dirty="0"/>
              <a:t>Growth and innovation</a:t>
            </a:r>
          </a:p>
          <a:p>
            <a:r>
              <a:rPr lang="en-GB" dirty="0"/>
              <a:t>Innovation and learning</a:t>
            </a:r>
          </a:p>
          <a:p>
            <a:r>
              <a:rPr lang="en-GB" dirty="0"/>
              <a:t>Financial reporting</a:t>
            </a:r>
            <a:endParaRPr lang="en-US" dirty="0"/>
          </a:p>
        </p:txBody>
      </p:sp>
    </p:spTree>
    <p:extLst>
      <p:ext uri="{BB962C8B-B14F-4D97-AF65-F5344CB8AC3E}">
        <p14:creationId xmlns:p14="http://schemas.microsoft.com/office/powerpoint/2010/main" val="1849863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B3CBC-B46D-40E3-9F5D-86B3A229EE86}"/>
              </a:ext>
            </a:extLst>
          </p:cNvPr>
          <p:cNvSpPr>
            <a:spLocks noGrp="1"/>
          </p:cNvSpPr>
          <p:nvPr>
            <p:ph type="title"/>
          </p:nvPr>
        </p:nvSpPr>
        <p:spPr/>
        <p:txBody>
          <a:bodyPr/>
          <a:lstStyle/>
          <a:p>
            <a:r>
              <a:rPr lang="en-GB" dirty="0"/>
              <a:t>Problem area number 3: ICT challenges</a:t>
            </a:r>
            <a:endParaRPr lang="en-US" dirty="0"/>
          </a:p>
        </p:txBody>
      </p:sp>
      <p:sp>
        <p:nvSpPr>
          <p:cNvPr id="3" name="Content Placeholder 2">
            <a:extLst>
              <a:ext uri="{FF2B5EF4-FFF2-40B4-BE49-F238E27FC236}">
                <a16:creationId xmlns:a16="http://schemas.microsoft.com/office/drawing/2014/main" id="{E4A46CE7-DB9C-470E-8F17-48E3FC750AD9}"/>
              </a:ext>
            </a:extLst>
          </p:cNvPr>
          <p:cNvSpPr>
            <a:spLocks noGrp="1"/>
          </p:cNvSpPr>
          <p:nvPr>
            <p:ph idx="1"/>
          </p:nvPr>
        </p:nvSpPr>
        <p:spPr/>
        <p:txBody>
          <a:bodyPr/>
          <a:lstStyle/>
          <a:p>
            <a:r>
              <a:rPr lang="en-GB" dirty="0"/>
              <a:t>Impact of ICT on society</a:t>
            </a:r>
          </a:p>
          <a:p>
            <a:r>
              <a:rPr lang="en-GB" dirty="0"/>
              <a:t>Strategic ICT and business</a:t>
            </a:r>
          </a:p>
          <a:p>
            <a:r>
              <a:rPr lang="en-GB" dirty="0"/>
              <a:t>Cyber security and fraud</a:t>
            </a:r>
            <a:endParaRPr lang="en-US" dirty="0"/>
          </a:p>
        </p:txBody>
      </p:sp>
    </p:spTree>
    <p:extLst>
      <p:ext uri="{BB962C8B-B14F-4D97-AF65-F5344CB8AC3E}">
        <p14:creationId xmlns:p14="http://schemas.microsoft.com/office/powerpoint/2010/main" val="4252790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920E-2D37-44C4-965B-76405A5331F6}"/>
              </a:ext>
            </a:extLst>
          </p:cNvPr>
          <p:cNvSpPr>
            <a:spLocks noGrp="1"/>
          </p:cNvSpPr>
          <p:nvPr>
            <p:ph type="title"/>
          </p:nvPr>
        </p:nvSpPr>
        <p:spPr/>
        <p:txBody>
          <a:bodyPr/>
          <a:lstStyle/>
          <a:p>
            <a:r>
              <a:rPr lang="en-GB" dirty="0"/>
              <a:t>Problem area number 4: Socio-Economic development challenges</a:t>
            </a:r>
            <a:endParaRPr lang="en-US" dirty="0"/>
          </a:p>
        </p:txBody>
      </p:sp>
      <p:sp>
        <p:nvSpPr>
          <p:cNvPr id="3" name="Content Placeholder 2">
            <a:extLst>
              <a:ext uri="{FF2B5EF4-FFF2-40B4-BE49-F238E27FC236}">
                <a16:creationId xmlns:a16="http://schemas.microsoft.com/office/drawing/2014/main" id="{05146EED-16F7-490B-B1EC-0C20B6FFBAC5}"/>
              </a:ext>
            </a:extLst>
          </p:cNvPr>
          <p:cNvSpPr>
            <a:spLocks noGrp="1"/>
          </p:cNvSpPr>
          <p:nvPr>
            <p:ph idx="1"/>
          </p:nvPr>
        </p:nvSpPr>
        <p:spPr/>
        <p:txBody>
          <a:bodyPr/>
          <a:lstStyle/>
          <a:p>
            <a:r>
              <a:rPr lang="en-GB" dirty="0"/>
              <a:t>Poverty alleviation measures</a:t>
            </a:r>
          </a:p>
          <a:p>
            <a:r>
              <a:rPr lang="en-GB" dirty="0"/>
              <a:t>Tax reforms</a:t>
            </a:r>
          </a:p>
          <a:p>
            <a:r>
              <a:rPr lang="en-GB" dirty="0"/>
              <a:t>Micro-finance and empowerment</a:t>
            </a:r>
          </a:p>
          <a:p>
            <a:r>
              <a:rPr lang="en-GB" dirty="0"/>
              <a:t>Market failures and service provision</a:t>
            </a:r>
          </a:p>
          <a:p>
            <a:r>
              <a:rPr lang="en-GB" dirty="0"/>
              <a:t>Pensions and insurance</a:t>
            </a:r>
          </a:p>
          <a:p>
            <a:r>
              <a:rPr lang="en-GB" dirty="0"/>
              <a:t>Employee performance</a:t>
            </a:r>
            <a:endParaRPr lang="en-US" dirty="0"/>
          </a:p>
        </p:txBody>
      </p:sp>
    </p:spTree>
    <p:extLst>
      <p:ext uri="{BB962C8B-B14F-4D97-AF65-F5344CB8AC3E}">
        <p14:creationId xmlns:p14="http://schemas.microsoft.com/office/powerpoint/2010/main" val="1534033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B44D-5CE4-4DF6-9083-4D90014AFB6C}"/>
              </a:ext>
            </a:extLst>
          </p:cNvPr>
          <p:cNvSpPr>
            <a:spLocks noGrp="1"/>
          </p:cNvSpPr>
          <p:nvPr>
            <p:ph type="title"/>
          </p:nvPr>
        </p:nvSpPr>
        <p:spPr/>
        <p:txBody>
          <a:bodyPr/>
          <a:lstStyle/>
          <a:p>
            <a:r>
              <a:rPr lang="en-GB" dirty="0"/>
              <a:t>Preliminary pages</a:t>
            </a:r>
            <a:endParaRPr lang="en-US" dirty="0"/>
          </a:p>
        </p:txBody>
      </p:sp>
      <p:sp>
        <p:nvSpPr>
          <p:cNvPr id="3" name="Content Placeholder 2">
            <a:extLst>
              <a:ext uri="{FF2B5EF4-FFF2-40B4-BE49-F238E27FC236}">
                <a16:creationId xmlns:a16="http://schemas.microsoft.com/office/drawing/2014/main" id="{07FFCA44-2D7E-4032-9DB8-7291D9522A5A}"/>
              </a:ext>
            </a:extLst>
          </p:cNvPr>
          <p:cNvSpPr>
            <a:spLocks noGrp="1"/>
          </p:cNvSpPr>
          <p:nvPr>
            <p:ph idx="1"/>
          </p:nvPr>
        </p:nvSpPr>
        <p:spPr/>
        <p:txBody>
          <a:bodyPr>
            <a:normAutofit lnSpcReduction="10000"/>
          </a:bodyPr>
          <a:lstStyle/>
          <a:p>
            <a:r>
              <a:rPr lang="en-GB" dirty="0"/>
              <a:t>Tittle page</a:t>
            </a:r>
          </a:p>
          <a:p>
            <a:r>
              <a:rPr lang="en-GB" dirty="0"/>
              <a:t>Table of contents</a:t>
            </a:r>
          </a:p>
          <a:p>
            <a:r>
              <a:rPr lang="en-GB" dirty="0"/>
              <a:t>Abstract</a:t>
            </a:r>
          </a:p>
          <a:p>
            <a:r>
              <a:rPr lang="en-US" b="1" dirty="0"/>
              <a:t> </a:t>
            </a:r>
            <a:r>
              <a:rPr lang="en-GB" dirty="0"/>
              <a:t>COPYRIGHT DECLARATION</a:t>
            </a:r>
          </a:p>
          <a:p>
            <a:r>
              <a:rPr lang="en-GB" b="1" dirty="0"/>
              <a:t>AUTHOR’S DECLARATION</a:t>
            </a:r>
            <a:endParaRPr lang="en-GB" dirty="0"/>
          </a:p>
          <a:p>
            <a:r>
              <a:rPr lang="en-GB" dirty="0"/>
              <a:t>Dedication</a:t>
            </a:r>
          </a:p>
          <a:p>
            <a:r>
              <a:rPr lang="en-GB" dirty="0"/>
              <a:t>Acknowledgements </a:t>
            </a:r>
          </a:p>
          <a:p>
            <a:r>
              <a:rPr lang="en-GB" dirty="0"/>
              <a:t>List of tables and figures</a:t>
            </a:r>
          </a:p>
          <a:p>
            <a:r>
              <a:rPr lang="en-GB" dirty="0"/>
              <a:t>Acronyms </a:t>
            </a:r>
            <a:endParaRPr lang="en-US" dirty="0"/>
          </a:p>
        </p:txBody>
      </p:sp>
    </p:spTree>
    <p:extLst>
      <p:ext uri="{BB962C8B-B14F-4D97-AF65-F5344CB8AC3E}">
        <p14:creationId xmlns:p14="http://schemas.microsoft.com/office/powerpoint/2010/main" val="20231122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8AEE-F75E-4FA7-8555-3FBC5371B266}"/>
              </a:ext>
            </a:extLst>
          </p:cNvPr>
          <p:cNvSpPr>
            <a:spLocks noGrp="1"/>
          </p:cNvSpPr>
          <p:nvPr>
            <p:ph type="title"/>
          </p:nvPr>
        </p:nvSpPr>
        <p:spPr/>
        <p:txBody>
          <a:bodyPr/>
          <a:lstStyle/>
          <a:p>
            <a:r>
              <a:rPr lang="en-US" dirty="0"/>
              <a:t>CHAPTER ONE: INTRODUCTION</a:t>
            </a:r>
          </a:p>
        </p:txBody>
      </p:sp>
      <p:sp>
        <p:nvSpPr>
          <p:cNvPr id="4" name="Text Placeholder 3">
            <a:extLst>
              <a:ext uri="{FF2B5EF4-FFF2-40B4-BE49-F238E27FC236}">
                <a16:creationId xmlns:a16="http://schemas.microsoft.com/office/drawing/2014/main" id="{6E6135B2-9D8C-45FF-A2D2-3EE27FC1A459}"/>
              </a:ext>
            </a:extLst>
          </p:cNvPr>
          <p:cNvSpPr>
            <a:spLocks noGrp="1"/>
          </p:cNvSpPr>
          <p:nvPr>
            <p:ph type="body" idx="1"/>
          </p:nvPr>
        </p:nvSpPr>
        <p:spPr>
          <a:xfrm>
            <a:off x="839788" y="1681163"/>
            <a:ext cx="5157787" cy="160889"/>
          </a:xfrm>
        </p:spPr>
        <p:txBody>
          <a:bodyPr>
            <a:normAutofit fontScale="25000" lnSpcReduction="20000"/>
          </a:bodyPr>
          <a:lstStyle/>
          <a:p>
            <a:endParaRPr lang="en-US" dirty="0"/>
          </a:p>
        </p:txBody>
      </p:sp>
      <p:sp>
        <p:nvSpPr>
          <p:cNvPr id="3" name="Content Placeholder 2">
            <a:extLst>
              <a:ext uri="{FF2B5EF4-FFF2-40B4-BE49-F238E27FC236}">
                <a16:creationId xmlns:a16="http://schemas.microsoft.com/office/drawing/2014/main" id="{F1C69E4D-4747-4E18-9145-333E85250965}"/>
              </a:ext>
            </a:extLst>
          </p:cNvPr>
          <p:cNvSpPr>
            <a:spLocks noGrp="1"/>
          </p:cNvSpPr>
          <p:nvPr>
            <p:ph sz="half" idx="2"/>
          </p:nvPr>
        </p:nvSpPr>
        <p:spPr>
          <a:xfrm>
            <a:off x="839788" y="1842052"/>
            <a:ext cx="5157787" cy="5015947"/>
          </a:xfrm>
        </p:spPr>
        <p:txBody>
          <a:bodyPr>
            <a:normAutofit fontScale="77500" lnSpcReduction="20000"/>
          </a:bodyPr>
          <a:lstStyle/>
          <a:p>
            <a:r>
              <a:rPr lang="en-US" dirty="0"/>
              <a:t>	</a:t>
            </a:r>
          </a:p>
          <a:p>
            <a:r>
              <a:rPr lang="en-US" sz="3800" b="1" dirty="0"/>
              <a:t>1.1 Background of the study</a:t>
            </a:r>
          </a:p>
          <a:p>
            <a:r>
              <a:rPr lang="en-US" sz="3800" b="1" dirty="0"/>
              <a:t>1.2 Research problem    </a:t>
            </a:r>
          </a:p>
          <a:p>
            <a:r>
              <a:rPr lang="en-US" sz="3800" b="1" dirty="0"/>
              <a:t>1.3 Justification for the research</a:t>
            </a:r>
          </a:p>
          <a:p>
            <a:r>
              <a:rPr lang="en-US" sz="3800" b="1" dirty="0"/>
              <a:t>1.4 Research Aim, Question and Objectives  </a:t>
            </a:r>
          </a:p>
          <a:p>
            <a:r>
              <a:rPr lang="en-US" sz="3800" b="1" dirty="0"/>
              <a:t>1.4.1 Research aim .</a:t>
            </a:r>
          </a:p>
          <a:p>
            <a:r>
              <a:rPr lang="en-US" sz="3800" b="1" dirty="0"/>
              <a:t>1.4.2 Research objectives </a:t>
            </a:r>
          </a:p>
          <a:p>
            <a:r>
              <a:rPr lang="en-US" sz="3800" b="1" dirty="0"/>
              <a:t>1.4.3 Research questions</a:t>
            </a:r>
          </a:p>
          <a:p>
            <a:r>
              <a:rPr lang="en-US" sz="3800" b="1" dirty="0"/>
              <a:t>1.5 Research Hypothesis</a:t>
            </a:r>
          </a:p>
          <a:p>
            <a:endParaRPr lang="en-US" dirty="0"/>
          </a:p>
        </p:txBody>
      </p:sp>
      <p:sp>
        <p:nvSpPr>
          <p:cNvPr id="5" name="Text Placeholder 4">
            <a:extLst>
              <a:ext uri="{FF2B5EF4-FFF2-40B4-BE49-F238E27FC236}">
                <a16:creationId xmlns:a16="http://schemas.microsoft.com/office/drawing/2014/main" id="{1B40AC2C-C9AA-463A-BE0F-A4973CFD3458}"/>
              </a:ext>
            </a:extLst>
          </p:cNvPr>
          <p:cNvSpPr>
            <a:spLocks noGrp="1"/>
          </p:cNvSpPr>
          <p:nvPr>
            <p:ph type="body" sz="quarter" idx="3"/>
          </p:nvPr>
        </p:nvSpPr>
        <p:spPr/>
        <p:txBody>
          <a:bodyPr>
            <a:normAutofit fontScale="25000" lnSpcReduction="20000"/>
          </a:bodyPr>
          <a:lstStyle/>
          <a:p>
            <a:endParaRPr lang="en-US"/>
          </a:p>
        </p:txBody>
      </p:sp>
      <p:sp>
        <p:nvSpPr>
          <p:cNvPr id="6" name="Content Placeholder 5">
            <a:extLst>
              <a:ext uri="{FF2B5EF4-FFF2-40B4-BE49-F238E27FC236}">
                <a16:creationId xmlns:a16="http://schemas.microsoft.com/office/drawing/2014/main" id="{3BE28B29-D8E5-444E-8776-6472BA8B4452}"/>
              </a:ext>
            </a:extLst>
          </p:cNvPr>
          <p:cNvSpPr>
            <a:spLocks noGrp="1"/>
          </p:cNvSpPr>
          <p:nvPr>
            <p:ph sz="quarter" idx="4"/>
          </p:nvPr>
        </p:nvSpPr>
        <p:spPr>
          <a:xfrm>
            <a:off x="6172200" y="2505075"/>
            <a:ext cx="5183188" cy="4253534"/>
          </a:xfrm>
        </p:spPr>
        <p:txBody>
          <a:bodyPr>
            <a:normAutofit fontScale="77500" lnSpcReduction="20000"/>
          </a:bodyPr>
          <a:lstStyle/>
          <a:p>
            <a:r>
              <a:rPr lang="en-US" sz="4200" dirty="0"/>
              <a:t>1.6 Research scope . </a:t>
            </a:r>
          </a:p>
          <a:p>
            <a:r>
              <a:rPr lang="en-US" sz="4200" dirty="0"/>
              <a:t>1.7 Research Contributions </a:t>
            </a:r>
          </a:p>
          <a:p>
            <a:r>
              <a:rPr lang="en-US" sz="4200" dirty="0"/>
              <a:t>1.8 Research Design  </a:t>
            </a:r>
          </a:p>
          <a:p>
            <a:r>
              <a:rPr lang="en-US" sz="4200" dirty="0"/>
              <a:t>1.9 Research approach and method</a:t>
            </a:r>
          </a:p>
          <a:p>
            <a:r>
              <a:rPr lang="en-US" sz="4200" dirty="0"/>
              <a:t>1.10 Data collection and analysis techniques</a:t>
            </a:r>
          </a:p>
          <a:p>
            <a:r>
              <a:rPr lang="en-US" sz="4200" dirty="0"/>
              <a:t>1.11 Dissertation Layout.</a:t>
            </a:r>
          </a:p>
          <a:p>
            <a:r>
              <a:rPr lang="en-US" sz="4200" dirty="0"/>
              <a:t>  1.12 Chapter Summary</a:t>
            </a:r>
          </a:p>
          <a:p>
            <a:endParaRPr lang="en-US" dirty="0"/>
          </a:p>
        </p:txBody>
      </p:sp>
    </p:spTree>
    <p:extLst>
      <p:ext uri="{BB962C8B-B14F-4D97-AF65-F5344CB8AC3E}">
        <p14:creationId xmlns:p14="http://schemas.microsoft.com/office/powerpoint/2010/main" val="3199456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1.1 Background</a:t>
            </a:r>
          </a:p>
        </p:txBody>
      </p:sp>
      <p:sp>
        <p:nvSpPr>
          <p:cNvPr id="3" name="Content Placeholder 2"/>
          <p:cNvSpPr>
            <a:spLocks noGrp="1"/>
          </p:cNvSpPr>
          <p:nvPr>
            <p:ph idx="1"/>
          </p:nvPr>
        </p:nvSpPr>
        <p:spPr/>
        <p:txBody>
          <a:bodyPr>
            <a:normAutofit lnSpcReduction="10000"/>
          </a:bodyPr>
          <a:lstStyle/>
          <a:p>
            <a:r>
              <a:rPr lang="en-GB" sz="3600" b="1" dirty="0"/>
              <a:t>It should give a reader a glimpse of the research problem</a:t>
            </a:r>
          </a:p>
          <a:p>
            <a:r>
              <a:rPr lang="en-GB" sz="3600" b="1" dirty="0"/>
              <a:t>Include relevant literature related to the topic</a:t>
            </a:r>
          </a:p>
          <a:p>
            <a:r>
              <a:rPr lang="en-GB" sz="3600" b="1" dirty="0"/>
              <a:t>EG Starting from the global perspective, regional and national level. </a:t>
            </a:r>
          </a:p>
          <a:p>
            <a:r>
              <a:rPr lang="en-GB" sz="3600" b="1" dirty="0"/>
              <a:t>Background describes the phenomenon, the problem statement points out to the knowledge gap about the phenomenon in the last paragraph.</a:t>
            </a:r>
          </a:p>
          <a:p>
            <a:endParaRPr lang="en-GB" b="1" dirty="0"/>
          </a:p>
        </p:txBody>
      </p:sp>
    </p:spTree>
    <p:extLst>
      <p:ext uri="{BB962C8B-B14F-4D97-AF65-F5344CB8AC3E}">
        <p14:creationId xmlns:p14="http://schemas.microsoft.com/office/powerpoint/2010/main" val="3160734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1.2 statement of the problem</a:t>
            </a:r>
          </a:p>
        </p:txBody>
      </p:sp>
      <p:sp>
        <p:nvSpPr>
          <p:cNvPr id="3" name="Content Placeholder 2"/>
          <p:cNvSpPr>
            <a:spLocks noGrp="1"/>
          </p:cNvSpPr>
          <p:nvPr>
            <p:ph idx="1"/>
          </p:nvPr>
        </p:nvSpPr>
        <p:spPr/>
        <p:txBody>
          <a:bodyPr>
            <a:noAutofit/>
          </a:bodyPr>
          <a:lstStyle/>
          <a:p>
            <a:pPr algn="just"/>
            <a:r>
              <a:rPr lang="en-GB" sz="4000" b="1" dirty="0"/>
              <a:t>It should be clearly stated. </a:t>
            </a:r>
          </a:p>
          <a:p>
            <a:pPr algn="just"/>
            <a:r>
              <a:rPr lang="en-GB" sz="4000" b="1" dirty="0"/>
              <a:t>Should show the gap in knowledge</a:t>
            </a:r>
          </a:p>
          <a:p>
            <a:pPr algn="just"/>
            <a:r>
              <a:rPr lang="en-GB" sz="4000" b="1" dirty="0"/>
              <a:t>Clearly indicated the agency of the research</a:t>
            </a:r>
          </a:p>
          <a:p>
            <a:pPr algn="just"/>
            <a:r>
              <a:rPr lang="en-GB" sz="4000" b="1" dirty="0"/>
              <a:t>It should have a supported statement or literature</a:t>
            </a:r>
          </a:p>
          <a:p>
            <a:pPr algn="just"/>
            <a:r>
              <a:rPr lang="en-GB" sz="4000" b="1" dirty="0"/>
              <a:t>Language used is simple, objective and avoid poetic, comical or emotional language</a:t>
            </a:r>
          </a:p>
        </p:txBody>
      </p:sp>
    </p:spTree>
    <p:extLst>
      <p:ext uri="{BB962C8B-B14F-4D97-AF65-F5344CB8AC3E}">
        <p14:creationId xmlns:p14="http://schemas.microsoft.com/office/powerpoint/2010/main" val="4118910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062E-5D1C-43BA-8A0B-6F09807A0BE2}"/>
              </a:ext>
            </a:extLst>
          </p:cNvPr>
          <p:cNvSpPr>
            <a:spLocks noGrp="1"/>
          </p:cNvSpPr>
          <p:nvPr>
            <p:ph type="title"/>
          </p:nvPr>
        </p:nvSpPr>
        <p:spPr/>
        <p:txBody>
          <a:bodyPr/>
          <a:lstStyle/>
          <a:p>
            <a:r>
              <a:rPr lang="en-GB" dirty="0"/>
              <a:t>For example</a:t>
            </a:r>
            <a:endParaRPr lang="en-US" dirty="0"/>
          </a:p>
        </p:txBody>
      </p:sp>
      <p:sp>
        <p:nvSpPr>
          <p:cNvPr id="3" name="Content Placeholder 2">
            <a:extLst>
              <a:ext uri="{FF2B5EF4-FFF2-40B4-BE49-F238E27FC236}">
                <a16:creationId xmlns:a16="http://schemas.microsoft.com/office/drawing/2014/main" id="{7EF38AA2-61BB-491E-AF90-0DCEA1ACDDC0}"/>
              </a:ext>
            </a:extLst>
          </p:cNvPr>
          <p:cNvSpPr>
            <a:spLocks noGrp="1"/>
          </p:cNvSpPr>
          <p:nvPr>
            <p:ph idx="1"/>
          </p:nvPr>
        </p:nvSpPr>
        <p:spPr>
          <a:xfrm>
            <a:off x="838200" y="2226365"/>
            <a:ext cx="10515600" cy="3950598"/>
          </a:xfrm>
        </p:spPr>
        <p:txBody>
          <a:bodyPr/>
          <a:lstStyle/>
          <a:p>
            <a:r>
              <a:rPr lang="en-GB" sz="4400" dirty="0"/>
              <a:t>Identify a problem</a:t>
            </a:r>
          </a:p>
          <a:p>
            <a:r>
              <a:rPr lang="en-GB" sz="4400" dirty="0"/>
              <a:t>Cite relevant literature to support it</a:t>
            </a:r>
          </a:p>
          <a:p>
            <a:r>
              <a:rPr lang="en-GB" sz="4400" dirty="0"/>
              <a:t>Show the gap in knowledge and </a:t>
            </a:r>
            <a:r>
              <a:rPr lang="en-GB" sz="4400" b="1" dirty="0"/>
              <a:t>agency of the research</a:t>
            </a:r>
          </a:p>
          <a:p>
            <a:endParaRPr lang="en-GB" dirty="0"/>
          </a:p>
          <a:p>
            <a:endParaRPr lang="en-US" dirty="0"/>
          </a:p>
        </p:txBody>
      </p:sp>
    </p:spTree>
    <p:extLst>
      <p:ext uri="{BB962C8B-B14F-4D97-AF65-F5344CB8AC3E}">
        <p14:creationId xmlns:p14="http://schemas.microsoft.com/office/powerpoint/2010/main" val="1396362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1.3 objectives</a:t>
            </a:r>
          </a:p>
        </p:txBody>
      </p:sp>
      <p:sp>
        <p:nvSpPr>
          <p:cNvPr id="3" name="Content Placeholder 2"/>
          <p:cNvSpPr>
            <a:spLocks noGrp="1"/>
          </p:cNvSpPr>
          <p:nvPr>
            <p:ph idx="1"/>
          </p:nvPr>
        </p:nvSpPr>
        <p:spPr/>
        <p:txBody>
          <a:bodyPr>
            <a:noAutofit/>
          </a:bodyPr>
          <a:lstStyle/>
          <a:p>
            <a:r>
              <a:rPr lang="en-GB" b="1" dirty="0"/>
              <a:t>Symbolised as-RO1, RO2,RO3</a:t>
            </a:r>
          </a:p>
          <a:p>
            <a:r>
              <a:rPr lang="en-GB" b="1" dirty="0"/>
              <a:t>It is a specific statement relating to the purpose of the study or defined aims</a:t>
            </a:r>
          </a:p>
          <a:p>
            <a:r>
              <a:rPr lang="en-GB" b="1" dirty="0"/>
              <a:t>Common command words</a:t>
            </a:r>
          </a:p>
          <a:p>
            <a:r>
              <a:rPr lang="en-GB" b="1" dirty="0"/>
              <a:t>To explore</a:t>
            </a:r>
          </a:p>
          <a:p>
            <a:r>
              <a:rPr lang="en-GB" b="1" dirty="0"/>
              <a:t>To investigate</a:t>
            </a:r>
          </a:p>
          <a:p>
            <a:r>
              <a:rPr lang="en-GB" b="1" dirty="0"/>
              <a:t>To determine</a:t>
            </a:r>
          </a:p>
          <a:p>
            <a:r>
              <a:rPr lang="en-GB" b="1" dirty="0"/>
              <a:t>To find out</a:t>
            </a:r>
          </a:p>
          <a:p>
            <a:r>
              <a:rPr lang="en-GB" b="1" dirty="0"/>
              <a:t>To </a:t>
            </a:r>
            <a:r>
              <a:rPr lang="en-GB" b="1" dirty="0" err="1"/>
              <a:t>asess</a:t>
            </a:r>
            <a:endParaRPr lang="en-GB" b="1" dirty="0"/>
          </a:p>
        </p:txBody>
      </p:sp>
    </p:spTree>
    <p:extLst>
      <p:ext uri="{BB962C8B-B14F-4D97-AF65-F5344CB8AC3E}">
        <p14:creationId xmlns:p14="http://schemas.microsoft.com/office/powerpoint/2010/main" val="3287071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Things to avoid when formulating research objectives</a:t>
            </a:r>
          </a:p>
        </p:txBody>
      </p:sp>
      <p:sp>
        <p:nvSpPr>
          <p:cNvPr id="3" name="Content Placeholder 2"/>
          <p:cNvSpPr>
            <a:spLocks noGrp="1"/>
          </p:cNvSpPr>
          <p:nvPr>
            <p:ph idx="1"/>
          </p:nvPr>
        </p:nvSpPr>
        <p:spPr/>
        <p:txBody>
          <a:bodyPr>
            <a:normAutofit lnSpcReduction="10000"/>
          </a:bodyPr>
          <a:lstStyle/>
          <a:p>
            <a:pPr marL="0" indent="0">
              <a:buNone/>
            </a:pPr>
            <a:endParaRPr lang="en-GB" sz="3600" dirty="0"/>
          </a:p>
          <a:p>
            <a:r>
              <a:rPr lang="en-GB" sz="3600" dirty="0"/>
              <a:t>Do not use two verbs in one objective. </a:t>
            </a:r>
            <a:r>
              <a:rPr lang="en-GB" sz="3600" dirty="0" err="1"/>
              <a:t>E.g</a:t>
            </a:r>
            <a:r>
              <a:rPr lang="en-GB" sz="3600" dirty="0"/>
              <a:t> to explore and to test</a:t>
            </a:r>
          </a:p>
          <a:p>
            <a:r>
              <a:rPr lang="en-GB" sz="3600" b="1" dirty="0"/>
              <a:t>You may divide them into two: general objectives and specific objectives</a:t>
            </a:r>
          </a:p>
          <a:p>
            <a:r>
              <a:rPr lang="en-GB" sz="3600" dirty="0"/>
              <a:t>Avoid using two variables in one objective </a:t>
            </a:r>
            <a:r>
              <a:rPr lang="en-GB" sz="3600" dirty="0" err="1"/>
              <a:t>e.g</a:t>
            </a:r>
            <a:r>
              <a:rPr lang="en-GB" sz="3600" dirty="0"/>
              <a:t> to investigate the impact of rewards on employee </a:t>
            </a:r>
            <a:r>
              <a:rPr lang="en-GB" sz="3600" b="1" dirty="0">
                <a:solidFill>
                  <a:srgbClr val="FF0000"/>
                </a:solidFill>
              </a:rPr>
              <a:t>retention and performance</a:t>
            </a:r>
          </a:p>
          <a:p>
            <a:endParaRPr lang="en-GB" dirty="0"/>
          </a:p>
        </p:txBody>
      </p:sp>
    </p:spTree>
    <p:extLst>
      <p:ext uri="{BB962C8B-B14F-4D97-AF65-F5344CB8AC3E}">
        <p14:creationId xmlns:p14="http://schemas.microsoft.com/office/powerpoint/2010/main" val="1477590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hypothesis</a:t>
            </a:r>
          </a:p>
        </p:txBody>
      </p:sp>
      <p:sp>
        <p:nvSpPr>
          <p:cNvPr id="3" name="Content Placeholder 2"/>
          <p:cNvSpPr>
            <a:spLocks noGrp="1"/>
          </p:cNvSpPr>
          <p:nvPr>
            <p:ph idx="1"/>
          </p:nvPr>
        </p:nvSpPr>
        <p:spPr/>
        <p:txBody>
          <a:bodyPr>
            <a:normAutofit/>
          </a:bodyPr>
          <a:lstStyle/>
          <a:p>
            <a:pPr algn="just"/>
            <a:r>
              <a:rPr lang="en-GB" b="1" dirty="0"/>
              <a:t>It is a statement about the relationship between observable or measureable events</a:t>
            </a:r>
          </a:p>
          <a:p>
            <a:pPr algn="just"/>
            <a:r>
              <a:rPr lang="en-GB" b="1" dirty="0"/>
              <a:t>It is a hunch , an educated guess or a statement which is advanced for the purpose of being tested.</a:t>
            </a:r>
          </a:p>
          <a:p>
            <a:pPr algn="just"/>
            <a:r>
              <a:rPr lang="en-GB" b="1" dirty="0"/>
              <a:t>For qualitative research hypothesis is not recommended because such a design only generates a hypothesis. </a:t>
            </a:r>
          </a:p>
          <a:p>
            <a:pPr algn="just"/>
            <a:r>
              <a:rPr lang="en-GB" b="1" dirty="0"/>
              <a:t>It cannot test a hypothesis</a:t>
            </a:r>
          </a:p>
          <a:p>
            <a:pPr algn="just"/>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B" dirty="0"/>
          </a:p>
        </p:txBody>
      </p:sp>
    </p:spTree>
    <p:extLst>
      <p:ext uri="{BB962C8B-B14F-4D97-AF65-F5344CB8AC3E}">
        <p14:creationId xmlns:p14="http://schemas.microsoft.com/office/powerpoint/2010/main" val="1791793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F767-7669-4992-B09C-AF93E55E871F}"/>
              </a:ext>
            </a:extLst>
          </p:cNvPr>
          <p:cNvSpPr>
            <a:spLocks noGrp="1"/>
          </p:cNvSpPr>
          <p:nvPr>
            <p:ph type="title"/>
          </p:nvPr>
        </p:nvSpPr>
        <p:spPr/>
        <p:txBody>
          <a:bodyPr/>
          <a:lstStyle/>
          <a:p>
            <a:r>
              <a:rPr lang="en-GB" dirty="0"/>
              <a:t>Hypothesis</a:t>
            </a:r>
            <a:endParaRPr lang="en-US" dirty="0"/>
          </a:p>
        </p:txBody>
      </p:sp>
      <p:sp>
        <p:nvSpPr>
          <p:cNvPr id="3" name="Content Placeholder 2">
            <a:extLst>
              <a:ext uri="{FF2B5EF4-FFF2-40B4-BE49-F238E27FC236}">
                <a16:creationId xmlns:a16="http://schemas.microsoft.com/office/drawing/2014/main" id="{6C12C5DB-F36F-4DEC-BA2B-965B3490887C}"/>
              </a:ext>
            </a:extLst>
          </p:cNvPr>
          <p:cNvSpPr>
            <a:spLocks noGrp="1"/>
          </p:cNvSpPr>
          <p:nvPr>
            <p:ph idx="1"/>
          </p:nvPr>
        </p:nvSpPr>
        <p:spPr/>
        <p:txBody>
          <a:bodyPr>
            <a:normAutofit/>
          </a:bodyPr>
          <a:lstStyle/>
          <a:p>
            <a:r>
              <a:rPr lang="en-US" b="1" dirty="0"/>
              <a:t>Null hypothesis= H</a:t>
            </a:r>
            <a:r>
              <a:rPr lang="en-US" b="1" baseline="-25000" dirty="0"/>
              <a:t>0: </a:t>
            </a:r>
            <a:r>
              <a:rPr lang="en-US" sz="4000" b="1" baseline="-25000" dirty="0"/>
              <a:t>it states that there is no difference between the variables studied</a:t>
            </a:r>
          </a:p>
          <a:p>
            <a:r>
              <a:rPr lang="en-GB" sz="4000" b="1" baseline="-25000" dirty="0"/>
              <a:t>E</a:t>
            </a:r>
            <a:r>
              <a:rPr lang="en-US" sz="4000" b="1" baseline="-25000" dirty="0"/>
              <a:t>g: there is no significant difference </a:t>
            </a:r>
            <a:r>
              <a:rPr lang="en-US" sz="4000" baseline="-25000" dirty="0"/>
              <a:t>between the perception and altitude of entrepreneurs </a:t>
            </a:r>
            <a:endParaRPr lang="en-US" sz="4000" b="1" baseline="-25000" dirty="0"/>
          </a:p>
          <a:p>
            <a:r>
              <a:rPr lang="en-US" b="1" dirty="0"/>
              <a:t>Alternative hypothesis= H</a:t>
            </a:r>
            <a:r>
              <a:rPr lang="en-US" b="1" baseline="-25000" dirty="0"/>
              <a:t>1: </a:t>
            </a:r>
            <a:r>
              <a:rPr lang="en-US" sz="4400" baseline="-25000" dirty="0"/>
              <a:t>it states the value or relationship and it is different from  the null hypothesis</a:t>
            </a:r>
          </a:p>
          <a:p>
            <a:r>
              <a:rPr lang="en-GB" sz="4400" baseline="-25000" dirty="0"/>
              <a:t>E</a:t>
            </a:r>
            <a:r>
              <a:rPr lang="en-US" sz="4400" baseline="-25000" dirty="0"/>
              <a:t>g: there is a significant difference between the perception and altitude of entrepreneurs </a:t>
            </a:r>
            <a:endParaRPr lang="en-US" sz="4400" dirty="0"/>
          </a:p>
        </p:txBody>
      </p:sp>
    </p:spTree>
    <p:extLst>
      <p:ext uri="{BB962C8B-B14F-4D97-AF65-F5344CB8AC3E}">
        <p14:creationId xmlns:p14="http://schemas.microsoft.com/office/powerpoint/2010/main" val="289231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questions</a:t>
            </a:r>
          </a:p>
        </p:txBody>
      </p:sp>
      <p:sp>
        <p:nvSpPr>
          <p:cNvPr id="3" name="Content Placeholder 2"/>
          <p:cNvSpPr>
            <a:spLocks noGrp="1"/>
          </p:cNvSpPr>
          <p:nvPr>
            <p:ph idx="1"/>
          </p:nvPr>
        </p:nvSpPr>
        <p:spPr/>
        <p:txBody>
          <a:bodyPr>
            <a:normAutofit/>
          </a:bodyPr>
          <a:lstStyle/>
          <a:p>
            <a:pPr algn="just"/>
            <a:r>
              <a:rPr lang="en-GB" sz="3600" b="1" dirty="0"/>
              <a:t>Are a mirror of research objectives</a:t>
            </a:r>
          </a:p>
          <a:p>
            <a:pPr algn="just"/>
            <a:r>
              <a:rPr lang="en-GB" sz="3600" b="1" dirty="0"/>
              <a:t>Convert your objectives into research questions and maintain the same order</a:t>
            </a:r>
          </a:p>
        </p:txBody>
      </p:sp>
    </p:spTree>
    <p:extLst>
      <p:ext uri="{BB962C8B-B14F-4D97-AF65-F5344CB8AC3E}">
        <p14:creationId xmlns:p14="http://schemas.microsoft.com/office/powerpoint/2010/main" val="509300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1.6</a:t>
            </a:r>
            <a:br>
              <a:rPr lang="en-GB" dirty="0"/>
            </a:br>
            <a:r>
              <a:rPr lang="en-GB" dirty="0"/>
              <a:t> Delimitations</a:t>
            </a:r>
          </a:p>
        </p:txBody>
      </p:sp>
      <p:sp>
        <p:nvSpPr>
          <p:cNvPr id="3" name="Content Placeholder 2"/>
          <p:cNvSpPr>
            <a:spLocks noGrp="1"/>
          </p:cNvSpPr>
          <p:nvPr>
            <p:ph idx="1"/>
          </p:nvPr>
        </p:nvSpPr>
        <p:spPr/>
        <p:txBody>
          <a:bodyPr>
            <a:normAutofit/>
          </a:bodyPr>
          <a:lstStyle/>
          <a:p>
            <a:r>
              <a:rPr lang="en-GB" dirty="0"/>
              <a:t>Are choices made by the researcher which should be mentioned. </a:t>
            </a:r>
          </a:p>
          <a:p>
            <a:r>
              <a:rPr lang="en-GB" dirty="0"/>
              <a:t>They describe the boundaries that you have set for the study. In other words under what parameters are you going to make your study doable.</a:t>
            </a:r>
          </a:p>
          <a:p>
            <a:r>
              <a:rPr lang="en-GB" dirty="0"/>
              <a:t>This is the place to explain things that you are not doing and why you have chosen not to do them.</a:t>
            </a:r>
          </a:p>
        </p:txBody>
      </p:sp>
    </p:spTree>
    <p:extLst>
      <p:ext uri="{BB962C8B-B14F-4D97-AF65-F5344CB8AC3E}">
        <p14:creationId xmlns:p14="http://schemas.microsoft.com/office/powerpoint/2010/main" val="3731657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9C64E-FD6D-48BC-9895-4880C4FB52CD}"/>
              </a:ext>
            </a:extLst>
          </p:cNvPr>
          <p:cNvSpPr>
            <a:spLocks noGrp="1"/>
          </p:cNvSpPr>
          <p:nvPr>
            <p:ph type="title"/>
          </p:nvPr>
        </p:nvSpPr>
        <p:spPr/>
        <p:txBody>
          <a:bodyPr/>
          <a:lstStyle/>
          <a:p>
            <a:r>
              <a:rPr lang="en-GB" dirty="0"/>
              <a:t>Significance of the study</a:t>
            </a:r>
            <a:endParaRPr lang="en-US" dirty="0"/>
          </a:p>
        </p:txBody>
      </p:sp>
      <p:sp>
        <p:nvSpPr>
          <p:cNvPr id="3" name="Content Placeholder 2">
            <a:extLst>
              <a:ext uri="{FF2B5EF4-FFF2-40B4-BE49-F238E27FC236}">
                <a16:creationId xmlns:a16="http://schemas.microsoft.com/office/drawing/2014/main" id="{09601C0B-8E05-46B3-96EA-10E0C181A73F}"/>
              </a:ext>
            </a:extLst>
          </p:cNvPr>
          <p:cNvSpPr>
            <a:spLocks noGrp="1"/>
          </p:cNvSpPr>
          <p:nvPr>
            <p:ph idx="1"/>
          </p:nvPr>
        </p:nvSpPr>
        <p:spPr/>
        <p:txBody>
          <a:bodyPr/>
          <a:lstStyle/>
          <a:p>
            <a:r>
              <a:rPr lang="en-GB" dirty="0"/>
              <a:t>It outlines the importance of the issue at hand</a:t>
            </a:r>
            <a:endParaRPr lang="en-US" dirty="0"/>
          </a:p>
        </p:txBody>
      </p:sp>
    </p:spTree>
    <p:extLst>
      <p:ext uri="{BB962C8B-B14F-4D97-AF65-F5344CB8AC3E}">
        <p14:creationId xmlns:p14="http://schemas.microsoft.com/office/powerpoint/2010/main" val="29458196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F3122-990E-4714-B9CF-D8E3FDEDC71D}"/>
              </a:ext>
            </a:extLst>
          </p:cNvPr>
          <p:cNvSpPr>
            <a:spLocks noGrp="1"/>
          </p:cNvSpPr>
          <p:nvPr>
            <p:ph type="title"/>
          </p:nvPr>
        </p:nvSpPr>
        <p:spPr/>
        <p:txBody>
          <a:bodyPr/>
          <a:lstStyle/>
          <a:p>
            <a:r>
              <a:rPr lang="en-GB" dirty="0"/>
              <a:t>Limitations of the study</a:t>
            </a:r>
            <a:endParaRPr lang="en-US" dirty="0"/>
          </a:p>
        </p:txBody>
      </p:sp>
      <p:sp>
        <p:nvSpPr>
          <p:cNvPr id="3" name="Content Placeholder 2">
            <a:extLst>
              <a:ext uri="{FF2B5EF4-FFF2-40B4-BE49-F238E27FC236}">
                <a16:creationId xmlns:a16="http://schemas.microsoft.com/office/drawing/2014/main" id="{48AD3C3C-FE1A-41CF-ABC7-8CBCCAF35F03}"/>
              </a:ext>
            </a:extLst>
          </p:cNvPr>
          <p:cNvSpPr>
            <a:spLocks noGrp="1"/>
          </p:cNvSpPr>
          <p:nvPr>
            <p:ph idx="1"/>
          </p:nvPr>
        </p:nvSpPr>
        <p:spPr/>
        <p:txBody>
          <a:bodyPr/>
          <a:lstStyle/>
          <a:p>
            <a:r>
              <a:rPr lang="en-GB" dirty="0"/>
              <a:t>Indicates the challenges anticipated of faced by the researcher.</a:t>
            </a:r>
          </a:p>
          <a:p>
            <a:r>
              <a:rPr lang="en-GB" dirty="0" err="1"/>
              <a:t>Eg</a:t>
            </a:r>
            <a:r>
              <a:rPr lang="en-GB" dirty="0"/>
              <a:t> time, low response rate data inaccessibility and unanticipated occurrences</a:t>
            </a:r>
            <a:endParaRPr lang="en-US" dirty="0"/>
          </a:p>
        </p:txBody>
      </p:sp>
    </p:spTree>
    <p:extLst>
      <p:ext uri="{BB962C8B-B14F-4D97-AF65-F5344CB8AC3E}">
        <p14:creationId xmlns:p14="http://schemas.microsoft.com/office/powerpoint/2010/main" val="15208410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
            </a:r>
            <a:br>
              <a:rPr lang="en-GB" dirty="0"/>
            </a:br>
            <a:r>
              <a:rPr lang="en-GB" dirty="0"/>
              <a:t>1.7operational definitions</a:t>
            </a:r>
          </a:p>
        </p:txBody>
      </p:sp>
      <p:sp>
        <p:nvSpPr>
          <p:cNvPr id="3" name="Content Placeholder 2"/>
          <p:cNvSpPr>
            <a:spLocks noGrp="1"/>
          </p:cNvSpPr>
          <p:nvPr>
            <p:ph idx="1"/>
          </p:nvPr>
        </p:nvSpPr>
        <p:spPr/>
        <p:txBody>
          <a:bodyPr>
            <a:normAutofit/>
          </a:bodyPr>
          <a:lstStyle/>
          <a:p>
            <a:r>
              <a:rPr lang="en-GB" sz="3200" dirty="0"/>
              <a:t>Define key terms you are going to use in the study</a:t>
            </a:r>
          </a:p>
          <a:p>
            <a:r>
              <a:rPr lang="en-GB" sz="3200" dirty="0"/>
              <a:t>You are required to invent or explain these concepts in your own words.</a:t>
            </a:r>
          </a:p>
          <a:p>
            <a:pPr algn="just"/>
            <a:r>
              <a:rPr lang="en-GB" sz="3200" dirty="0"/>
              <a:t>Theobald (1991) affirms that “the terms in this section should be terms directly related to your research that will be used by you throughout the research.</a:t>
            </a:r>
          </a:p>
          <a:p>
            <a:pPr algn="just"/>
            <a:r>
              <a:rPr lang="en-GB" sz="3200" dirty="0"/>
              <a:t> It is up to you a researcher, to define each term as you want the reader to know that term. </a:t>
            </a:r>
          </a:p>
        </p:txBody>
      </p:sp>
    </p:spTree>
    <p:extLst>
      <p:ext uri="{BB962C8B-B14F-4D97-AF65-F5344CB8AC3E}">
        <p14:creationId xmlns:p14="http://schemas.microsoft.com/office/powerpoint/2010/main" val="3021305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1.9 proposal outline</a:t>
            </a:r>
          </a:p>
        </p:txBody>
      </p:sp>
      <p:sp>
        <p:nvSpPr>
          <p:cNvPr id="3" name="Content Placeholder 2"/>
          <p:cNvSpPr>
            <a:spLocks noGrp="1"/>
          </p:cNvSpPr>
          <p:nvPr>
            <p:ph idx="1"/>
          </p:nvPr>
        </p:nvSpPr>
        <p:spPr/>
        <p:txBody>
          <a:bodyPr/>
          <a:lstStyle/>
          <a:p>
            <a:r>
              <a:rPr lang="en-GB" dirty="0"/>
              <a:t>Briefly Outline all the chapters in your proposal</a:t>
            </a:r>
          </a:p>
        </p:txBody>
      </p:sp>
    </p:spTree>
    <p:extLst>
      <p:ext uri="{BB962C8B-B14F-4D97-AF65-F5344CB8AC3E}">
        <p14:creationId xmlns:p14="http://schemas.microsoft.com/office/powerpoint/2010/main" val="45254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Chapter two Literature Review</a:t>
            </a:r>
          </a:p>
        </p:txBody>
      </p:sp>
      <p:sp>
        <p:nvSpPr>
          <p:cNvPr id="3" name="Content Placeholder 2"/>
          <p:cNvSpPr>
            <a:spLocks noGrp="1"/>
          </p:cNvSpPr>
          <p:nvPr>
            <p:ph idx="1"/>
          </p:nvPr>
        </p:nvSpPr>
        <p:spPr>
          <a:xfrm>
            <a:off x="838200" y="1563757"/>
            <a:ext cx="10515600" cy="4929118"/>
          </a:xfrm>
        </p:spPr>
        <p:txBody>
          <a:bodyPr>
            <a:noAutofit/>
          </a:bodyPr>
          <a:lstStyle/>
          <a:p>
            <a:r>
              <a:rPr lang="en-GB" sz="3600" dirty="0"/>
              <a:t>A literature review survey scholarly articles, books and other sources relevant or related  to the particular issue  of research and by doing so providing a description, summary and critical evaluation of these works.</a:t>
            </a:r>
          </a:p>
          <a:p>
            <a:r>
              <a:rPr lang="en-GB" sz="3600" dirty="0"/>
              <a:t>Divide your work under review into themes or categories</a:t>
            </a:r>
          </a:p>
          <a:p>
            <a:r>
              <a:rPr lang="en-GB" sz="3600" dirty="0"/>
              <a:t>Should include the historical background of the phenomenon to be researched on.</a:t>
            </a:r>
          </a:p>
        </p:txBody>
      </p:sp>
    </p:spTree>
    <p:extLst>
      <p:ext uri="{BB962C8B-B14F-4D97-AF65-F5344CB8AC3E}">
        <p14:creationId xmlns:p14="http://schemas.microsoft.com/office/powerpoint/2010/main" val="2714898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Literature Review</a:t>
            </a:r>
          </a:p>
        </p:txBody>
      </p:sp>
      <p:sp>
        <p:nvSpPr>
          <p:cNvPr id="3" name="Content Placeholder 2"/>
          <p:cNvSpPr>
            <a:spLocks noGrp="1"/>
          </p:cNvSpPr>
          <p:nvPr>
            <p:ph idx="1"/>
          </p:nvPr>
        </p:nvSpPr>
        <p:spPr/>
        <p:txBody>
          <a:bodyPr>
            <a:normAutofit lnSpcReduction="10000"/>
          </a:bodyPr>
          <a:lstStyle/>
          <a:p>
            <a:pPr marL="0" indent="0">
              <a:buNone/>
            </a:pPr>
            <a:r>
              <a:rPr lang="en-GB" b="1" dirty="0"/>
              <a:t>1. </a:t>
            </a:r>
            <a:r>
              <a:rPr lang="en-GB" sz="3200" b="1" dirty="0"/>
              <a:t>Argumentative Review</a:t>
            </a:r>
          </a:p>
          <a:p>
            <a:r>
              <a:rPr lang="en-GB" sz="3200" dirty="0"/>
              <a:t>Examines literature selectively in order to support or refute an argument</a:t>
            </a:r>
          </a:p>
          <a:p>
            <a:pPr marL="0" indent="0">
              <a:buNone/>
            </a:pPr>
            <a:r>
              <a:rPr lang="en-GB" sz="3200" b="1" dirty="0"/>
              <a:t>2. Integrative literature</a:t>
            </a:r>
          </a:p>
          <a:p>
            <a:r>
              <a:rPr lang="en-GB" sz="3200" dirty="0"/>
              <a:t>It reviews, critics and synthesizes representative literature on a topic</a:t>
            </a:r>
          </a:p>
          <a:p>
            <a:pPr marL="0" indent="0">
              <a:buNone/>
            </a:pPr>
            <a:r>
              <a:rPr lang="en-GB" sz="3200" b="1" dirty="0"/>
              <a:t>3. Historical review</a:t>
            </a:r>
            <a:r>
              <a:rPr lang="en-GB" sz="3200" dirty="0"/>
              <a:t>: historical precedence and place research in a historical context to show familiarity with new development</a:t>
            </a:r>
          </a:p>
          <a:p>
            <a:endParaRPr lang="en-GB" sz="3200" dirty="0"/>
          </a:p>
          <a:p>
            <a:endParaRPr lang="en-GB" dirty="0"/>
          </a:p>
        </p:txBody>
      </p:sp>
    </p:spTree>
    <p:extLst>
      <p:ext uri="{BB962C8B-B14F-4D97-AF65-F5344CB8AC3E}">
        <p14:creationId xmlns:p14="http://schemas.microsoft.com/office/powerpoint/2010/main" val="36200115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buNone/>
            </a:pPr>
            <a:r>
              <a:rPr lang="en-GB" dirty="0"/>
              <a:t>4.</a:t>
            </a:r>
            <a:r>
              <a:rPr lang="en-GB" b="1" dirty="0"/>
              <a:t> </a:t>
            </a:r>
            <a:r>
              <a:rPr lang="en-GB" sz="3600" b="1" dirty="0"/>
              <a:t>systematic review: </a:t>
            </a:r>
            <a:r>
              <a:rPr lang="en-GB" sz="3600" dirty="0"/>
              <a:t>This form consists of an overview of existing evidence related to a clearly formulated research questions</a:t>
            </a:r>
          </a:p>
          <a:p>
            <a:pPr marL="0" indent="0">
              <a:buNone/>
            </a:pPr>
            <a:endParaRPr lang="en-GB" sz="3600" dirty="0"/>
          </a:p>
          <a:p>
            <a:pPr marL="0" indent="0">
              <a:buNone/>
            </a:pPr>
            <a:endParaRPr lang="en-GB" dirty="0"/>
          </a:p>
        </p:txBody>
      </p:sp>
    </p:spTree>
    <p:extLst>
      <p:ext uri="{BB962C8B-B14F-4D97-AF65-F5344CB8AC3E}">
        <p14:creationId xmlns:p14="http://schemas.microsoft.com/office/powerpoint/2010/main" val="7681518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Theoretical framework</a:t>
            </a:r>
          </a:p>
        </p:txBody>
      </p:sp>
      <p:sp>
        <p:nvSpPr>
          <p:cNvPr id="3" name="Content Placeholder 2"/>
          <p:cNvSpPr>
            <a:spLocks noGrp="1"/>
          </p:cNvSpPr>
          <p:nvPr>
            <p:ph idx="1"/>
          </p:nvPr>
        </p:nvSpPr>
        <p:spPr/>
        <p:txBody>
          <a:bodyPr/>
          <a:lstStyle/>
          <a:p>
            <a:pPr marL="0" indent="0">
              <a:buNone/>
            </a:pPr>
            <a:r>
              <a:rPr lang="en-GB" b="1" dirty="0"/>
              <a:t>6. Theoretical review</a:t>
            </a:r>
          </a:p>
          <a:p>
            <a:pPr marL="0" indent="0">
              <a:buNone/>
            </a:pPr>
            <a:r>
              <a:rPr lang="en-GB" dirty="0"/>
              <a:t>The purpose is to concretely the corpus of the theory that has accumulated in regard to an issue , concept, theory phenomenon.</a:t>
            </a:r>
          </a:p>
        </p:txBody>
      </p:sp>
    </p:spTree>
    <p:extLst>
      <p:ext uri="{BB962C8B-B14F-4D97-AF65-F5344CB8AC3E}">
        <p14:creationId xmlns:p14="http://schemas.microsoft.com/office/powerpoint/2010/main" val="1449413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Theoretical framework </a:t>
            </a:r>
          </a:p>
        </p:txBody>
      </p:sp>
      <p:sp>
        <p:nvSpPr>
          <p:cNvPr id="3" name="Content Placeholder 2"/>
          <p:cNvSpPr>
            <a:spLocks noGrp="1"/>
          </p:cNvSpPr>
          <p:nvPr>
            <p:ph idx="1"/>
          </p:nvPr>
        </p:nvSpPr>
        <p:spPr/>
        <p:txBody>
          <a:bodyPr>
            <a:normAutofit lnSpcReduction="10000"/>
          </a:bodyPr>
          <a:lstStyle/>
          <a:p>
            <a:r>
              <a:rPr lang="en-GB" sz="4000" dirty="0"/>
              <a:t>It is a collection of inter-related ideas based on the theory</a:t>
            </a:r>
          </a:p>
          <a:p>
            <a:r>
              <a:rPr lang="en-GB" sz="4000" dirty="0"/>
              <a:t>Theoretical framework introduces a researcher to a new view of the theory and research problem</a:t>
            </a:r>
          </a:p>
          <a:p>
            <a:r>
              <a:rPr lang="en-GB" sz="4000" dirty="0"/>
              <a:t>It helps the researcher to empirically conceptualise the study or research to already existing theories</a:t>
            </a:r>
          </a:p>
        </p:txBody>
      </p:sp>
    </p:spTree>
    <p:extLst>
      <p:ext uri="{BB962C8B-B14F-4D97-AF65-F5344CB8AC3E}">
        <p14:creationId xmlns:p14="http://schemas.microsoft.com/office/powerpoint/2010/main" val="11402519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Theoretical framework </a:t>
            </a:r>
          </a:p>
        </p:txBody>
      </p:sp>
      <p:sp>
        <p:nvSpPr>
          <p:cNvPr id="3" name="Content Placeholder 2"/>
          <p:cNvSpPr>
            <a:spLocks noGrp="1"/>
          </p:cNvSpPr>
          <p:nvPr>
            <p:ph idx="1"/>
          </p:nvPr>
        </p:nvSpPr>
        <p:spPr/>
        <p:txBody>
          <a:bodyPr>
            <a:normAutofit/>
          </a:bodyPr>
          <a:lstStyle/>
          <a:p>
            <a:r>
              <a:rPr lang="en-GB" sz="3600" dirty="0"/>
              <a:t>It is a collection of inter-related ideas based on the theory</a:t>
            </a:r>
          </a:p>
          <a:p>
            <a:r>
              <a:rPr lang="en-GB" sz="3600" dirty="0"/>
              <a:t>Theoretical framework introduces a researcher to a new view of the theory and research problem</a:t>
            </a:r>
          </a:p>
          <a:p>
            <a:r>
              <a:rPr lang="en-GB" sz="3600" dirty="0"/>
              <a:t>It helps the researcher to empirically conceptualise the study or research</a:t>
            </a:r>
          </a:p>
        </p:txBody>
      </p:sp>
    </p:spTree>
    <p:extLst>
      <p:ext uri="{BB962C8B-B14F-4D97-AF65-F5344CB8AC3E}">
        <p14:creationId xmlns:p14="http://schemas.microsoft.com/office/powerpoint/2010/main" val="2021254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F71CD-0CA9-4431-BD05-B3E7B6599598}"/>
              </a:ext>
            </a:extLst>
          </p:cNvPr>
          <p:cNvSpPr>
            <a:spLocks noGrp="1"/>
          </p:cNvSpPr>
          <p:nvPr>
            <p:ph type="title"/>
          </p:nvPr>
        </p:nvSpPr>
        <p:spPr/>
        <p:txBody>
          <a:bodyPr/>
          <a:lstStyle/>
          <a:p>
            <a:r>
              <a:rPr lang="en-US" b="1" dirty="0"/>
              <a:t>conceptual framework</a:t>
            </a:r>
            <a:endParaRPr lang="en-US" dirty="0"/>
          </a:p>
        </p:txBody>
      </p:sp>
      <p:sp>
        <p:nvSpPr>
          <p:cNvPr id="3" name="Content Placeholder 2">
            <a:extLst>
              <a:ext uri="{FF2B5EF4-FFF2-40B4-BE49-F238E27FC236}">
                <a16:creationId xmlns:a16="http://schemas.microsoft.com/office/drawing/2014/main" id="{9423776E-D56E-4B98-8ED9-68A3C775C0D4}"/>
              </a:ext>
            </a:extLst>
          </p:cNvPr>
          <p:cNvSpPr>
            <a:spLocks noGrp="1"/>
          </p:cNvSpPr>
          <p:nvPr>
            <p:ph idx="1"/>
          </p:nvPr>
        </p:nvSpPr>
        <p:spPr/>
        <p:txBody>
          <a:bodyPr>
            <a:normAutofit/>
          </a:bodyPr>
          <a:lstStyle/>
          <a:p>
            <a:pPr algn="just"/>
            <a:r>
              <a:rPr lang="en-US" sz="4000" dirty="0"/>
              <a:t>A </a:t>
            </a:r>
            <a:r>
              <a:rPr lang="en-US" sz="4000" b="1" dirty="0"/>
              <a:t>conceptual framework</a:t>
            </a:r>
            <a:r>
              <a:rPr lang="en-US" sz="4000" dirty="0"/>
              <a:t> illustrates what you expect to find through your research. </a:t>
            </a:r>
          </a:p>
          <a:p>
            <a:pPr algn="just"/>
            <a:r>
              <a:rPr lang="en-US" sz="4000" dirty="0"/>
              <a:t>It represents how the variables you are studying might relate to each other</a:t>
            </a:r>
          </a:p>
          <a:p>
            <a:pPr algn="just"/>
            <a:r>
              <a:rPr lang="en-GB" sz="4000" dirty="0"/>
              <a:t>F</a:t>
            </a:r>
            <a:r>
              <a:rPr lang="en-US" sz="4000" dirty="0"/>
              <a:t>or example: Perceptions of teachers, pupils and parents on the quality of education: A case of selected secondary schools in Lusaka District</a:t>
            </a:r>
          </a:p>
        </p:txBody>
      </p:sp>
    </p:spTree>
    <p:extLst>
      <p:ext uri="{BB962C8B-B14F-4D97-AF65-F5344CB8AC3E}">
        <p14:creationId xmlns:p14="http://schemas.microsoft.com/office/powerpoint/2010/main" val="24908474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C60760-6853-4EF6-8BFF-70C4F341A37B}"/>
              </a:ext>
            </a:extLst>
          </p:cNvPr>
          <p:cNvSpPr>
            <a:spLocks noGrp="1"/>
          </p:cNvSpPr>
          <p:nvPr>
            <p:ph type="title"/>
          </p:nvPr>
        </p:nvSpPr>
        <p:spPr/>
        <p:txBody>
          <a:bodyPr/>
          <a:lstStyle/>
          <a:p>
            <a:r>
              <a:rPr lang="en-GB" dirty="0"/>
              <a:t>Graphical illustration of the conceptual framework</a:t>
            </a:r>
            <a:endParaRPr lang="en-US" dirty="0"/>
          </a:p>
        </p:txBody>
      </p:sp>
      <p:pic>
        <p:nvPicPr>
          <p:cNvPr id="4" name="Content Placeholder 3">
            <a:extLst>
              <a:ext uri="{FF2B5EF4-FFF2-40B4-BE49-F238E27FC236}">
                <a16:creationId xmlns:a16="http://schemas.microsoft.com/office/drawing/2014/main" id="{93814EBE-7A59-4240-8D77-A4499E7E36D7}"/>
              </a:ext>
            </a:extLst>
          </p:cNvPr>
          <p:cNvPicPr>
            <a:picLocks noGrp="1" noChangeAspect="1"/>
          </p:cNvPicPr>
          <p:nvPr>
            <p:ph idx="1"/>
          </p:nvPr>
        </p:nvPicPr>
        <p:blipFill>
          <a:blip r:embed="rId2"/>
          <a:stretch>
            <a:fillRect/>
          </a:stretch>
        </p:blipFill>
        <p:spPr>
          <a:xfrm>
            <a:off x="1272209" y="1690689"/>
            <a:ext cx="9594574" cy="4802186"/>
          </a:xfrm>
          <a:prstGeom prst="rect">
            <a:avLst/>
          </a:prstGeom>
        </p:spPr>
      </p:pic>
    </p:spTree>
    <p:extLst>
      <p:ext uri="{BB962C8B-B14F-4D97-AF65-F5344CB8AC3E}">
        <p14:creationId xmlns:p14="http://schemas.microsoft.com/office/powerpoint/2010/main" val="7350380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Identified gaps and justification</a:t>
            </a:r>
          </a:p>
        </p:txBody>
      </p:sp>
      <p:sp>
        <p:nvSpPr>
          <p:cNvPr id="3" name="Content Placeholder 2"/>
          <p:cNvSpPr>
            <a:spLocks noGrp="1"/>
          </p:cNvSpPr>
          <p:nvPr>
            <p:ph idx="1"/>
          </p:nvPr>
        </p:nvSpPr>
        <p:spPr/>
        <p:txBody>
          <a:bodyPr/>
          <a:lstStyle/>
          <a:p>
            <a:r>
              <a:rPr lang="en-GB" sz="3600" dirty="0"/>
              <a:t>The last part of this chapter discusses gaps in knowledge and justification of why it was important to conduct the current study.</a:t>
            </a:r>
          </a:p>
          <a:p>
            <a:r>
              <a:rPr lang="en-GB" sz="3600" dirty="0"/>
              <a:t>Should include the studies conducted by other researchers and the existing gap in knowledge</a:t>
            </a:r>
          </a:p>
          <a:p>
            <a:r>
              <a:rPr lang="en-GB" sz="3600" dirty="0" err="1"/>
              <a:t>Eg.</a:t>
            </a:r>
            <a:r>
              <a:rPr lang="en-GB" sz="3600" dirty="0"/>
              <a:t> The nature of counselling offered to sexually abused children in selected victim support units in Lusaka District.</a:t>
            </a:r>
          </a:p>
          <a:p>
            <a:endParaRPr lang="en-GB" dirty="0"/>
          </a:p>
          <a:p>
            <a:endParaRPr lang="en-GB" dirty="0"/>
          </a:p>
        </p:txBody>
      </p:sp>
    </p:spTree>
    <p:extLst>
      <p:ext uri="{BB962C8B-B14F-4D97-AF65-F5344CB8AC3E}">
        <p14:creationId xmlns:p14="http://schemas.microsoft.com/office/powerpoint/2010/main" val="29934306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Identified gaps and justification</a:t>
            </a:r>
          </a:p>
        </p:txBody>
      </p:sp>
      <p:sp>
        <p:nvSpPr>
          <p:cNvPr id="3" name="Content Placeholder 2"/>
          <p:cNvSpPr>
            <a:spLocks noGrp="1"/>
          </p:cNvSpPr>
          <p:nvPr>
            <p:ph idx="1"/>
          </p:nvPr>
        </p:nvSpPr>
        <p:spPr>
          <a:xfrm>
            <a:off x="838200" y="1825624"/>
            <a:ext cx="10515600" cy="4760705"/>
          </a:xfrm>
        </p:spPr>
        <p:txBody>
          <a:bodyPr>
            <a:noAutofit/>
          </a:bodyPr>
          <a:lstStyle/>
          <a:p>
            <a:r>
              <a:rPr lang="en-GB" sz="3200" dirty="0"/>
              <a:t>There is still a gap in knowledge on counselling services offered to sexually abused children not only in Zambia but also other countries. </a:t>
            </a:r>
          </a:p>
          <a:p>
            <a:r>
              <a:rPr lang="en-GB" sz="3200" dirty="0"/>
              <a:t>WHO (2010) reports that, research on treatment and preventive efforts of CSA remains largely under explored globally. </a:t>
            </a:r>
          </a:p>
          <a:p>
            <a:r>
              <a:rPr lang="en-GB" sz="3200" dirty="0"/>
              <a:t>Following the review of literature on various studies on CSA, it was found that, the objectives and the problem for the current study were not earlier on explored by other researchers in this field. </a:t>
            </a:r>
          </a:p>
        </p:txBody>
      </p:sp>
    </p:spTree>
    <p:extLst>
      <p:ext uri="{BB962C8B-B14F-4D97-AF65-F5344CB8AC3E}">
        <p14:creationId xmlns:p14="http://schemas.microsoft.com/office/powerpoint/2010/main" val="2927188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In Zambia some of the studies that have been conducted mainly focused on prevalence and factors contributing to child sexual abuse.</a:t>
            </a:r>
          </a:p>
          <a:p>
            <a:r>
              <a:rPr lang="en-GB" dirty="0"/>
              <a:t>List the studies by highlighting the key research findings</a:t>
            </a:r>
          </a:p>
          <a:p>
            <a:r>
              <a:rPr lang="en-GB" dirty="0"/>
              <a:t>The current study however, took a different approach to explore counselling offered to sexually abused children in Lusaka District.</a:t>
            </a:r>
          </a:p>
          <a:p>
            <a:endParaRPr lang="en-GB" dirty="0"/>
          </a:p>
          <a:p>
            <a:endParaRPr lang="en-GB" dirty="0"/>
          </a:p>
        </p:txBody>
      </p:sp>
    </p:spTree>
    <p:extLst>
      <p:ext uri="{BB962C8B-B14F-4D97-AF65-F5344CB8AC3E}">
        <p14:creationId xmlns:p14="http://schemas.microsoft.com/office/powerpoint/2010/main" val="1612859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Therefore, the gap in knowledge on the nature of counselling services offered to sexually abused children warrants research in order to effectively respond to the psychological needs of sexually abused children especially that most children who are sexually abused are school going.</a:t>
            </a:r>
          </a:p>
        </p:txBody>
      </p:sp>
    </p:spTree>
    <p:extLst>
      <p:ext uri="{BB962C8B-B14F-4D97-AF65-F5344CB8AC3E}">
        <p14:creationId xmlns:p14="http://schemas.microsoft.com/office/powerpoint/2010/main" val="21410402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Chapter two  summary</a:t>
            </a:r>
          </a:p>
        </p:txBody>
      </p:sp>
    </p:spTree>
    <p:extLst>
      <p:ext uri="{BB962C8B-B14F-4D97-AF65-F5344CB8AC3E}">
        <p14:creationId xmlns:p14="http://schemas.microsoft.com/office/powerpoint/2010/main" val="1983087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Chapter three methodology</a:t>
            </a:r>
          </a:p>
        </p:txBody>
      </p:sp>
      <p:sp>
        <p:nvSpPr>
          <p:cNvPr id="3" name="Content Placeholder 2"/>
          <p:cNvSpPr>
            <a:spLocks noGrp="1"/>
          </p:cNvSpPr>
          <p:nvPr>
            <p:ph idx="1"/>
          </p:nvPr>
        </p:nvSpPr>
        <p:spPr/>
        <p:txBody>
          <a:bodyPr>
            <a:normAutofit fontScale="92500" lnSpcReduction="20000"/>
          </a:bodyPr>
          <a:lstStyle/>
          <a:p>
            <a:r>
              <a:rPr lang="en-GB" dirty="0"/>
              <a:t>Introduction</a:t>
            </a:r>
          </a:p>
          <a:p>
            <a:r>
              <a:rPr lang="en-GB" dirty="0"/>
              <a:t>Research design</a:t>
            </a:r>
          </a:p>
          <a:p>
            <a:r>
              <a:rPr lang="en-GB" dirty="0"/>
              <a:t>Include type of research. </a:t>
            </a:r>
            <a:r>
              <a:rPr lang="en-GB" dirty="0" err="1"/>
              <a:t>Eg</a:t>
            </a:r>
            <a:r>
              <a:rPr lang="en-GB" dirty="0"/>
              <a:t>.  Qualitative</a:t>
            </a:r>
          </a:p>
          <a:p>
            <a:r>
              <a:rPr lang="en-GB" dirty="0"/>
              <a:t>Types of research designs</a:t>
            </a:r>
          </a:p>
          <a:p>
            <a:r>
              <a:rPr lang="en-GB" sz="3900" u="sng" dirty="0"/>
              <a:t>Qualitative research designs</a:t>
            </a:r>
          </a:p>
          <a:p>
            <a:r>
              <a:rPr lang="en-GB" dirty="0"/>
              <a:t>Case study</a:t>
            </a:r>
          </a:p>
          <a:p>
            <a:r>
              <a:rPr lang="en-GB" dirty="0"/>
              <a:t>Ethnography</a:t>
            </a:r>
          </a:p>
          <a:p>
            <a:r>
              <a:rPr lang="en-GB" dirty="0"/>
              <a:t>Phenomenological research</a:t>
            </a:r>
          </a:p>
          <a:p>
            <a:r>
              <a:rPr lang="en-GB" dirty="0"/>
              <a:t>Narrative research</a:t>
            </a:r>
          </a:p>
          <a:p>
            <a:r>
              <a:rPr lang="en-GB" dirty="0"/>
              <a:t>Historical research</a:t>
            </a:r>
          </a:p>
          <a:p>
            <a:pPr marL="0" indent="0">
              <a:buNone/>
            </a:pPr>
            <a:endParaRPr lang="en-GB" dirty="0"/>
          </a:p>
        </p:txBody>
      </p:sp>
    </p:spTree>
    <p:extLst>
      <p:ext uri="{BB962C8B-B14F-4D97-AF65-F5344CB8AC3E}">
        <p14:creationId xmlns:p14="http://schemas.microsoft.com/office/powerpoint/2010/main" val="24111937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Quantitative research designs</a:t>
            </a:r>
          </a:p>
        </p:txBody>
      </p:sp>
      <p:sp>
        <p:nvSpPr>
          <p:cNvPr id="3" name="Content Placeholder 2"/>
          <p:cNvSpPr>
            <a:spLocks noGrp="1"/>
          </p:cNvSpPr>
          <p:nvPr>
            <p:ph idx="1"/>
          </p:nvPr>
        </p:nvSpPr>
        <p:spPr/>
        <p:txBody>
          <a:bodyPr/>
          <a:lstStyle/>
          <a:p>
            <a:r>
              <a:rPr lang="en-GB" dirty="0"/>
              <a:t>Descriptive survey research</a:t>
            </a:r>
          </a:p>
          <a:p>
            <a:r>
              <a:rPr lang="en-GB" dirty="0"/>
              <a:t>Experimental research</a:t>
            </a:r>
          </a:p>
          <a:p>
            <a:r>
              <a:rPr lang="en-GB" dirty="0"/>
              <a:t>Single-subject research</a:t>
            </a:r>
          </a:p>
          <a:p>
            <a:r>
              <a:rPr lang="en-GB" dirty="0"/>
              <a:t>Causal-comparative research</a:t>
            </a:r>
          </a:p>
          <a:p>
            <a:r>
              <a:rPr lang="en-GB" dirty="0"/>
              <a:t>Correlational research</a:t>
            </a:r>
          </a:p>
          <a:p>
            <a:r>
              <a:rPr lang="en-GB" dirty="0"/>
              <a:t>Meta-analysis</a:t>
            </a:r>
          </a:p>
          <a:p>
            <a:endParaRPr lang="en-GB" dirty="0"/>
          </a:p>
        </p:txBody>
      </p:sp>
    </p:spTree>
    <p:extLst>
      <p:ext uri="{BB962C8B-B14F-4D97-AF65-F5344CB8AC3E}">
        <p14:creationId xmlns:p14="http://schemas.microsoft.com/office/powerpoint/2010/main" val="41612596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5714-95CD-4B28-9B99-8E0772E45D50}"/>
              </a:ext>
            </a:extLst>
          </p:cNvPr>
          <p:cNvSpPr>
            <a:spLocks noGrp="1"/>
          </p:cNvSpPr>
          <p:nvPr>
            <p:ph type="title"/>
          </p:nvPr>
        </p:nvSpPr>
        <p:spPr/>
        <p:txBody>
          <a:bodyPr/>
          <a:lstStyle/>
          <a:p>
            <a:r>
              <a:rPr lang="en-GB" dirty="0"/>
              <a:t>Research Approach</a:t>
            </a:r>
            <a:endParaRPr lang="en-US" dirty="0"/>
          </a:p>
        </p:txBody>
      </p:sp>
      <p:sp>
        <p:nvSpPr>
          <p:cNvPr id="3" name="Content Placeholder 2">
            <a:extLst>
              <a:ext uri="{FF2B5EF4-FFF2-40B4-BE49-F238E27FC236}">
                <a16:creationId xmlns:a16="http://schemas.microsoft.com/office/drawing/2014/main" id="{92068EB9-B2FC-4661-B9F9-7FC6261B2F2B}"/>
              </a:ext>
            </a:extLst>
          </p:cNvPr>
          <p:cNvSpPr>
            <a:spLocks noGrp="1"/>
          </p:cNvSpPr>
          <p:nvPr>
            <p:ph idx="1"/>
          </p:nvPr>
        </p:nvSpPr>
        <p:spPr/>
        <p:txBody>
          <a:bodyPr/>
          <a:lstStyle/>
          <a:p>
            <a:r>
              <a:rPr lang="en-GB" dirty="0"/>
              <a:t>Inductive or deductive  approach</a:t>
            </a:r>
            <a:endParaRPr lang="en-US" dirty="0"/>
          </a:p>
        </p:txBody>
      </p:sp>
    </p:spTree>
    <p:extLst>
      <p:ext uri="{BB962C8B-B14F-4D97-AF65-F5344CB8AC3E}">
        <p14:creationId xmlns:p14="http://schemas.microsoft.com/office/powerpoint/2010/main" val="21575527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Universe population</a:t>
            </a:r>
          </a:p>
        </p:txBody>
      </p:sp>
      <p:sp>
        <p:nvSpPr>
          <p:cNvPr id="3" name="Content Placeholder 2"/>
          <p:cNvSpPr>
            <a:spLocks noGrp="1"/>
          </p:cNvSpPr>
          <p:nvPr>
            <p:ph idx="1"/>
          </p:nvPr>
        </p:nvSpPr>
        <p:spPr/>
        <p:txBody>
          <a:bodyPr/>
          <a:lstStyle/>
          <a:p>
            <a:r>
              <a:rPr lang="en-GB" dirty="0"/>
              <a:t>Population refers to a group from which the sample is drawn (Cohen et al. 2006). </a:t>
            </a:r>
          </a:p>
          <a:p>
            <a:r>
              <a:rPr lang="en-GB" dirty="0"/>
              <a:t>It is a group of individuals, objects or items are taken for measurement</a:t>
            </a:r>
          </a:p>
        </p:txBody>
      </p:sp>
    </p:spTree>
    <p:extLst>
      <p:ext uri="{BB962C8B-B14F-4D97-AF65-F5344CB8AC3E}">
        <p14:creationId xmlns:p14="http://schemas.microsoft.com/office/powerpoint/2010/main" val="28803005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Qualities of an effective population</a:t>
            </a:r>
          </a:p>
        </p:txBody>
      </p:sp>
      <p:sp>
        <p:nvSpPr>
          <p:cNvPr id="3" name="Content Placeholder 2"/>
          <p:cNvSpPr>
            <a:spLocks noGrp="1"/>
          </p:cNvSpPr>
          <p:nvPr>
            <p:ph idx="1"/>
          </p:nvPr>
        </p:nvSpPr>
        <p:spPr/>
        <p:txBody>
          <a:bodyPr/>
          <a:lstStyle/>
          <a:p>
            <a:r>
              <a:rPr lang="en-GB" b="1" dirty="0"/>
              <a:t>Diversity</a:t>
            </a:r>
          </a:p>
          <a:p>
            <a:r>
              <a:rPr lang="en-GB" b="1" dirty="0"/>
              <a:t>Representative: </a:t>
            </a:r>
            <a:r>
              <a:rPr lang="en-GB" dirty="0"/>
              <a:t>chose respondents who will fulfil the questions the research is addressing</a:t>
            </a:r>
          </a:p>
          <a:p>
            <a:r>
              <a:rPr lang="en-GB" b="1" dirty="0"/>
              <a:t>Accessibility</a:t>
            </a:r>
          </a:p>
          <a:p>
            <a:r>
              <a:rPr lang="en-GB" b="1" dirty="0"/>
              <a:t>knowledge</a:t>
            </a:r>
          </a:p>
        </p:txBody>
      </p:sp>
    </p:spTree>
    <p:extLst>
      <p:ext uri="{BB962C8B-B14F-4D97-AF65-F5344CB8AC3E}">
        <p14:creationId xmlns:p14="http://schemas.microsoft.com/office/powerpoint/2010/main" val="37257285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Study site</a:t>
            </a:r>
          </a:p>
        </p:txBody>
      </p:sp>
      <p:sp>
        <p:nvSpPr>
          <p:cNvPr id="3" name="Content Placeholder 2"/>
          <p:cNvSpPr>
            <a:spLocks noGrp="1"/>
          </p:cNvSpPr>
          <p:nvPr>
            <p:ph idx="1"/>
          </p:nvPr>
        </p:nvSpPr>
        <p:spPr/>
        <p:txBody>
          <a:bodyPr/>
          <a:lstStyle/>
          <a:p>
            <a:r>
              <a:rPr lang="en-GB" b="1" dirty="0"/>
              <a:t> </a:t>
            </a:r>
            <a:r>
              <a:rPr lang="en-GB" dirty="0"/>
              <a:t>a place/ places where the research/ study will be conducted.</a:t>
            </a:r>
            <a:endParaRPr lang="en-GB" b="1" dirty="0"/>
          </a:p>
        </p:txBody>
      </p:sp>
    </p:spTree>
    <p:extLst>
      <p:ext uri="{BB962C8B-B14F-4D97-AF65-F5344CB8AC3E}">
        <p14:creationId xmlns:p14="http://schemas.microsoft.com/office/powerpoint/2010/main" val="366168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Sample</a:t>
            </a:r>
          </a:p>
        </p:txBody>
      </p:sp>
      <p:sp>
        <p:nvSpPr>
          <p:cNvPr id="3" name="Content Placeholder 2"/>
          <p:cNvSpPr>
            <a:spLocks noGrp="1"/>
          </p:cNvSpPr>
          <p:nvPr>
            <p:ph idx="1"/>
          </p:nvPr>
        </p:nvSpPr>
        <p:spPr/>
        <p:txBody>
          <a:bodyPr/>
          <a:lstStyle/>
          <a:p>
            <a:pPr marL="0" indent="0">
              <a:buNone/>
            </a:pPr>
            <a:r>
              <a:rPr lang="en-GB" dirty="0"/>
              <a:t>A sample refers to a subset of the population that is selected for a particular study</a:t>
            </a:r>
          </a:p>
          <a:p>
            <a:pPr marL="0" indent="0">
              <a:buNone/>
            </a:pPr>
            <a:r>
              <a:rPr lang="en-GB" dirty="0"/>
              <a:t>Indicate the total number of participants</a:t>
            </a:r>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39329397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Sampling procedures</a:t>
            </a:r>
          </a:p>
        </p:txBody>
      </p:sp>
      <p:sp>
        <p:nvSpPr>
          <p:cNvPr id="3" name="Content Placeholder 2"/>
          <p:cNvSpPr>
            <a:spLocks noGrp="1"/>
          </p:cNvSpPr>
          <p:nvPr>
            <p:ph idx="1"/>
          </p:nvPr>
        </p:nvSpPr>
        <p:spPr/>
        <p:txBody>
          <a:bodyPr/>
          <a:lstStyle/>
          <a:p>
            <a:r>
              <a:rPr lang="en-GB" dirty="0"/>
              <a:t>Kahn and Best (2009) describe sampling as a procedure employed by a researcher to select or gather respondents to a sample.</a:t>
            </a:r>
          </a:p>
          <a:p>
            <a:r>
              <a:rPr lang="en-GB" b="1" dirty="0"/>
              <a:t>TYPES OF SAMPLING PROCEDURES</a:t>
            </a:r>
          </a:p>
          <a:p>
            <a:r>
              <a:rPr lang="en-GB" b="1" dirty="0"/>
              <a:t>Probability sampling</a:t>
            </a:r>
          </a:p>
          <a:p>
            <a:r>
              <a:rPr lang="en-GB" b="1" dirty="0"/>
              <a:t>Non-probability sampling</a:t>
            </a:r>
          </a:p>
        </p:txBody>
      </p:sp>
    </p:spTree>
    <p:extLst>
      <p:ext uri="{BB962C8B-B14F-4D97-AF65-F5344CB8AC3E}">
        <p14:creationId xmlns:p14="http://schemas.microsoft.com/office/powerpoint/2010/main" val="21777058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probability sampling</a:t>
            </a:r>
          </a:p>
        </p:txBody>
      </p:sp>
      <p:sp>
        <p:nvSpPr>
          <p:cNvPr id="3" name="Content Placeholder 2"/>
          <p:cNvSpPr>
            <a:spLocks noGrp="1"/>
          </p:cNvSpPr>
          <p:nvPr>
            <p:ph idx="1"/>
          </p:nvPr>
        </p:nvSpPr>
        <p:spPr/>
        <p:txBody>
          <a:bodyPr>
            <a:normAutofit/>
          </a:bodyPr>
          <a:lstStyle/>
          <a:p>
            <a:pPr marL="571500" indent="-571500" algn="just">
              <a:buAutoNum type="romanLcPeriod"/>
            </a:pPr>
            <a:r>
              <a:rPr lang="en-GB" b="1" dirty="0"/>
              <a:t>Simple random sampling</a:t>
            </a:r>
            <a:r>
              <a:rPr lang="en-GB" dirty="0"/>
              <a:t>: total number of all pupils then can use a sequence of numbers from a random numbers tables (draws of a hat, flip charts of the coin)</a:t>
            </a:r>
          </a:p>
          <a:p>
            <a:pPr algn="just"/>
            <a:r>
              <a:rPr lang="en-GB" dirty="0"/>
              <a:t>Select for example 10% or 20% or some portion of names on that list making sure that the researcher is not drawing from any letter of the alphabet more heavily than other (</a:t>
            </a:r>
            <a:r>
              <a:rPr lang="en-GB" dirty="0" err="1"/>
              <a:t>Kombo</a:t>
            </a:r>
            <a:r>
              <a:rPr lang="en-GB" dirty="0"/>
              <a:t> and Tromp, 2006: 78-79)</a:t>
            </a:r>
          </a:p>
        </p:txBody>
      </p:sp>
    </p:spTree>
    <p:extLst>
      <p:ext uri="{BB962C8B-B14F-4D97-AF65-F5344CB8AC3E}">
        <p14:creationId xmlns:p14="http://schemas.microsoft.com/office/powerpoint/2010/main" val="23706823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buNone/>
            </a:pPr>
            <a:r>
              <a:rPr lang="en-GB" b="1" dirty="0"/>
              <a:t>ii. Stratified random sampling: </a:t>
            </a:r>
            <a:r>
              <a:rPr lang="en-GB" dirty="0"/>
              <a:t>involves dividing your population into homogeneous sub-groups and then take a simple random sample in each sub-group. Appropriate when researching on gender, age, race </a:t>
            </a:r>
            <a:r>
              <a:rPr lang="en-GB" dirty="0" err="1"/>
              <a:t>etc</a:t>
            </a:r>
            <a:endParaRPr lang="en-GB" dirty="0"/>
          </a:p>
        </p:txBody>
      </p:sp>
    </p:spTree>
    <p:extLst>
      <p:ext uri="{BB962C8B-B14F-4D97-AF65-F5344CB8AC3E}">
        <p14:creationId xmlns:p14="http://schemas.microsoft.com/office/powerpoint/2010/main" val="31264258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b="1" dirty="0"/>
              <a:t>Iii. Cluster random sampling:</a:t>
            </a:r>
          </a:p>
          <a:p>
            <a:r>
              <a:rPr lang="en-GB" dirty="0"/>
              <a:t>In an event where population is spread across the wide geographical area one may have to use cluster random sampling. For example surveys of all secondary schools in Kitwe.</a:t>
            </a:r>
          </a:p>
          <a:p>
            <a:r>
              <a:rPr lang="en-GB" dirty="0"/>
              <a:t>This method allows for the divisions of the study population into clusters or other boundaries</a:t>
            </a:r>
          </a:p>
        </p:txBody>
      </p:sp>
    </p:spTree>
    <p:extLst>
      <p:ext uri="{BB962C8B-B14F-4D97-AF65-F5344CB8AC3E}">
        <p14:creationId xmlns:p14="http://schemas.microsoft.com/office/powerpoint/2010/main" val="1815949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iv. Systematic random sampling</a:t>
            </a:r>
          </a:p>
        </p:txBody>
      </p:sp>
      <p:sp>
        <p:nvSpPr>
          <p:cNvPr id="3" name="Content Placeholder 2"/>
          <p:cNvSpPr>
            <a:spLocks noGrp="1"/>
          </p:cNvSpPr>
          <p:nvPr>
            <p:ph idx="1"/>
          </p:nvPr>
        </p:nvSpPr>
        <p:spPr>
          <a:xfrm>
            <a:off x="1981200" y="1556793"/>
            <a:ext cx="8229600" cy="4525963"/>
          </a:xfrm>
        </p:spPr>
        <p:txBody>
          <a:bodyPr/>
          <a:lstStyle/>
          <a:p>
            <a:r>
              <a:rPr lang="en-GB" dirty="0" err="1"/>
              <a:t>Eg</a:t>
            </a:r>
            <a:r>
              <a:rPr lang="en-GB" dirty="0"/>
              <a:t> selection of every 10</a:t>
            </a:r>
            <a:r>
              <a:rPr lang="en-GB" baseline="30000" dirty="0"/>
              <a:t>th</a:t>
            </a:r>
            <a:r>
              <a:rPr lang="en-GB" dirty="0"/>
              <a:t> or 20</a:t>
            </a:r>
            <a:r>
              <a:rPr lang="en-GB" baseline="30000" dirty="0"/>
              <a:t>th</a:t>
            </a:r>
            <a:r>
              <a:rPr lang="en-GB" dirty="0"/>
              <a:t> person is called the sampling interval ( to participate in the study) </a:t>
            </a:r>
          </a:p>
          <a:p>
            <a:r>
              <a:rPr lang="en-GB" dirty="0"/>
              <a:t>This is done systematically and the entire list is used, the researcher is then said to be systematically random sampling.</a:t>
            </a:r>
          </a:p>
        </p:txBody>
      </p:sp>
    </p:spTree>
    <p:extLst>
      <p:ext uri="{BB962C8B-B14F-4D97-AF65-F5344CB8AC3E}">
        <p14:creationId xmlns:p14="http://schemas.microsoft.com/office/powerpoint/2010/main" val="27400606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Non-Probability sampling</a:t>
            </a:r>
          </a:p>
        </p:txBody>
      </p:sp>
      <p:sp>
        <p:nvSpPr>
          <p:cNvPr id="3" name="Content Placeholder 2"/>
          <p:cNvSpPr>
            <a:spLocks noGrp="1"/>
          </p:cNvSpPr>
          <p:nvPr>
            <p:ph idx="1"/>
          </p:nvPr>
        </p:nvSpPr>
        <p:spPr/>
        <p:txBody>
          <a:bodyPr>
            <a:normAutofit/>
          </a:bodyPr>
          <a:lstStyle/>
          <a:p>
            <a:r>
              <a:rPr lang="en-GB" sz="4000" dirty="0"/>
              <a:t>It is a sampling method  based on the availability and willingness of respondents to participate in the study and on those places that are typical of the population in terms of the features being studied </a:t>
            </a:r>
          </a:p>
        </p:txBody>
      </p:sp>
    </p:spTree>
    <p:extLst>
      <p:ext uri="{BB962C8B-B14F-4D97-AF65-F5344CB8AC3E}">
        <p14:creationId xmlns:p14="http://schemas.microsoft.com/office/powerpoint/2010/main" val="37819015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normAutofit/>
          </a:bodyPr>
          <a:lstStyle/>
          <a:p>
            <a:pPr marL="571500" indent="-571500">
              <a:buAutoNum type="romanLcPeriod"/>
            </a:pPr>
            <a:r>
              <a:rPr lang="en-GB" sz="4400" b="1" dirty="0"/>
              <a:t>Quota Sampling</a:t>
            </a:r>
            <a:r>
              <a:rPr lang="en-GB" sz="4400" dirty="0"/>
              <a:t>: </a:t>
            </a:r>
          </a:p>
          <a:p>
            <a:pPr marL="0" indent="0">
              <a:buNone/>
            </a:pPr>
            <a:r>
              <a:rPr lang="en-GB" sz="4400" dirty="0"/>
              <a:t>Divides the population into relevant strata such as age, gender or geographical region..</a:t>
            </a:r>
          </a:p>
        </p:txBody>
      </p:sp>
    </p:spTree>
    <p:extLst>
      <p:ext uri="{BB962C8B-B14F-4D97-AF65-F5344CB8AC3E}">
        <p14:creationId xmlns:p14="http://schemas.microsoft.com/office/powerpoint/2010/main" val="25657072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buNone/>
            </a:pPr>
            <a:r>
              <a:rPr lang="en-GB" dirty="0"/>
              <a:t>ii. </a:t>
            </a:r>
            <a:r>
              <a:rPr lang="en-GB" b="1" dirty="0"/>
              <a:t>Convenience sapling</a:t>
            </a:r>
          </a:p>
          <a:p>
            <a:pPr marL="0" indent="0" algn="just">
              <a:buNone/>
            </a:pPr>
            <a:r>
              <a:rPr lang="en-GB" dirty="0"/>
              <a:t>This method is based on using people who are a captive audience people the researcher meets haphazardly. Respondents are people who are willing to participate in the study.</a:t>
            </a:r>
          </a:p>
          <a:p>
            <a:pPr marL="0" indent="0">
              <a:buNone/>
            </a:pPr>
            <a:endParaRPr lang="en-GB" dirty="0"/>
          </a:p>
        </p:txBody>
      </p:sp>
    </p:spTree>
    <p:extLst>
      <p:ext uri="{BB962C8B-B14F-4D97-AF65-F5344CB8AC3E}">
        <p14:creationId xmlns:p14="http://schemas.microsoft.com/office/powerpoint/2010/main" val="9015578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iii. </a:t>
            </a:r>
            <a:r>
              <a:rPr lang="en-GB" b="1" dirty="0"/>
              <a:t>Purposive sampling</a:t>
            </a:r>
          </a:p>
          <a:p>
            <a:pPr algn="just"/>
            <a:r>
              <a:rPr lang="en-GB" dirty="0"/>
              <a:t>A type of sampling which is based entirely on the judgment of the researcher in that a sample is composed of elements that contain the most characteristics , representative or typical attributes of the population, a judgment is made about which subjects should be selected to provide the best information to address the purpose of the research</a:t>
            </a:r>
          </a:p>
        </p:txBody>
      </p:sp>
    </p:spTree>
    <p:extLst>
      <p:ext uri="{BB962C8B-B14F-4D97-AF65-F5344CB8AC3E}">
        <p14:creationId xmlns:p14="http://schemas.microsoft.com/office/powerpoint/2010/main" val="34782286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dirty="0"/>
              <a:t>iii. </a:t>
            </a:r>
            <a:r>
              <a:rPr lang="en-GB" b="1" dirty="0"/>
              <a:t>Purposive sampling</a:t>
            </a:r>
          </a:p>
          <a:p>
            <a:pPr algn="just"/>
            <a:r>
              <a:rPr lang="en-GB" dirty="0"/>
              <a:t>A type of sampling which is based entirely on the judgment of the researcher in that a sample is composed of elements that contain the most characteristics , representative or typical attributes of the population, a judgment is made about which subjects should be selected to provide the best information to address the purpose of the research</a:t>
            </a:r>
          </a:p>
        </p:txBody>
      </p:sp>
    </p:spTree>
    <p:extLst>
      <p:ext uri="{BB962C8B-B14F-4D97-AF65-F5344CB8AC3E}">
        <p14:creationId xmlns:p14="http://schemas.microsoft.com/office/powerpoint/2010/main" val="13884536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GB" sz="3600" dirty="0"/>
              <a:t>Iv. </a:t>
            </a:r>
            <a:r>
              <a:rPr lang="en-GB" sz="3600" b="1" dirty="0"/>
              <a:t>Snowball Sampling</a:t>
            </a:r>
          </a:p>
          <a:p>
            <a:pPr algn="just"/>
            <a:r>
              <a:rPr lang="en-GB" sz="3600" dirty="0"/>
              <a:t>The researcher will identify few participants at the beginning of the research and then the researcher will ask the participants to identify one or more people who meet certain characteristics and can be willing to participate in the study.</a:t>
            </a:r>
          </a:p>
        </p:txBody>
      </p:sp>
    </p:spTree>
    <p:extLst>
      <p:ext uri="{BB962C8B-B14F-4D97-AF65-F5344CB8AC3E}">
        <p14:creationId xmlns:p14="http://schemas.microsoft.com/office/powerpoint/2010/main" val="1303412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Research instruments</a:t>
            </a:r>
          </a:p>
        </p:txBody>
      </p:sp>
      <p:sp>
        <p:nvSpPr>
          <p:cNvPr id="3" name="Content Placeholder 2"/>
          <p:cNvSpPr>
            <a:spLocks noGrp="1"/>
          </p:cNvSpPr>
          <p:nvPr>
            <p:ph idx="1"/>
          </p:nvPr>
        </p:nvSpPr>
        <p:spPr/>
        <p:txBody>
          <a:bodyPr/>
          <a:lstStyle/>
          <a:p>
            <a:pPr algn="just"/>
            <a:r>
              <a:rPr lang="en-GB" b="1" dirty="0"/>
              <a:t>Questionnaires</a:t>
            </a:r>
          </a:p>
          <a:p>
            <a:pPr algn="just"/>
            <a:r>
              <a:rPr lang="en-GB" b="1" dirty="0"/>
              <a:t>Interviews: </a:t>
            </a:r>
            <a:r>
              <a:rPr lang="en-GB" dirty="0"/>
              <a:t>unstructured, semi-structured interviews and structured.</a:t>
            </a:r>
          </a:p>
          <a:p>
            <a:pPr algn="just"/>
            <a:r>
              <a:rPr lang="en-GB" b="1" dirty="0"/>
              <a:t>Focus group discussions</a:t>
            </a:r>
          </a:p>
          <a:p>
            <a:pPr algn="just"/>
            <a:r>
              <a:rPr lang="en-GB" b="1" dirty="0"/>
              <a:t>Observation: </a:t>
            </a:r>
            <a:r>
              <a:rPr lang="en-GB" dirty="0"/>
              <a:t>participation observation, non-participation observation.</a:t>
            </a:r>
          </a:p>
          <a:p>
            <a:endParaRPr lang="en-GB" dirty="0"/>
          </a:p>
        </p:txBody>
      </p:sp>
    </p:spTree>
    <p:extLst>
      <p:ext uri="{BB962C8B-B14F-4D97-AF65-F5344CB8AC3E}">
        <p14:creationId xmlns:p14="http://schemas.microsoft.com/office/powerpoint/2010/main" val="31777486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Ethical considerations</a:t>
            </a:r>
          </a:p>
        </p:txBody>
      </p:sp>
      <p:sp>
        <p:nvSpPr>
          <p:cNvPr id="3" name="Content Placeholder 2"/>
          <p:cNvSpPr>
            <a:spLocks noGrp="1"/>
          </p:cNvSpPr>
          <p:nvPr>
            <p:ph idx="1"/>
          </p:nvPr>
        </p:nvSpPr>
        <p:spPr/>
        <p:txBody>
          <a:bodyPr/>
          <a:lstStyle/>
          <a:p>
            <a:r>
              <a:rPr lang="en-GB" dirty="0"/>
              <a:t>Research permit from the institution</a:t>
            </a:r>
          </a:p>
          <a:p>
            <a:r>
              <a:rPr lang="en-GB" dirty="0"/>
              <a:t>Informed consent</a:t>
            </a:r>
          </a:p>
          <a:p>
            <a:r>
              <a:rPr lang="en-GB" dirty="0"/>
              <a:t>Voluntary participation</a:t>
            </a:r>
          </a:p>
          <a:p>
            <a:r>
              <a:rPr lang="en-GB" dirty="0"/>
              <a:t>confidentiality</a:t>
            </a:r>
          </a:p>
        </p:txBody>
      </p:sp>
    </p:spTree>
    <p:extLst>
      <p:ext uri="{BB962C8B-B14F-4D97-AF65-F5344CB8AC3E}">
        <p14:creationId xmlns:p14="http://schemas.microsoft.com/office/powerpoint/2010/main" val="14785792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Ethical considerations</a:t>
            </a:r>
          </a:p>
        </p:txBody>
      </p:sp>
      <p:sp>
        <p:nvSpPr>
          <p:cNvPr id="3" name="Content Placeholder 2"/>
          <p:cNvSpPr>
            <a:spLocks noGrp="1"/>
          </p:cNvSpPr>
          <p:nvPr>
            <p:ph idx="1"/>
          </p:nvPr>
        </p:nvSpPr>
        <p:spPr/>
        <p:txBody>
          <a:bodyPr/>
          <a:lstStyle/>
          <a:p>
            <a:r>
              <a:rPr lang="en-GB" dirty="0"/>
              <a:t>Research permit from the institution</a:t>
            </a:r>
          </a:p>
          <a:p>
            <a:r>
              <a:rPr lang="en-GB" dirty="0"/>
              <a:t>Informed consent</a:t>
            </a:r>
          </a:p>
          <a:p>
            <a:r>
              <a:rPr lang="en-GB" dirty="0"/>
              <a:t>Voluntary participation</a:t>
            </a:r>
          </a:p>
          <a:p>
            <a:r>
              <a:rPr lang="en-GB" dirty="0"/>
              <a:t>confidentiality</a:t>
            </a:r>
          </a:p>
        </p:txBody>
      </p:sp>
    </p:spTree>
    <p:extLst>
      <p:ext uri="{BB962C8B-B14F-4D97-AF65-F5344CB8AC3E}">
        <p14:creationId xmlns:p14="http://schemas.microsoft.com/office/powerpoint/2010/main" val="16542617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05EC-B564-4F51-AE4C-5B9A6454A6CC}"/>
              </a:ext>
            </a:extLst>
          </p:cNvPr>
          <p:cNvSpPr>
            <a:spLocks noGrp="1"/>
          </p:cNvSpPr>
          <p:nvPr>
            <p:ph type="title"/>
          </p:nvPr>
        </p:nvSpPr>
        <p:spPr/>
        <p:txBody>
          <a:bodyPr/>
          <a:lstStyle/>
          <a:p>
            <a:r>
              <a:rPr lang="en-GB" dirty="0"/>
              <a:t>Time Horizon</a:t>
            </a:r>
            <a:endParaRPr lang="en-US" dirty="0"/>
          </a:p>
        </p:txBody>
      </p:sp>
      <p:sp>
        <p:nvSpPr>
          <p:cNvPr id="3" name="Content Placeholder 2">
            <a:extLst>
              <a:ext uri="{FF2B5EF4-FFF2-40B4-BE49-F238E27FC236}">
                <a16:creationId xmlns:a16="http://schemas.microsoft.com/office/drawing/2014/main" id="{A759535C-BCE4-4E54-915F-221E052926E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04001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2CC85-7698-486A-9F80-72E93F5B114D}"/>
              </a:ext>
            </a:extLst>
          </p:cNvPr>
          <p:cNvSpPr>
            <a:spLocks noGrp="1"/>
          </p:cNvSpPr>
          <p:nvPr>
            <p:ph type="title"/>
          </p:nvPr>
        </p:nvSpPr>
        <p:spPr/>
        <p:txBody>
          <a:bodyPr/>
          <a:lstStyle/>
          <a:p>
            <a:r>
              <a:rPr lang="en-GB" dirty="0"/>
              <a:t>Methodology</a:t>
            </a:r>
            <a:endParaRPr lang="en-US" dirty="0"/>
          </a:p>
        </p:txBody>
      </p:sp>
      <p:sp>
        <p:nvSpPr>
          <p:cNvPr id="3" name="Content Placeholder 2">
            <a:extLst>
              <a:ext uri="{FF2B5EF4-FFF2-40B4-BE49-F238E27FC236}">
                <a16:creationId xmlns:a16="http://schemas.microsoft.com/office/drawing/2014/main" id="{AE1C6D24-E442-4DE0-AEED-42DD99FA293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077557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Two major scientific Approaches</a:t>
            </a:r>
          </a:p>
        </p:txBody>
      </p:sp>
      <p:sp>
        <p:nvSpPr>
          <p:cNvPr id="3" name="Content Placeholder 2"/>
          <p:cNvSpPr>
            <a:spLocks noGrp="1"/>
          </p:cNvSpPr>
          <p:nvPr>
            <p:ph idx="1"/>
          </p:nvPr>
        </p:nvSpPr>
        <p:spPr/>
        <p:txBody>
          <a:bodyPr>
            <a:normAutofit/>
          </a:bodyPr>
          <a:lstStyle/>
          <a:p>
            <a:pPr algn="just"/>
            <a:r>
              <a:rPr lang="en-GB" dirty="0"/>
              <a:t>1</a:t>
            </a:r>
            <a:r>
              <a:rPr lang="en-GB" b="1" dirty="0"/>
              <a:t>. Deductive: </a:t>
            </a:r>
            <a:r>
              <a:rPr lang="en-GB" dirty="0"/>
              <a:t>Is a top-down approach because it starts with a theory or hypothesis. The steps move from general to particular.</a:t>
            </a:r>
          </a:p>
          <a:p>
            <a:pPr algn="just"/>
            <a:r>
              <a:rPr lang="en-GB" b="1" dirty="0"/>
              <a:t>Steps in deductive method</a:t>
            </a:r>
          </a:p>
          <a:p>
            <a:pPr marL="571500" indent="-571500" algn="just">
              <a:buFont typeface="+mj-lt"/>
              <a:buAutoNum type="romanUcPeriod"/>
            </a:pPr>
            <a:r>
              <a:rPr lang="en-GB" dirty="0"/>
              <a:t>Researcher states a hypothesis which is based on an existing  theory.</a:t>
            </a:r>
          </a:p>
          <a:p>
            <a:pPr marL="571500" indent="-571500" algn="just">
              <a:buFont typeface="+mj-lt"/>
              <a:buAutoNum type="romanUcPeriod"/>
            </a:pPr>
            <a:r>
              <a:rPr lang="en-GB" dirty="0"/>
              <a:t>Researcher collects data to be used to test the hypothesis empirically.</a:t>
            </a:r>
          </a:p>
          <a:p>
            <a:pPr marL="571500" indent="-571500" algn="just">
              <a:buFont typeface="+mj-lt"/>
              <a:buAutoNum type="romanUcPeriod"/>
            </a:pPr>
            <a:r>
              <a:rPr lang="en-GB" dirty="0"/>
              <a:t>Researcher makes a decision to either accept or reject a theory on the basis of data</a:t>
            </a:r>
          </a:p>
          <a:p>
            <a:endParaRPr lang="en-GB" dirty="0"/>
          </a:p>
        </p:txBody>
      </p:sp>
    </p:spTree>
    <p:extLst>
      <p:ext uri="{BB962C8B-B14F-4D97-AF65-F5344CB8AC3E}">
        <p14:creationId xmlns:p14="http://schemas.microsoft.com/office/powerpoint/2010/main" val="29600744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GB" dirty="0"/>
              <a:t>2. </a:t>
            </a:r>
            <a:r>
              <a:rPr lang="en-GB" b="1" dirty="0"/>
              <a:t>Inductive Method: </a:t>
            </a:r>
            <a:r>
              <a:rPr lang="en-GB" dirty="0"/>
              <a:t>is the </a:t>
            </a:r>
            <a:r>
              <a:rPr lang="en-GB" dirty="0">
                <a:solidFill>
                  <a:srgbClr val="C00000"/>
                </a:solidFill>
              </a:rPr>
              <a:t>bottom-up </a:t>
            </a:r>
            <a:r>
              <a:rPr lang="en-GB" dirty="0"/>
              <a:t>approach because it moves from particular to general. It starts with specific observation to tentative generalisation about how some aspects of the world operates..</a:t>
            </a:r>
          </a:p>
        </p:txBody>
      </p:sp>
    </p:spTree>
    <p:extLst>
      <p:ext uri="{BB962C8B-B14F-4D97-AF65-F5344CB8AC3E}">
        <p14:creationId xmlns:p14="http://schemas.microsoft.com/office/powerpoint/2010/main" val="16741463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110AB-2E66-480C-9465-CC77729CF830}"/>
              </a:ext>
            </a:extLst>
          </p:cNvPr>
          <p:cNvSpPr>
            <a:spLocks noGrp="1"/>
          </p:cNvSpPr>
          <p:nvPr>
            <p:ph type="title"/>
          </p:nvPr>
        </p:nvSpPr>
        <p:spPr/>
        <p:txBody>
          <a:bodyPr/>
          <a:lstStyle/>
          <a:p>
            <a:r>
              <a:rPr lang="en-GB" dirty="0"/>
              <a:t>Chapter four finding and analysis</a:t>
            </a:r>
            <a:endParaRPr lang="en-US" dirty="0"/>
          </a:p>
        </p:txBody>
      </p:sp>
      <p:sp>
        <p:nvSpPr>
          <p:cNvPr id="3" name="Content Placeholder 2">
            <a:extLst>
              <a:ext uri="{FF2B5EF4-FFF2-40B4-BE49-F238E27FC236}">
                <a16:creationId xmlns:a16="http://schemas.microsoft.com/office/drawing/2014/main" id="{8A10E2BC-3436-4867-8741-3C873173ED94}"/>
              </a:ext>
            </a:extLst>
          </p:cNvPr>
          <p:cNvSpPr>
            <a:spLocks noGrp="1"/>
          </p:cNvSpPr>
          <p:nvPr>
            <p:ph idx="1"/>
          </p:nvPr>
        </p:nvSpPr>
        <p:spPr/>
        <p:txBody>
          <a:bodyPr>
            <a:noAutofit/>
          </a:bodyPr>
          <a:lstStyle/>
          <a:p>
            <a:r>
              <a:rPr lang="en-GB" sz="3600" dirty="0"/>
              <a:t>Expected to do two things in this chapter- findings and analysis</a:t>
            </a:r>
          </a:p>
          <a:p>
            <a:r>
              <a:rPr lang="en-GB" sz="3600" dirty="0"/>
              <a:t>Findings you could actually structure this chapter on the basis of research questions and objectives- findings RDS, Analysis=ROS</a:t>
            </a:r>
          </a:p>
          <a:p>
            <a:r>
              <a:rPr lang="en-GB" sz="3600" dirty="0"/>
              <a:t>The analysis is what enables you to answer the Research Objectives</a:t>
            </a:r>
          </a:p>
          <a:p>
            <a:r>
              <a:rPr lang="en-GB" sz="3600" dirty="0"/>
              <a:t>Written in past tense</a:t>
            </a:r>
          </a:p>
          <a:p>
            <a:endParaRPr lang="en-US" sz="3600" dirty="0"/>
          </a:p>
        </p:txBody>
      </p:sp>
    </p:spTree>
    <p:extLst>
      <p:ext uri="{BB962C8B-B14F-4D97-AF65-F5344CB8AC3E}">
        <p14:creationId xmlns:p14="http://schemas.microsoft.com/office/powerpoint/2010/main" val="24095005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59C4-4C4E-40B0-89F1-EC269080B031}"/>
              </a:ext>
            </a:extLst>
          </p:cNvPr>
          <p:cNvSpPr>
            <a:spLocks noGrp="1"/>
          </p:cNvSpPr>
          <p:nvPr>
            <p:ph type="title"/>
          </p:nvPr>
        </p:nvSpPr>
        <p:spPr/>
        <p:txBody>
          <a:bodyPr/>
          <a:lstStyle/>
          <a:p>
            <a:r>
              <a:rPr lang="en-GB" dirty="0"/>
              <a:t>Chapter four sub-topics</a:t>
            </a:r>
            <a:endParaRPr lang="en-US" dirty="0"/>
          </a:p>
        </p:txBody>
      </p:sp>
      <p:sp>
        <p:nvSpPr>
          <p:cNvPr id="3" name="Content Placeholder 2">
            <a:extLst>
              <a:ext uri="{FF2B5EF4-FFF2-40B4-BE49-F238E27FC236}">
                <a16:creationId xmlns:a16="http://schemas.microsoft.com/office/drawing/2014/main" id="{C3E0ABCE-2CD0-4337-BB2C-0A5CD56C00D9}"/>
              </a:ext>
            </a:extLst>
          </p:cNvPr>
          <p:cNvSpPr>
            <a:spLocks noGrp="1"/>
          </p:cNvSpPr>
          <p:nvPr>
            <p:ph idx="1"/>
          </p:nvPr>
        </p:nvSpPr>
        <p:spPr/>
        <p:txBody>
          <a:bodyPr/>
          <a:lstStyle/>
          <a:p>
            <a:r>
              <a:rPr lang="en-GB" b="1" dirty="0"/>
              <a:t>4.1 Introduction</a:t>
            </a:r>
            <a:endParaRPr lang="en-US" dirty="0"/>
          </a:p>
          <a:p>
            <a:r>
              <a:rPr lang="en-GB" b="1" dirty="0"/>
              <a:t>4.2 Profiles of respondents</a:t>
            </a:r>
            <a:endParaRPr lang="en-US" dirty="0"/>
          </a:p>
          <a:p>
            <a:r>
              <a:rPr lang="en-GB" b="1" dirty="0"/>
              <a:t>4.3 Assessment of findings and analysis for each Instruments</a:t>
            </a:r>
            <a:endParaRPr lang="en-US" dirty="0"/>
          </a:p>
          <a:p>
            <a:r>
              <a:rPr lang="en-GB" b="1" dirty="0"/>
              <a:t>4.4 Chapter summary</a:t>
            </a:r>
            <a:endParaRPr lang="en-US" dirty="0"/>
          </a:p>
          <a:p>
            <a:endParaRPr lang="en-US" dirty="0"/>
          </a:p>
        </p:txBody>
      </p:sp>
    </p:spTree>
    <p:extLst>
      <p:ext uri="{BB962C8B-B14F-4D97-AF65-F5344CB8AC3E}">
        <p14:creationId xmlns:p14="http://schemas.microsoft.com/office/powerpoint/2010/main" val="37967388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73FF-745C-4A50-89D9-287C80F66B96}"/>
              </a:ext>
            </a:extLst>
          </p:cNvPr>
          <p:cNvSpPr>
            <a:spLocks noGrp="1"/>
          </p:cNvSpPr>
          <p:nvPr>
            <p:ph type="title"/>
          </p:nvPr>
        </p:nvSpPr>
        <p:spPr/>
        <p:txBody>
          <a:bodyPr/>
          <a:lstStyle/>
          <a:p>
            <a:r>
              <a:rPr lang="en-GB" dirty="0"/>
              <a:t>Chapter five: discussion, conclusion and recommendations</a:t>
            </a:r>
            <a:endParaRPr lang="en-US" dirty="0"/>
          </a:p>
        </p:txBody>
      </p:sp>
      <p:sp>
        <p:nvSpPr>
          <p:cNvPr id="3" name="Content Placeholder 2">
            <a:extLst>
              <a:ext uri="{FF2B5EF4-FFF2-40B4-BE49-F238E27FC236}">
                <a16:creationId xmlns:a16="http://schemas.microsoft.com/office/drawing/2014/main" id="{41AC97D7-7980-4999-A6F8-993ED4B99040}"/>
              </a:ext>
            </a:extLst>
          </p:cNvPr>
          <p:cNvSpPr>
            <a:spLocks noGrp="1"/>
          </p:cNvSpPr>
          <p:nvPr>
            <p:ph idx="1"/>
          </p:nvPr>
        </p:nvSpPr>
        <p:spPr/>
        <p:txBody>
          <a:bodyPr/>
          <a:lstStyle/>
          <a:p>
            <a:r>
              <a:rPr lang="en-GB" dirty="0"/>
              <a:t>Your supervisor’s will guide you on how to present chapter five</a:t>
            </a:r>
            <a:endParaRPr lang="en-US" dirty="0"/>
          </a:p>
        </p:txBody>
      </p:sp>
    </p:spTree>
    <p:extLst>
      <p:ext uri="{BB962C8B-B14F-4D97-AF65-F5344CB8AC3E}">
        <p14:creationId xmlns:p14="http://schemas.microsoft.com/office/powerpoint/2010/main" val="22860373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0364-1DE0-4ABA-B61C-D32162AFFC92}"/>
              </a:ext>
            </a:extLst>
          </p:cNvPr>
          <p:cNvSpPr>
            <a:spLocks noGrp="1"/>
          </p:cNvSpPr>
          <p:nvPr>
            <p:ph type="title"/>
          </p:nvPr>
        </p:nvSpPr>
        <p:spPr/>
        <p:txBody>
          <a:bodyPr/>
          <a:lstStyle/>
          <a:p>
            <a:r>
              <a:rPr lang="en-GB" dirty="0"/>
              <a:t>conclusion</a:t>
            </a:r>
            <a:endParaRPr lang="en-US" dirty="0"/>
          </a:p>
        </p:txBody>
      </p:sp>
      <p:sp>
        <p:nvSpPr>
          <p:cNvPr id="3" name="Content Placeholder 2">
            <a:extLst>
              <a:ext uri="{FF2B5EF4-FFF2-40B4-BE49-F238E27FC236}">
                <a16:creationId xmlns:a16="http://schemas.microsoft.com/office/drawing/2014/main" id="{ED21F88B-0547-4D18-B641-E17E0887D40D}"/>
              </a:ext>
            </a:extLst>
          </p:cNvPr>
          <p:cNvSpPr>
            <a:spLocks noGrp="1"/>
          </p:cNvSpPr>
          <p:nvPr>
            <p:ph idx="1"/>
          </p:nvPr>
        </p:nvSpPr>
        <p:spPr/>
        <p:txBody>
          <a:bodyPr>
            <a:normAutofit/>
          </a:bodyPr>
          <a:lstStyle/>
          <a:p>
            <a:r>
              <a:rPr lang="en-GB" sz="4000" dirty="0"/>
              <a:t>The conclusion section should be very brief about half a page </a:t>
            </a:r>
          </a:p>
          <a:p>
            <a:r>
              <a:rPr lang="en-GB" sz="4000" dirty="0"/>
              <a:t>It should include key findings and </a:t>
            </a:r>
            <a:r>
              <a:rPr lang="en-GB" sz="4000"/>
              <a:t>briefly discusses </a:t>
            </a:r>
            <a:r>
              <a:rPr lang="en-GB" sz="4000" dirty="0"/>
              <a:t>some of the strategies highlighted by the respondents.</a:t>
            </a:r>
          </a:p>
          <a:p>
            <a:r>
              <a:rPr lang="en-GB" sz="4000" dirty="0"/>
              <a:t>The researcher should also state clearly how the study has contributed to knowledge</a:t>
            </a:r>
            <a:endParaRPr lang="en-US" sz="4000" dirty="0"/>
          </a:p>
        </p:txBody>
      </p:sp>
    </p:spTree>
    <p:extLst>
      <p:ext uri="{BB962C8B-B14F-4D97-AF65-F5344CB8AC3E}">
        <p14:creationId xmlns:p14="http://schemas.microsoft.com/office/powerpoint/2010/main" val="5935807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DE3C7-8F5F-4271-93EC-9713D78B23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236658-4F05-4A71-85F2-CC72CB6006C9}"/>
              </a:ext>
            </a:extLst>
          </p:cNvPr>
          <p:cNvSpPr>
            <a:spLocks noGrp="1"/>
          </p:cNvSpPr>
          <p:nvPr>
            <p:ph idx="1"/>
          </p:nvPr>
        </p:nvSpPr>
        <p:spPr/>
        <p:txBody>
          <a:bodyPr/>
          <a:lstStyle/>
          <a:p>
            <a:r>
              <a:rPr lang="en-GB" dirty="0"/>
              <a:t>Your conclusion should follow logically from your findings and not consist any new material.</a:t>
            </a:r>
          </a:p>
        </p:txBody>
      </p:sp>
    </p:spTree>
    <p:extLst>
      <p:ext uri="{BB962C8B-B14F-4D97-AF65-F5344CB8AC3E}">
        <p14:creationId xmlns:p14="http://schemas.microsoft.com/office/powerpoint/2010/main" val="3522069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39322</TotalTime>
  <Words>3283</Words>
  <Application>Microsoft Office PowerPoint</Application>
  <PresentationFormat>Widescreen</PresentationFormat>
  <Paragraphs>419</Paragraphs>
  <Slides>93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93</vt:i4>
      </vt:variant>
    </vt:vector>
  </HeadingPairs>
  <TitlesOfParts>
    <vt:vector size="97" baseType="lpstr">
      <vt:lpstr>Arial</vt:lpstr>
      <vt:lpstr>Calibri</vt:lpstr>
      <vt:lpstr>Calibri Light</vt:lpstr>
      <vt:lpstr>Office Theme</vt:lpstr>
      <vt:lpstr>Dissertation writing </vt:lpstr>
      <vt:lpstr>Aims of the course</vt:lpstr>
      <vt:lpstr>Purpose of research</vt:lpstr>
      <vt:lpstr>Summary of assessment</vt:lpstr>
      <vt:lpstr>Characteristics of Scientific Research methods</vt:lpstr>
      <vt:lpstr>Roles of the student</vt:lpstr>
      <vt:lpstr>PowerPoint Presentation</vt:lpstr>
      <vt:lpstr>Roles of the supervisor</vt:lpstr>
      <vt:lpstr>Characteristics of academic writing</vt:lpstr>
      <vt:lpstr>The research process</vt:lpstr>
      <vt:lpstr>The Research Proposal</vt:lpstr>
      <vt:lpstr>What is the research topic</vt:lpstr>
      <vt:lpstr>PowerPoint Presentation</vt:lpstr>
      <vt:lpstr>Steps in research topic selection</vt:lpstr>
      <vt:lpstr>Step 2: Read General Background Information </vt:lpstr>
      <vt:lpstr>Step 3: Focus on Your Topic </vt:lpstr>
      <vt:lpstr>Step 4: Make a List of Useful Keywords </vt:lpstr>
      <vt:lpstr>Step 5: Be Flexible </vt:lpstr>
      <vt:lpstr>Step 6: Define Your Topic as a Focused Research Question </vt:lpstr>
      <vt:lpstr>Step 7: Research and Read More About Your Topic </vt:lpstr>
      <vt:lpstr>Step 8: Formulate a Thesis Statement </vt:lpstr>
      <vt:lpstr>CONCLUDING THOUGHTS ON TOPIC SELECTION</vt:lpstr>
      <vt:lpstr>Qualities of an effective research topic</vt:lpstr>
      <vt:lpstr>Challenges  in topic selection</vt:lpstr>
      <vt:lpstr>Qualities of an effective tittle</vt:lpstr>
      <vt:lpstr>EXAMPLES OF RESEARCH TOPICS AND TITTLES</vt:lpstr>
      <vt:lpstr>PowerPoint Presentation</vt:lpstr>
      <vt:lpstr>A practical way of phrasing a research topic</vt:lpstr>
      <vt:lpstr>TOPIC SELECTION AND RESEARCH VARIABLES</vt:lpstr>
      <vt:lpstr>PowerPoint Presentation</vt:lpstr>
      <vt:lpstr>RESEARCH THEMES- ZCASU</vt:lpstr>
      <vt:lpstr>PROBLEM AREA number one: Public sector under performance </vt:lpstr>
      <vt:lpstr>Problem area two: weak and unsustainable business strategies and models</vt:lpstr>
      <vt:lpstr>Problem area number 3: ICT challenges</vt:lpstr>
      <vt:lpstr>Problem area number 4: Socio-Economic development challenges</vt:lpstr>
      <vt:lpstr>Preliminary pages</vt:lpstr>
      <vt:lpstr>CHAPTER ONE: INTRODUCTION</vt:lpstr>
      <vt:lpstr>1.1 Background</vt:lpstr>
      <vt:lpstr>1.2 statement of the problem</vt:lpstr>
      <vt:lpstr>For example</vt:lpstr>
      <vt:lpstr>1.3 objectives</vt:lpstr>
      <vt:lpstr>Things to avoid when formulating research objectives</vt:lpstr>
      <vt:lpstr>Research hypothesis</vt:lpstr>
      <vt:lpstr>Hypothesis</vt:lpstr>
      <vt:lpstr>Research questions</vt:lpstr>
      <vt:lpstr>1.6  Delimitations</vt:lpstr>
      <vt:lpstr>Significance of the study</vt:lpstr>
      <vt:lpstr>Limitations of the study</vt:lpstr>
      <vt:lpstr> 1.7operational definitions</vt:lpstr>
      <vt:lpstr>1.9 proposal outline</vt:lpstr>
      <vt:lpstr>Chapter two Literature Review</vt:lpstr>
      <vt:lpstr>Types of Literature Review</vt:lpstr>
      <vt:lpstr>PowerPoint Presentation</vt:lpstr>
      <vt:lpstr>Theoretical framework</vt:lpstr>
      <vt:lpstr>Theoretical framework </vt:lpstr>
      <vt:lpstr>Theoretical framework </vt:lpstr>
      <vt:lpstr>conceptual framework</vt:lpstr>
      <vt:lpstr>Graphical illustration of the conceptual framework</vt:lpstr>
      <vt:lpstr>Identified gaps and justification</vt:lpstr>
      <vt:lpstr>Identified gaps and justification</vt:lpstr>
      <vt:lpstr>PowerPoint Presentation</vt:lpstr>
      <vt:lpstr>PowerPoint Presentation</vt:lpstr>
      <vt:lpstr>PowerPoint Presentation</vt:lpstr>
      <vt:lpstr>Chapter three methodology</vt:lpstr>
      <vt:lpstr>Quantitative research designs</vt:lpstr>
      <vt:lpstr>Research Approach</vt:lpstr>
      <vt:lpstr>Universe population</vt:lpstr>
      <vt:lpstr>Qualities of an effective population</vt:lpstr>
      <vt:lpstr>Study site</vt:lpstr>
      <vt:lpstr>Sample</vt:lpstr>
      <vt:lpstr>Sampling procedures</vt:lpstr>
      <vt:lpstr>Types of probability sampling</vt:lpstr>
      <vt:lpstr>PowerPoint Presentation</vt:lpstr>
      <vt:lpstr>PowerPoint Presentation</vt:lpstr>
      <vt:lpstr>iv. Systematic random sampling</vt:lpstr>
      <vt:lpstr>2. Non-Probability sampling</vt:lpstr>
      <vt:lpstr>PowerPoint Presentation</vt:lpstr>
      <vt:lpstr>PowerPoint Presentation</vt:lpstr>
      <vt:lpstr>PowerPoint Presentation</vt:lpstr>
      <vt:lpstr>PowerPoint Presentation</vt:lpstr>
      <vt:lpstr>PowerPoint Presentation</vt:lpstr>
      <vt:lpstr>Research instruments</vt:lpstr>
      <vt:lpstr>Ethical considerations</vt:lpstr>
      <vt:lpstr>Ethical considerations</vt:lpstr>
      <vt:lpstr>Time Horizon</vt:lpstr>
      <vt:lpstr>Methodology</vt:lpstr>
      <vt:lpstr>Two major scientific Approaches</vt:lpstr>
      <vt:lpstr>PowerPoint Presentation</vt:lpstr>
      <vt:lpstr>Chapter four finding and analysis</vt:lpstr>
      <vt:lpstr>Chapter four sub-topics</vt:lpstr>
      <vt:lpstr>Chapter five: discussion, conclusion and 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Dissertation writing</dc:title>
  <dc:creator>Marien Matafwali</dc:creator>
  <cp:lastModifiedBy>ZCAS</cp:lastModifiedBy>
  <cp:revision>76</cp:revision>
  <dcterms:created xsi:type="dcterms:W3CDTF">2020-07-20T07:57:59Z</dcterms:created>
  <dcterms:modified xsi:type="dcterms:W3CDTF">2023-02-12T12:14:49Z</dcterms:modified>
</cp:coreProperties>
</file>