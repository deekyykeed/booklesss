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50ECB286-9896-4B51-916D-0FC4F333231A}" type="datetimeFigureOut">
              <a:rPr lang="en-ZA" smtClean="0"/>
              <a:t>2022/02/06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823895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0ECB286-9896-4B51-916D-0FC4F333231A}" type="datetimeFigureOut">
              <a:rPr lang="en-ZA" smtClean="0"/>
              <a:t>2022/02/06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3169421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ECB286-9896-4B51-916D-0FC4F333231A}" type="datetimeFigureOut">
              <a:rPr lang="en-ZA" smtClean="0"/>
              <a:t>2022/02/06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1470142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0ECB286-9896-4B51-916D-0FC4F333231A}" type="datetimeFigureOut">
              <a:rPr lang="en-ZA" smtClean="0"/>
              <a:t>2022/02/06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1004716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50ECB286-9896-4B51-916D-0FC4F333231A}" type="datetimeFigureOut">
              <a:rPr lang="en-ZA" smtClean="0"/>
              <a:t>2022/02/06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3120499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50ECB286-9896-4B51-916D-0FC4F333231A}" type="datetimeFigureOut">
              <a:rPr lang="en-ZA" smtClean="0"/>
              <a:t>2022/02/06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186499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ECB286-9896-4B51-916D-0FC4F333231A}" type="datetimeFigureOut">
              <a:rPr lang="en-ZA" smtClean="0"/>
              <a:t>2022/02/06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3221306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ECB286-9896-4B51-916D-0FC4F333231A}" type="datetimeFigureOut">
              <a:rPr lang="en-ZA" smtClean="0"/>
              <a:t>2022/02/06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1917990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ECB286-9896-4B51-916D-0FC4F333231A}" type="datetimeFigureOut">
              <a:rPr lang="en-ZA" smtClean="0"/>
              <a:t>2022/02/06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3509848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0ECB286-9896-4B51-916D-0FC4F333231A}" type="datetimeFigureOut">
              <a:rPr lang="en-ZA" smtClean="0"/>
              <a:t>2022/02/06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3513894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0ECB286-9896-4B51-916D-0FC4F333231A}" type="datetimeFigureOut">
              <a:rPr lang="en-ZA" smtClean="0"/>
              <a:t>2022/02/06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E68742F-4B49-47E4-B687-00D3EE4B076C}" type="slidenum">
              <a:rPr lang="en-ZA" smtClean="0"/>
              <a:t>‹#›</a:t>
            </a:fld>
            <a:endParaRPr lang="en-ZA"/>
          </a:p>
        </p:txBody>
      </p:sp>
    </p:spTree>
    <p:extLst>
      <p:ext uri="{BB962C8B-B14F-4D97-AF65-F5344CB8AC3E}">
        <p14:creationId xmlns:p14="http://schemas.microsoft.com/office/powerpoint/2010/main" val="1804886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ECB286-9896-4B51-916D-0FC4F333231A}" type="datetimeFigureOut">
              <a:rPr lang="en-ZA" smtClean="0"/>
              <a:t>2022/02/06</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68742F-4B49-47E4-B687-00D3EE4B076C}" type="slidenum">
              <a:rPr lang="en-ZA" smtClean="0"/>
              <a:t>‹#›</a:t>
            </a:fld>
            <a:endParaRPr lang="en-ZA"/>
          </a:p>
        </p:txBody>
      </p:sp>
    </p:spTree>
    <p:extLst>
      <p:ext uri="{BB962C8B-B14F-4D97-AF65-F5344CB8AC3E}">
        <p14:creationId xmlns:p14="http://schemas.microsoft.com/office/powerpoint/2010/main" val="3391881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DISSERTATION</a:t>
            </a:r>
            <a:endParaRPr lang="en-ZA" dirty="0"/>
          </a:p>
        </p:txBody>
      </p:sp>
      <p:sp>
        <p:nvSpPr>
          <p:cNvPr id="3" name="Subtitle 2"/>
          <p:cNvSpPr>
            <a:spLocks noGrp="1"/>
          </p:cNvSpPr>
          <p:nvPr>
            <p:ph type="subTitle" idx="1"/>
          </p:nvPr>
        </p:nvSpPr>
        <p:spPr/>
        <p:txBody>
          <a:bodyPr/>
          <a:lstStyle/>
          <a:p>
            <a:endParaRPr lang="en-ZA"/>
          </a:p>
        </p:txBody>
      </p:sp>
    </p:spTree>
    <p:extLst>
      <p:ext uri="{BB962C8B-B14F-4D97-AF65-F5344CB8AC3E}">
        <p14:creationId xmlns:p14="http://schemas.microsoft.com/office/powerpoint/2010/main" val="1161749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COURSE OBJECTIVES</a:t>
            </a:r>
            <a:endParaRPr lang="en-ZA" dirty="0"/>
          </a:p>
        </p:txBody>
      </p:sp>
      <p:sp>
        <p:nvSpPr>
          <p:cNvPr id="3" name="Content Placeholder 2"/>
          <p:cNvSpPr>
            <a:spLocks noGrp="1"/>
          </p:cNvSpPr>
          <p:nvPr>
            <p:ph idx="1"/>
          </p:nvPr>
        </p:nvSpPr>
        <p:spPr/>
        <p:txBody>
          <a:bodyPr>
            <a:normAutofit fontScale="85000" lnSpcReduction="10000"/>
          </a:bodyPr>
          <a:lstStyle/>
          <a:p>
            <a:endParaRPr lang="en-ZA" dirty="0"/>
          </a:p>
          <a:p>
            <a:r>
              <a:rPr lang="en-GB" dirty="0"/>
              <a:t>Undertake sufficient exploratory research to determine and gain approval for an appropriate research area/thesis statement in a business-related field. </a:t>
            </a:r>
          </a:p>
          <a:p>
            <a:r>
              <a:rPr lang="en-GB" dirty="0" smtClean="0"/>
              <a:t>Gather </a:t>
            </a:r>
            <a:r>
              <a:rPr lang="en-GB" dirty="0"/>
              <a:t>information in a rigorous and scientific manner. </a:t>
            </a:r>
          </a:p>
          <a:p>
            <a:r>
              <a:rPr lang="en-GB" dirty="0" smtClean="0"/>
              <a:t>Engage </a:t>
            </a:r>
            <a:r>
              <a:rPr lang="en-GB" dirty="0"/>
              <a:t>with the research question and assimilate and integrate material in a coherent and systematic manner, demonstrating sound intellectual capabilities. </a:t>
            </a:r>
          </a:p>
          <a:p>
            <a:r>
              <a:rPr lang="en-GB" dirty="0" smtClean="0"/>
              <a:t>Demonstrate </a:t>
            </a:r>
            <a:r>
              <a:rPr lang="en-GB" dirty="0"/>
              <a:t>the capability for self-directed learning, independent thought and initiative. </a:t>
            </a:r>
          </a:p>
        </p:txBody>
      </p:sp>
    </p:spTree>
    <p:extLst>
      <p:ext uri="{BB962C8B-B14F-4D97-AF65-F5344CB8AC3E}">
        <p14:creationId xmlns:p14="http://schemas.microsoft.com/office/powerpoint/2010/main" val="246355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COURSE OBJECTIVES CONTINUED</a:t>
            </a:r>
            <a:endParaRPr lang="en-ZA" dirty="0"/>
          </a:p>
        </p:txBody>
      </p:sp>
      <p:sp>
        <p:nvSpPr>
          <p:cNvPr id="3" name="Content Placeholder 2"/>
          <p:cNvSpPr>
            <a:spLocks noGrp="1"/>
          </p:cNvSpPr>
          <p:nvPr>
            <p:ph idx="1"/>
          </p:nvPr>
        </p:nvSpPr>
        <p:spPr/>
        <p:txBody>
          <a:bodyPr/>
          <a:lstStyle/>
          <a:p>
            <a:r>
              <a:rPr lang="en-GB" dirty="0" smtClean="0"/>
              <a:t>Demonstrate the development and utilisation of critical thinking and analytical skills. </a:t>
            </a:r>
          </a:p>
          <a:p>
            <a:r>
              <a:rPr lang="en-GB" dirty="0" smtClean="0"/>
              <a:t>Explore and conclude upon one business-related area in depth. </a:t>
            </a:r>
          </a:p>
          <a:p>
            <a:r>
              <a:rPr lang="en-GB" dirty="0" smtClean="0"/>
              <a:t>Produce a conclusive, coherent, literate document, strongly supported by evidence that contributes to the body of knowledge in the area of research. </a:t>
            </a:r>
            <a:endParaRPr lang="en-GB" dirty="0"/>
          </a:p>
        </p:txBody>
      </p:sp>
    </p:spTree>
    <p:extLst>
      <p:ext uri="{BB962C8B-B14F-4D97-AF65-F5344CB8AC3E}">
        <p14:creationId xmlns:p14="http://schemas.microsoft.com/office/powerpoint/2010/main" val="2736901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OF SUPERVISOR</a:t>
            </a:r>
            <a:endParaRPr lang="en-ZA" dirty="0"/>
          </a:p>
        </p:txBody>
      </p:sp>
      <p:sp>
        <p:nvSpPr>
          <p:cNvPr id="3" name="Content Placeholder 2"/>
          <p:cNvSpPr>
            <a:spLocks noGrp="1"/>
          </p:cNvSpPr>
          <p:nvPr>
            <p:ph idx="1"/>
          </p:nvPr>
        </p:nvSpPr>
        <p:spPr/>
        <p:txBody>
          <a:bodyPr>
            <a:normAutofit fontScale="77500" lnSpcReduction="20000"/>
          </a:bodyPr>
          <a:lstStyle/>
          <a:p>
            <a:endParaRPr lang="en-ZA" dirty="0"/>
          </a:p>
          <a:p>
            <a:r>
              <a:rPr lang="en-GB" dirty="0"/>
              <a:t>Provide academic guidance to students. </a:t>
            </a:r>
            <a:endParaRPr lang="en-ZA" dirty="0"/>
          </a:p>
          <a:p>
            <a:r>
              <a:rPr lang="en-GB" dirty="0"/>
              <a:t>Work with students to ensure that they have a clear set of aims and objectives that are appropriate and achievable </a:t>
            </a:r>
            <a:endParaRPr lang="en-ZA" dirty="0"/>
          </a:p>
          <a:p>
            <a:r>
              <a:rPr lang="en-GB" dirty="0"/>
              <a:t>Engage in discussions with students about the following: </a:t>
            </a:r>
          </a:p>
          <a:p>
            <a:r>
              <a:rPr lang="en-GB" dirty="0"/>
              <a:t>o The scale and scope of the dissertation </a:t>
            </a:r>
          </a:p>
          <a:p>
            <a:r>
              <a:rPr lang="en-GB" dirty="0"/>
              <a:t>o Theory associated with the dissertation </a:t>
            </a:r>
          </a:p>
          <a:p>
            <a:r>
              <a:rPr lang="en-GB" dirty="0"/>
              <a:t>o Research design and methodology </a:t>
            </a:r>
          </a:p>
          <a:p>
            <a:r>
              <a:rPr lang="en-ZA" dirty="0"/>
              <a:t>o Data analysis </a:t>
            </a:r>
          </a:p>
          <a:p>
            <a:r>
              <a:rPr lang="en-ZA" dirty="0"/>
              <a:t>o Style of writing </a:t>
            </a:r>
            <a:r>
              <a:rPr lang="en-ZA" dirty="0" smtClean="0"/>
              <a:t> </a:t>
            </a:r>
            <a:endParaRPr lang="en-ZA" dirty="0"/>
          </a:p>
          <a:p>
            <a:r>
              <a:rPr lang="en-GB" dirty="0"/>
              <a:t>Provide feedback to students in response to their ideas and proposals and reading draft chapters of their work. </a:t>
            </a:r>
          </a:p>
          <a:p>
            <a:endParaRPr lang="en-GB" dirty="0"/>
          </a:p>
        </p:txBody>
      </p:sp>
    </p:spTree>
    <p:extLst>
      <p:ext uri="{BB962C8B-B14F-4D97-AF65-F5344CB8AC3E}">
        <p14:creationId xmlns:p14="http://schemas.microsoft.com/office/powerpoint/2010/main" val="331322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WHAT  THE SUPERVISOR IS NOT EXPECTED TO DO </a:t>
            </a:r>
            <a:endParaRPr lang="en-ZA" dirty="0"/>
          </a:p>
        </p:txBody>
      </p:sp>
      <p:sp>
        <p:nvSpPr>
          <p:cNvPr id="3" name="Content Placeholder 2"/>
          <p:cNvSpPr>
            <a:spLocks noGrp="1"/>
          </p:cNvSpPr>
          <p:nvPr>
            <p:ph idx="1"/>
          </p:nvPr>
        </p:nvSpPr>
        <p:spPr/>
        <p:txBody>
          <a:bodyPr>
            <a:normAutofit fontScale="92500" lnSpcReduction="20000"/>
          </a:bodyPr>
          <a:lstStyle/>
          <a:p>
            <a:endParaRPr lang="en-ZA" dirty="0"/>
          </a:p>
          <a:p>
            <a:r>
              <a:rPr lang="en-GB" dirty="0"/>
              <a:t>Read complete drafts of your dissertation. </a:t>
            </a:r>
          </a:p>
          <a:p>
            <a:r>
              <a:rPr lang="en-GB" dirty="0" smtClean="0"/>
              <a:t>Chase </a:t>
            </a:r>
            <a:r>
              <a:rPr lang="en-GB" dirty="0"/>
              <a:t>you up around deadlines – They will assume that you can work to deadlines independently. </a:t>
            </a:r>
          </a:p>
          <a:p>
            <a:r>
              <a:rPr lang="en-GB" dirty="0" smtClean="0"/>
              <a:t>Give </a:t>
            </a:r>
            <a:r>
              <a:rPr lang="en-GB" dirty="0"/>
              <a:t>you all the information you need for your dissertation, i.e. they may be able to suggest key readings but </a:t>
            </a:r>
            <a:r>
              <a:rPr lang="en-GB" dirty="0" smtClean="0"/>
              <a:t>don’t </a:t>
            </a:r>
            <a:r>
              <a:rPr lang="en-GB" dirty="0"/>
              <a:t>expect a detailed reading list. Similarly, your supervisor may be happy to look at your data, but </a:t>
            </a:r>
            <a:r>
              <a:rPr lang="en-GB" dirty="0" smtClean="0"/>
              <a:t>don’t </a:t>
            </a:r>
            <a:r>
              <a:rPr lang="en-GB" dirty="0"/>
              <a:t>expect them to do the analysis for you. </a:t>
            </a:r>
          </a:p>
        </p:txBody>
      </p:sp>
    </p:spTree>
    <p:extLst>
      <p:ext uri="{BB962C8B-B14F-4D97-AF65-F5344CB8AC3E}">
        <p14:creationId xmlns:p14="http://schemas.microsoft.com/office/powerpoint/2010/main" val="385840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OF A STUDENT</a:t>
            </a:r>
            <a:endParaRPr lang="en-ZA" dirty="0"/>
          </a:p>
        </p:txBody>
      </p:sp>
      <p:sp>
        <p:nvSpPr>
          <p:cNvPr id="3" name="Content Placeholder 2"/>
          <p:cNvSpPr>
            <a:spLocks noGrp="1"/>
          </p:cNvSpPr>
          <p:nvPr>
            <p:ph idx="1"/>
          </p:nvPr>
        </p:nvSpPr>
        <p:spPr/>
        <p:txBody>
          <a:bodyPr>
            <a:normAutofit fontScale="92500" lnSpcReduction="10000"/>
          </a:bodyPr>
          <a:lstStyle/>
          <a:p>
            <a:endParaRPr lang="en-ZA" dirty="0"/>
          </a:p>
          <a:p>
            <a:r>
              <a:rPr lang="en-GB" dirty="0"/>
              <a:t>Undertake all of the work requested of you in this course (i.e. assessments, readings and activities). </a:t>
            </a:r>
          </a:p>
          <a:p>
            <a:r>
              <a:rPr lang="en-GB" dirty="0" smtClean="0"/>
              <a:t>Go </a:t>
            </a:r>
            <a:r>
              <a:rPr lang="en-GB" dirty="0"/>
              <a:t>beyond the minimum instruction (in reading for example). </a:t>
            </a:r>
          </a:p>
          <a:p>
            <a:r>
              <a:rPr lang="en-GB" dirty="0" smtClean="0"/>
              <a:t>Ask </a:t>
            </a:r>
            <a:r>
              <a:rPr lang="en-GB" dirty="0"/>
              <a:t>questions or seek advice if you do not understand readings, exercises or assessments. </a:t>
            </a:r>
          </a:p>
          <a:p>
            <a:r>
              <a:rPr lang="en-GB" dirty="0" smtClean="0"/>
              <a:t>Keep </a:t>
            </a:r>
            <a:r>
              <a:rPr lang="en-GB" dirty="0"/>
              <a:t>your supervisor informed of your progress, problems and developments. </a:t>
            </a:r>
          </a:p>
        </p:txBody>
      </p:sp>
    </p:spTree>
    <p:extLst>
      <p:ext uri="{BB962C8B-B14F-4D97-AF65-F5344CB8AC3E}">
        <p14:creationId xmlns:p14="http://schemas.microsoft.com/office/powerpoint/2010/main" val="1103988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OF A STUDENT CONTINUED</a:t>
            </a:r>
            <a:endParaRPr lang="en-ZA" dirty="0"/>
          </a:p>
        </p:txBody>
      </p:sp>
      <p:sp>
        <p:nvSpPr>
          <p:cNvPr id="3" name="Content Placeholder 2"/>
          <p:cNvSpPr>
            <a:spLocks noGrp="1"/>
          </p:cNvSpPr>
          <p:nvPr>
            <p:ph idx="1"/>
          </p:nvPr>
        </p:nvSpPr>
        <p:spPr/>
        <p:txBody>
          <a:bodyPr/>
          <a:lstStyle/>
          <a:p>
            <a:r>
              <a:rPr lang="en-GB" dirty="0" smtClean="0"/>
              <a:t>Meet deadlines – both official ones and ones set by your supervisor. </a:t>
            </a:r>
          </a:p>
          <a:p>
            <a:r>
              <a:rPr lang="en-GB" dirty="0" smtClean="0"/>
              <a:t>Provide your supervisor with any work you want them to comment on before you meet. </a:t>
            </a:r>
          </a:p>
          <a:p>
            <a:r>
              <a:rPr lang="en-GB" dirty="0" smtClean="0"/>
              <a:t>Notify the programme manager in advance if you are sick and unable to meet a deadline. </a:t>
            </a:r>
          </a:p>
          <a:p>
            <a:r>
              <a:rPr lang="en-GB" dirty="0" smtClean="0"/>
              <a:t>Do any preparatory work for the meeting scheduled with your supervisor. </a:t>
            </a:r>
            <a:endParaRPr lang="en-GB" dirty="0"/>
          </a:p>
        </p:txBody>
      </p:sp>
    </p:spTree>
    <p:extLst>
      <p:ext uri="{BB962C8B-B14F-4D97-AF65-F5344CB8AC3E}">
        <p14:creationId xmlns:p14="http://schemas.microsoft.com/office/powerpoint/2010/main" val="2030362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WHAT A STUDENT SHOULD NOT DO</a:t>
            </a:r>
            <a:endParaRPr lang="en-ZA" dirty="0"/>
          </a:p>
        </p:txBody>
      </p:sp>
      <p:sp>
        <p:nvSpPr>
          <p:cNvPr id="3" name="Content Placeholder 2"/>
          <p:cNvSpPr>
            <a:spLocks noGrp="1"/>
          </p:cNvSpPr>
          <p:nvPr>
            <p:ph idx="1"/>
          </p:nvPr>
        </p:nvSpPr>
        <p:spPr/>
        <p:txBody>
          <a:bodyPr>
            <a:normAutofit fontScale="92500" lnSpcReduction="20000"/>
          </a:bodyPr>
          <a:lstStyle/>
          <a:p>
            <a:endParaRPr lang="en-ZA" dirty="0"/>
          </a:p>
          <a:p>
            <a:r>
              <a:rPr lang="en-GB" dirty="0"/>
              <a:t>Delay getting in touch with your supervisor until half-way through semester. </a:t>
            </a:r>
          </a:p>
          <a:p>
            <a:r>
              <a:rPr lang="en-GB" dirty="0" smtClean="0"/>
              <a:t>Cancel </a:t>
            </a:r>
            <a:r>
              <a:rPr lang="en-GB" dirty="0"/>
              <a:t>meetings with your supervisor when problem arises. </a:t>
            </a:r>
          </a:p>
          <a:p>
            <a:r>
              <a:rPr lang="en-GB" dirty="0" smtClean="0"/>
              <a:t>Fail </a:t>
            </a:r>
            <a:r>
              <a:rPr lang="en-GB" dirty="0"/>
              <a:t>to incorporate supervisor feedback into chapter drafts. </a:t>
            </a:r>
            <a:endParaRPr lang="en-ZA" dirty="0"/>
          </a:p>
          <a:p>
            <a:r>
              <a:rPr lang="en-GB" dirty="0"/>
              <a:t>Leave submitting chapter drafts until the last minute and get annoyed </a:t>
            </a:r>
            <a:r>
              <a:rPr lang="en-GB" dirty="0" smtClean="0"/>
              <a:t>when your </a:t>
            </a:r>
            <a:r>
              <a:rPr lang="en-GB" dirty="0"/>
              <a:t>supervisor is too busy to give feedback. </a:t>
            </a:r>
          </a:p>
          <a:p>
            <a:endParaRPr lang="en-GB" dirty="0"/>
          </a:p>
          <a:p>
            <a:endParaRPr lang="en-ZA" dirty="0"/>
          </a:p>
        </p:txBody>
      </p:sp>
    </p:spTree>
    <p:extLst>
      <p:ext uri="{BB962C8B-B14F-4D97-AF65-F5344CB8AC3E}">
        <p14:creationId xmlns:p14="http://schemas.microsoft.com/office/powerpoint/2010/main" val="3680417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PRELIMINARY ISSUES</a:t>
            </a:r>
            <a:endParaRPr lang="en-ZA" dirty="0"/>
          </a:p>
        </p:txBody>
      </p:sp>
      <p:sp>
        <p:nvSpPr>
          <p:cNvPr id="3" name="Content Placeholder 2"/>
          <p:cNvSpPr>
            <a:spLocks noGrp="1"/>
          </p:cNvSpPr>
          <p:nvPr>
            <p:ph idx="1"/>
          </p:nvPr>
        </p:nvSpPr>
        <p:spPr/>
        <p:txBody>
          <a:bodyPr>
            <a:normAutofit fontScale="92500" lnSpcReduction="20000"/>
          </a:bodyPr>
          <a:lstStyle/>
          <a:p>
            <a:endParaRPr lang="en-ZA" dirty="0"/>
          </a:p>
          <a:p>
            <a:r>
              <a:rPr lang="en-GB" dirty="0"/>
              <a:t>Agree your topic title, research objectives, and research questions with your </a:t>
            </a:r>
            <a:r>
              <a:rPr lang="en-ZA" dirty="0" smtClean="0"/>
              <a:t>supervisor</a:t>
            </a:r>
            <a:r>
              <a:rPr lang="en-ZA" dirty="0"/>
              <a:t>. </a:t>
            </a:r>
          </a:p>
          <a:p>
            <a:r>
              <a:rPr lang="en-GB" dirty="0" smtClean="0"/>
              <a:t>Devise </a:t>
            </a:r>
            <a:r>
              <a:rPr lang="en-GB" dirty="0"/>
              <a:t>a structure for the dissertation. </a:t>
            </a:r>
          </a:p>
          <a:p>
            <a:r>
              <a:rPr lang="en-GB" dirty="0" smtClean="0"/>
              <a:t>Develop </a:t>
            </a:r>
            <a:r>
              <a:rPr lang="en-GB" dirty="0"/>
              <a:t>an outline of what you intend to write. </a:t>
            </a:r>
          </a:p>
          <a:p>
            <a:r>
              <a:rPr lang="en-GB" dirty="0" smtClean="0"/>
              <a:t>Write </a:t>
            </a:r>
            <a:r>
              <a:rPr lang="en-GB" dirty="0"/>
              <a:t>up the preliminary sections of your project report, including the cover page, abstract (may be completed at the end of the research project), acknowledgements, and contents page. </a:t>
            </a:r>
          </a:p>
          <a:p>
            <a:r>
              <a:rPr lang="en-GB" dirty="0" smtClean="0"/>
              <a:t>Write </a:t>
            </a:r>
            <a:r>
              <a:rPr lang="en-GB" dirty="0"/>
              <a:t>up Chapter I: Introduction </a:t>
            </a:r>
          </a:p>
          <a:p>
            <a:endParaRPr lang="en-ZA" dirty="0"/>
          </a:p>
        </p:txBody>
      </p:sp>
    </p:spTree>
    <p:extLst>
      <p:ext uri="{BB962C8B-B14F-4D97-AF65-F5344CB8AC3E}">
        <p14:creationId xmlns:p14="http://schemas.microsoft.com/office/powerpoint/2010/main" val="353539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REFINING YOUR RESEARCH IDEA</a:t>
            </a:r>
            <a:endParaRPr lang="en-ZA" dirty="0"/>
          </a:p>
        </p:txBody>
      </p:sp>
      <p:sp>
        <p:nvSpPr>
          <p:cNvPr id="3" name="Content Placeholder 2"/>
          <p:cNvSpPr>
            <a:spLocks noGrp="1"/>
          </p:cNvSpPr>
          <p:nvPr>
            <p:ph idx="1"/>
          </p:nvPr>
        </p:nvSpPr>
        <p:spPr/>
        <p:txBody>
          <a:bodyPr>
            <a:normAutofit fontScale="85000" lnSpcReduction="10000"/>
          </a:bodyPr>
          <a:lstStyle/>
          <a:p>
            <a:endParaRPr lang="en-ZA" dirty="0"/>
          </a:p>
          <a:p>
            <a:r>
              <a:rPr lang="en-GB" dirty="0"/>
              <a:t>Discussing the research idea with your research supervisor or lecturer can help you to clarify and focus your thinking. </a:t>
            </a:r>
          </a:p>
          <a:p>
            <a:r>
              <a:rPr lang="en-GB" dirty="0" smtClean="0"/>
              <a:t>Using </a:t>
            </a:r>
            <a:r>
              <a:rPr lang="en-GB" dirty="0"/>
              <a:t>the Delphi technique in which you conduct a group discussion with parties that are interested or involved in your research to narrow down your research idea (Saunders </a:t>
            </a:r>
            <a:r>
              <a:rPr lang="en-GB" i="1" dirty="0"/>
              <a:t>et al.</a:t>
            </a:r>
            <a:r>
              <a:rPr lang="en-GB" dirty="0"/>
              <a:t>, 2009, pp.29 – 30). </a:t>
            </a:r>
          </a:p>
          <a:p>
            <a:r>
              <a:rPr lang="en-GB" dirty="0" smtClean="0"/>
              <a:t>Undertaking </a:t>
            </a:r>
            <a:r>
              <a:rPr lang="en-GB" dirty="0"/>
              <a:t>a preliminary study e.g. the initial literature review (Saunders </a:t>
            </a:r>
            <a:r>
              <a:rPr lang="en-GB" i="1" dirty="0"/>
              <a:t>et al.</a:t>
            </a:r>
            <a:r>
              <a:rPr lang="en-GB" dirty="0"/>
              <a:t>, 2009, p.30) can help in contextualizing your research. </a:t>
            </a:r>
          </a:p>
        </p:txBody>
      </p:sp>
    </p:spTree>
    <p:extLst>
      <p:ext uri="{BB962C8B-B14F-4D97-AF65-F5344CB8AC3E}">
        <p14:creationId xmlns:p14="http://schemas.microsoft.com/office/powerpoint/2010/main" val="3891912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ATTRIBUTES OF A GOOD RESEARCH TOPIC</a:t>
            </a:r>
            <a:endParaRPr lang="en-ZA" dirty="0"/>
          </a:p>
        </p:txBody>
      </p:sp>
      <p:sp>
        <p:nvSpPr>
          <p:cNvPr id="3" name="Content Placeholder 2"/>
          <p:cNvSpPr>
            <a:spLocks noGrp="1"/>
          </p:cNvSpPr>
          <p:nvPr>
            <p:ph idx="1"/>
          </p:nvPr>
        </p:nvSpPr>
        <p:spPr/>
        <p:txBody>
          <a:bodyPr>
            <a:normAutofit fontScale="92500" lnSpcReduction="20000"/>
          </a:bodyPr>
          <a:lstStyle/>
          <a:p>
            <a:endParaRPr lang="en-ZA" dirty="0"/>
          </a:p>
          <a:p>
            <a:r>
              <a:rPr lang="en-GB" dirty="0"/>
              <a:t>Your research must meet the </a:t>
            </a:r>
            <a:r>
              <a:rPr lang="en-GB" dirty="0" err="1"/>
              <a:t>university‟s</a:t>
            </a:r>
            <a:r>
              <a:rPr lang="en-GB" dirty="0"/>
              <a:t> requirements and assessment criteria. </a:t>
            </a:r>
            <a:endParaRPr lang="en-ZA" dirty="0"/>
          </a:p>
          <a:p>
            <a:r>
              <a:rPr lang="en-GB" dirty="0"/>
              <a:t>Your topic must be congruent with your personal interests, capabilities, experience and limitations. </a:t>
            </a:r>
          </a:p>
          <a:p>
            <a:r>
              <a:rPr lang="en-GB" dirty="0" smtClean="0"/>
              <a:t>You </a:t>
            </a:r>
            <a:r>
              <a:rPr lang="en-GB" dirty="0"/>
              <a:t>need to have or be able to acquire the skills necessary to research the topic. </a:t>
            </a:r>
          </a:p>
          <a:p>
            <a:r>
              <a:rPr lang="en-GB" dirty="0" smtClean="0"/>
              <a:t>A </a:t>
            </a:r>
            <a:r>
              <a:rPr lang="en-GB" dirty="0"/>
              <a:t>good topic is one that can be researched using the resources (such as time and finances) that you are able to acquire within the research period. </a:t>
            </a:r>
          </a:p>
        </p:txBody>
      </p:sp>
    </p:spTree>
    <p:extLst>
      <p:ext uri="{BB962C8B-B14F-4D97-AF65-F5344CB8AC3E}">
        <p14:creationId xmlns:p14="http://schemas.microsoft.com/office/powerpoint/2010/main" val="2144124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ATTRIBUTES OF A GOOD RESEARCH TOPIC CONTINUED</a:t>
            </a:r>
            <a:endParaRPr lang="en-ZA" dirty="0"/>
          </a:p>
        </p:txBody>
      </p:sp>
      <p:sp>
        <p:nvSpPr>
          <p:cNvPr id="3" name="Content Placeholder 2"/>
          <p:cNvSpPr>
            <a:spLocks noGrp="1"/>
          </p:cNvSpPr>
          <p:nvPr>
            <p:ph idx="1"/>
          </p:nvPr>
        </p:nvSpPr>
        <p:spPr/>
        <p:txBody>
          <a:bodyPr>
            <a:normAutofit fontScale="85000" lnSpcReduction="10000"/>
          </a:bodyPr>
          <a:lstStyle/>
          <a:p>
            <a:r>
              <a:rPr lang="en-GB" dirty="0" smtClean="0"/>
              <a:t>Access to data is a major issue in any research project. Hence you cannot choose a topic to do with the motivation of staff in the Zambia Air Force or United States embassy if you do not work there, and it is therefore highly unlikely that you will be given access to sensitive data about employee morale. </a:t>
            </a:r>
          </a:p>
          <a:p>
            <a:r>
              <a:rPr lang="en-GB" dirty="0" smtClean="0"/>
              <a:t>A good research topic should be based on the literature, and the research should be capable of providing fresh insights into the topic i.e. </a:t>
            </a:r>
            <a:r>
              <a:rPr lang="en-GB" smtClean="0"/>
              <a:t>your research should contribute to the existing body of knowledge on the topic. </a:t>
            </a:r>
          </a:p>
          <a:p>
            <a:endParaRPr lang="en-GB" dirty="0"/>
          </a:p>
        </p:txBody>
      </p:sp>
    </p:spTree>
    <p:extLst>
      <p:ext uri="{BB962C8B-B14F-4D97-AF65-F5344CB8AC3E}">
        <p14:creationId xmlns:p14="http://schemas.microsoft.com/office/powerpoint/2010/main" val="3690837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TITLE PAGE</a:t>
            </a:r>
            <a:endParaRPr lang="en-ZA" dirty="0"/>
          </a:p>
        </p:txBody>
      </p:sp>
      <p:sp>
        <p:nvSpPr>
          <p:cNvPr id="3" name="Content Placeholder 2"/>
          <p:cNvSpPr>
            <a:spLocks noGrp="1"/>
          </p:cNvSpPr>
          <p:nvPr>
            <p:ph idx="1"/>
          </p:nvPr>
        </p:nvSpPr>
        <p:spPr/>
        <p:txBody>
          <a:bodyPr>
            <a:normAutofit fontScale="77500" lnSpcReduction="20000"/>
          </a:bodyPr>
          <a:lstStyle/>
          <a:p>
            <a:endParaRPr lang="en-ZA" dirty="0"/>
          </a:p>
          <a:p>
            <a:r>
              <a:rPr lang="en-GB" dirty="0"/>
              <a:t>The full topic title of your dissertation. </a:t>
            </a:r>
          </a:p>
          <a:p>
            <a:r>
              <a:rPr lang="en-GB" dirty="0" smtClean="0"/>
              <a:t>Your </a:t>
            </a:r>
            <a:r>
              <a:rPr lang="en-GB" dirty="0"/>
              <a:t>full name followed by any previous qualifications and distinctions. </a:t>
            </a:r>
          </a:p>
          <a:p>
            <a:r>
              <a:rPr lang="en-GB" dirty="0" smtClean="0"/>
              <a:t>The </a:t>
            </a:r>
            <a:r>
              <a:rPr lang="en-GB" dirty="0"/>
              <a:t>qualification for which the dissertation is submitted i.e. Bachelor of Arts in Financial Services. </a:t>
            </a:r>
          </a:p>
          <a:p>
            <a:r>
              <a:rPr lang="en-GB" dirty="0" smtClean="0"/>
              <a:t>The </a:t>
            </a:r>
            <a:r>
              <a:rPr lang="en-GB" dirty="0"/>
              <a:t>name of the institution to which the thesis is submitted </a:t>
            </a:r>
            <a:r>
              <a:rPr lang="en-GB" dirty="0" smtClean="0"/>
              <a:t>i.e. ZCAS University. </a:t>
            </a:r>
            <a:endParaRPr lang="en-GB" dirty="0"/>
          </a:p>
          <a:p>
            <a:r>
              <a:rPr lang="en-GB" dirty="0" smtClean="0"/>
              <a:t>The </a:t>
            </a:r>
            <a:r>
              <a:rPr lang="en-GB" dirty="0"/>
              <a:t>month and year of submission. </a:t>
            </a:r>
          </a:p>
          <a:p>
            <a:r>
              <a:rPr lang="en-ZA" dirty="0" smtClean="0"/>
              <a:t>Word </a:t>
            </a:r>
            <a:r>
              <a:rPr lang="en-ZA" dirty="0"/>
              <a:t>count </a:t>
            </a:r>
          </a:p>
          <a:p>
            <a:r>
              <a:rPr lang="en-ZA" dirty="0" smtClean="0"/>
              <a:t>Name </a:t>
            </a:r>
            <a:r>
              <a:rPr lang="en-ZA" dirty="0"/>
              <a:t>of supervisor </a:t>
            </a:r>
          </a:p>
          <a:p>
            <a:r>
              <a:rPr lang="en-ZA" dirty="0" smtClean="0"/>
              <a:t>Your </a:t>
            </a:r>
            <a:r>
              <a:rPr lang="en-ZA" dirty="0"/>
              <a:t>student ID </a:t>
            </a:r>
          </a:p>
        </p:txBody>
      </p:sp>
    </p:spTree>
    <p:extLst>
      <p:ext uri="{BB962C8B-B14F-4D97-AF65-F5344CB8AC3E}">
        <p14:creationId xmlns:p14="http://schemas.microsoft.com/office/powerpoint/2010/main" val="2865125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DECLARATION</a:t>
            </a:r>
            <a:endParaRPr lang="en-ZA" dirty="0"/>
          </a:p>
        </p:txBody>
      </p:sp>
      <p:sp>
        <p:nvSpPr>
          <p:cNvPr id="3" name="Content Placeholder 2"/>
          <p:cNvSpPr>
            <a:spLocks noGrp="1"/>
          </p:cNvSpPr>
          <p:nvPr>
            <p:ph idx="1"/>
          </p:nvPr>
        </p:nvSpPr>
        <p:spPr/>
        <p:txBody>
          <a:bodyPr>
            <a:normAutofit fontScale="85000" lnSpcReduction="10000"/>
          </a:bodyPr>
          <a:lstStyle/>
          <a:p>
            <a:r>
              <a:rPr lang="en-GB" dirty="0"/>
              <a:t>The following declaration should be written on the second page of your dissertation i.e. the page after the title page. </a:t>
            </a:r>
          </a:p>
          <a:p>
            <a:r>
              <a:rPr lang="en-GB" i="1" dirty="0"/>
              <a:t>This dissertation is a product of my own work and is the result of nothing done in collaboration. </a:t>
            </a:r>
            <a:endParaRPr lang="en-GB" dirty="0"/>
          </a:p>
          <a:p>
            <a:r>
              <a:rPr lang="en-GB" i="1" dirty="0"/>
              <a:t>I consent to the University’s free use of the whole or any part item of this Dissertation, to include online or electronic reproduction and adaptation for teaching and education activities. I agree that this dissertation may be available for reference and photocopying at the discretion of the University. </a:t>
            </a:r>
            <a:endParaRPr lang="en-GB" dirty="0"/>
          </a:p>
        </p:txBody>
      </p:sp>
    </p:spTree>
    <p:extLst>
      <p:ext uri="{BB962C8B-B14F-4D97-AF65-F5344CB8AC3E}">
        <p14:creationId xmlns:p14="http://schemas.microsoft.com/office/powerpoint/2010/main" val="1813686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ABSTRACT</a:t>
            </a:r>
            <a:endParaRPr lang="en-ZA" dirty="0"/>
          </a:p>
        </p:txBody>
      </p:sp>
      <p:sp>
        <p:nvSpPr>
          <p:cNvPr id="3" name="Content Placeholder 2"/>
          <p:cNvSpPr>
            <a:spLocks noGrp="1"/>
          </p:cNvSpPr>
          <p:nvPr>
            <p:ph idx="1"/>
          </p:nvPr>
        </p:nvSpPr>
        <p:spPr/>
        <p:txBody>
          <a:bodyPr/>
          <a:lstStyle/>
          <a:p>
            <a:r>
              <a:rPr lang="en-GB" dirty="0"/>
              <a:t>This is a short section which concisely summarises the whole of the dissertation. The key points that you should include are the aim of the research, research objectives and research questions, the research design, the findings of your research and the conclusions you have drawn. You should write the abstract in the past tense. The word count should not exceed 300 words. </a:t>
            </a:r>
            <a:endParaRPr lang="en-ZA" dirty="0"/>
          </a:p>
        </p:txBody>
      </p:sp>
    </p:spTree>
    <p:extLst>
      <p:ext uri="{BB962C8B-B14F-4D97-AF65-F5344CB8AC3E}">
        <p14:creationId xmlns:p14="http://schemas.microsoft.com/office/powerpoint/2010/main" val="4002099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ACKNOWLEDGEMENTS</a:t>
            </a:r>
            <a:endParaRPr lang="en-ZA" dirty="0"/>
          </a:p>
        </p:txBody>
      </p:sp>
      <p:sp>
        <p:nvSpPr>
          <p:cNvPr id="3" name="Content Placeholder 2"/>
          <p:cNvSpPr>
            <a:spLocks noGrp="1"/>
          </p:cNvSpPr>
          <p:nvPr>
            <p:ph idx="1"/>
          </p:nvPr>
        </p:nvSpPr>
        <p:spPr/>
        <p:txBody>
          <a:bodyPr/>
          <a:lstStyle/>
          <a:p>
            <a:r>
              <a:rPr lang="en-GB" dirty="0"/>
              <a:t>It is usual but not compulsory to thank those who have been of particular help to you in completing the dissertation. These could be your family, friends, employer and/or research supervisor. </a:t>
            </a:r>
            <a:endParaRPr lang="en-ZA" dirty="0"/>
          </a:p>
        </p:txBody>
      </p:sp>
    </p:spTree>
    <p:extLst>
      <p:ext uri="{BB962C8B-B14F-4D97-AF65-F5344CB8AC3E}">
        <p14:creationId xmlns:p14="http://schemas.microsoft.com/office/powerpoint/2010/main" val="3913740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CONTENTS PAGE</a:t>
            </a:r>
            <a:endParaRPr lang="en-ZA" dirty="0"/>
          </a:p>
        </p:txBody>
      </p:sp>
      <p:sp>
        <p:nvSpPr>
          <p:cNvPr id="3" name="Content Placeholder 2"/>
          <p:cNvSpPr>
            <a:spLocks noGrp="1"/>
          </p:cNvSpPr>
          <p:nvPr>
            <p:ph idx="1"/>
          </p:nvPr>
        </p:nvSpPr>
        <p:spPr/>
        <p:txBody>
          <a:bodyPr>
            <a:normAutofit lnSpcReduction="10000"/>
          </a:bodyPr>
          <a:lstStyle/>
          <a:p>
            <a:r>
              <a:rPr lang="en-GB" dirty="0"/>
              <a:t>You can write the contents page manually, or let Microsoft Word generate it for you. Either way, it is important to generate the contents page early because this activity helps you to clarify your thinking regarding the structure of your dissertation. You would then revise or update the contents page as your research progresses. The contents page should show suitably numbered chapters, sections and sub-sections. </a:t>
            </a:r>
            <a:endParaRPr lang="en-ZA" dirty="0"/>
          </a:p>
        </p:txBody>
      </p:sp>
    </p:spTree>
    <p:extLst>
      <p:ext uri="{BB962C8B-B14F-4D97-AF65-F5344CB8AC3E}">
        <p14:creationId xmlns:p14="http://schemas.microsoft.com/office/powerpoint/2010/main" val="3861077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CHAPTERS</a:t>
            </a:r>
            <a:endParaRPr lang="en-ZA" dirty="0"/>
          </a:p>
        </p:txBody>
      </p:sp>
      <p:sp>
        <p:nvSpPr>
          <p:cNvPr id="3" name="Content Placeholder 2"/>
          <p:cNvSpPr>
            <a:spLocks noGrp="1"/>
          </p:cNvSpPr>
          <p:nvPr>
            <p:ph idx="1"/>
          </p:nvPr>
        </p:nvSpPr>
        <p:spPr/>
        <p:txBody>
          <a:bodyPr>
            <a:normAutofit fontScale="85000" lnSpcReduction="20000"/>
          </a:bodyPr>
          <a:lstStyle/>
          <a:p>
            <a:r>
              <a:rPr lang="en-GB" dirty="0"/>
              <a:t>Number your chapters consecutively and divide each chapter into appropriate sections and sub-sections. All your headings should be in bold, 14 point for chapter headings and 12 </a:t>
            </a:r>
            <a:r>
              <a:rPr lang="en-GB"/>
              <a:t>point </a:t>
            </a:r>
            <a:r>
              <a:rPr lang="en-GB" smtClean="0"/>
              <a:t>for </a:t>
            </a:r>
            <a:r>
              <a:rPr lang="en-GB" dirty="0"/>
              <a:t>sub-headings. Your chapter headings and sub-headings should include capitalised initial letters. Start each chapter on a new page. It is generally recommended that your chapters be structured to follow a logical and ordered progression. Your chapters should reflect natural changes in content and subject emphasis within the text. Number your sections as 1.2, 1.3 and similar, with sub-sections numbered 1.2.1, 1.2.2 and similar. This module is an example of the numbering system described here. </a:t>
            </a:r>
            <a:endParaRPr lang="en-ZA" dirty="0"/>
          </a:p>
        </p:txBody>
      </p:sp>
    </p:spTree>
    <p:extLst>
      <p:ext uri="{BB962C8B-B14F-4D97-AF65-F5344CB8AC3E}">
        <p14:creationId xmlns:p14="http://schemas.microsoft.com/office/powerpoint/2010/main" val="1207994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CHAPTER 1: INTRODUCTION</a:t>
            </a:r>
            <a:endParaRPr lang="en-ZA" dirty="0"/>
          </a:p>
        </p:txBody>
      </p:sp>
      <p:sp>
        <p:nvSpPr>
          <p:cNvPr id="3" name="Content Placeholder 2"/>
          <p:cNvSpPr>
            <a:spLocks noGrp="1"/>
          </p:cNvSpPr>
          <p:nvPr>
            <p:ph idx="1"/>
          </p:nvPr>
        </p:nvSpPr>
        <p:spPr/>
        <p:txBody>
          <a:bodyPr>
            <a:normAutofit fontScale="70000" lnSpcReduction="20000"/>
          </a:bodyPr>
          <a:lstStyle/>
          <a:p>
            <a:r>
              <a:rPr lang="en-GB" dirty="0" smtClean="0"/>
              <a:t>1.1 Introduction </a:t>
            </a:r>
            <a:r>
              <a:rPr lang="en-GB" dirty="0"/>
              <a:t>/Background to the research </a:t>
            </a:r>
          </a:p>
          <a:p>
            <a:r>
              <a:rPr lang="en-GB" dirty="0"/>
              <a:t>1.2 Research problem and justification for the research </a:t>
            </a:r>
            <a:endParaRPr lang="en-GB" dirty="0" smtClean="0"/>
          </a:p>
          <a:p>
            <a:r>
              <a:rPr lang="en-GB" dirty="0"/>
              <a:t>1.3 Research Aim, Question and Objectives </a:t>
            </a:r>
          </a:p>
          <a:p>
            <a:r>
              <a:rPr lang="en-ZA" dirty="0"/>
              <a:t>1.3.1 Research aim </a:t>
            </a:r>
          </a:p>
          <a:p>
            <a:r>
              <a:rPr lang="en-ZA" dirty="0"/>
              <a:t>1.3.2 Research question </a:t>
            </a:r>
          </a:p>
          <a:p>
            <a:r>
              <a:rPr lang="en-ZA" dirty="0"/>
              <a:t>1.3.3 Research objectives </a:t>
            </a:r>
          </a:p>
          <a:p>
            <a:r>
              <a:rPr lang="en-ZA" dirty="0"/>
              <a:t>1.4 Research scope </a:t>
            </a:r>
          </a:p>
          <a:p>
            <a:r>
              <a:rPr lang="en-ZA" dirty="0"/>
              <a:t>1.5 Research Contributions </a:t>
            </a:r>
          </a:p>
          <a:p>
            <a:r>
              <a:rPr lang="en-ZA" dirty="0"/>
              <a:t>1.6 Research Design </a:t>
            </a:r>
          </a:p>
          <a:p>
            <a:r>
              <a:rPr lang="en-GB" dirty="0"/>
              <a:t>1.6.1 Research approach and method </a:t>
            </a:r>
          </a:p>
          <a:p>
            <a:r>
              <a:rPr lang="en-ZA" dirty="0"/>
              <a:t>1.6.2 Data collection and analysis techniques </a:t>
            </a:r>
          </a:p>
          <a:p>
            <a:r>
              <a:rPr lang="en-ZA" dirty="0"/>
              <a:t>1.7 Dissertation Layout </a:t>
            </a:r>
          </a:p>
          <a:p>
            <a:r>
              <a:rPr lang="en-ZA" dirty="0"/>
              <a:t>1.8 Chapter Summary </a:t>
            </a:r>
            <a:endParaRPr lang="en-ZA" dirty="0"/>
          </a:p>
        </p:txBody>
      </p:sp>
    </p:spTree>
    <p:extLst>
      <p:ext uri="{BB962C8B-B14F-4D97-AF65-F5344CB8AC3E}">
        <p14:creationId xmlns:p14="http://schemas.microsoft.com/office/powerpoint/2010/main" val="2628063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CHAPTER TWO: LITERATURE REVIEW</a:t>
            </a:r>
            <a:endParaRPr lang="en-ZA" dirty="0"/>
          </a:p>
        </p:txBody>
      </p:sp>
      <p:sp>
        <p:nvSpPr>
          <p:cNvPr id="3" name="Content Placeholder 2"/>
          <p:cNvSpPr>
            <a:spLocks noGrp="1"/>
          </p:cNvSpPr>
          <p:nvPr>
            <p:ph idx="1"/>
          </p:nvPr>
        </p:nvSpPr>
        <p:spPr/>
        <p:txBody>
          <a:bodyPr/>
          <a:lstStyle/>
          <a:p>
            <a:endParaRPr lang="en-ZA" dirty="0"/>
          </a:p>
          <a:p>
            <a:r>
              <a:rPr lang="en-GB" dirty="0"/>
              <a:t>Identify literature sources relevant to the research area. </a:t>
            </a:r>
          </a:p>
          <a:p>
            <a:r>
              <a:rPr lang="en-GB" dirty="0" smtClean="0"/>
              <a:t>Evaluate </a:t>
            </a:r>
            <a:r>
              <a:rPr lang="en-GB" dirty="0"/>
              <a:t>the literature and assess relevance and sufficiency. </a:t>
            </a:r>
          </a:p>
          <a:p>
            <a:r>
              <a:rPr lang="en-ZA" dirty="0" smtClean="0"/>
              <a:t>Critically </a:t>
            </a:r>
            <a:r>
              <a:rPr lang="en-ZA" dirty="0"/>
              <a:t>review the literature. </a:t>
            </a:r>
          </a:p>
          <a:p>
            <a:r>
              <a:rPr lang="en-GB" dirty="0" smtClean="0"/>
              <a:t>Write </a:t>
            </a:r>
            <a:r>
              <a:rPr lang="en-GB" dirty="0"/>
              <a:t>up and submit the Literature Review Chapter </a:t>
            </a:r>
          </a:p>
        </p:txBody>
      </p:sp>
    </p:spTree>
    <p:extLst>
      <p:ext uri="{BB962C8B-B14F-4D97-AF65-F5344CB8AC3E}">
        <p14:creationId xmlns:p14="http://schemas.microsoft.com/office/powerpoint/2010/main" val="2378952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EXAMPLE1 FOR LAYOUT OF CHAPTER</a:t>
            </a:r>
            <a:endParaRPr lang="en-ZA" dirty="0"/>
          </a:p>
        </p:txBody>
      </p:sp>
      <p:sp>
        <p:nvSpPr>
          <p:cNvPr id="3" name="Content Placeholder 2"/>
          <p:cNvSpPr>
            <a:spLocks noGrp="1"/>
          </p:cNvSpPr>
          <p:nvPr>
            <p:ph idx="1"/>
          </p:nvPr>
        </p:nvSpPr>
        <p:spPr/>
        <p:txBody>
          <a:bodyPr>
            <a:normAutofit fontScale="92500" lnSpcReduction="10000"/>
          </a:bodyPr>
          <a:lstStyle/>
          <a:p>
            <a:r>
              <a:rPr lang="en-ZA" dirty="0"/>
              <a:t>2.1 Introduction </a:t>
            </a:r>
          </a:p>
          <a:p>
            <a:r>
              <a:rPr lang="en-GB" dirty="0"/>
              <a:t>2.2 Performance appraisal and performance </a:t>
            </a:r>
          </a:p>
          <a:p>
            <a:r>
              <a:rPr lang="en-GB" dirty="0"/>
              <a:t>2.2.1 Purposes of performance appraisal </a:t>
            </a:r>
          </a:p>
          <a:p>
            <a:r>
              <a:rPr lang="en-GB" dirty="0"/>
              <a:t>2.2.2 Correlation between performance appraisal and performance </a:t>
            </a:r>
          </a:p>
          <a:p>
            <a:r>
              <a:rPr lang="en-GB" dirty="0"/>
              <a:t>2.2.3 Inadequacies of performance appraisal </a:t>
            </a:r>
          </a:p>
          <a:p>
            <a:r>
              <a:rPr lang="en-GB" dirty="0"/>
              <a:t>2.2.4 Performance measurement at ZCAS </a:t>
            </a:r>
          </a:p>
          <a:p>
            <a:r>
              <a:rPr lang="en-GB" dirty="0"/>
              <a:t>2.3 Performance management and performance </a:t>
            </a:r>
          </a:p>
          <a:p>
            <a:r>
              <a:rPr lang="en-GB" dirty="0"/>
              <a:t>2.3.1 Aims of performance management </a:t>
            </a:r>
          </a:p>
          <a:p>
            <a:endParaRPr lang="en-ZA" dirty="0"/>
          </a:p>
        </p:txBody>
      </p:sp>
    </p:spTree>
    <p:extLst>
      <p:ext uri="{BB962C8B-B14F-4D97-AF65-F5344CB8AC3E}">
        <p14:creationId xmlns:p14="http://schemas.microsoft.com/office/powerpoint/2010/main" val="2843381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normAutofit fontScale="77500" lnSpcReduction="20000"/>
          </a:bodyPr>
          <a:lstStyle/>
          <a:p>
            <a:r>
              <a:rPr lang="en-GB" dirty="0"/>
              <a:t>2.3.2 Links between performance management and performance </a:t>
            </a:r>
          </a:p>
          <a:p>
            <a:r>
              <a:rPr lang="en-GB" dirty="0"/>
              <a:t>2.4 Strategic human resource management (SHRM) and performance </a:t>
            </a:r>
          </a:p>
          <a:p>
            <a:r>
              <a:rPr lang="en-GB" dirty="0"/>
              <a:t>2.4.1 „Best fit‟ or contingency approaches </a:t>
            </a:r>
          </a:p>
          <a:p>
            <a:r>
              <a:rPr lang="en-GB" dirty="0"/>
              <a:t>2.4.2 „Best practice‟ approaches (high commitment model) </a:t>
            </a:r>
          </a:p>
          <a:p>
            <a:r>
              <a:rPr lang="en-GB" dirty="0"/>
              <a:t>2.4.3 The resource-based view of the firm </a:t>
            </a:r>
          </a:p>
          <a:p>
            <a:r>
              <a:rPr lang="en-GB" dirty="0"/>
              <a:t>2.4.4 Strategic Human resource management and performance </a:t>
            </a:r>
          </a:p>
          <a:p>
            <a:r>
              <a:rPr lang="en-GB" dirty="0"/>
              <a:t>2.5 Gaps in the human resource management literature </a:t>
            </a:r>
          </a:p>
          <a:p>
            <a:r>
              <a:rPr lang="en-ZA" dirty="0"/>
              <a:t>2.6 Chapter summary </a:t>
            </a:r>
            <a:endParaRPr lang="en-ZA" dirty="0"/>
          </a:p>
        </p:txBody>
      </p:sp>
    </p:spTree>
    <p:extLst>
      <p:ext uri="{BB962C8B-B14F-4D97-AF65-F5344CB8AC3E}">
        <p14:creationId xmlns:p14="http://schemas.microsoft.com/office/powerpoint/2010/main" val="646349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2</a:t>
            </a:r>
            <a:endParaRPr lang="en-ZA" dirty="0"/>
          </a:p>
        </p:txBody>
      </p:sp>
      <p:sp>
        <p:nvSpPr>
          <p:cNvPr id="3" name="Content Placeholder 2"/>
          <p:cNvSpPr>
            <a:spLocks noGrp="1"/>
          </p:cNvSpPr>
          <p:nvPr>
            <p:ph idx="1"/>
          </p:nvPr>
        </p:nvSpPr>
        <p:spPr/>
        <p:txBody>
          <a:bodyPr>
            <a:normAutofit fontScale="70000" lnSpcReduction="20000"/>
          </a:bodyPr>
          <a:lstStyle/>
          <a:p>
            <a:r>
              <a:rPr lang="en-ZA" dirty="0"/>
              <a:t>2.1 Introduction </a:t>
            </a:r>
          </a:p>
          <a:p>
            <a:r>
              <a:rPr lang="en-ZA" dirty="0"/>
              <a:t>2.2 Benefits of brands </a:t>
            </a:r>
          </a:p>
          <a:p>
            <a:r>
              <a:rPr lang="en-ZA" dirty="0"/>
              <a:t>2.2.1 Introduction </a:t>
            </a:r>
          </a:p>
          <a:p>
            <a:r>
              <a:rPr lang="en-GB" dirty="0"/>
              <a:t>2.2.2 Value of brands to consumers </a:t>
            </a:r>
          </a:p>
          <a:p>
            <a:r>
              <a:rPr lang="en-GB" dirty="0"/>
              <a:t>2.2.3 Value of brands to firms - brand equity </a:t>
            </a:r>
            <a:r>
              <a:rPr lang="en-GB" b="1" dirty="0"/>
              <a:t>23 | </a:t>
            </a:r>
            <a:r>
              <a:rPr lang="en-GB" dirty="0"/>
              <a:t>P a g e </a:t>
            </a:r>
          </a:p>
          <a:p>
            <a:r>
              <a:rPr lang="en-GB" dirty="0"/>
              <a:t>2.2.4 Scope of branding in higher education </a:t>
            </a:r>
          </a:p>
          <a:p>
            <a:r>
              <a:rPr lang="en-ZA" dirty="0"/>
              <a:t>2.3 Brand orientation </a:t>
            </a:r>
          </a:p>
          <a:p>
            <a:r>
              <a:rPr lang="en-ZA" dirty="0"/>
              <a:t>2.3.1 Introduction </a:t>
            </a:r>
          </a:p>
          <a:p>
            <a:r>
              <a:rPr lang="en-GB" dirty="0"/>
              <a:t>2.3.2 Brand orientation and organizational performance </a:t>
            </a:r>
          </a:p>
          <a:p>
            <a:r>
              <a:rPr lang="en-GB" dirty="0"/>
              <a:t>2.3.3 The brand building process in higher education </a:t>
            </a:r>
          </a:p>
          <a:p>
            <a:r>
              <a:rPr lang="en-GB" dirty="0"/>
              <a:t>2.4 Competitive advantages of higher education brands </a:t>
            </a:r>
          </a:p>
          <a:p>
            <a:r>
              <a:rPr lang="en-GB" dirty="0"/>
              <a:t>2.4.1 Sources of competitive advantage </a:t>
            </a:r>
          </a:p>
          <a:p>
            <a:r>
              <a:rPr lang="en-ZA" dirty="0"/>
              <a:t>2.4.2 Competitive brand positioning </a:t>
            </a:r>
          </a:p>
        </p:txBody>
      </p:sp>
    </p:spTree>
    <p:extLst>
      <p:ext uri="{BB962C8B-B14F-4D97-AF65-F5344CB8AC3E}">
        <p14:creationId xmlns:p14="http://schemas.microsoft.com/office/powerpoint/2010/main" val="98061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normAutofit fontScale="70000" lnSpcReduction="20000"/>
          </a:bodyPr>
          <a:lstStyle/>
          <a:p>
            <a:r>
              <a:rPr lang="en-ZA" dirty="0"/>
              <a:t>2.4.3 Perceptual maps </a:t>
            </a:r>
          </a:p>
          <a:p>
            <a:r>
              <a:rPr lang="en-GB" dirty="0"/>
              <a:t>2.4.4 Identification of a </a:t>
            </a:r>
            <a:r>
              <a:rPr lang="en-GB" dirty="0" err="1"/>
              <a:t>firm‟s</a:t>
            </a:r>
            <a:r>
              <a:rPr lang="en-GB" dirty="0"/>
              <a:t> specific competitive advantages </a:t>
            </a:r>
          </a:p>
          <a:p>
            <a:r>
              <a:rPr lang="en-GB" dirty="0"/>
              <a:t>2.4.5 Sustaining a service </a:t>
            </a:r>
            <a:r>
              <a:rPr lang="en-GB" dirty="0" err="1"/>
              <a:t>brand‟s</a:t>
            </a:r>
            <a:r>
              <a:rPr lang="en-GB" dirty="0"/>
              <a:t> competitive advantage </a:t>
            </a:r>
          </a:p>
          <a:p>
            <a:r>
              <a:rPr lang="en-GB" dirty="0"/>
              <a:t>2.4.6 Specific competitive advantages of universities </a:t>
            </a:r>
          </a:p>
          <a:p>
            <a:r>
              <a:rPr lang="en-ZA" dirty="0"/>
              <a:t>2.5 Branding higher education </a:t>
            </a:r>
          </a:p>
          <a:p>
            <a:r>
              <a:rPr lang="en-GB" dirty="0"/>
              <a:t>2.5.1 Elements of a university brand </a:t>
            </a:r>
          </a:p>
          <a:p>
            <a:r>
              <a:rPr lang="en-GB" dirty="0"/>
              <a:t>2.5.2 Sources of information about HEIs </a:t>
            </a:r>
          </a:p>
          <a:p>
            <a:r>
              <a:rPr lang="en-GB" dirty="0"/>
              <a:t>2.5.3 Influencers of student choice of HEI </a:t>
            </a:r>
          </a:p>
          <a:p>
            <a:r>
              <a:rPr lang="en-ZA" dirty="0"/>
              <a:t>2.6 Branding international HEIs </a:t>
            </a:r>
          </a:p>
          <a:p>
            <a:r>
              <a:rPr lang="en-ZA" dirty="0"/>
              <a:t>2.6.1 Push factors </a:t>
            </a:r>
          </a:p>
          <a:p>
            <a:r>
              <a:rPr lang="en-ZA" dirty="0"/>
              <a:t>2.6.2 Pull factors </a:t>
            </a:r>
          </a:p>
          <a:p>
            <a:r>
              <a:rPr lang="en-GB" dirty="0"/>
              <a:t>2.7 Gaps in the HE branding literature </a:t>
            </a:r>
          </a:p>
          <a:p>
            <a:r>
              <a:rPr lang="en-ZA" dirty="0"/>
              <a:t>2.8 Chapter Summary</a:t>
            </a:r>
            <a:endParaRPr lang="en-ZA" dirty="0"/>
          </a:p>
        </p:txBody>
      </p:sp>
    </p:spTree>
    <p:extLst>
      <p:ext uri="{BB962C8B-B14F-4D97-AF65-F5344CB8AC3E}">
        <p14:creationId xmlns:p14="http://schemas.microsoft.com/office/powerpoint/2010/main" val="2500831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CHAPTER THREE: METHODOLOGY</a:t>
            </a:r>
            <a:endParaRPr lang="en-ZA" dirty="0"/>
          </a:p>
        </p:txBody>
      </p:sp>
      <p:sp>
        <p:nvSpPr>
          <p:cNvPr id="3" name="Content Placeholder 2"/>
          <p:cNvSpPr>
            <a:spLocks noGrp="1"/>
          </p:cNvSpPr>
          <p:nvPr>
            <p:ph idx="1"/>
          </p:nvPr>
        </p:nvSpPr>
        <p:spPr/>
        <p:txBody>
          <a:bodyPr>
            <a:normAutofit fontScale="62500" lnSpcReduction="20000"/>
          </a:bodyPr>
          <a:lstStyle/>
          <a:p>
            <a:r>
              <a:rPr lang="en-GB" dirty="0"/>
              <a:t>The length of your methodology chapter should be 2,000 (+/-10%). Having read your methodology chapter, the reader should understand the basics, including justification of the following elements. </a:t>
            </a:r>
          </a:p>
          <a:p>
            <a:r>
              <a:rPr lang="en-ZA" dirty="0" smtClean="0"/>
              <a:t>Your </a:t>
            </a:r>
            <a:r>
              <a:rPr lang="en-ZA" dirty="0"/>
              <a:t>research paradigm. </a:t>
            </a:r>
          </a:p>
          <a:p>
            <a:r>
              <a:rPr lang="en-GB" dirty="0" smtClean="0"/>
              <a:t>The </a:t>
            </a:r>
            <a:r>
              <a:rPr lang="en-GB" dirty="0"/>
              <a:t>basic orientation adopted (exploratory or explanatory). </a:t>
            </a:r>
          </a:p>
          <a:p>
            <a:r>
              <a:rPr lang="en-GB" dirty="0" smtClean="0"/>
              <a:t>Your </a:t>
            </a:r>
            <a:r>
              <a:rPr lang="en-GB" dirty="0"/>
              <a:t>research approach i.e. deductive or inductive. </a:t>
            </a:r>
          </a:p>
          <a:p>
            <a:r>
              <a:rPr lang="en-GB" dirty="0" smtClean="0"/>
              <a:t>Your </a:t>
            </a:r>
            <a:r>
              <a:rPr lang="en-GB" dirty="0"/>
              <a:t>research strategy e.g. case study or survey or archival research. </a:t>
            </a:r>
          </a:p>
          <a:p>
            <a:r>
              <a:rPr lang="en-GB" dirty="0" smtClean="0"/>
              <a:t>How </a:t>
            </a:r>
            <a:r>
              <a:rPr lang="en-GB" dirty="0"/>
              <a:t>the sample was chosen and consideration of the suitability of the sample. </a:t>
            </a:r>
          </a:p>
          <a:p>
            <a:r>
              <a:rPr lang="en-GB" dirty="0" smtClean="0"/>
              <a:t>The </a:t>
            </a:r>
            <a:r>
              <a:rPr lang="en-GB" dirty="0"/>
              <a:t>basic data collection techniques or instruments used e.g. interviews or questionnaire. </a:t>
            </a:r>
          </a:p>
          <a:p>
            <a:r>
              <a:rPr lang="en-GB" dirty="0" smtClean="0"/>
              <a:t>The </a:t>
            </a:r>
            <a:r>
              <a:rPr lang="en-GB" dirty="0"/>
              <a:t>basic data processing techniques used. </a:t>
            </a:r>
          </a:p>
          <a:p>
            <a:r>
              <a:rPr lang="en-GB" dirty="0" smtClean="0"/>
              <a:t>How </a:t>
            </a:r>
            <a:r>
              <a:rPr lang="en-GB" dirty="0"/>
              <a:t>you ensured credibility of the research findings, i.e. reliability, validity, and generalizability, and the extent to which you used triangulation. </a:t>
            </a:r>
          </a:p>
        </p:txBody>
      </p:sp>
    </p:spTree>
    <p:extLst>
      <p:ext uri="{BB962C8B-B14F-4D97-AF65-F5344CB8AC3E}">
        <p14:creationId xmlns:p14="http://schemas.microsoft.com/office/powerpoint/2010/main" val="1984610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CHAPTER THREE STRUCTURE</a:t>
            </a:r>
            <a:endParaRPr lang="en-ZA" dirty="0"/>
          </a:p>
        </p:txBody>
      </p:sp>
      <p:sp>
        <p:nvSpPr>
          <p:cNvPr id="3" name="Content Placeholder 2"/>
          <p:cNvSpPr>
            <a:spLocks noGrp="1"/>
          </p:cNvSpPr>
          <p:nvPr>
            <p:ph idx="1"/>
          </p:nvPr>
        </p:nvSpPr>
        <p:spPr/>
        <p:txBody>
          <a:bodyPr>
            <a:normAutofit lnSpcReduction="10000"/>
          </a:bodyPr>
          <a:lstStyle/>
          <a:p>
            <a:r>
              <a:rPr lang="en-ZA" dirty="0"/>
              <a:t>3.1 Introduction </a:t>
            </a:r>
          </a:p>
          <a:p>
            <a:r>
              <a:rPr lang="en-GB" dirty="0"/>
              <a:t>3.2 Research approach and strategy justification </a:t>
            </a:r>
          </a:p>
          <a:p>
            <a:r>
              <a:rPr lang="en-ZA" dirty="0"/>
              <a:t>3.2.1 Research paradigm </a:t>
            </a:r>
          </a:p>
          <a:p>
            <a:r>
              <a:rPr lang="en-GB" dirty="0"/>
              <a:t>3.2.2 Inductive and deductive approaches </a:t>
            </a:r>
          </a:p>
          <a:p>
            <a:r>
              <a:rPr lang="en-ZA" dirty="0"/>
              <a:t>3.2.3 Time horizon </a:t>
            </a:r>
          </a:p>
          <a:p>
            <a:r>
              <a:rPr lang="en-ZA" dirty="0"/>
              <a:t>3.2.4 Research strategy </a:t>
            </a:r>
          </a:p>
          <a:p>
            <a:r>
              <a:rPr lang="en-GB" dirty="0"/>
              <a:t>3.3 Sampling frame and sample size </a:t>
            </a:r>
            <a:endParaRPr lang="en-ZA" dirty="0"/>
          </a:p>
        </p:txBody>
      </p:sp>
    </p:spTree>
    <p:extLst>
      <p:ext uri="{BB962C8B-B14F-4D97-AF65-F5344CB8AC3E}">
        <p14:creationId xmlns:p14="http://schemas.microsoft.com/office/powerpoint/2010/main" val="863306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CHAPTER THREE STRUCTURE CONTINUED</a:t>
            </a:r>
            <a:endParaRPr lang="en-ZA" dirty="0"/>
          </a:p>
        </p:txBody>
      </p:sp>
      <p:sp>
        <p:nvSpPr>
          <p:cNvPr id="3" name="Content Placeholder 2"/>
          <p:cNvSpPr>
            <a:spLocks noGrp="1"/>
          </p:cNvSpPr>
          <p:nvPr>
            <p:ph idx="1"/>
          </p:nvPr>
        </p:nvSpPr>
        <p:spPr/>
        <p:txBody>
          <a:bodyPr>
            <a:normAutofit lnSpcReduction="10000"/>
          </a:bodyPr>
          <a:lstStyle/>
          <a:p>
            <a:r>
              <a:rPr lang="en-ZA" dirty="0"/>
              <a:t>3.4 Data collection </a:t>
            </a:r>
          </a:p>
          <a:p>
            <a:r>
              <a:rPr lang="en-GB" dirty="0"/>
              <a:t>3.5 Data processing and analysis </a:t>
            </a:r>
          </a:p>
          <a:p>
            <a:r>
              <a:rPr lang="en-GB" dirty="0"/>
              <a:t>3.6 Reliability, validity, and </a:t>
            </a:r>
            <a:r>
              <a:rPr lang="en-GB" dirty="0" err="1"/>
              <a:t>generalisability</a:t>
            </a:r>
            <a:r>
              <a:rPr lang="en-GB" dirty="0"/>
              <a:t> of research findings </a:t>
            </a:r>
          </a:p>
          <a:p>
            <a:r>
              <a:rPr lang="en-GB" dirty="0"/>
              <a:t>3.7 Ethical and access issues </a:t>
            </a:r>
          </a:p>
          <a:p>
            <a:r>
              <a:rPr lang="en-ZA" dirty="0"/>
              <a:t>3.7.1 Accessibility </a:t>
            </a:r>
          </a:p>
          <a:p>
            <a:r>
              <a:rPr lang="en-ZA" dirty="0"/>
              <a:t>3.7.2 Research Ethics </a:t>
            </a:r>
          </a:p>
          <a:p>
            <a:r>
              <a:rPr lang="en-ZA" dirty="0"/>
              <a:t>3.8 Chapter Summary </a:t>
            </a:r>
            <a:endParaRPr lang="en-ZA" dirty="0"/>
          </a:p>
        </p:txBody>
      </p:sp>
    </p:spTree>
    <p:extLst>
      <p:ext uri="{BB962C8B-B14F-4D97-AF65-F5344CB8AC3E}">
        <p14:creationId xmlns:p14="http://schemas.microsoft.com/office/powerpoint/2010/main" val="461296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JUSTIFYING YOUR RESEARCH DESIGN</a:t>
            </a:r>
            <a:endParaRPr lang="en-ZA" dirty="0"/>
          </a:p>
        </p:txBody>
      </p:sp>
      <p:sp>
        <p:nvSpPr>
          <p:cNvPr id="3" name="Content Placeholder 2"/>
          <p:cNvSpPr>
            <a:spLocks noGrp="1"/>
          </p:cNvSpPr>
          <p:nvPr>
            <p:ph idx="1"/>
          </p:nvPr>
        </p:nvSpPr>
        <p:spPr/>
        <p:txBody>
          <a:bodyPr>
            <a:normAutofit fontScale="92500" lnSpcReduction="20000"/>
          </a:bodyPr>
          <a:lstStyle/>
          <a:p>
            <a:r>
              <a:rPr lang="en-GB" dirty="0"/>
              <a:t>Your research design depends on your research questions; this implies that you need to make choices regarding the execution of your research. For example, you need to decide whether your research is qualitative or quantitative, whether it is inductive or deductive, whether to use the case study or survey strategy, whether to conduct interviews or administer a questionnaire or a combination of these aspects. Whatever choices you make, you should justify them by referring to the literature. </a:t>
            </a:r>
            <a:endParaRPr lang="en-ZA" dirty="0"/>
          </a:p>
        </p:txBody>
      </p:sp>
    </p:spTree>
    <p:extLst>
      <p:ext uri="{BB962C8B-B14F-4D97-AF65-F5344CB8AC3E}">
        <p14:creationId xmlns:p14="http://schemas.microsoft.com/office/powerpoint/2010/main" val="1805775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CHAPTER FOUR:FINDINGS AND ANALYSIS</a:t>
            </a:r>
            <a:endParaRPr lang="en-ZA" dirty="0"/>
          </a:p>
        </p:txBody>
      </p:sp>
      <p:sp>
        <p:nvSpPr>
          <p:cNvPr id="3" name="Content Placeholder 2"/>
          <p:cNvSpPr>
            <a:spLocks noGrp="1"/>
          </p:cNvSpPr>
          <p:nvPr>
            <p:ph idx="1"/>
          </p:nvPr>
        </p:nvSpPr>
        <p:spPr/>
        <p:txBody>
          <a:bodyPr/>
          <a:lstStyle/>
          <a:p>
            <a:endParaRPr lang="en-ZA" dirty="0"/>
          </a:p>
          <a:p>
            <a:r>
              <a:rPr lang="en-GB" dirty="0"/>
              <a:t>Process and analyse qualitative data. </a:t>
            </a:r>
          </a:p>
          <a:p>
            <a:r>
              <a:rPr lang="en-ZA" dirty="0" smtClean="0"/>
              <a:t>Process </a:t>
            </a:r>
            <a:r>
              <a:rPr lang="en-ZA" dirty="0"/>
              <a:t>and analyse quantitative data. </a:t>
            </a:r>
          </a:p>
          <a:p>
            <a:r>
              <a:rPr lang="en-GB" dirty="0" smtClean="0"/>
              <a:t>Write </a:t>
            </a:r>
            <a:r>
              <a:rPr lang="en-GB" dirty="0"/>
              <a:t>the findings and analysis chapter of your dissertation. </a:t>
            </a:r>
          </a:p>
        </p:txBody>
      </p:sp>
    </p:spTree>
    <p:extLst>
      <p:ext uri="{BB962C8B-B14F-4D97-AF65-F5344CB8AC3E}">
        <p14:creationId xmlns:p14="http://schemas.microsoft.com/office/powerpoint/2010/main" val="308378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MAIN THINGS TO INCLUDE IN FINDINGS AND ANALYSIS CHAPTER</a:t>
            </a:r>
            <a:endParaRPr lang="en-ZA" dirty="0"/>
          </a:p>
        </p:txBody>
      </p:sp>
      <p:sp>
        <p:nvSpPr>
          <p:cNvPr id="3" name="Content Placeholder 2"/>
          <p:cNvSpPr>
            <a:spLocks noGrp="1"/>
          </p:cNvSpPr>
          <p:nvPr>
            <p:ph idx="1"/>
          </p:nvPr>
        </p:nvSpPr>
        <p:spPr/>
        <p:txBody>
          <a:bodyPr>
            <a:normAutofit fontScale="85000" lnSpcReduction="10000"/>
          </a:bodyPr>
          <a:lstStyle/>
          <a:p>
            <a:r>
              <a:rPr lang="en-GB" dirty="0"/>
              <a:t>The main sections that you should address in the findings and analysis chapter include the following. </a:t>
            </a:r>
          </a:p>
          <a:p>
            <a:r>
              <a:rPr lang="en-GB" dirty="0" smtClean="0"/>
              <a:t>Sources </a:t>
            </a:r>
            <a:r>
              <a:rPr lang="en-GB" dirty="0"/>
              <a:t>of data (e.g. interviews and questionnaires). </a:t>
            </a:r>
          </a:p>
          <a:p>
            <a:r>
              <a:rPr lang="en-ZA" dirty="0" smtClean="0"/>
              <a:t>Types </a:t>
            </a:r>
            <a:r>
              <a:rPr lang="en-ZA" dirty="0"/>
              <a:t>of data (qualitative or quantitative). </a:t>
            </a:r>
          </a:p>
          <a:p>
            <a:r>
              <a:rPr lang="en-ZA" dirty="0" smtClean="0"/>
              <a:t>Data </a:t>
            </a:r>
            <a:r>
              <a:rPr lang="en-ZA" dirty="0"/>
              <a:t>collection techniques. </a:t>
            </a:r>
          </a:p>
          <a:p>
            <a:r>
              <a:rPr lang="fr-FR" dirty="0" smtClean="0"/>
              <a:t>Main </a:t>
            </a:r>
            <a:r>
              <a:rPr lang="fr-FR" dirty="0" err="1"/>
              <a:t>analysis</a:t>
            </a:r>
            <a:r>
              <a:rPr lang="fr-FR" dirty="0"/>
              <a:t> </a:t>
            </a:r>
            <a:r>
              <a:rPr lang="fr-FR" dirty="0" err="1"/>
              <a:t>philosophy</a:t>
            </a:r>
            <a:r>
              <a:rPr lang="fr-FR" dirty="0"/>
              <a:t> (quantitative or qualitative). </a:t>
            </a:r>
          </a:p>
          <a:p>
            <a:r>
              <a:rPr lang="en-ZA" dirty="0" smtClean="0"/>
              <a:t>Quantitative </a:t>
            </a:r>
            <a:r>
              <a:rPr lang="en-ZA" dirty="0"/>
              <a:t>methods used. </a:t>
            </a:r>
          </a:p>
          <a:p>
            <a:r>
              <a:rPr lang="en-ZA" dirty="0" smtClean="0"/>
              <a:t>Interpretation </a:t>
            </a:r>
            <a:r>
              <a:rPr lang="en-ZA" dirty="0"/>
              <a:t>techniques. </a:t>
            </a:r>
          </a:p>
        </p:txBody>
      </p:sp>
    </p:spTree>
    <p:extLst>
      <p:ext uri="{BB962C8B-B14F-4D97-AF65-F5344CB8AC3E}">
        <p14:creationId xmlns:p14="http://schemas.microsoft.com/office/powerpoint/2010/main" val="2268305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EXAMPLE 1 ON FINDINGS AND ANALYSIS- QUANTITATIVE</a:t>
            </a:r>
            <a:endParaRPr lang="en-ZA" dirty="0"/>
          </a:p>
        </p:txBody>
      </p:sp>
      <p:sp>
        <p:nvSpPr>
          <p:cNvPr id="3" name="Content Placeholder 2"/>
          <p:cNvSpPr>
            <a:spLocks noGrp="1"/>
          </p:cNvSpPr>
          <p:nvPr>
            <p:ph idx="1"/>
          </p:nvPr>
        </p:nvSpPr>
        <p:spPr/>
        <p:txBody>
          <a:bodyPr>
            <a:normAutofit lnSpcReduction="10000"/>
          </a:bodyPr>
          <a:lstStyle/>
          <a:p>
            <a:r>
              <a:rPr lang="en-ZA" dirty="0"/>
              <a:t>7.1 Introduction </a:t>
            </a:r>
          </a:p>
          <a:p>
            <a:r>
              <a:rPr lang="en-GB" dirty="0"/>
              <a:t>7.2 Profiles of the Respondents </a:t>
            </a:r>
          </a:p>
          <a:p>
            <a:r>
              <a:rPr lang="en-GB" dirty="0"/>
              <a:t>7.3 Assessments of Validity and Reliability </a:t>
            </a:r>
          </a:p>
          <a:p>
            <a:r>
              <a:rPr lang="en-GB" dirty="0"/>
              <a:t>7.3.1 Examination of the Personal Values Scale </a:t>
            </a:r>
          </a:p>
          <a:p>
            <a:r>
              <a:rPr lang="en-GB" dirty="0"/>
              <a:t>7.3.2 Examination of the Brand Equity Scale </a:t>
            </a:r>
          </a:p>
          <a:p>
            <a:r>
              <a:rPr lang="en-GB" dirty="0"/>
              <a:t>7.3.3 Examination of the Brand Loyalty Scale </a:t>
            </a:r>
          </a:p>
          <a:p>
            <a:r>
              <a:rPr lang="en-ZA" dirty="0"/>
              <a:t>7.4 Descriptive Analysis </a:t>
            </a:r>
          </a:p>
          <a:p>
            <a:r>
              <a:rPr lang="en-GB" dirty="0"/>
              <a:t>7.4.1 Descriptive Statistics of Personal Values </a:t>
            </a:r>
            <a:endParaRPr lang="en-ZA" dirty="0"/>
          </a:p>
        </p:txBody>
      </p:sp>
    </p:spTree>
    <p:extLst>
      <p:ext uri="{BB962C8B-B14F-4D97-AF65-F5344CB8AC3E}">
        <p14:creationId xmlns:p14="http://schemas.microsoft.com/office/powerpoint/2010/main" val="4037710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ANALYSIS CONTINUATION</a:t>
            </a:r>
            <a:endParaRPr lang="en-ZA" dirty="0"/>
          </a:p>
        </p:txBody>
      </p:sp>
      <p:sp>
        <p:nvSpPr>
          <p:cNvPr id="3" name="Content Placeholder 2"/>
          <p:cNvSpPr>
            <a:spLocks noGrp="1"/>
          </p:cNvSpPr>
          <p:nvPr>
            <p:ph idx="1"/>
          </p:nvPr>
        </p:nvSpPr>
        <p:spPr/>
        <p:txBody>
          <a:bodyPr>
            <a:normAutofit fontScale="62500" lnSpcReduction="20000"/>
          </a:bodyPr>
          <a:lstStyle/>
          <a:p>
            <a:r>
              <a:rPr lang="en-GB" dirty="0"/>
              <a:t>7.4.2 Descriptive Statistics of Brand Equity </a:t>
            </a:r>
          </a:p>
          <a:p>
            <a:r>
              <a:rPr lang="en-GB" dirty="0"/>
              <a:t>7.4.3 Descriptive Statistics of Other Variables </a:t>
            </a:r>
          </a:p>
          <a:p>
            <a:r>
              <a:rPr lang="en-GB" dirty="0"/>
              <a:t>7.5 T-Test and ANOVA Test </a:t>
            </a:r>
          </a:p>
          <a:p>
            <a:r>
              <a:rPr lang="en-GB" dirty="0"/>
              <a:t>7.5.1 Differences between Customer Types </a:t>
            </a:r>
          </a:p>
          <a:p>
            <a:r>
              <a:rPr lang="en-ZA" dirty="0"/>
              <a:t>7.5.2 Differences between Genders </a:t>
            </a:r>
          </a:p>
          <a:p>
            <a:r>
              <a:rPr lang="en-GB" dirty="0"/>
              <a:t>7.5.3 Differences among Age Groups </a:t>
            </a:r>
          </a:p>
          <a:p>
            <a:r>
              <a:rPr lang="en-ZA" dirty="0"/>
              <a:t>7.6 Correlation Analysis </a:t>
            </a:r>
          </a:p>
          <a:p>
            <a:r>
              <a:rPr lang="fr-FR" dirty="0"/>
              <a:t>7.6.1 </a:t>
            </a:r>
            <a:r>
              <a:rPr lang="fr-FR" dirty="0" err="1"/>
              <a:t>Correlation</a:t>
            </a:r>
            <a:r>
              <a:rPr lang="fr-FR" dirty="0"/>
              <a:t> Matrix </a:t>
            </a:r>
            <a:r>
              <a:rPr lang="fr-FR" dirty="0" err="1"/>
              <a:t>among</a:t>
            </a:r>
            <a:r>
              <a:rPr lang="fr-FR" dirty="0"/>
              <a:t> Variables </a:t>
            </a:r>
          </a:p>
          <a:p>
            <a:r>
              <a:rPr lang="en-GB" dirty="0"/>
              <a:t>7.7 Research Hypotheses and Model Testing </a:t>
            </a:r>
          </a:p>
          <a:p>
            <a:r>
              <a:rPr lang="en-GB" dirty="0"/>
              <a:t>7.7.1 Effects of Personal Values on Brand Equity </a:t>
            </a:r>
          </a:p>
          <a:p>
            <a:r>
              <a:rPr lang="en-GB" dirty="0"/>
              <a:t>7.7.2 Effects of Brand Equity on Brand Loyalty </a:t>
            </a:r>
          </a:p>
          <a:p>
            <a:r>
              <a:rPr lang="en-GB" dirty="0"/>
              <a:t>7.7.3 Mediating Effects of Brand Equity </a:t>
            </a:r>
          </a:p>
          <a:p>
            <a:r>
              <a:rPr lang="en-GB" dirty="0"/>
              <a:t>7.7.4 Moderating Effects of Value for Money </a:t>
            </a:r>
          </a:p>
          <a:p>
            <a:r>
              <a:rPr lang="en-ZA" dirty="0"/>
              <a:t>7.8 Chapter Summary </a:t>
            </a:r>
          </a:p>
        </p:txBody>
      </p:sp>
    </p:spTree>
    <p:extLst>
      <p:ext uri="{BB962C8B-B14F-4D97-AF65-F5344CB8AC3E}">
        <p14:creationId xmlns:p14="http://schemas.microsoft.com/office/powerpoint/2010/main" val="3967990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EXAMPLE2 -QUALITATIVE</a:t>
            </a:r>
            <a:endParaRPr lang="en-ZA" dirty="0"/>
          </a:p>
        </p:txBody>
      </p:sp>
      <p:sp>
        <p:nvSpPr>
          <p:cNvPr id="3" name="Content Placeholder 2"/>
          <p:cNvSpPr>
            <a:spLocks noGrp="1"/>
          </p:cNvSpPr>
          <p:nvPr>
            <p:ph idx="1"/>
          </p:nvPr>
        </p:nvSpPr>
        <p:spPr/>
        <p:txBody>
          <a:bodyPr>
            <a:normAutofit fontScale="62500" lnSpcReduction="20000"/>
          </a:bodyPr>
          <a:lstStyle/>
          <a:p>
            <a:r>
              <a:rPr lang="en-ZA" dirty="0"/>
              <a:t>5.1 Introduction </a:t>
            </a:r>
          </a:p>
          <a:p>
            <a:r>
              <a:rPr lang="en-GB" dirty="0"/>
              <a:t>5.2 RQ1 Generally speaking, is there a performance deficiency in the college? </a:t>
            </a:r>
          </a:p>
          <a:p>
            <a:r>
              <a:rPr lang="en-GB" dirty="0"/>
              <a:t>5.3 RQ2 Does the current performance appraisal process affect the ACCA lecturers‟ perception of the purpose and value of performance appraisal? </a:t>
            </a:r>
          </a:p>
          <a:p>
            <a:r>
              <a:rPr lang="en-GB" dirty="0"/>
              <a:t>5.4 RQ3 Do employees consider the </a:t>
            </a:r>
            <a:r>
              <a:rPr lang="en-GB" dirty="0" err="1"/>
              <a:t>college‟s</a:t>
            </a:r>
            <a:r>
              <a:rPr lang="en-GB" dirty="0"/>
              <a:t> performance appraisal system to be fair? </a:t>
            </a:r>
          </a:p>
          <a:p>
            <a:r>
              <a:rPr lang="en-GB" dirty="0"/>
              <a:t>5.5 RQ4 Are ACCA lecturers motivated by the performance appraisal outcomes? </a:t>
            </a:r>
          </a:p>
          <a:p>
            <a:r>
              <a:rPr lang="en-GB" dirty="0"/>
              <a:t>5.6 RQ5 Does the current performance appraisal result in enhanced ACCA lecturers‟ performance? </a:t>
            </a:r>
          </a:p>
          <a:p>
            <a:r>
              <a:rPr lang="en-GB" dirty="0"/>
              <a:t>5.7 RQ6 What are the shortcomings in the </a:t>
            </a:r>
            <a:r>
              <a:rPr lang="en-GB" dirty="0" err="1"/>
              <a:t>college‟s</a:t>
            </a:r>
            <a:r>
              <a:rPr lang="en-GB" dirty="0"/>
              <a:t> performance appraisal process as it relates to ACCA lecturers? </a:t>
            </a:r>
          </a:p>
          <a:p>
            <a:r>
              <a:rPr lang="en-GB" dirty="0"/>
              <a:t>5.8 RQ7 Can the current performance appraisal system be improved on, or is it better for ZCAS to adopt performance management practices? </a:t>
            </a:r>
          </a:p>
          <a:p>
            <a:r>
              <a:rPr lang="en-ZA" dirty="0"/>
              <a:t>5.9 Chapter summary </a:t>
            </a:r>
            <a:endParaRPr lang="en-ZA" dirty="0"/>
          </a:p>
        </p:txBody>
      </p:sp>
    </p:spTree>
    <p:extLst>
      <p:ext uri="{BB962C8B-B14F-4D97-AF65-F5344CB8AC3E}">
        <p14:creationId xmlns:p14="http://schemas.microsoft.com/office/powerpoint/2010/main" val="3075188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CONCLUSIONS AND RECOMMENDATIONS</a:t>
            </a:r>
            <a:endParaRPr lang="en-ZA" dirty="0"/>
          </a:p>
        </p:txBody>
      </p:sp>
      <p:sp>
        <p:nvSpPr>
          <p:cNvPr id="3" name="Content Placeholder 2"/>
          <p:cNvSpPr>
            <a:spLocks noGrp="1"/>
          </p:cNvSpPr>
          <p:nvPr>
            <p:ph idx="1"/>
          </p:nvPr>
        </p:nvSpPr>
        <p:spPr/>
        <p:txBody>
          <a:bodyPr>
            <a:normAutofit fontScale="85000" lnSpcReduction="20000"/>
          </a:bodyPr>
          <a:lstStyle/>
          <a:p>
            <a:endParaRPr lang="en-ZA" dirty="0"/>
          </a:p>
          <a:p>
            <a:r>
              <a:rPr lang="en-GB" dirty="0"/>
              <a:t>Synthesize the contents of the entire dissertation and reach conclusions on your research objectives and questions. </a:t>
            </a:r>
          </a:p>
          <a:p>
            <a:r>
              <a:rPr lang="en-GB" dirty="0" smtClean="0"/>
              <a:t>Where </a:t>
            </a:r>
            <a:r>
              <a:rPr lang="en-GB" dirty="0"/>
              <a:t>appropriate, recommend actions that need to be taken to address organisational challenges as unveiled by your study. </a:t>
            </a:r>
          </a:p>
          <a:p>
            <a:r>
              <a:rPr lang="en-GB" dirty="0" smtClean="0"/>
              <a:t>Identify </a:t>
            </a:r>
            <a:r>
              <a:rPr lang="en-GB" dirty="0"/>
              <a:t>limitations of your study and how future research could address them. </a:t>
            </a:r>
          </a:p>
          <a:p>
            <a:r>
              <a:rPr lang="en-GB" dirty="0" smtClean="0"/>
              <a:t>Write </a:t>
            </a:r>
            <a:r>
              <a:rPr lang="en-GB" dirty="0"/>
              <a:t>and submit the conclusions and recommendations chapter. </a:t>
            </a:r>
          </a:p>
          <a:p>
            <a:r>
              <a:rPr lang="en-GB" dirty="0" smtClean="0"/>
              <a:t>Review </a:t>
            </a:r>
            <a:r>
              <a:rPr lang="en-GB" dirty="0"/>
              <a:t>and submit your complete dissertation. </a:t>
            </a:r>
          </a:p>
        </p:txBody>
      </p:sp>
    </p:spTree>
    <p:extLst>
      <p:ext uri="{BB962C8B-B14F-4D97-AF65-F5344CB8AC3E}">
        <p14:creationId xmlns:p14="http://schemas.microsoft.com/office/powerpoint/2010/main" val="1726215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STRUCTURE FOR CONCLUSION AND RECOMMENDATIONS</a:t>
            </a:r>
            <a:endParaRPr lang="en-ZA" dirty="0"/>
          </a:p>
        </p:txBody>
      </p:sp>
      <p:sp>
        <p:nvSpPr>
          <p:cNvPr id="3" name="Content Placeholder 2"/>
          <p:cNvSpPr>
            <a:spLocks noGrp="1"/>
          </p:cNvSpPr>
          <p:nvPr>
            <p:ph idx="1"/>
          </p:nvPr>
        </p:nvSpPr>
        <p:spPr/>
        <p:txBody>
          <a:bodyPr/>
          <a:lstStyle/>
          <a:p>
            <a:r>
              <a:rPr lang="en-ZA" dirty="0"/>
              <a:t>6.1 Introduction </a:t>
            </a:r>
          </a:p>
          <a:p>
            <a:r>
              <a:rPr lang="en-GB" dirty="0"/>
              <a:t>6.2 Contributions of the study to higher education brand management </a:t>
            </a:r>
          </a:p>
          <a:p>
            <a:r>
              <a:rPr lang="en-GB" dirty="0"/>
              <a:t>6.2.1 Elements of a higher education brand </a:t>
            </a:r>
          </a:p>
          <a:p>
            <a:r>
              <a:rPr lang="en-GB" dirty="0"/>
              <a:t>6.2.2 Sources of competitive advantage in Zambia </a:t>
            </a:r>
          </a:p>
          <a:p>
            <a:r>
              <a:rPr lang="en-ZA" dirty="0"/>
              <a:t>6.2.3 Information sources </a:t>
            </a:r>
            <a:endParaRPr lang="en-ZA" dirty="0"/>
          </a:p>
        </p:txBody>
      </p:sp>
    </p:spTree>
    <p:extLst>
      <p:ext uri="{BB962C8B-B14F-4D97-AF65-F5344CB8AC3E}">
        <p14:creationId xmlns:p14="http://schemas.microsoft.com/office/powerpoint/2010/main" val="639004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CONTINUATION</a:t>
            </a:r>
            <a:endParaRPr lang="en-ZA" dirty="0"/>
          </a:p>
        </p:txBody>
      </p:sp>
      <p:sp>
        <p:nvSpPr>
          <p:cNvPr id="3" name="Content Placeholder 2"/>
          <p:cNvSpPr>
            <a:spLocks noGrp="1"/>
          </p:cNvSpPr>
          <p:nvPr>
            <p:ph idx="1"/>
          </p:nvPr>
        </p:nvSpPr>
        <p:spPr/>
        <p:txBody>
          <a:bodyPr>
            <a:normAutofit fontScale="70000" lnSpcReduction="20000"/>
          </a:bodyPr>
          <a:lstStyle/>
          <a:p>
            <a:r>
              <a:rPr lang="en-GB" dirty="0"/>
              <a:t>6.2.4 Influencers of student choice </a:t>
            </a:r>
          </a:p>
          <a:p>
            <a:r>
              <a:rPr lang="en-GB" dirty="0"/>
              <a:t>6.3 Managerial and operational contributions of the research </a:t>
            </a:r>
          </a:p>
          <a:p>
            <a:r>
              <a:rPr lang="en-GB" dirty="0"/>
              <a:t>6.3.1 RO2: Based on the brand components identified in RO1 above, identify the current position of the ZCAS brand as a case study. </a:t>
            </a:r>
          </a:p>
          <a:p>
            <a:r>
              <a:rPr lang="en-GB" dirty="0"/>
              <a:t>6.3.2 RO3: Establish the current position of the ZCAS brand relative to its higher education competitors in Zambia. </a:t>
            </a:r>
          </a:p>
          <a:p>
            <a:r>
              <a:rPr lang="en-GB" dirty="0"/>
              <a:t>6.3.3 RO4: Make recommendations on how ZCAS can strengthen its brand position in the higher education sector in Zambia. </a:t>
            </a:r>
          </a:p>
          <a:p>
            <a:r>
              <a:rPr lang="en-GB" dirty="0"/>
              <a:t>6.4 Limitations of the study and directions for future research </a:t>
            </a:r>
          </a:p>
          <a:p>
            <a:r>
              <a:rPr lang="en-ZA" dirty="0"/>
              <a:t>6.5 Chapter summary </a:t>
            </a:r>
          </a:p>
        </p:txBody>
      </p:sp>
    </p:spTree>
    <p:extLst>
      <p:ext uri="{BB962C8B-B14F-4D97-AF65-F5344CB8AC3E}">
        <p14:creationId xmlns:p14="http://schemas.microsoft.com/office/powerpoint/2010/main" val="711801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a:t>
            </a:r>
            <a:endParaRPr lang="en-ZA" dirty="0"/>
          </a:p>
        </p:txBody>
      </p:sp>
      <p:sp>
        <p:nvSpPr>
          <p:cNvPr id="3" name="Content Placeholder 2"/>
          <p:cNvSpPr>
            <a:spLocks noGrp="1"/>
          </p:cNvSpPr>
          <p:nvPr>
            <p:ph idx="1"/>
          </p:nvPr>
        </p:nvSpPr>
        <p:spPr/>
        <p:txBody>
          <a:bodyPr/>
          <a:lstStyle/>
          <a:p>
            <a:r>
              <a:rPr lang="en-GB" dirty="0" err="1" smtClean="0"/>
              <a:t>Bryman</a:t>
            </a:r>
            <a:r>
              <a:rPr lang="en-GB" dirty="0" smtClean="0"/>
              <a:t>, A. and Bell, E. (2011) </a:t>
            </a:r>
            <a:r>
              <a:rPr lang="en-GB" i="1" dirty="0" smtClean="0"/>
              <a:t>Business Research Methods</a:t>
            </a:r>
            <a:r>
              <a:rPr lang="en-GB" dirty="0" smtClean="0"/>
              <a:t>, 3rd Edition. New York: Oxford University Press. </a:t>
            </a:r>
          </a:p>
          <a:p>
            <a:r>
              <a:rPr lang="en-GB" dirty="0" smtClean="0"/>
              <a:t> Saunders, N. K. M, </a:t>
            </a:r>
            <a:r>
              <a:rPr lang="en-GB" dirty="0" err="1" smtClean="0"/>
              <a:t>Thornhill</a:t>
            </a:r>
            <a:r>
              <a:rPr lang="en-GB" dirty="0" smtClean="0"/>
              <a:t>, A. and Lewis, P. (2009) </a:t>
            </a:r>
            <a:r>
              <a:rPr lang="en-GB" i="1" dirty="0" smtClean="0"/>
              <a:t>Research Methods for Business Students</a:t>
            </a:r>
            <a:r>
              <a:rPr lang="en-GB" dirty="0" smtClean="0"/>
              <a:t>, 5th Edition, London: Prentice Hall</a:t>
            </a:r>
            <a:endParaRPr lang="en-ZA" dirty="0"/>
          </a:p>
        </p:txBody>
      </p:sp>
    </p:spTree>
    <p:extLst>
      <p:ext uri="{BB962C8B-B14F-4D97-AF65-F5344CB8AC3E}">
        <p14:creationId xmlns:p14="http://schemas.microsoft.com/office/powerpoint/2010/main" val="3935371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 CONTINUED</a:t>
            </a:r>
            <a:endParaRPr lang="en-ZA" dirty="0"/>
          </a:p>
        </p:txBody>
      </p:sp>
      <p:sp>
        <p:nvSpPr>
          <p:cNvPr id="3" name="Content Placeholder 2"/>
          <p:cNvSpPr>
            <a:spLocks noGrp="1"/>
          </p:cNvSpPr>
          <p:nvPr>
            <p:ph idx="1"/>
          </p:nvPr>
        </p:nvSpPr>
        <p:spPr/>
        <p:txBody>
          <a:bodyPr>
            <a:normAutofit fontScale="92500" lnSpcReduction="20000"/>
          </a:bodyPr>
          <a:lstStyle/>
          <a:p>
            <a:endParaRPr lang="en-ZA" dirty="0"/>
          </a:p>
          <a:p>
            <a:r>
              <a:rPr lang="en-GB" dirty="0"/>
              <a:t>Allison, B. (2004) </a:t>
            </a:r>
            <a:r>
              <a:rPr lang="en-GB" i="1" dirty="0"/>
              <a:t>The student's guide to preparing dissertations and </a:t>
            </a:r>
            <a:endParaRPr lang="en-GB" dirty="0"/>
          </a:p>
          <a:p>
            <a:r>
              <a:rPr lang="en-ZA" i="1" dirty="0"/>
              <a:t>theses</a:t>
            </a:r>
            <a:r>
              <a:rPr lang="en-ZA" dirty="0"/>
              <a:t>. </a:t>
            </a:r>
            <a:r>
              <a:rPr lang="en-ZA" dirty="0" err="1"/>
              <a:t>Routledge</a:t>
            </a:r>
            <a:r>
              <a:rPr lang="en-ZA" dirty="0"/>
              <a:t>. </a:t>
            </a:r>
          </a:p>
          <a:p>
            <a:r>
              <a:rPr lang="en-GB" dirty="0" smtClean="0"/>
              <a:t> </a:t>
            </a:r>
            <a:r>
              <a:rPr lang="en-GB" dirty="0"/>
              <a:t>Bell, J. (2008) </a:t>
            </a:r>
            <a:r>
              <a:rPr lang="en-GB" i="1" dirty="0"/>
              <a:t>Doing your research project: a guide for first time researchers in education and social science. </a:t>
            </a:r>
            <a:r>
              <a:rPr lang="en-GB" dirty="0"/>
              <a:t>Open University Press. </a:t>
            </a:r>
          </a:p>
          <a:p>
            <a:r>
              <a:rPr lang="en-GB" dirty="0" smtClean="0"/>
              <a:t> </a:t>
            </a:r>
            <a:r>
              <a:rPr lang="en-GB" dirty="0"/>
              <a:t>Collins, J. &amp; Hussey, R. (2003) </a:t>
            </a:r>
            <a:r>
              <a:rPr lang="en-GB" i="1" dirty="0"/>
              <a:t>Business Research: A practical guide for undergraduates and Postgraduates students. </a:t>
            </a:r>
            <a:r>
              <a:rPr lang="en-GB" dirty="0"/>
              <a:t>Palgrave </a:t>
            </a:r>
          </a:p>
        </p:txBody>
      </p:sp>
    </p:spTree>
    <p:extLst>
      <p:ext uri="{BB962C8B-B14F-4D97-AF65-F5344CB8AC3E}">
        <p14:creationId xmlns:p14="http://schemas.microsoft.com/office/powerpoint/2010/main" val="205429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 CONTINUED</a:t>
            </a:r>
            <a:endParaRPr lang="en-ZA" dirty="0"/>
          </a:p>
        </p:txBody>
      </p:sp>
      <p:sp>
        <p:nvSpPr>
          <p:cNvPr id="3" name="Content Placeholder 2"/>
          <p:cNvSpPr>
            <a:spLocks noGrp="1"/>
          </p:cNvSpPr>
          <p:nvPr>
            <p:ph idx="1"/>
          </p:nvPr>
        </p:nvSpPr>
        <p:spPr/>
        <p:txBody>
          <a:bodyPr>
            <a:normAutofit fontScale="92500" lnSpcReduction="10000"/>
          </a:bodyPr>
          <a:lstStyle/>
          <a:p>
            <a:r>
              <a:rPr lang="en-GB" dirty="0" smtClean="0"/>
              <a:t>Fisher, C. (2004) </a:t>
            </a:r>
            <a:r>
              <a:rPr lang="en-GB" i="1" dirty="0" smtClean="0"/>
              <a:t>Researching and writing a dissertation for business students</a:t>
            </a:r>
            <a:r>
              <a:rPr lang="en-GB" dirty="0" smtClean="0"/>
              <a:t>. FT Prentice Hall </a:t>
            </a:r>
          </a:p>
          <a:p>
            <a:r>
              <a:rPr lang="en-GB" dirty="0" smtClean="0"/>
              <a:t> Gash, S. (2000) </a:t>
            </a:r>
            <a:r>
              <a:rPr lang="en-GB" i="1" dirty="0" smtClean="0"/>
              <a:t>Effective literature searching for research</a:t>
            </a:r>
            <a:r>
              <a:rPr lang="en-GB" dirty="0" smtClean="0"/>
              <a:t>. Gower </a:t>
            </a:r>
          </a:p>
          <a:p>
            <a:r>
              <a:rPr lang="en-GB" dirty="0" smtClean="0"/>
              <a:t> Hart, C. (2001) </a:t>
            </a:r>
            <a:r>
              <a:rPr lang="en-GB" i="1" dirty="0" smtClean="0"/>
              <a:t>Doing a literature Search</a:t>
            </a:r>
            <a:r>
              <a:rPr lang="en-GB" dirty="0" smtClean="0"/>
              <a:t>. Sage. </a:t>
            </a:r>
          </a:p>
          <a:p>
            <a:r>
              <a:rPr lang="en-GB" dirty="0" smtClean="0"/>
              <a:t> Kumar, R. (1999) </a:t>
            </a:r>
            <a:r>
              <a:rPr lang="en-GB" i="1" dirty="0" smtClean="0"/>
              <a:t>Research methodology: a step-by-step guide for beginner</a:t>
            </a:r>
            <a:r>
              <a:rPr lang="en-GB" dirty="0" smtClean="0"/>
              <a:t>. Sage. </a:t>
            </a:r>
          </a:p>
          <a:p>
            <a:r>
              <a:rPr lang="en-GB" dirty="0" smtClean="0"/>
              <a:t>Patton, R. (2001) </a:t>
            </a:r>
            <a:r>
              <a:rPr lang="en-GB" i="1" dirty="0" smtClean="0"/>
              <a:t>Qualitative Evaluation &amp; Research Methods</a:t>
            </a:r>
            <a:r>
              <a:rPr lang="en-GB" dirty="0" smtClean="0"/>
              <a:t>. Sage. </a:t>
            </a:r>
            <a:endParaRPr lang="en-GB" dirty="0"/>
          </a:p>
        </p:txBody>
      </p:sp>
    </p:spTree>
    <p:extLst>
      <p:ext uri="{BB962C8B-B14F-4D97-AF65-F5344CB8AC3E}">
        <p14:creationId xmlns:p14="http://schemas.microsoft.com/office/powerpoint/2010/main" val="636378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2671</Words>
  <Application>Microsoft Office PowerPoint</Application>
  <PresentationFormat>On-screen Show (4:3)</PresentationFormat>
  <Paragraphs>262</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DISSERTATION</vt:lpstr>
      <vt:lpstr>COURSE OBJECTIVES</vt:lpstr>
      <vt:lpstr>COURSE OBJECTIVES CONTINUED</vt:lpstr>
      <vt:lpstr>ROLES OF SUPERVISOR</vt:lpstr>
      <vt:lpstr>WHAT  THE SUPERVISOR IS NOT EXPECTED TO DO </vt:lpstr>
      <vt:lpstr>ROLES OF A STUDENT</vt:lpstr>
      <vt:lpstr>ROLES OF A STUDENT CONTINUED</vt:lpstr>
      <vt:lpstr>WHAT A STUDENT SHOULD NOT DO</vt:lpstr>
      <vt:lpstr>PRELIMINARY ISSUES</vt:lpstr>
      <vt:lpstr>REFINING YOUR RESEARCH IDEA</vt:lpstr>
      <vt:lpstr>ATTRIBUTES OF A GOOD RESEARCH TOPIC</vt:lpstr>
      <vt:lpstr>ATTRIBUTES OF A GOOD RESEARCH TOPIC CONTINUED</vt:lpstr>
      <vt:lpstr>TITLE PAGE</vt:lpstr>
      <vt:lpstr>DECLARATION</vt:lpstr>
      <vt:lpstr>ABSTRACT</vt:lpstr>
      <vt:lpstr>ACKNOWLEDGEMENTS</vt:lpstr>
      <vt:lpstr>CONTENTS PAGE</vt:lpstr>
      <vt:lpstr>CHAPTERS</vt:lpstr>
      <vt:lpstr>CHAPTER 1: INTRODUCTION</vt:lpstr>
      <vt:lpstr>CHAPTER TWO: LITERATURE REVIEW</vt:lpstr>
      <vt:lpstr>EXAMPLE1 FOR LAYOUT OF CHAPTER</vt:lpstr>
      <vt:lpstr>PowerPoint Presentation</vt:lpstr>
      <vt:lpstr>EXAMPLE 2</vt:lpstr>
      <vt:lpstr>PowerPoint Presentation</vt:lpstr>
      <vt:lpstr>CHAPTER THREE: METHODOLOGY</vt:lpstr>
      <vt:lpstr>CHAPTER THREE STRUCTURE</vt:lpstr>
      <vt:lpstr>CHAPTER THREE STRUCTURE CONTINUED</vt:lpstr>
      <vt:lpstr>JUSTIFYING YOUR RESEARCH DESIGN</vt:lpstr>
      <vt:lpstr>CHAPTER FOUR:FINDINGS AND ANALYSIS</vt:lpstr>
      <vt:lpstr>MAIN THINGS TO INCLUDE IN FINDINGS AND ANALYSIS CHAPTER</vt:lpstr>
      <vt:lpstr>EXAMPLE 1 ON FINDINGS AND ANALYSIS- QUANTITATIVE</vt:lpstr>
      <vt:lpstr>ANALYSIS CONTINUATION</vt:lpstr>
      <vt:lpstr>EXAMPLE2 -QUALITATIVE</vt:lpstr>
      <vt:lpstr>CONCLUSIONS AND RECOMMENDATIONS</vt:lpstr>
      <vt:lpstr>STRUCTURE FOR CONCLUSION AND RECOMMENDATIONS</vt:lpstr>
      <vt:lpstr>CONTINUATION</vt:lpstr>
      <vt:lpstr>REFERENCES</vt:lpstr>
      <vt:lpstr>REFERENCES CONTINUED</vt:lpstr>
      <vt:lpstr>REFERENCES CONTINUED</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DISSERTATION</dc:title>
  <dc:creator>Gwebente Mudenda</dc:creator>
  <cp:lastModifiedBy>Gwebente Mudenda</cp:lastModifiedBy>
  <cp:revision>12</cp:revision>
  <dcterms:created xsi:type="dcterms:W3CDTF">2022-02-06T13:25:23Z</dcterms:created>
  <dcterms:modified xsi:type="dcterms:W3CDTF">2022-02-06T15:20:18Z</dcterms:modified>
</cp:coreProperties>
</file>