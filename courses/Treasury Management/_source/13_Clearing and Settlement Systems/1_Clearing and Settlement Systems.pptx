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94675" autoAdjust="0"/>
  </p:normalViewPr>
  <p:slideViewPr>
    <p:cSldViewPr snapToGrid="0" snapToObjects="1">
      <p:cViewPr varScale="1">
        <p:scale>
          <a:sx n="68" d="100"/>
          <a:sy n="68" d="100"/>
        </p:scale>
        <p:origin x="144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27094"/>
            <a:ext cx="7772400" cy="1470025"/>
          </a:xfrm>
        </p:spPr>
        <p:txBody>
          <a:bodyPr anchor="b" anchorCtr="0"/>
          <a:lstStyle>
            <a:lvl1pPr>
              <a:defRPr sz="5400">
                <a:gradFill>
                  <a:gsLst>
                    <a:gs pos="0">
                      <a:schemeClr val="tx2"/>
                    </a:gs>
                    <a:gs pos="100000">
                      <a:schemeClr val="tx2">
                        <a:lumMod val="75000"/>
                      </a:schemeClr>
                    </a:gs>
                  </a:gsLst>
                  <a:lin ang="5400000" scaled="0"/>
                </a:gradFill>
                <a:effectLst>
                  <a:outerShdw blurRad="50800" dist="25400" dir="5400000" algn="t" rotWithShape="0">
                    <a:prstClr val="black">
                      <a:alpha val="40000"/>
                    </a:prstClr>
                  </a:outerShdw>
                </a:effectLst>
              </a:defRPr>
            </a:lvl1pPr>
          </a:lstStyle>
          <a:p>
            <a:r>
              <a:rPr lang="en-US"/>
              <a:t>Click to edit Master title style</a:t>
            </a:r>
            <a:endParaRPr/>
          </a:p>
        </p:txBody>
      </p:sp>
      <p:sp>
        <p:nvSpPr>
          <p:cNvPr id="3" name="Subtitle 2"/>
          <p:cNvSpPr>
            <a:spLocks noGrp="1"/>
          </p:cNvSpPr>
          <p:nvPr>
            <p:ph type="subTitle" idx="1"/>
          </p:nvPr>
        </p:nvSpPr>
        <p:spPr>
          <a:xfrm>
            <a:off x="685801" y="3810000"/>
            <a:ext cx="7770812" cy="1752600"/>
          </a:xfrm>
        </p:spPr>
        <p:txBody>
          <a:bodyPr>
            <a:normAutofit/>
          </a:bodyPr>
          <a:lstStyle>
            <a:lvl1pPr marL="0" indent="0" algn="ctr">
              <a:spcBef>
                <a:spcPts val="300"/>
              </a:spcBef>
              <a:buNone/>
              <a:defRPr sz="1600">
                <a:gradFill>
                  <a:gsLst>
                    <a:gs pos="0">
                      <a:schemeClr val="tx2"/>
                    </a:gs>
                    <a:gs pos="100000">
                      <a:schemeClr val="tx2">
                        <a:lumMod val="75000"/>
                      </a:schemeClr>
                    </a:gs>
                  </a:gsLst>
                  <a:lin ang="5400000" scaled="0"/>
                </a:gra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1CDB690E-D504-EE46-BF09-1B8B105CE4C6}" type="datetimeFigureOut">
              <a:rPr lang="en-US" smtClean="0"/>
              <a:t>10/12/2020</a:t>
            </a:fld>
            <a:endParaRPr lang="en-US"/>
          </a:p>
        </p:txBody>
      </p:sp>
      <p:sp>
        <p:nvSpPr>
          <p:cNvPr id="5" name="Footer Placeholder 4"/>
          <p:cNvSpPr>
            <a:spLocks noGrp="1"/>
          </p:cNvSpPr>
          <p:nvPr>
            <p:ph type="ftr" sz="quarter" idx="11"/>
          </p:nvPr>
        </p:nvSpPr>
        <p:spPr/>
        <p:txBody>
          <a:bodyPr/>
          <a:lstStyle/>
          <a:p>
            <a:endParaRPr lang="en-US"/>
          </a:p>
        </p:txBody>
      </p:sp>
      <p:pic>
        <p:nvPicPr>
          <p:cNvPr id="7" name="Picture 6" descr="CoverGlyph.png"/>
          <p:cNvPicPr>
            <a:picLocks noChangeAspect="1"/>
          </p:cNvPicPr>
          <p:nvPr/>
        </p:nvPicPr>
        <p:blipFill>
          <a:blip r:embed="rId2"/>
          <a:stretch>
            <a:fillRect/>
          </a:stretch>
        </p:blipFill>
        <p:spPr>
          <a:xfrm>
            <a:off x="4010025" y="3048000"/>
            <a:ext cx="1123950" cy="77152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10/12/2020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626440"/>
            <a:ext cx="7770813" cy="1472184"/>
          </a:xfrm>
        </p:spPr>
        <p:txBody>
          <a:bodyPr anchor="b" anchorCtr="0"/>
          <a:lstStyle>
            <a:lvl1pPr algn="ctr">
              <a:defRPr sz="5400" b="0" i="0" cap="none" baseline="0"/>
            </a:lvl1pPr>
          </a:lstStyle>
          <a:p>
            <a:r>
              <a:rPr lang="en-US"/>
              <a:t>Click to edit Master title style</a:t>
            </a:r>
            <a:endParaRPr/>
          </a:p>
        </p:txBody>
      </p:sp>
      <p:sp>
        <p:nvSpPr>
          <p:cNvPr id="3" name="Text Placeholder 2"/>
          <p:cNvSpPr>
            <a:spLocks noGrp="1"/>
          </p:cNvSpPr>
          <p:nvPr>
            <p:ph type="body" idx="1"/>
          </p:nvPr>
        </p:nvSpPr>
        <p:spPr>
          <a:xfrm>
            <a:off x="685800" y="3813048"/>
            <a:ext cx="7770813" cy="1755648"/>
          </a:xfrm>
        </p:spPr>
        <p:txBody>
          <a:bodyPr anchor="t" anchorCtr="0">
            <a:normAutofit/>
          </a:bodyPr>
          <a:lstStyle>
            <a:lvl1pPr marL="0" indent="0" algn="ctr">
              <a:spcBef>
                <a:spcPts val="30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DB690E-D504-EE46-BF09-1B8B105CE4C6}" type="datetimeFigureOut">
              <a:rPr lang="en-US" smtClean="0"/>
              <a:t>10/12/2020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7" name="Picture 6" descr="Glyph-SectionHeader.png"/>
          <p:cNvPicPr>
            <a:picLocks noChangeAspect="1"/>
          </p:cNvPicPr>
          <p:nvPr/>
        </p:nvPicPr>
        <p:blipFill>
          <a:blip r:embed="rId2"/>
          <a:stretch>
            <a:fillRect/>
          </a:stretch>
        </p:blipFill>
        <p:spPr>
          <a:xfrm>
            <a:off x="4038600" y="3174066"/>
            <a:ext cx="1066800" cy="5905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858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8006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1CDB690E-D504-EE46-BF09-1B8B105CE4C6}" type="datetimeFigureOut">
              <a:rPr lang="en-US" smtClean="0"/>
              <a:t>10/12/2020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858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8006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006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1CDB690E-D504-EE46-BF09-1B8B105CE4C6}" type="datetimeFigureOut">
              <a:rPr lang="en-US" smtClean="0"/>
              <a:t>10/12/2020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CDB690E-D504-EE46-BF09-1B8B105CE4C6}" type="datetimeFigureOut">
              <a:rPr lang="en-US" smtClean="0"/>
              <a:t>10/12/2020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B690E-D504-EE46-BF09-1B8B105CE4C6}" type="datetimeFigureOut">
              <a:rPr lang="en-US" smtClean="0"/>
              <a:t>10/12/2020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6D9AA8-3163-9341-B184-8747F5D2BF2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906" y="914400"/>
            <a:ext cx="3657600" cy="1162050"/>
          </a:xfrm>
        </p:spPr>
        <p:txBody>
          <a:bodyPr anchor="b"/>
          <a:lstStyle>
            <a:lvl1pPr algn="ctr">
              <a:defRPr sz="3800" b="0"/>
            </a:lvl1pPr>
          </a:lstStyle>
          <a:p>
            <a:r>
              <a:rPr lang="en-US"/>
              <a:t>Click to edit Master title style</a:t>
            </a:r>
            <a:endParaRPr/>
          </a:p>
        </p:txBody>
      </p:sp>
      <p:sp>
        <p:nvSpPr>
          <p:cNvPr id="3" name="Content Placeholder 2"/>
          <p:cNvSpPr>
            <a:spLocks noGrp="1"/>
          </p:cNvSpPr>
          <p:nvPr>
            <p:ph idx="1"/>
          </p:nvPr>
        </p:nvSpPr>
        <p:spPr>
          <a:xfrm>
            <a:off x="4796118" y="457199"/>
            <a:ext cx="3657600" cy="5410201"/>
          </a:xfrm>
        </p:spPr>
        <p:txBody>
          <a:bodyPr>
            <a:normAutofit/>
          </a:bodyPr>
          <a:lstStyle>
            <a:lvl1pPr>
              <a:defRPr sz="2400"/>
            </a:lvl1pPr>
            <a:lvl2pPr>
              <a:defRPr sz="2200"/>
            </a:lvl2pPr>
            <a:lvl3pPr>
              <a:defRPr sz="2000"/>
            </a:lvl3pPr>
            <a:lvl4pPr>
              <a:defRPr sz="1800"/>
            </a:lvl4pPr>
            <a:lvl5pPr>
              <a:defRPr sz="1800"/>
            </a:lvl5pPr>
            <a:lvl6pPr marL="2290763" indent="-461963">
              <a:tabLst/>
              <a:defRPr sz="2000"/>
            </a:lvl6pPr>
            <a:lvl7pPr marL="2290763" indent="-461963">
              <a:tabLst/>
              <a:defRPr sz="2000"/>
            </a:lvl7pPr>
            <a:lvl8pPr marL="2290763" indent="-461963">
              <a:tabLst/>
              <a:defRPr sz="2000"/>
            </a:lvl8pPr>
            <a:lvl9pPr marL="2290763" indent="-461963">
              <a:tabLst/>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58906" y="2590799"/>
            <a:ext cx="3657600" cy="2895601"/>
          </a:xfrm>
        </p:spPr>
        <p:txBody>
          <a:bodyPr>
            <a:normAutofit/>
          </a:bodyPr>
          <a:lstStyle>
            <a:lvl1pPr marL="0" indent="0" algn="ctr">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10/12/2020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1664746" y="2286000"/>
            <a:ext cx="1645920" cy="170411"/>
          </a:xfrm>
          <a:prstGeom prst="rect">
            <a:avLst/>
          </a:prstGeom>
          <a:noFill/>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99013" y="914400"/>
            <a:ext cx="3657600" cy="1161288"/>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658906" y="457200"/>
            <a:ext cx="3657600" cy="5413248"/>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4799013" y="2587752"/>
            <a:ext cx="3657600" cy="2898648"/>
          </a:xfrm>
        </p:spPr>
        <p:txBody>
          <a:bodyPr vert="horz" lIns="91440" tIns="45720" rIns="91440" bIns="45720" rtlCol="0">
            <a:normAutofit/>
          </a:bodyPr>
          <a:lstStyle>
            <a:lvl1pPr marL="0" indent="0" algn="ctr">
              <a:spcBef>
                <a:spcPts val="6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10/12/2020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5804853" y="2286000"/>
            <a:ext cx="1645920" cy="170411"/>
          </a:xfrm>
          <a:prstGeom prst="rect">
            <a:avLst/>
          </a:prstGeom>
          <a:noFill/>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3738282"/>
            <a:ext cx="7770813" cy="1048870"/>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286000" y="457200"/>
            <a:ext cx="4572000" cy="3173506"/>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685800" y="5181600"/>
            <a:ext cx="7770813" cy="685800"/>
          </a:xfrm>
        </p:spPr>
        <p:txBody>
          <a:bodyPr vert="horz" lIns="91440" tIns="45720" rIns="91440" bIns="45720" rtlCol="0">
            <a:normAutofit/>
          </a:bodyPr>
          <a:lstStyle>
            <a:lvl1pPr marL="0" indent="0" algn="ctr">
              <a:spcBef>
                <a:spcPts val="3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10/12/2020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4890247"/>
            <a:ext cx="1645920" cy="170411"/>
          </a:xfrm>
          <a:prstGeom prst="rect">
            <a:avLst/>
          </a:prstGeom>
          <a:noFill/>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286000" indent="-457200">
              <a:defRPr/>
            </a:lvl6pPr>
            <a:lvl7pPr marL="2286000" indent="-457200">
              <a:defRPr/>
            </a:lvl7pPr>
            <a:lvl8pPr marL="2286000" indent="-457200">
              <a:defRPr/>
            </a:lvl8pPr>
            <a:lvl9pPr marL="2286000" indent="-4572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10/12/2020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2800" y="537882"/>
            <a:ext cx="1524000" cy="5325036"/>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85800" y="537882"/>
            <a:ext cx="5889812" cy="5325036"/>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10/12/2020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rot="5400000">
            <a:off x="6052928" y="3115195"/>
            <a:ext cx="1645920" cy="170411"/>
          </a:xfrm>
          <a:prstGeom prst="rect">
            <a:avLst/>
          </a:prstGeom>
          <a:noFill/>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4305300" y="6289115"/>
            <a:ext cx="5334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DE6D9AA8-3163-9341-B184-8747F5D2BF21}" type="slidenum">
              <a:rPr lang="en-US" smtClean="0"/>
              <a:t>‹#›</a:t>
            </a:fld>
            <a:endParaRPr lang="en-US"/>
          </a:p>
        </p:txBody>
      </p:sp>
      <p:sp>
        <p:nvSpPr>
          <p:cNvPr id="2" name="Title Placeholder 1"/>
          <p:cNvSpPr>
            <a:spLocks noGrp="1"/>
          </p:cNvSpPr>
          <p:nvPr>
            <p:ph type="title"/>
          </p:nvPr>
        </p:nvSpPr>
        <p:spPr>
          <a:xfrm>
            <a:off x="685800" y="67236"/>
            <a:ext cx="7770813" cy="1371600"/>
          </a:xfrm>
          <a:prstGeom prst="rect">
            <a:avLst/>
          </a:prstGeom>
          <a:effectLst/>
        </p:spPr>
        <p:txBody>
          <a:bodyPr vert="horz" lIns="91440" tIns="45720" rIns="91440" bIns="45720" rtlCol="0" anchor="ctr" anchorCtr="0">
            <a:noAutofit/>
          </a:bodyPr>
          <a:lstStyle/>
          <a:p>
            <a:r>
              <a:rPr lang="en-US"/>
              <a:t>Click to edit Master title style</a:t>
            </a:r>
            <a:endParaRPr/>
          </a:p>
        </p:txBody>
      </p:sp>
      <p:sp>
        <p:nvSpPr>
          <p:cNvPr id="3" name="Text Placeholder 2"/>
          <p:cNvSpPr>
            <a:spLocks noGrp="1"/>
          </p:cNvSpPr>
          <p:nvPr>
            <p:ph type="body" idx="1"/>
          </p:nvPr>
        </p:nvSpPr>
        <p:spPr>
          <a:xfrm>
            <a:off x="685800" y="2209800"/>
            <a:ext cx="7770813"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400800" y="6289115"/>
            <a:ext cx="237564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DB690E-D504-EE46-BF09-1B8B105CE4C6}" type="datetimeFigureOut">
              <a:rPr lang="en-US" smtClean="0"/>
              <a:t>10/12/2020</a:t>
            </a:fld>
            <a:endParaRPr lang="en-US"/>
          </a:p>
        </p:txBody>
      </p:sp>
      <p:sp>
        <p:nvSpPr>
          <p:cNvPr id="5" name="Footer Placeholder 4"/>
          <p:cNvSpPr>
            <a:spLocks noGrp="1"/>
          </p:cNvSpPr>
          <p:nvPr>
            <p:ph type="ftr" sz="quarter" idx="3"/>
          </p:nvPr>
        </p:nvSpPr>
        <p:spPr>
          <a:xfrm>
            <a:off x="349624" y="6289115"/>
            <a:ext cx="3155576"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5000" kern="1200">
          <a:solidFill>
            <a:schemeClr val="tx2"/>
          </a:solidFill>
          <a:effectLst>
            <a:outerShdw blurRad="38100" dist="12700" algn="l" rotWithShape="0">
              <a:prstClr val="black">
                <a:alpha val="40000"/>
              </a:prstClr>
            </a:outerShdw>
          </a:effectLst>
          <a:latin typeface="+mj-lt"/>
          <a:ea typeface="+mj-ea"/>
          <a:cs typeface="+mj-cs"/>
        </a:defRPr>
      </a:lvl1pPr>
    </p:titleStyle>
    <p:bodyStyle>
      <a:lvl1pPr marL="457200" indent="-457200" algn="l" defTabSz="914400" rtl="0" eaLnBrk="1" latinLnBrk="0" hangingPunct="1">
        <a:spcBef>
          <a:spcPts val="2000"/>
        </a:spcBef>
        <a:buClr>
          <a:schemeClr val="accent3"/>
        </a:buClr>
        <a:buFont typeface="Wingdings" pitchFamily="2" charset="2"/>
        <a:buChar char=""/>
        <a:defRPr sz="2400" kern="1200">
          <a:solidFill>
            <a:schemeClr val="tx2"/>
          </a:solidFill>
          <a:latin typeface="+mn-lt"/>
          <a:ea typeface="+mn-ea"/>
          <a:cs typeface="+mn-cs"/>
        </a:defRPr>
      </a:lvl1pPr>
      <a:lvl2pPr marL="914400" indent="-457200" algn="l" defTabSz="914400" rtl="0" eaLnBrk="1" latinLnBrk="0" hangingPunct="1">
        <a:spcBef>
          <a:spcPts val="600"/>
        </a:spcBef>
        <a:buClr>
          <a:schemeClr val="accent3">
            <a:lumMod val="50000"/>
          </a:schemeClr>
        </a:buClr>
        <a:buFont typeface="Wingdings" pitchFamily="2" charset="2"/>
        <a:buChar char=""/>
        <a:defRPr sz="2200" kern="1200">
          <a:solidFill>
            <a:schemeClr val="tx2"/>
          </a:solidFill>
          <a:latin typeface="+mn-lt"/>
          <a:ea typeface="+mn-ea"/>
          <a:cs typeface="+mn-cs"/>
        </a:defRPr>
      </a:lvl2pPr>
      <a:lvl3pPr marL="1371600" indent="-457200" algn="l" defTabSz="914400" rtl="0" eaLnBrk="1" latinLnBrk="0" hangingPunct="1">
        <a:spcBef>
          <a:spcPts val="600"/>
        </a:spcBef>
        <a:buClr>
          <a:schemeClr val="accent3"/>
        </a:buClr>
        <a:buFont typeface="Wingdings" pitchFamily="2" charset="2"/>
        <a:buChar char=""/>
        <a:defRPr sz="2000" kern="1200">
          <a:solidFill>
            <a:schemeClr val="tx2"/>
          </a:solidFill>
          <a:latin typeface="+mn-lt"/>
          <a:ea typeface="+mn-ea"/>
          <a:cs typeface="+mn-cs"/>
        </a:defRPr>
      </a:lvl3pPr>
      <a:lvl4pPr marL="1828800" indent="-457200" algn="l" defTabSz="914400" rtl="0" eaLnBrk="1" latinLnBrk="0" hangingPunct="1">
        <a:spcBef>
          <a:spcPts val="600"/>
        </a:spcBef>
        <a:buClr>
          <a:schemeClr val="accent3">
            <a:lumMod val="50000"/>
          </a:schemeClr>
        </a:buClr>
        <a:buFont typeface="Wingdings" pitchFamily="2" charset="2"/>
        <a:buChar char=""/>
        <a:defRPr sz="1800" kern="1200">
          <a:solidFill>
            <a:schemeClr val="tx2"/>
          </a:solidFill>
          <a:latin typeface="+mn-lt"/>
          <a:ea typeface="+mn-ea"/>
          <a:cs typeface="+mn-cs"/>
        </a:defRPr>
      </a:lvl4pPr>
      <a:lvl5pPr marL="2286000" indent="-457200" algn="l" defTabSz="914400" rtl="0" eaLnBrk="1" latinLnBrk="0" hangingPunct="1">
        <a:spcBef>
          <a:spcPts val="600"/>
        </a:spcBef>
        <a:buClr>
          <a:schemeClr val="accent3"/>
        </a:buClr>
        <a:buFont typeface="Wingdings" pitchFamily="2" charset="2"/>
        <a:buChar char=""/>
        <a:defRPr sz="1800" kern="1200">
          <a:solidFill>
            <a:schemeClr val="tx2"/>
          </a:solidFill>
          <a:latin typeface="+mn-lt"/>
          <a:ea typeface="+mn-ea"/>
          <a:cs typeface="+mn-cs"/>
        </a:defRPr>
      </a:lvl5pPr>
      <a:lvl6pPr marL="27432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6pPr>
      <a:lvl7pPr marL="32051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7pPr>
      <a:lvl8pPr marL="36576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8pPr>
      <a:lvl9pPr marL="41195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boz.zm/eft.htm" TargetMode="External"/><Relationship Id="rId2" Type="http://schemas.openxmlformats.org/officeDocument/2006/relationships/hyperlink" Target="https://www.boz.zm/zipss.htm" TargetMode="External"/><Relationship Id="rId1" Type="http://schemas.openxmlformats.org/officeDocument/2006/relationships/slideLayout" Target="../slideLayouts/slideLayout2.xml"/><Relationship Id="rId4" Type="http://schemas.openxmlformats.org/officeDocument/2006/relationships/hyperlink" Target="https://www.boz.zm/cic.ht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Treasury Management</a:t>
            </a:r>
          </a:p>
        </p:txBody>
      </p:sp>
      <p:sp>
        <p:nvSpPr>
          <p:cNvPr id="3" name="Subtitle 2"/>
          <p:cNvSpPr>
            <a:spLocks noGrp="1"/>
          </p:cNvSpPr>
          <p:nvPr>
            <p:ph type="subTitle" idx="1"/>
          </p:nvPr>
        </p:nvSpPr>
        <p:spPr/>
        <p:txBody>
          <a:bodyPr/>
          <a:lstStyle/>
          <a:p>
            <a:r>
              <a:rPr lang="en-GB" dirty="0"/>
              <a:t>Clearing and Settlement Systems</a:t>
            </a:r>
            <a:endParaRPr lang="en-US" dirty="0"/>
          </a:p>
        </p:txBody>
      </p:sp>
    </p:spTree>
    <p:extLst>
      <p:ext uri="{BB962C8B-B14F-4D97-AF65-F5344CB8AC3E}">
        <p14:creationId xmlns:p14="http://schemas.microsoft.com/office/powerpoint/2010/main" val="837277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Overview of Clearing and Settlement Process</a:t>
            </a:r>
            <a:endParaRPr lang="en-US" dirty="0"/>
          </a:p>
        </p:txBody>
      </p:sp>
      <p:sp>
        <p:nvSpPr>
          <p:cNvPr id="3" name="Content Placeholder 2"/>
          <p:cNvSpPr>
            <a:spLocks noGrp="1"/>
          </p:cNvSpPr>
          <p:nvPr>
            <p:ph idx="1"/>
          </p:nvPr>
        </p:nvSpPr>
        <p:spPr/>
        <p:txBody>
          <a:bodyPr/>
          <a:lstStyle/>
          <a:p>
            <a:r>
              <a:rPr lang="en-GB" dirty="0"/>
              <a:t>Clearing is all steps involved in transferring funds ownership from one party to another except for final step which is settlement</a:t>
            </a:r>
          </a:p>
          <a:p>
            <a:r>
              <a:rPr lang="en-GB" dirty="0"/>
              <a:t>Settlement involves the finalization of payment so that a new party takes possession of transferred funds</a:t>
            </a:r>
          </a:p>
          <a:p>
            <a:r>
              <a:rPr lang="en-GB" dirty="0"/>
              <a:t>Treasurer should be aware of the processes in order to understand the timing of payment transfers</a:t>
            </a:r>
            <a:endParaRPr lang="en-US" dirty="0"/>
          </a:p>
        </p:txBody>
      </p:sp>
    </p:spTree>
    <p:extLst>
      <p:ext uri="{BB962C8B-B14F-4D97-AF65-F5344CB8AC3E}">
        <p14:creationId xmlns:p14="http://schemas.microsoft.com/office/powerpoint/2010/main" val="134882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Overview of Clearing and Settlement Process</a:t>
            </a:r>
            <a:endParaRPr lang="en-US" dirty="0"/>
          </a:p>
        </p:txBody>
      </p:sp>
      <p:sp>
        <p:nvSpPr>
          <p:cNvPr id="3" name="Content Placeholder 2"/>
          <p:cNvSpPr>
            <a:spLocks noGrp="1"/>
          </p:cNvSpPr>
          <p:nvPr>
            <p:ph idx="1"/>
          </p:nvPr>
        </p:nvSpPr>
        <p:spPr/>
        <p:txBody>
          <a:bodyPr/>
          <a:lstStyle/>
          <a:p>
            <a:r>
              <a:rPr lang="en-GB" dirty="0"/>
              <a:t>In clearing and settlement systems, the banks for the payer and beneficiary exchange information regarding monetary transfers</a:t>
            </a:r>
          </a:p>
          <a:p>
            <a:r>
              <a:rPr lang="en-GB" dirty="0"/>
              <a:t>The result of this exchange is payments between the banks.</a:t>
            </a:r>
          </a:p>
          <a:p>
            <a:r>
              <a:rPr lang="en-GB" dirty="0"/>
              <a:t>The banks, in turn credit the account of the beneficiary and debit the account of the payer</a:t>
            </a:r>
            <a:endParaRPr lang="en-US" dirty="0"/>
          </a:p>
        </p:txBody>
      </p:sp>
    </p:spTree>
    <p:extLst>
      <p:ext uri="{BB962C8B-B14F-4D97-AF65-F5344CB8AC3E}">
        <p14:creationId xmlns:p14="http://schemas.microsoft.com/office/powerpoint/2010/main" val="223648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Overview of Clearing and Settlement Process</a:t>
            </a:r>
            <a:endParaRPr lang="en-US" dirty="0"/>
          </a:p>
        </p:txBody>
      </p:sp>
      <p:sp>
        <p:nvSpPr>
          <p:cNvPr id="3" name="Content Placeholder 2"/>
          <p:cNvSpPr>
            <a:spLocks noGrp="1"/>
          </p:cNvSpPr>
          <p:nvPr>
            <p:ph idx="1"/>
          </p:nvPr>
        </p:nvSpPr>
        <p:spPr/>
        <p:txBody>
          <a:bodyPr/>
          <a:lstStyle/>
          <a:p>
            <a:r>
              <a:rPr lang="en-GB" dirty="0"/>
              <a:t>Clearing and settlement systems are generally organised around individual countries or economic regions</a:t>
            </a:r>
          </a:p>
          <a:p>
            <a:r>
              <a:rPr lang="en-GB" dirty="0"/>
              <a:t>Banks located within these areas can have an account with the local clearing and settlement institution and settlement takes place between the accounts of the banks held at the clearing institution</a:t>
            </a:r>
            <a:endParaRPr lang="en-US" dirty="0"/>
          </a:p>
        </p:txBody>
      </p:sp>
    </p:spTree>
    <p:extLst>
      <p:ext uri="{BB962C8B-B14F-4D97-AF65-F5344CB8AC3E}">
        <p14:creationId xmlns:p14="http://schemas.microsoft.com/office/powerpoint/2010/main" val="1532473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Overview of Clearing and Settlement Process</a:t>
            </a:r>
            <a:endParaRPr lang="en-US" dirty="0"/>
          </a:p>
        </p:txBody>
      </p:sp>
      <p:sp>
        <p:nvSpPr>
          <p:cNvPr id="3" name="Content Placeholder 2"/>
          <p:cNvSpPr>
            <a:spLocks noGrp="1"/>
          </p:cNvSpPr>
          <p:nvPr>
            <p:ph idx="1"/>
          </p:nvPr>
        </p:nvSpPr>
        <p:spPr/>
        <p:txBody>
          <a:bodyPr/>
          <a:lstStyle/>
          <a:p>
            <a:r>
              <a:rPr lang="en-GB" dirty="0"/>
              <a:t>Banks located outside of these areas must use a local bank as a correspondent bank that handles payment instructions on their behalf </a:t>
            </a:r>
            <a:endParaRPr lang="en-US" dirty="0"/>
          </a:p>
        </p:txBody>
      </p:sp>
    </p:spTree>
    <p:extLst>
      <p:ext uri="{BB962C8B-B14F-4D97-AF65-F5344CB8AC3E}">
        <p14:creationId xmlns:p14="http://schemas.microsoft.com/office/powerpoint/2010/main" val="338753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Settlement Types</a:t>
            </a:r>
            <a:endParaRPr lang="en-US" dirty="0"/>
          </a:p>
        </p:txBody>
      </p:sp>
      <p:sp>
        <p:nvSpPr>
          <p:cNvPr id="3" name="Content Placeholder 2"/>
          <p:cNvSpPr>
            <a:spLocks noGrp="1"/>
          </p:cNvSpPr>
          <p:nvPr>
            <p:ph idx="1"/>
          </p:nvPr>
        </p:nvSpPr>
        <p:spPr/>
        <p:txBody>
          <a:bodyPr>
            <a:normAutofit lnSpcReduction="10000"/>
          </a:bodyPr>
          <a:lstStyle/>
          <a:p>
            <a:r>
              <a:rPr lang="en-GB" b="1" dirty="0">
                <a:solidFill>
                  <a:srgbClr val="FF0000"/>
                </a:solidFill>
              </a:rPr>
              <a:t>Gross basis </a:t>
            </a:r>
            <a:r>
              <a:rPr lang="en-GB" dirty="0"/>
              <a:t>is where each bank pays the total amount owed.</a:t>
            </a:r>
          </a:p>
          <a:p>
            <a:r>
              <a:rPr lang="en-GB" dirty="0"/>
              <a:t>Payments handled through a gross basis are more likely to have a requirement for immediate execution, where payment instructions are processed separately for each individual transaction</a:t>
            </a:r>
          </a:p>
          <a:p>
            <a:r>
              <a:rPr lang="en-GB" dirty="0"/>
              <a:t>The cost of gross settlement is high, so individual transactions tend to involve larger amounts of funds or are very time sensitive  </a:t>
            </a:r>
            <a:endParaRPr lang="en-US" dirty="0"/>
          </a:p>
        </p:txBody>
      </p:sp>
    </p:spTree>
    <p:extLst>
      <p:ext uri="{BB962C8B-B14F-4D97-AF65-F5344CB8AC3E}">
        <p14:creationId xmlns:p14="http://schemas.microsoft.com/office/powerpoint/2010/main" val="187336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Settlement Types</a:t>
            </a:r>
            <a:endParaRPr lang="en-US" dirty="0"/>
          </a:p>
        </p:txBody>
      </p:sp>
      <p:sp>
        <p:nvSpPr>
          <p:cNvPr id="3" name="Content Placeholder 2"/>
          <p:cNvSpPr>
            <a:spLocks noGrp="1"/>
          </p:cNvSpPr>
          <p:nvPr>
            <p:ph idx="1"/>
          </p:nvPr>
        </p:nvSpPr>
        <p:spPr/>
        <p:txBody>
          <a:bodyPr>
            <a:normAutofit lnSpcReduction="10000"/>
          </a:bodyPr>
          <a:lstStyle/>
          <a:p>
            <a:r>
              <a:rPr lang="en-GB" b="1" dirty="0">
                <a:solidFill>
                  <a:srgbClr val="FF0000"/>
                </a:solidFill>
              </a:rPr>
              <a:t>Net basis </a:t>
            </a:r>
            <a:r>
              <a:rPr lang="en-GB" dirty="0"/>
              <a:t>is where a large number of transactions are accumulated and offset against each other, with only the net difference being transferred between banks</a:t>
            </a:r>
          </a:p>
          <a:p>
            <a:r>
              <a:rPr lang="en-GB" dirty="0"/>
              <a:t>Payments usually wait until the end of the day, when all transactions between the banks are summarized and offset against each other </a:t>
            </a:r>
          </a:p>
          <a:p>
            <a:r>
              <a:rPr lang="en-GB" dirty="0"/>
              <a:t>The clearing institution sends the net transfer information to the settlement institution which executes the transfer of funds between the banks</a:t>
            </a:r>
            <a:endParaRPr lang="en-US" dirty="0"/>
          </a:p>
        </p:txBody>
      </p:sp>
    </p:spTree>
    <p:extLst>
      <p:ext uri="{BB962C8B-B14F-4D97-AF65-F5344CB8AC3E}">
        <p14:creationId xmlns:p14="http://schemas.microsoft.com/office/powerpoint/2010/main" val="3806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Settlement Types</a:t>
            </a:r>
            <a:endParaRPr lang="en-US" dirty="0"/>
          </a:p>
        </p:txBody>
      </p:sp>
      <p:sp>
        <p:nvSpPr>
          <p:cNvPr id="3" name="Content Placeholder 2"/>
          <p:cNvSpPr>
            <a:spLocks noGrp="1"/>
          </p:cNvSpPr>
          <p:nvPr>
            <p:ph idx="1"/>
          </p:nvPr>
        </p:nvSpPr>
        <p:spPr/>
        <p:txBody>
          <a:bodyPr/>
          <a:lstStyle/>
          <a:p>
            <a:r>
              <a:rPr lang="en-GB" dirty="0"/>
              <a:t>The cost of net settlement transactions is low, so lower-value transactions are usually settled through these systems.</a:t>
            </a:r>
          </a:p>
          <a:p>
            <a:r>
              <a:rPr lang="en-GB" dirty="0"/>
              <a:t>Banks prefer to use net settlement systems because payments processed through them require reduced funds transfers (i.e. less liquidity) than gross settlement systems.</a:t>
            </a:r>
            <a:endParaRPr lang="en-US" dirty="0"/>
          </a:p>
        </p:txBody>
      </p:sp>
    </p:spTree>
    <p:extLst>
      <p:ext uri="{BB962C8B-B14F-4D97-AF65-F5344CB8AC3E}">
        <p14:creationId xmlns:p14="http://schemas.microsoft.com/office/powerpoint/2010/main" val="332069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Transaction Types</a:t>
            </a:r>
            <a:endParaRPr lang="en-US" dirty="0"/>
          </a:p>
        </p:txBody>
      </p:sp>
      <p:sp>
        <p:nvSpPr>
          <p:cNvPr id="3" name="Content Placeholder 2"/>
          <p:cNvSpPr>
            <a:spLocks noGrp="1"/>
          </p:cNvSpPr>
          <p:nvPr>
            <p:ph idx="1"/>
          </p:nvPr>
        </p:nvSpPr>
        <p:spPr/>
        <p:txBody>
          <a:bodyPr>
            <a:normAutofit fontScale="92500"/>
          </a:bodyPr>
          <a:lstStyle/>
          <a:p>
            <a:r>
              <a:rPr lang="en-GB" b="1" dirty="0">
                <a:solidFill>
                  <a:srgbClr val="FF0000"/>
                </a:solidFill>
              </a:rPr>
              <a:t>High-value </a:t>
            </a:r>
            <a:r>
              <a:rPr lang="en-GB" dirty="0"/>
              <a:t>payments must be executed immediately</a:t>
            </a:r>
          </a:p>
          <a:p>
            <a:r>
              <a:rPr lang="en-GB" dirty="0"/>
              <a:t>Because of the time constraints, high value payments cannot wait for end-of-day netting and so are settled on a gross basis, with an immediate transfer between the banks</a:t>
            </a:r>
          </a:p>
          <a:p>
            <a:r>
              <a:rPr lang="en-GB" b="1" dirty="0">
                <a:solidFill>
                  <a:srgbClr val="FF0000"/>
                </a:solidFill>
              </a:rPr>
              <a:t>Low-value</a:t>
            </a:r>
            <a:r>
              <a:rPr lang="en-GB" dirty="0"/>
              <a:t> payments does not require immediate execution and tends to be for smaller amounts.</a:t>
            </a:r>
          </a:p>
          <a:p>
            <a:r>
              <a:rPr lang="en-GB" dirty="0"/>
              <a:t>These payments are handled through a net settlement system</a:t>
            </a:r>
            <a:endParaRPr lang="en-US" dirty="0"/>
          </a:p>
        </p:txBody>
      </p:sp>
    </p:spTree>
    <p:extLst>
      <p:ext uri="{BB962C8B-B14F-4D97-AF65-F5344CB8AC3E}">
        <p14:creationId xmlns:p14="http://schemas.microsoft.com/office/powerpoint/2010/main" val="68339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Continuous Link Settlement (CLS) System</a:t>
            </a:r>
            <a:endParaRPr lang="en-US" dirty="0"/>
          </a:p>
        </p:txBody>
      </p:sp>
      <p:sp>
        <p:nvSpPr>
          <p:cNvPr id="3" name="Content Placeholder 2"/>
          <p:cNvSpPr>
            <a:spLocks noGrp="1"/>
          </p:cNvSpPr>
          <p:nvPr>
            <p:ph idx="1"/>
          </p:nvPr>
        </p:nvSpPr>
        <p:spPr/>
        <p:txBody>
          <a:bodyPr>
            <a:normAutofit/>
          </a:bodyPr>
          <a:lstStyle/>
          <a:p>
            <a:r>
              <a:rPr lang="en-GB" dirty="0"/>
              <a:t>Foreign exchange settlement presents a risk of one party’s defaulting before a transaction has been completed.</a:t>
            </a:r>
          </a:p>
          <a:p>
            <a:r>
              <a:rPr lang="en-GB" dirty="0"/>
              <a:t>This is because settlement takes place through accounts in the correspondent banks in the countries where the relevant currencies are issued.</a:t>
            </a:r>
          </a:p>
        </p:txBody>
      </p:sp>
    </p:spTree>
    <p:extLst>
      <p:ext uri="{BB962C8B-B14F-4D97-AF65-F5344CB8AC3E}">
        <p14:creationId xmlns:p14="http://schemas.microsoft.com/office/powerpoint/2010/main" val="752400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Continuous Link Settlement (CLS) System</a:t>
            </a:r>
            <a:endParaRPr lang="en-US" dirty="0"/>
          </a:p>
        </p:txBody>
      </p:sp>
      <p:sp>
        <p:nvSpPr>
          <p:cNvPr id="3" name="Content Placeholder 2"/>
          <p:cNvSpPr>
            <a:spLocks noGrp="1"/>
          </p:cNvSpPr>
          <p:nvPr>
            <p:ph idx="1"/>
          </p:nvPr>
        </p:nvSpPr>
        <p:spPr/>
        <p:txBody>
          <a:bodyPr/>
          <a:lstStyle/>
          <a:p>
            <a:r>
              <a:rPr lang="en-GB" dirty="0"/>
              <a:t>Because the various national payment systems are located in different time zones around the world, one side of a exchange transaction will likely be settled before the other side of the transaction</a:t>
            </a:r>
          </a:p>
          <a:p>
            <a:r>
              <a:rPr lang="en-GB" dirty="0"/>
              <a:t>For example, dollar payments are settled later than euro payments, which in turn are settled the euro side of the payment before receiving any dollars</a:t>
            </a:r>
            <a:endParaRPr lang="en-US" dirty="0"/>
          </a:p>
          <a:p>
            <a:endParaRPr lang="en-US" dirty="0"/>
          </a:p>
        </p:txBody>
      </p:sp>
    </p:spTree>
    <p:extLst>
      <p:ext uri="{BB962C8B-B14F-4D97-AF65-F5344CB8AC3E}">
        <p14:creationId xmlns:p14="http://schemas.microsoft.com/office/powerpoint/2010/main" val="2664985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Continuous Link Settlement (CLS) System</a:t>
            </a:r>
            <a:endParaRPr lang="en-US" dirty="0"/>
          </a:p>
        </p:txBody>
      </p:sp>
      <p:sp>
        <p:nvSpPr>
          <p:cNvPr id="3" name="Content Placeholder 2"/>
          <p:cNvSpPr>
            <a:spLocks noGrp="1"/>
          </p:cNvSpPr>
          <p:nvPr>
            <p:ph idx="1"/>
          </p:nvPr>
        </p:nvSpPr>
        <p:spPr/>
        <p:txBody>
          <a:bodyPr/>
          <a:lstStyle/>
          <a:p>
            <a:r>
              <a:rPr lang="en-GB" dirty="0"/>
              <a:t>If the counterparty were to fail in the midst of this transaction, the initiator would have paid dollars but lost the offsetting euros.</a:t>
            </a:r>
          </a:p>
          <a:p>
            <a:r>
              <a:rPr lang="en-GB" dirty="0"/>
              <a:t>This is called “</a:t>
            </a:r>
            <a:r>
              <a:rPr lang="en-GB" b="1" dirty="0">
                <a:solidFill>
                  <a:srgbClr val="FF0000"/>
                </a:solidFill>
              </a:rPr>
              <a:t>settlement risk</a:t>
            </a:r>
            <a:r>
              <a:rPr lang="en-GB" dirty="0"/>
              <a:t>” or “</a:t>
            </a:r>
            <a:r>
              <a:rPr lang="en-GB" b="1" dirty="0" err="1">
                <a:solidFill>
                  <a:srgbClr val="FF0000"/>
                </a:solidFill>
              </a:rPr>
              <a:t>Herstatt</a:t>
            </a:r>
            <a:r>
              <a:rPr lang="en-GB" b="1" dirty="0">
                <a:solidFill>
                  <a:srgbClr val="FF0000"/>
                </a:solidFill>
              </a:rPr>
              <a:t> risk</a:t>
            </a:r>
            <a:r>
              <a:rPr lang="en-GB" dirty="0"/>
              <a:t>” after the German Bank that failed.</a:t>
            </a:r>
          </a:p>
          <a:p>
            <a:r>
              <a:rPr lang="en-GB" dirty="0"/>
              <a:t>To avoid this settlement risk, while also speeding up the settlement process, the CLS system was created by a number of banks</a:t>
            </a:r>
            <a:endParaRPr lang="en-US" dirty="0"/>
          </a:p>
        </p:txBody>
      </p:sp>
    </p:spTree>
    <p:extLst>
      <p:ext uri="{BB962C8B-B14F-4D97-AF65-F5344CB8AC3E}">
        <p14:creationId xmlns:p14="http://schemas.microsoft.com/office/powerpoint/2010/main" val="2444757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Continuous Link Settlement (CLS) System</a:t>
            </a:r>
            <a:endParaRPr lang="en-US" dirty="0"/>
          </a:p>
        </p:txBody>
      </p:sp>
      <p:sp>
        <p:nvSpPr>
          <p:cNvPr id="3" name="Content Placeholder 2"/>
          <p:cNvSpPr>
            <a:spLocks noGrp="1"/>
          </p:cNvSpPr>
          <p:nvPr>
            <p:ph idx="1"/>
          </p:nvPr>
        </p:nvSpPr>
        <p:spPr/>
        <p:txBody>
          <a:bodyPr/>
          <a:lstStyle/>
          <a:p>
            <a:r>
              <a:rPr lang="en-GB" dirty="0"/>
              <a:t>This system is operated by CLS Bank International, of which the founding banks are shareholders</a:t>
            </a:r>
          </a:p>
          <a:p>
            <a:r>
              <a:rPr lang="en-GB" dirty="0"/>
              <a:t>Other banks can submit their foreign exchange transactions through these member banks. </a:t>
            </a:r>
          </a:p>
          <a:p>
            <a:r>
              <a:rPr lang="en-GB" dirty="0"/>
              <a:t>Only a select number of foreign currencies are transacted in the CLS system</a:t>
            </a:r>
            <a:endParaRPr lang="en-US" dirty="0"/>
          </a:p>
        </p:txBody>
      </p:sp>
    </p:spTree>
    <p:extLst>
      <p:ext uri="{BB962C8B-B14F-4D97-AF65-F5344CB8AC3E}">
        <p14:creationId xmlns:p14="http://schemas.microsoft.com/office/powerpoint/2010/main" val="289505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Electronic Clearing System in Zambia</a:t>
            </a:r>
            <a:endParaRPr lang="en-US" dirty="0"/>
          </a:p>
        </p:txBody>
      </p:sp>
      <p:sp>
        <p:nvSpPr>
          <p:cNvPr id="3" name="Content Placeholder 2"/>
          <p:cNvSpPr>
            <a:spLocks noGrp="1"/>
          </p:cNvSpPr>
          <p:nvPr>
            <p:ph idx="1"/>
          </p:nvPr>
        </p:nvSpPr>
        <p:spPr/>
        <p:txBody>
          <a:bodyPr>
            <a:normAutofit fontScale="85000" lnSpcReduction="20000"/>
          </a:bodyPr>
          <a:lstStyle/>
          <a:p>
            <a:r>
              <a:rPr lang="en-GB" dirty="0">
                <a:solidFill>
                  <a:srgbClr val="FF0000"/>
                </a:solidFill>
              </a:rPr>
              <a:t>“Payment Systems play a vital role in the economy of a country. A payment system is a system used to settle financial transactions through the transfer of monetary value and consist of the various mechanisms that facilitate for the transfer of funds from one party (</a:t>
            </a:r>
            <a:r>
              <a:rPr lang="en-GB" i="1" dirty="0">
                <a:solidFill>
                  <a:srgbClr val="FF0000"/>
                </a:solidFill>
              </a:rPr>
              <a:t>the payer</a:t>
            </a:r>
            <a:r>
              <a:rPr lang="en-GB" dirty="0">
                <a:solidFill>
                  <a:srgbClr val="FF0000"/>
                </a:solidFill>
              </a:rPr>
              <a:t>) to another (</a:t>
            </a:r>
            <a:r>
              <a:rPr lang="en-GB" i="1" dirty="0">
                <a:solidFill>
                  <a:srgbClr val="FF0000"/>
                </a:solidFill>
              </a:rPr>
              <a:t>the payee</a:t>
            </a:r>
            <a:r>
              <a:rPr lang="en-GB" dirty="0">
                <a:solidFill>
                  <a:srgbClr val="FF0000"/>
                </a:solidFill>
              </a:rPr>
              <a:t>). A payment system includes the participants (institutions) and the users (customers/clients), the rules and regulations that guide its operation and the standards and technologies on which the system operates.</a:t>
            </a:r>
          </a:p>
          <a:p>
            <a:r>
              <a:rPr lang="en-GB" dirty="0">
                <a:solidFill>
                  <a:srgbClr val="FF0000"/>
                </a:solidFill>
              </a:rPr>
              <a:t>A well-designed and well-functioning payment positively contributes to the financial stability of the country and to the well-functioning of the country's economy. The role of the Bank of Zambia is to ensure that Zambian payment systems are not only safe, but secure, reliable and efficient “(Source: Bank of Zambia)</a:t>
            </a:r>
          </a:p>
          <a:p>
            <a:endParaRPr lang="en-US" dirty="0"/>
          </a:p>
        </p:txBody>
      </p:sp>
    </p:spTree>
    <p:extLst>
      <p:ext uri="{BB962C8B-B14F-4D97-AF65-F5344CB8AC3E}">
        <p14:creationId xmlns:p14="http://schemas.microsoft.com/office/powerpoint/2010/main" val="190730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Electronic Clearing System in Zambia</a:t>
            </a:r>
            <a:endParaRPr lang="en-US" dirty="0"/>
          </a:p>
        </p:txBody>
      </p:sp>
      <p:sp>
        <p:nvSpPr>
          <p:cNvPr id="3" name="Content Placeholder 2"/>
          <p:cNvSpPr>
            <a:spLocks noGrp="1"/>
          </p:cNvSpPr>
          <p:nvPr>
            <p:ph idx="1"/>
          </p:nvPr>
        </p:nvSpPr>
        <p:spPr/>
        <p:txBody>
          <a:bodyPr>
            <a:normAutofit fontScale="85000" lnSpcReduction="20000"/>
          </a:bodyPr>
          <a:lstStyle/>
          <a:p>
            <a:r>
              <a:rPr lang="en-GB" dirty="0"/>
              <a:t>The Bank of Zambia has identified a number of payment systems which it has categorized as </a:t>
            </a:r>
            <a:r>
              <a:rPr lang="en-GB" i="1" dirty="0"/>
              <a:t>Systemically Important Payment Systems (SIPS)</a:t>
            </a:r>
            <a:r>
              <a:rPr lang="en-GB" dirty="0"/>
              <a:t>. These are the payment systems whose failure has the potential to trigger systemic risk and have an effect on the wider economy of the country.</a:t>
            </a:r>
          </a:p>
          <a:p>
            <a:r>
              <a:rPr lang="en-GB" dirty="0"/>
              <a:t>The Bank has categorized the following systems in Zambia as being of systemic importance;</a:t>
            </a:r>
          </a:p>
          <a:p>
            <a:r>
              <a:rPr lang="en-GB" dirty="0">
                <a:hlinkClick r:id="rId2"/>
              </a:rPr>
              <a:t>Zambia Interbank Payment and Settlement System (ZIPSS)</a:t>
            </a:r>
            <a:endParaRPr lang="en-GB" dirty="0"/>
          </a:p>
          <a:p>
            <a:r>
              <a:rPr lang="en-GB" dirty="0">
                <a:hlinkClick r:id="rId3"/>
              </a:rPr>
              <a:t>Electronic Funds Transfer (EFT) System</a:t>
            </a:r>
            <a:endParaRPr lang="en-GB" dirty="0"/>
          </a:p>
          <a:p>
            <a:r>
              <a:rPr lang="en-GB" dirty="0">
                <a:hlinkClick r:id="rId4"/>
              </a:rPr>
              <a:t>Cheque Image Clearing (CIC) System</a:t>
            </a:r>
            <a:endParaRPr lang="en-GB" dirty="0"/>
          </a:p>
          <a:p>
            <a:pPr marL="0" indent="0">
              <a:buNone/>
            </a:pPr>
            <a:endParaRPr lang="en-US" dirty="0"/>
          </a:p>
        </p:txBody>
      </p:sp>
    </p:spTree>
    <p:extLst>
      <p:ext uri="{BB962C8B-B14F-4D97-AF65-F5344CB8AC3E}">
        <p14:creationId xmlns:p14="http://schemas.microsoft.com/office/powerpoint/2010/main" val="3072345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Real Time Gross Settlement System (RTGS)</a:t>
            </a:r>
            <a:endParaRPr lang="en-US" dirty="0"/>
          </a:p>
        </p:txBody>
      </p:sp>
      <p:sp>
        <p:nvSpPr>
          <p:cNvPr id="3" name="Content Placeholder 2"/>
          <p:cNvSpPr>
            <a:spLocks noGrp="1"/>
          </p:cNvSpPr>
          <p:nvPr>
            <p:ph idx="1"/>
          </p:nvPr>
        </p:nvSpPr>
        <p:spPr/>
        <p:txBody>
          <a:bodyPr>
            <a:normAutofit lnSpcReduction="10000"/>
          </a:bodyPr>
          <a:lstStyle/>
          <a:p>
            <a:r>
              <a:rPr lang="en-GB" dirty="0"/>
              <a:t>ZIPSS is an electronic payment system in which processing of transactions for settlement takes place continuously on a transaction basis in real time</a:t>
            </a:r>
          </a:p>
          <a:p>
            <a:r>
              <a:rPr lang="en-GB" dirty="0"/>
              <a:t>ZIPSS was developed to improve the management of payment risks related to high value payments.</a:t>
            </a:r>
          </a:p>
          <a:p>
            <a:r>
              <a:rPr lang="en-GB" dirty="0"/>
              <a:t>It provides a more secure platform for making both large value payments</a:t>
            </a:r>
          </a:p>
          <a:p>
            <a:r>
              <a:rPr lang="en-GB" dirty="0"/>
              <a:t>It also provides quicker final and irrevocable payments  </a:t>
            </a:r>
            <a:endParaRPr lang="en-US" dirty="0"/>
          </a:p>
        </p:txBody>
      </p:sp>
    </p:spTree>
    <p:extLst>
      <p:ext uri="{BB962C8B-B14F-4D97-AF65-F5344CB8AC3E}">
        <p14:creationId xmlns:p14="http://schemas.microsoft.com/office/powerpoint/2010/main" val="114862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Real Time Gross Settlement System (RTGS)</a:t>
            </a:r>
            <a:endParaRPr lang="en-US" dirty="0"/>
          </a:p>
        </p:txBody>
      </p:sp>
      <p:sp>
        <p:nvSpPr>
          <p:cNvPr id="3" name="Content Placeholder 2"/>
          <p:cNvSpPr>
            <a:spLocks noGrp="1"/>
          </p:cNvSpPr>
          <p:nvPr>
            <p:ph idx="1"/>
          </p:nvPr>
        </p:nvSpPr>
        <p:spPr/>
        <p:txBody>
          <a:bodyPr/>
          <a:lstStyle/>
          <a:p>
            <a:r>
              <a:rPr lang="en-GB" dirty="0"/>
              <a:t>ZIPSS can be used to make payments that are urgent and time critical such as VAT and securities trading payments because transactions in ZIPSS are processed at the time they are received rather than later</a:t>
            </a:r>
          </a:p>
          <a:p>
            <a:r>
              <a:rPr lang="en-GB" dirty="0"/>
              <a:t>ZIPSS is managed and operated by Bank of Zambia in its capacity as settlement provider</a:t>
            </a:r>
          </a:p>
          <a:p>
            <a:r>
              <a:rPr lang="en-GB" dirty="0"/>
              <a:t>Membership in ZIPSS is open to all banks operating in Zambia</a:t>
            </a:r>
            <a:endParaRPr lang="en-US" dirty="0"/>
          </a:p>
        </p:txBody>
      </p:sp>
    </p:spTree>
    <p:extLst>
      <p:ext uri="{BB962C8B-B14F-4D97-AF65-F5344CB8AC3E}">
        <p14:creationId xmlns:p14="http://schemas.microsoft.com/office/powerpoint/2010/main" val="1876272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Real Time Gross Settlement System (RTGS)</a:t>
            </a:r>
            <a:endParaRPr lang="en-US" dirty="0"/>
          </a:p>
        </p:txBody>
      </p:sp>
      <p:sp>
        <p:nvSpPr>
          <p:cNvPr id="3" name="Content Placeholder 2"/>
          <p:cNvSpPr>
            <a:spLocks noGrp="1"/>
          </p:cNvSpPr>
          <p:nvPr>
            <p:ph idx="1"/>
          </p:nvPr>
        </p:nvSpPr>
        <p:spPr/>
        <p:txBody>
          <a:bodyPr/>
          <a:lstStyle/>
          <a:p>
            <a:pPr marL="0" indent="0">
              <a:buNone/>
            </a:pPr>
            <a:r>
              <a:rPr lang="en-GB" dirty="0"/>
              <a:t>Benefits of using ZIPSS:</a:t>
            </a:r>
          </a:p>
          <a:p>
            <a:pPr marL="514350" indent="-514350">
              <a:buFont typeface="+mj-lt"/>
              <a:buAutoNum type="romanLcPeriod"/>
            </a:pPr>
            <a:r>
              <a:rPr lang="en-GB" dirty="0"/>
              <a:t>ZIPSS carries negligible credit and settlement risk because it is based on pre-funding of payments before a payment instruction is issued </a:t>
            </a:r>
          </a:p>
          <a:p>
            <a:pPr marL="514350" indent="-514350">
              <a:buFont typeface="+mj-lt"/>
              <a:buAutoNum type="romanLcPeriod"/>
            </a:pPr>
            <a:r>
              <a:rPr lang="en-GB" dirty="0"/>
              <a:t>ZIPSS provides banks with the facility to monitor their settlement balances throughout the day as each transaction takes place in real time</a:t>
            </a:r>
            <a:endParaRPr lang="en-US" dirty="0"/>
          </a:p>
        </p:txBody>
      </p:sp>
    </p:spTree>
    <p:extLst>
      <p:ext uri="{BB962C8B-B14F-4D97-AF65-F5344CB8AC3E}">
        <p14:creationId xmlns:p14="http://schemas.microsoft.com/office/powerpoint/2010/main" val="120302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Real Time Gross Settlement System (RTGS)</a:t>
            </a:r>
            <a:endParaRPr lang="en-US" dirty="0"/>
          </a:p>
        </p:txBody>
      </p:sp>
      <p:sp>
        <p:nvSpPr>
          <p:cNvPr id="3" name="Content Placeholder 2"/>
          <p:cNvSpPr>
            <a:spLocks noGrp="1"/>
          </p:cNvSpPr>
          <p:nvPr>
            <p:ph idx="1"/>
          </p:nvPr>
        </p:nvSpPr>
        <p:spPr/>
        <p:txBody>
          <a:bodyPr/>
          <a:lstStyle/>
          <a:p>
            <a:pPr marL="0" indent="0">
              <a:buNone/>
            </a:pPr>
            <a:r>
              <a:rPr lang="en-GB" dirty="0"/>
              <a:t>iii. Due to the continuous nature of transfers, cleared funds are available to the recipient with no significant time lag</a:t>
            </a:r>
          </a:p>
          <a:p>
            <a:pPr marL="0" indent="0">
              <a:buNone/>
            </a:pPr>
            <a:r>
              <a:rPr lang="en-GB" dirty="0"/>
              <a:t>iv. ZIPSS/RTGS facilitates the linkage to other transfer systems such as money and capital markets</a:t>
            </a:r>
          </a:p>
          <a:p>
            <a:pPr marL="0" indent="0">
              <a:buNone/>
            </a:pPr>
            <a:r>
              <a:rPr lang="en-GB" dirty="0"/>
              <a:t>v. ZIPSS/RTGS enhances treasury management for both banks and bank customers</a:t>
            </a:r>
            <a:endParaRPr lang="en-US" dirty="0"/>
          </a:p>
        </p:txBody>
      </p:sp>
    </p:spTree>
    <p:extLst>
      <p:ext uri="{BB962C8B-B14F-4D97-AF65-F5344CB8AC3E}">
        <p14:creationId xmlns:p14="http://schemas.microsoft.com/office/powerpoint/2010/main" val="131005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Real Time Gross Settlement System (RTGS)</a:t>
            </a:r>
            <a:endParaRPr lang="en-US" dirty="0"/>
          </a:p>
        </p:txBody>
      </p:sp>
      <p:sp>
        <p:nvSpPr>
          <p:cNvPr id="3" name="Content Placeholder 2"/>
          <p:cNvSpPr>
            <a:spLocks noGrp="1"/>
          </p:cNvSpPr>
          <p:nvPr>
            <p:ph idx="1"/>
          </p:nvPr>
        </p:nvSpPr>
        <p:spPr/>
        <p:txBody>
          <a:bodyPr/>
          <a:lstStyle/>
          <a:p>
            <a:pPr marL="0" indent="0">
              <a:buNone/>
            </a:pPr>
            <a:r>
              <a:rPr lang="en-GB" dirty="0"/>
              <a:t>vi. Payments that are made on ZIPSS are final and irrevocable</a:t>
            </a:r>
          </a:p>
          <a:p>
            <a:pPr marL="0" indent="0">
              <a:buNone/>
            </a:pPr>
            <a:r>
              <a:rPr lang="en-GB" dirty="0"/>
              <a:t>vii. ZIPSS being a real-time settlement system means that payments take effect on appropriate accounts immediately</a:t>
            </a:r>
          </a:p>
          <a:p>
            <a:pPr marL="0" indent="0">
              <a:buNone/>
            </a:pPr>
            <a:r>
              <a:rPr lang="en-GB" dirty="0"/>
              <a:t>viii. No minimum or maximum amount is imposed on ZIPSS and therefore customers are able to process both low and large value payments on ZIPSS</a:t>
            </a:r>
          </a:p>
          <a:p>
            <a:endParaRPr lang="en-US" dirty="0"/>
          </a:p>
        </p:txBody>
      </p:sp>
    </p:spTree>
    <p:extLst>
      <p:ext uri="{BB962C8B-B14F-4D97-AF65-F5344CB8AC3E}">
        <p14:creationId xmlns:p14="http://schemas.microsoft.com/office/powerpoint/2010/main" val="3728473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Electronic Funds Transfer System</a:t>
            </a:r>
            <a:endParaRPr lang="en-US" dirty="0"/>
          </a:p>
        </p:txBody>
      </p:sp>
      <p:sp>
        <p:nvSpPr>
          <p:cNvPr id="3" name="Content Placeholder 2"/>
          <p:cNvSpPr>
            <a:spLocks noGrp="1"/>
          </p:cNvSpPr>
          <p:nvPr>
            <p:ph idx="1"/>
          </p:nvPr>
        </p:nvSpPr>
        <p:spPr/>
        <p:txBody>
          <a:bodyPr>
            <a:normAutofit fontScale="70000" lnSpcReduction="20000"/>
          </a:bodyPr>
          <a:lstStyle/>
          <a:p>
            <a:r>
              <a:rPr lang="en-US" b="1" dirty="0"/>
              <a:t>Electronic Funds Transfer (EFT) </a:t>
            </a:r>
            <a:endParaRPr lang="en-US" dirty="0"/>
          </a:p>
          <a:p>
            <a:r>
              <a:rPr lang="en-US" dirty="0"/>
              <a:t>The Electronic Funds Transfer (EFT) system is a simple, safe and speedy way to make and collect payments by electronic transfer</a:t>
            </a:r>
          </a:p>
          <a:p>
            <a:pPr lvl="0"/>
            <a:r>
              <a:rPr lang="en-US" dirty="0"/>
              <a:t>Safe and secure transfer of funds from one account to another</a:t>
            </a:r>
          </a:p>
          <a:p>
            <a:pPr lvl="0"/>
            <a:r>
              <a:rPr lang="en-US" dirty="0"/>
              <a:t>Payment of wages, salaries and pensions</a:t>
            </a:r>
          </a:p>
          <a:p>
            <a:pPr lvl="0"/>
            <a:r>
              <a:rPr lang="en-US" dirty="0"/>
              <a:t>Payment of utility bills</a:t>
            </a:r>
          </a:p>
          <a:p>
            <a:pPr lvl="0"/>
            <a:r>
              <a:rPr lang="en-US" dirty="0"/>
              <a:t>Disbursement of loans and collection interest payments by financial institutions</a:t>
            </a:r>
          </a:p>
          <a:p>
            <a:pPr lvl="0"/>
            <a:r>
              <a:rPr lang="en-US" dirty="0"/>
              <a:t>Payment of VAT and other taxes</a:t>
            </a:r>
          </a:p>
          <a:p>
            <a:endParaRPr lang="en-US" dirty="0"/>
          </a:p>
        </p:txBody>
      </p:sp>
    </p:spTree>
    <p:extLst>
      <p:ext uri="{BB962C8B-B14F-4D97-AF65-F5344CB8AC3E}">
        <p14:creationId xmlns:p14="http://schemas.microsoft.com/office/powerpoint/2010/main" val="178551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Electronic Funds Transfer System</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Benefits of EFT </a:t>
            </a:r>
            <a:endParaRPr lang="en-US" dirty="0"/>
          </a:p>
          <a:p>
            <a:r>
              <a:rPr lang="en-US" dirty="0"/>
              <a:t>Some of the benefits of the EFT system include;</a:t>
            </a:r>
          </a:p>
          <a:p>
            <a:pPr lvl="0"/>
            <a:r>
              <a:rPr lang="en-US" dirty="0"/>
              <a:t>Credit to the customer is given within the same day</a:t>
            </a:r>
          </a:p>
          <a:p>
            <a:pPr lvl="0"/>
            <a:r>
              <a:rPr lang="en-US" dirty="0"/>
              <a:t>Allows a transfer of higher value (has limit than </a:t>
            </a:r>
            <a:r>
              <a:rPr lang="en-US" dirty="0" err="1"/>
              <a:t>cheques</a:t>
            </a:r>
            <a:r>
              <a:rPr lang="en-US" dirty="0"/>
              <a:t>)</a:t>
            </a:r>
          </a:p>
          <a:p>
            <a:pPr lvl="0"/>
            <a:r>
              <a:rPr lang="en-US" dirty="0"/>
              <a:t>It is safe and secure and guaranteed through registered commercial bank</a:t>
            </a:r>
          </a:p>
          <a:p>
            <a:pPr lvl="0"/>
            <a:r>
              <a:rPr lang="en-US" dirty="0"/>
              <a:t>High availability since the service is provided by almost all commercial banks</a:t>
            </a:r>
          </a:p>
          <a:p>
            <a:endParaRPr lang="en-US" dirty="0"/>
          </a:p>
        </p:txBody>
      </p:sp>
    </p:spTree>
    <p:extLst>
      <p:ext uri="{BB962C8B-B14F-4D97-AF65-F5344CB8AC3E}">
        <p14:creationId xmlns:p14="http://schemas.microsoft.com/office/powerpoint/2010/main" val="25368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73206"/>
            <a:ext cx="7770813" cy="2012042"/>
          </a:xfrm>
        </p:spPr>
        <p:txBody>
          <a:bodyPr/>
          <a:lstStyle/>
          <a:p>
            <a:br>
              <a:rPr lang="en-US" dirty="0"/>
            </a:br>
            <a:br>
              <a:rPr lang="en-US" dirty="0"/>
            </a:br>
            <a:r>
              <a:rPr lang="en-US" dirty="0"/>
              <a:t>The </a:t>
            </a:r>
            <a:r>
              <a:rPr lang="en-US" dirty="0" err="1"/>
              <a:t>Cheque</a:t>
            </a:r>
            <a:r>
              <a:rPr lang="en-US" dirty="0"/>
              <a:t> Image Clearing System</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The </a:t>
            </a:r>
            <a:r>
              <a:rPr lang="en-US" dirty="0" err="1"/>
              <a:t>Cheque</a:t>
            </a:r>
            <a:r>
              <a:rPr lang="en-US" dirty="0"/>
              <a:t> Image Clearing (CIC) system is a </a:t>
            </a:r>
            <a:r>
              <a:rPr lang="en-US" dirty="0" err="1"/>
              <a:t>cheque</a:t>
            </a:r>
            <a:r>
              <a:rPr lang="en-US" dirty="0"/>
              <a:t> processing and clearing system and allows customers belonging to one bank to write </a:t>
            </a:r>
            <a:r>
              <a:rPr lang="en-US" dirty="0" err="1"/>
              <a:t>cheques</a:t>
            </a:r>
            <a:r>
              <a:rPr lang="en-US" dirty="0"/>
              <a:t> belonging customers of another bank. </a:t>
            </a:r>
          </a:p>
          <a:p>
            <a:r>
              <a:rPr lang="en-US" dirty="0"/>
              <a:t>Similar to Electronic Funds Transfer (EFT) system, the CIC system is operated by the Zambia Electronic Clearing House Ltd (ZECHL).</a:t>
            </a:r>
          </a:p>
          <a:p>
            <a:r>
              <a:rPr lang="en-US" dirty="0"/>
              <a:t>With the implementation of the truncation system in 2014, substantial improvement in turn-around time in </a:t>
            </a:r>
            <a:r>
              <a:rPr lang="en-US" dirty="0" err="1"/>
              <a:t>cheque</a:t>
            </a:r>
            <a:r>
              <a:rPr lang="en-US" dirty="0"/>
              <a:t> processing have been achievement. Credit to customer accounts is given on a T+1 basis.</a:t>
            </a:r>
          </a:p>
          <a:p>
            <a:endParaRPr lang="en-US" dirty="0"/>
          </a:p>
        </p:txBody>
      </p:sp>
    </p:spTree>
    <p:extLst>
      <p:ext uri="{BB962C8B-B14F-4D97-AF65-F5344CB8AC3E}">
        <p14:creationId xmlns:p14="http://schemas.microsoft.com/office/powerpoint/2010/main" val="204812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Cheque Truncation System (CTS)</a:t>
            </a:r>
            <a:endParaRPr lang="en-US" dirty="0"/>
          </a:p>
        </p:txBody>
      </p:sp>
      <p:sp>
        <p:nvSpPr>
          <p:cNvPr id="3" name="Content Placeholder 2"/>
          <p:cNvSpPr>
            <a:spLocks noGrp="1"/>
          </p:cNvSpPr>
          <p:nvPr>
            <p:ph idx="1"/>
          </p:nvPr>
        </p:nvSpPr>
        <p:spPr/>
        <p:txBody>
          <a:bodyPr/>
          <a:lstStyle/>
          <a:p>
            <a:r>
              <a:rPr lang="en-GB" dirty="0"/>
              <a:t>Cheque truncation system (CTS) is a system that involves the process of clearing cheques using cheque images between banks as opposed to using physical cheques presented for payment in a bank by individuals or corporate customers.</a:t>
            </a:r>
            <a:endParaRPr lang="en-US" dirty="0"/>
          </a:p>
        </p:txBody>
      </p:sp>
    </p:spTree>
    <p:extLst>
      <p:ext uri="{BB962C8B-B14F-4D97-AF65-F5344CB8AC3E}">
        <p14:creationId xmlns:p14="http://schemas.microsoft.com/office/powerpoint/2010/main" val="491821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The </a:t>
            </a:r>
            <a:r>
              <a:rPr lang="en-US" b="1" i="1" dirty="0" err="1"/>
              <a:t>Cheque</a:t>
            </a:r>
            <a:r>
              <a:rPr lang="en-US" b="1" i="1" dirty="0"/>
              <a:t> Image Clearing (CIC) System</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GB" dirty="0"/>
              <a:t>Benefits of cheque truncation:</a:t>
            </a:r>
          </a:p>
          <a:p>
            <a:pPr marL="514350" indent="-514350">
              <a:buFont typeface="+mj-lt"/>
              <a:buAutoNum type="romanLcPeriod"/>
            </a:pPr>
            <a:r>
              <a:rPr lang="en-GB" dirty="0"/>
              <a:t>The clearing period has been shortened and standardized across the country to one clearing day (T+1) from (T+3) previously</a:t>
            </a:r>
          </a:p>
          <a:p>
            <a:pPr marL="514350" indent="-514350">
              <a:buFont typeface="+mj-lt"/>
              <a:buAutoNum type="romanLcPeriod"/>
            </a:pPr>
            <a:r>
              <a:rPr lang="en-GB" dirty="0"/>
              <a:t>It has improved the velocity of cash flow between transacting parties in the economy owing to reduced clearing periods</a:t>
            </a:r>
          </a:p>
          <a:p>
            <a:pPr marL="514350" indent="-514350">
              <a:buFont typeface="+mj-lt"/>
              <a:buAutoNum type="romanLcPeriod"/>
            </a:pPr>
            <a:r>
              <a:rPr lang="en-GB" dirty="0"/>
              <a:t>It has reduced the risk associated with manual handling and physical movement of cheques between banks</a:t>
            </a:r>
            <a:endParaRPr lang="en-US" dirty="0"/>
          </a:p>
        </p:txBody>
      </p:sp>
    </p:spTree>
    <p:extLst>
      <p:ext uri="{BB962C8B-B14F-4D97-AF65-F5344CB8AC3E}">
        <p14:creationId xmlns:p14="http://schemas.microsoft.com/office/powerpoint/2010/main" val="216996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The </a:t>
            </a:r>
            <a:r>
              <a:rPr lang="en-US" b="1" i="1" dirty="0" err="1"/>
              <a:t>Cheque</a:t>
            </a:r>
            <a:r>
              <a:rPr lang="en-US" b="1" i="1" dirty="0"/>
              <a:t> Image Clearing (CIC) System</a:t>
            </a:r>
            <a:br>
              <a:rPr lang="en-US" dirty="0"/>
            </a:b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3606" y="2209800"/>
            <a:ext cx="73152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9761662"/>
      </p:ext>
    </p:extLst>
  </p:cSld>
  <p:clrMapOvr>
    <a:masterClrMapping/>
  </p:clrMapOvr>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Folio">
  <a:themeElements>
    <a:clrScheme name="Folio">
      <a:dk1>
        <a:sysClr val="windowText" lastClr="000000"/>
      </a:dk1>
      <a:lt1>
        <a:sysClr val="window" lastClr="FFFFFF"/>
      </a:lt1>
      <a:dk2>
        <a:srgbClr val="2D2F2B"/>
      </a:dk2>
      <a:lt2>
        <a:srgbClr val="DEDED7"/>
      </a:lt2>
      <a:accent1>
        <a:srgbClr val="294171"/>
      </a:accent1>
      <a:accent2>
        <a:srgbClr val="748CBC"/>
      </a:accent2>
      <a:accent3>
        <a:srgbClr val="8E887C"/>
      </a:accent3>
      <a:accent4>
        <a:srgbClr val="834736"/>
      </a:accent4>
      <a:accent5>
        <a:srgbClr val="5A1705"/>
      </a:accent5>
      <a:accent6>
        <a:srgbClr val="A0A16A"/>
      </a:accent6>
      <a:hlink>
        <a:srgbClr val="74B6BC"/>
      </a:hlink>
      <a:folHlink>
        <a:srgbClr val="7F95A4"/>
      </a:folHlink>
    </a:clrScheme>
    <a:fontScheme name="Folio">
      <a:majorFont>
        <a:latin typeface="Calisto MT"/>
        <a:ea typeface=""/>
        <a:cs typeface=""/>
        <a:font script="Jpan" typeface="ＭＳ 明朝"/>
        <a:font script="Hans" typeface="宋体"/>
        <a:font script="Hant" typeface="新細明體"/>
      </a:majorFont>
      <a:minorFont>
        <a:latin typeface="Calisto MT"/>
        <a:ea typeface=""/>
        <a:cs typeface=""/>
        <a:font script="Jpan" typeface="ＭＳ 明朝"/>
        <a:font script="Hans" typeface="宋体"/>
        <a:font script="Hant" typeface="新細明體"/>
      </a:minorFont>
    </a:fontScheme>
    <a:fmtScheme name="Folio">
      <a:fillStyleLst>
        <a:solidFill>
          <a:schemeClr val="phClr"/>
        </a:solidFill>
        <a:blipFill rotWithShape="1">
          <a:blip xmlns:r="http://schemas.openxmlformats.org/officeDocument/2006/relationships" r:embed="rId1">
            <a:duotone>
              <a:schemeClr val="phClr">
                <a:shade val="30000"/>
                <a:satMod val="120000"/>
              </a:schemeClr>
              <a:schemeClr val="phClr">
                <a:tint val="70000"/>
                <a:satMod val="350000"/>
                <a:lumMod val="110000"/>
              </a:schemeClr>
            </a:duotone>
          </a:blip>
          <a:stretch/>
        </a:blipFill>
        <a:blipFill rotWithShape="1">
          <a:blip xmlns:r="http://schemas.openxmlformats.org/officeDocument/2006/relationships" r:embed="rId2">
            <a:duotone>
              <a:schemeClr val="phClr">
                <a:shade val="40000"/>
                <a:satMod val="120000"/>
              </a:schemeClr>
              <a:schemeClr val="phClr">
                <a:tint val="70000"/>
                <a:satMod val="300000"/>
                <a:lumMod val="110000"/>
              </a:schemeClr>
            </a:duotone>
          </a:blip>
          <a:tile tx="0" ty="0" sx="50000" sy="50000" flip="none" algn="tl"/>
        </a:blipFill>
      </a:fillStyleLst>
      <a:lnStyleLst>
        <a:ln w="12700" cap="flat" cmpd="sng" algn="ctr">
          <a:solidFill>
            <a:schemeClr val="phClr">
              <a:shade val="95000"/>
              <a:satMod val="105000"/>
            </a:schemeClr>
          </a:solidFill>
          <a:prstDash val="solid"/>
        </a:ln>
        <a:ln w="3175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38100" dist="25400" dir="5400000" algn="br" rotWithShape="0">
              <a:srgbClr val="000000">
                <a:alpha val="50000"/>
              </a:srgbClr>
            </a:outerShdw>
          </a:effectLst>
        </a:effectStyle>
        <a:effectStyle>
          <a:effectLst>
            <a:innerShdw blurRad="190500" dist="25400">
              <a:srgbClr val="000000">
                <a:alpha val="50000"/>
              </a:srgbClr>
            </a:innerShdw>
          </a:effectLst>
        </a:effectStyle>
      </a:effectStyleLst>
      <a:bgFillStyleLst>
        <a:blipFill rotWithShape="1">
          <a:blip xmlns:r="http://schemas.openxmlformats.org/officeDocument/2006/relationships" r:embed="rId3">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4">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5">
            <a:duotone>
              <a:schemeClr val="phClr">
                <a:shade val="3000"/>
                <a:lumMod val="10000"/>
              </a:schemeClr>
              <a:schemeClr val="phClr">
                <a:tint val="91000"/>
                <a:satMod val="500000"/>
                <a:lumMod val="125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Folio.thmx</Template>
  <TotalTime>2629</TotalTime>
  <Words>1611</Words>
  <Application>Microsoft Office PowerPoint</Application>
  <PresentationFormat>On-screen Show (4:3)</PresentationFormat>
  <Paragraphs>102</Paragraphs>
  <Slides>26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Calisto MT</vt:lpstr>
      <vt:lpstr>Wingdings</vt:lpstr>
      <vt:lpstr>Folio</vt:lpstr>
      <vt:lpstr>Treasury Management</vt:lpstr>
      <vt:lpstr>Overview of Clearing and Settlement Process</vt:lpstr>
      <vt:lpstr>Overview of Clearing and Settlement Process</vt:lpstr>
      <vt:lpstr>Overview of Clearing and Settlement Process</vt:lpstr>
      <vt:lpstr>Overview of Clearing and Settlement Process</vt:lpstr>
      <vt:lpstr>Settlement Types</vt:lpstr>
      <vt:lpstr>Settlement Types</vt:lpstr>
      <vt:lpstr>Settlement Types</vt:lpstr>
      <vt:lpstr>Transaction Types</vt:lpstr>
      <vt:lpstr>The Continuous Link Settlement (CLS) System</vt:lpstr>
      <vt:lpstr>The Continuous Link Settlement (CLS) System</vt:lpstr>
      <vt:lpstr>The Continuous Link Settlement (CLS) System</vt:lpstr>
      <vt:lpstr>The Continuous Link Settlement (CLS) System</vt:lpstr>
      <vt:lpstr>Electronic Clearing System in Zambia</vt:lpstr>
      <vt:lpstr>Electronic Clearing System in Zambia</vt:lpstr>
      <vt:lpstr>Real Time Gross Settlement System (RTGS)</vt:lpstr>
      <vt:lpstr>Real Time Gross Settlement System (RTGS)</vt:lpstr>
      <vt:lpstr>Real Time Gross Settlement System (RTGS)</vt:lpstr>
      <vt:lpstr>Real Time Gross Settlement System (RTGS)</vt:lpstr>
      <vt:lpstr>Real Time Gross Settlement System (RTGS)</vt:lpstr>
      <vt:lpstr>Electronic Funds Transfer System</vt:lpstr>
      <vt:lpstr>Electronic Funds Transfer System</vt:lpstr>
      <vt:lpstr>  The Cheque Image Clearing System </vt:lpstr>
      <vt:lpstr>Cheque Truncation System (CTS)</vt:lpstr>
      <vt:lpstr>The Cheque Image Clearing (CIC) System </vt:lpstr>
      <vt:lpstr>The Cheque Image Clearing (CIC) System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BFS 322</dc:title>
  <dc:creator>Webster Sikazwe</dc:creator>
  <cp:lastModifiedBy>Webster Sikazwe</cp:lastModifiedBy>
  <cp:revision>183</cp:revision>
  <dcterms:created xsi:type="dcterms:W3CDTF">2018-08-06T09:52:02Z</dcterms:created>
  <dcterms:modified xsi:type="dcterms:W3CDTF">2020-10-12T08:25:44Z</dcterms:modified>
</cp:coreProperties>
</file>