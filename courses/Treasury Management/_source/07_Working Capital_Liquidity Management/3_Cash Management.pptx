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9" r:id="rId13"/>
    <p:sldId id="268" r:id="rId14"/>
    <p:sldId id="270" r:id="rId15"/>
    <p:sldId id="271" r:id="rId16"/>
    <p:sldId id="272" r:id="rId17"/>
    <p:sldId id="273" r:id="rId18"/>
    <p:sldId id="264" r:id="rId19"/>
    <p:sldId id="274" r:id="rId20"/>
    <p:sldId id="275" r:id="rId21"/>
    <p:sldId id="287" r:id="rId22"/>
    <p:sldId id="276" r:id="rId23"/>
    <p:sldId id="277" r:id="rId24"/>
    <p:sldId id="278" r:id="rId25"/>
    <p:sldId id="288" r:id="rId26"/>
    <p:sldId id="289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675" autoAdjust="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27094"/>
            <a:ext cx="7772400" cy="1470025"/>
          </a:xfrm>
        </p:spPr>
        <p:txBody>
          <a:bodyPr anchor="b" anchorCtr="0"/>
          <a:lstStyle>
            <a:lvl1pPr>
              <a:defRPr sz="5400">
                <a:gradFill>
                  <a:gsLst>
                    <a:gs pos="0">
                      <a:schemeClr val="tx2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5400000" scaled="0"/>
                </a:gradFill>
                <a:effectLst>
                  <a:outerShdw blurRad="50800" dist="254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1" y="3810000"/>
            <a:ext cx="7770812" cy="1752600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600">
                <a:gradFill>
                  <a:gsLst>
                    <a:gs pos="0">
                      <a:schemeClr val="tx2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CoverGly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025" y="3048000"/>
            <a:ext cx="1123950" cy="77152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26440"/>
            <a:ext cx="7770813" cy="1472184"/>
          </a:xfrm>
        </p:spPr>
        <p:txBody>
          <a:bodyPr anchor="b" anchorCtr="0"/>
          <a:lstStyle>
            <a:lvl1pPr algn="ctr">
              <a:defRPr sz="54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813048"/>
            <a:ext cx="7770813" cy="1755648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Glyph-Section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3174066"/>
            <a:ext cx="1066800" cy="5905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209801"/>
            <a:ext cx="3657600" cy="36576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800"/>
            </a:lvl6pPr>
            <a:lvl7pPr marL="2290763" indent="-461963">
              <a:defRPr sz="1800"/>
            </a:lvl7pPr>
            <a:lvl8pPr marL="2290763" indent="-461963">
              <a:defRPr sz="1800"/>
            </a:lvl8pPr>
            <a:lvl9pPr marL="2290763" indent="-461963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209801"/>
            <a:ext cx="3657600" cy="36576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800"/>
            </a:lvl6pPr>
            <a:lvl7pPr marL="2290763" indent="-461963">
              <a:defRPr sz="1800"/>
            </a:lvl7pPr>
            <a:lvl8pPr marL="2290763" indent="-461963">
              <a:defRPr sz="1800"/>
            </a:lvl8pPr>
            <a:lvl9pPr marL="2290763" indent="-461963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27238"/>
            <a:ext cx="3657600" cy="639762"/>
          </a:xfrm>
        </p:spPr>
        <p:txBody>
          <a:bodyPr anchor="ctr" anchorCtr="0"/>
          <a:lstStyle>
            <a:lvl1pPr marL="0" indent="0" algn="ctr">
              <a:spcBef>
                <a:spcPts val="30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19400"/>
            <a:ext cx="3657600" cy="3048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600"/>
            </a:lvl6pPr>
            <a:lvl7pPr marL="2290763" indent="-461963">
              <a:defRPr sz="1600"/>
            </a:lvl7pPr>
            <a:lvl8pPr marL="2290763" indent="-461963">
              <a:defRPr sz="1600"/>
            </a:lvl8pPr>
            <a:lvl9pPr marL="2290763" indent="-461963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2027238"/>
            <a:ext cx="3657600" cy="639762"/>
          </a:xfrm>
        </p:spPr>
        <p:txBody>
          <a:bodyPr anchor="ctr" anchorCtr="0"/>
          <a:lstStyle>
            <a:lvl1pPr marL="0" indent="0" algn="ctr">
              <a:spcBef>
                <a:spcPts val="30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2819400"/>
            <a:ext cx="3657600" cy="3048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600"/>
            </a:lvl6pPr>
            <a:lvl7pPr marL="2290763" indent="-461963">
              <a:defRPr sz="1600"/>
            </a:lvl7pPr>
            <a:lvl8pPr marL="2290763" indent="-461963">
              <a:defRPr sz="1600"/>
            </a:lvl8pPr>
            <a:lvl9pPr marL="2290763" indent="-461963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906" y="914400"/>
            <a:ext cx="3657600" cy="1162050"/>
          </a:xfrm>
        </p:spPr>
        <p:txBody>
          <a:bodyPr anchor="b"/>
          <a:lstStyle>
            <a:lvl1pPr algn="ctr">
              <a:defRPr sz="38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6118" y="457199"/>
            <a:ext cx="3657600" cy="541020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 marL="2290763" indent="-461963">
              <a:tabLst/>
              <a:defRPr sz="2000"/>
            </a:lvl6pPr>
            <a:lvl7pPr marL="2290763" indent="-461963">
              <a:tabLst/>
              <a:defRPr sz="2000"/>
            </a:lvl7pPr>
            <a:lvl8pPr marL="2290763" indent="-461963">
              <a:tabLst/>
              <a:defRPr sz="2000"/>
            </a:lvl8pPr>
            <a:lvl9pPr marL="2290763" indent="-461963">
              <a:tabLst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906" y="2590799"/>
            <a:ext cx="3657600" cy="2895601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4746" y="2286000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013" y="914400"/>
            <a:ext cx="3657600" cy="1161288"/>
          </a:xfrm>
          <a:effectLst/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800" b="0" kern="1200">
                <a:solidFill>
                  <a:schemeClr val="tx2"/>
                </a:solidFill>
                <a:effectLst>
                  <a:outerShdw blurRad="38100" dist="12700" algn="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58906" y="457200"/>
            <a:ext cx="3657600" cy="5413248"/>
          </a:xfrm>
          <a:ln w="101600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99013" y="2587752"/>
            <a:ext cx="3657600" cy="2898648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600"/>
              </a:spcBef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2000"/>
              </a:spcBef>
              <a:buClr>
                <a:schemeClr val="accent3"/>
              </a:buClr>
              <a:buFont typeface="Wingdings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04853" y="2286000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738282"/>
            <a:ext cx="7770813" cy="1048870"/>
          </a:xfrm>
          <a:effectLst/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800" b="0" kern="1200">
                <a:solidFill>
                  <a:schemeClr val="tx2"/>
                </a:solidFill>
                <a:effectLst>
                  <a:outerShdw blurRad="38100" dist="12700" algn="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0" y="457200"/>
            <a:ext cx="4572000" cy="3173506"/>
          </a:xfrm>
          <a:ln w="101600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181600"/>
            <a:ext cx="7770813" cy="6858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2000"/>
              </a:spcBef>
              <a:buClr>
                <a:schemeClr val="accent3"/>
              </a:buClr>
              <a:buFont typeface="Wingdings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4890247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2286000" indent="-457200">
              <a:defRPr/>
            </a:lvl6pPr>
            <a:lvl7pPr marL="2286000" indent="-457200">
              <a:defRPr/>
            </a:lvl7pPr>
            <a:lvl8pPr marL="2286000" indent="-457200">
              <a:defRPr/>
            </a:lvl8pPr>
            <a:lvl9pPr marL="2286000" indent="-4572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537882"/>
            <a:ext cx="1524000" cy="53250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7882"/>
            <a:ext cx="5889812" cy="5325036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6052928" y="3115195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05300" y="6289115"/>
            <a:ext cx="53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67236"/>
            <a:ext cx="7770813" cy="1371600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9800"/>
            <a:ext cx="7770813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0" y="6289115"/>
            <a:ext cx="2375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B690E-D504-EE46-BF09-1B8B105CE4C6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9624" y="6289115"/>
            <a:ext cx="31555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5000" kern="1200">
          <a:solidFill>
            <a:schemeClr val="tx2"/>
          </a:solidFill>
          <a:effectLst>
            <a:outerShdw blurRad="38100" dist="12700" algn="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spcBef>
          <a:spcPts val="2000"/>
        </a:spcBef>
        <a:buClr>
          <a:schemeClr val="accent3"/>
        </a:buClr>
        <a:buFont typeface="Wingdings" pitchFamily="2" charset="2"/>
        <a:buChar char="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accent3">
            <a:lumMod val="50000"/>
          </a:schemeClr>
        </a:buClr>
        <a:buFont typeface="Wingdings" pitchFamily="2" charset="2"/>
        <a:buChar char="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457200" algn="l" defTabSz="914400" rtl="0" eaLnBrk="1" latinLnBrk="0" hangingPunct="1">
        <a:spcBef>
          <a:spcPts val="600"/>
        </a:spcBef>
        <a:buClr>
          <a:schemeClr val="accent3"/>
        </a:buClr>
        <a:buFont typeface="Wingdings" pitchFamily="2" charset="2"/>
        <a:buChar char="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457200" algn="l" defTabSz="914400" rtl="0" eaLnBrk="1" latinLnBrk="0" hangingPunct="1">
        <a:spcBef>
          <a:spcPts val="600"/>
        </a:spcBef>
        <a:buClr>
          <a:schemeClr val="accent3">
            <a:lumMod val="50000"/>
          </a:schemeClr>
        </a:buClr>
        <a:buFont typeface="Wingdings" pitchFamily="2" charset="2"/>
        <a:buChar char="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457200" algn="l" defTabSz="914400" rtl="0" eaLnBrk="1" latinLnBrk="0" hangingPunct="1">
        <a:spcBef>
          <a:spcPts val="600"/>
        </a:spcBef>
        <a:buClr>
          <a:schemeClr val="accent3"/>
        </a:buClr>
        <a:buFont typeface="Wingdings" pitchFamily="2" charset="2"/>
        <a:buChar char="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461963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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205163" indent="-461963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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0" indent="-461963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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119563" indent="-461963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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Treasury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Cash Management</a:t>
            </a:r>
          </a:p>
        </p:txBody>
      </p:sp>
    </p:spTree>
    <p:extLst>
      <p:ext uri="{BB962C8B-B14F-4D97-AF65-F5344CB8AC3E}">
        <p14:creationId xmlns:p14="http://schemas.microsoft.com/office/powerpoint/2010/main" val="837277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7E07-65FC-4B56-9A22-1FF31D8D0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B3947-55E5-4080-8E8F-7788BB72F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Management of cash resources holds central position in short term financing decisions </a:t>
            </a:r>
          </a:p>
          <a:p>
            <a:r>
              <a:rPr lang="en-GB" dirty="0"/>
              <a:t>Holding cash carries with it an opportunity cost of the profits could be made if cash was invested elsewhere</a:t>
            </a:r>
          </a:p>
          <a:p>
            <a:r>
              <a:rPr lang="en-GB" dirty="0"/>
              <a:t>Company has to balance advantages of liquidity against profitability</a:t>
            </a:r>
          </a:p>
          <a:p>
            <a:r>
              <a:rPr lang="en-GB" dirty="0"/>
              <a:t>Cash should be held until marginal value of the liquidity it gives is equal to the value of interest lost</a:t>
            </a:r>
          </a:p>
        </p:txBody>
      </p:sp>
    </p:spTree>
    <p:extLst>
      <p:ext uri="{BB962C8B-B14F-4D97-AF65-F5344CB8AC3E}">
        <p14:creationId xmlns:p14="http://schemas.microsoft.com/office/powerpoint/2010/main" val="605628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0900-3FD5-421C-820D-B91EEC709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26DC5-AAB2-4986-96F3-A30892984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Cash management is concerned with optimizing amount of cash available and maximizing the interest on surplus funds not required immediately</a:t>
            </a:r>
          </a:p>
        </p:txBody>
      </p:sp>
    </p:spTree>
    <p:extLst>
      <p:ext uri="{BB962C8B-B14F-4D97-AF65-F5344CB8AC3E}">
        <p14:creationId xmlns:p14="http://schemas.microsoft.com/office/powerpoint/2010/main" val="390402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CB20-E971-4F60-8BB5-C77E9B56E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value of Money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7B70C-6E6F-46FF-9A81-04EE00F4D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An important theme in financial management is the time value of money</a:t>
            </a:r>
          </a:p>
          <a:p>
            <a:r>
              <a:rPr lang="en-GB" dirty="0"/>
              <a:t>Cost of capital is used as a criterion in which to make decisions </a:t>
            </a:r>
          </a:p>
          <a:p>
            <a:r>
              <a:rPr lang="en-GB" dirty="0"/>
              <a:t>Interest rate vary according to the length of time of the investment</a:t>
            </a:r>
          </a:p>
          <a:p>
            <a:r>
              <a:rPr lang="en-GB" dirty="0"/>
              <a:t>Banks pay higher interest on accounts subject to longer notices of withdrawal than they do on current accounts</a:t>
            </a:r>
          </a:p>
        </p:txBody>
      </p:sp>
    </p:spTree>
    <p:extLst>
      <p:ext uri="{BB962C8B-B14F-4D97-AF65-F5344CB8AC3E}">
        <p14:creationId xmlns:p14="http://schemas.microsoft.com/office/powerpoint/2010/main" val="2400320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2E78-3DB2-4378-91F6-34D02ABCD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value of Money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741BB-B80D-42DC-8EBA-F9810B5DA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Banks charge higher interest on fluctuating overdrafts than they do on term loans</a:t>
            </a:r>
          </a:p>
          <a:p>
            <a:r>
              <a:rPr lang="en-GB" dirty="0"/>
              <a:t>Key task for treasury function is the management of the various accounts</a:t>
            </a:r>
          </a:p>
          <a:p>
            <a:r>
              <a:rPr lang="en-GB" dirty="0"/>
              <a:t> money is switched between various accounts so as to minimize aggregate costs (or maximize net income)</a:t>
            </a:r>
          </a:p>
          <a:p>
            <a:r>
              <a:rPr lang="en-GB" dirty="0"/>
              <a:t>This activity takes into account both transaction costs and interest rate differentials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710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F7DC5-4C18-4FC7-A438-D8EFEFB16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Baumol Model of Cash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3BEA1-37BE-4CA7-B7AE-D9BB478F3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Baumol model enables companies to find out their desirable level of cash balance under certainty</a:t>
            </a:r>
          </a:p>
          <a:p>
            <a:r>
              <a:rPr lang="en-GB" dirty="0"/>
              <a:t>Model relies on trade off between the liquidity provided by holding money (the ability to carry out transactions) and the interest forgone by holding assets in the form of non-interest bearing money</a:t>
            </a:r>
          </a:p>
        </p:txBody>
      </p:sp>
    </p:spTree>
    <p:extLst>
      <p:ext uri="{BB962C8B-B14F-4D97-AF65-F5344CB8AC3E}">
        <p14:creationId xmlns:p14="http://schemas.microsoft.com/office/powerpoint/2010/main" val="218870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9240A-1F38-473F-8A61-1407784DA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Baumol Model of Cash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E8B4D-D15E-4FCA-B62E-45A3D807E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key variables of the demand for money are: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The nominal interest rate (</a:t>
            </a:r>
            <a:r>
              <a:rPr lang="en-GB" dirty="0" err="1"/>
              <a:t>i</a:t>
            </a:r>
            <a:r>
              <a:rPr lang="en-GB" dirty="0"/>
              <a:t>);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The level of real income </a:t>
            </a:r>
            <a:r>
              <a:rPr lang="en-GB" dirty="0" err="1"/>
              <a:t>i.e</a:t>
            </a:r>
            <a:r>
              <a:rPr lang="en-GB" dirty="0"/>
              <a:t> amount of desired transactions 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Fixed cost of transferring assets between liquid money and interest bearing assets</a:t>
            </a:r>
          </a:p>
          <a:p>
            <a:pPr marL="514350" indent="-514350">
              <a:buFont typeface="+mj-lt"/>
              <a:buAutoNum type="romanLcPeriod"/>
            </a:pPr>
            <a:endParaRPr lang="en-GB" dirty="0"/>
          </a:p>
          <a:p>
            <a:pPr marL="514350" indent="-514350">
              <a:buFont typeface="+mj-lt"/>
              <a:buAutoNum type="romanL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435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FE87-01BA-4609-BF2B-57FEB2730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FA4F3-AC54-41D2-97E8-78CC07607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romanLcPeriod"/>
            </a:pPr>
            <a:r>
              <a:rPr lang="en-GB" dirty="0"/>
              <a:t>Cash needs of the firm are known with certainty;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Cash disbursements of the firm occurs uniformly over a period of time and is known with certainty;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Opportunity cost of holding cash is known and remains constant;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Transaction costs of converting securities into cash is known and remains constant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465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9045-811D-4813-A76B-E6C1A30C7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Formula  for Baumol’s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EC204-4142-4B02-891C-4ED7A827C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 C = √</a:t>
            </a:r>
            <a:r>
              <a:rPr lang="en-GB" u="sng" dirty="0"/>
              <a:t>2A x F</a:t>
            </a:r>
          </a:p>
          <a:p>
            <a:pPr marL="0" indent="0">
              <a:buNone/>
            </a:pPr>
            <a:r>
              <a:rPr lang="en-GB" dirty="0"/>
              <a:t>                O</a:t>
            </a:r>
          </a:p>
          <a:p>
            <a:pPr marL="0" indent="0">
              <a:buNone/>
            </a:pPr>
            <a:r>
              <a:rPr lang="en-GB" dirty="0"/>
              <a:t>Where: C = Optimum balance</a:t>
            </a:r>
          </a:p>
          <a:p>
            <a:pPr marL="0" indent="0">
              <a:buNone/>
            </a:pPr>
            <a:r>
              <a:rPr lang="en-GB" dirty="0"/>
              <a:t>               A= Annual cash disbursements</a:t>
            </a:r>
          </a:p>
          <a:p>
            <a:pPr marL="0" indent="0">
              <a:buNone/>
            </a:pPr>
            <a:r>
              <a:rPr lang="en-GB" dirty="0"/>
              <a:t>                F = Fixed costs per transaction</a:t>
            </a:r>
          </a:p>
          <a:p>
            <a:pPr marL="0" indent="0">
              <a:buNone/>
            </a:pPr>
            <a:r>
              <a:rPr lang="en-GB" dirty="0"/>
              <a:t>                O= Opportunity cost of holding cash</a:t>
            </a:r>
          </a:p>
        </p:txBody>
      </p:sp>
    </p:spTree>
    <p:extLst>
      <p:ext uri="{BB962C8B-B14F-4D97-AF65-F5344CB8AC3E}">
        <p14:creationId xmlns:p14="http://schemas.microsoft.com/office/powerpoint/2010/main" val="2138326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37323-B8C5-416C-974C-C24C6F05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3481-3D35-443D-8C52-035C25025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ABC Ltd has estimated that it will use K300,000 of cash during the next budgeted year</a:t>
            </a:r>
          </a:p>
          <a:p>
            <a:r>
              <a:rPr lang="en-GB" dirty="0"/>
              <a:t>It intends to hold cash in a commercial bank which pays interest @ 10% </a:t>
            </a:r>
            <a:r>
              <a:rPr lang="en-GB" dirty="0" err="1"/>
              <a:t>p.a</a:t>
            </a:r>
            <a:endParaRPr lang="en-GB" dirty="0"/>
          </a:p>
          <a:p>
            <a:r>
              <a:rPr lang="en-GB" dirty="0"/>
              <a:t>For each withdrawal, the company incurs expenditure of K20.</a:t>
            </a:r>
          </a:p>
          <a:p>
            <a:r>
              <a:rPr lang="en-GB" dirty="0"/>
              <a:t>What is the optimal size for each withdrawal?</a:t>
            </a:r>
          </a:p>
        </p:txBody>
      </p:sp>
    </p:spTree>
    <p:extLst>
      <p:ext uri="{BB962C8B-B14F-4D97-AF65-F5344CB8AC3E}">
        <p14:creationId xmlns:p14="http://schemas.microsoft.com/office/powerpoint/2010/main" val="175669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9D25B-3B6A-4D47-AA3D-629F72FC4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48139-CCD3-4638-A846-B39312BA0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 C= √</a:t>
            </a:r>
            <a:r>
              <a:rPr lang="en-GB" u="sng" dirty="0"/>
              <a:t>2 x 20x 300,000</a:t>
            </a:r>
          </a:p>
          <a:p>
            <a:pPr marL="0" indent="0">
              <a:buNone/>
            </a:pPr>
            <a:r>
              <a:rPr lang="en-GB" dirty="0"/>
              <a:t>                    0.1</a:t>
            </a:r>
          </a:p>
          <a:p>
            <a:pPr marL="0" indent="0">
              <a:buNone/>
            </a:pPr>
            <a:r>
              <a:rPr lang="en-GB" dirty="0"/>
              <a:t>       = K11,000</a:t>
            </a:r>
          </a:p>
          <a:p>
            <a:r>
              <a:rPr lang="en-GB" dirty="0"/>
              <a:t>Each time the firm will withdraw K11,000 from the bank. </a:t>
            </a:r>
          </a:p>
          <a:p>
            <a:r>
              <a:rPr lang="en-GB" dirty="0"/>
              <a:t>After spending the amount, the firm will withdraw a similar amount.</a:t>
            </a:r>
          </a:p>
        </p:txBody>
      </p:sp>
    </p:spTree>
    <p:extLst>
      <p:ext uri="{BB962C8B-B14F-4D97-AF65-F5344CB8AC3E}">
        <p14:creationId xmlns:p14="http://schemas.microsoft.com/office/powerpoint/2010/main" val="2924642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51C7B-5FA6-42E0-BBD9-E20319B22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FB63D-A3EE-4278-BB06-6D56215D2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number of transactions = 300,000/11000 = 27</a:t>
            </a:r>
          </a:p>
          <a:p>
            <a:r>
              <a:rPr lang="en-GB" dirty="0"/>
              <a:t>Average balance in short notice account = 11,000/2</a:t>
            </a:r>
          </a:p>
          <a:p>
            <a:pPr marL="0" indent="0">
              <a:buNone/>
            </a:pPr>
            <a:r>
              <a:rPr lang="en-GB" dirty="0"/>
              <a:t>                                                                          = K5,500</a:t>
            </a:r>
          </a:p>
          <a:p>
            <a:r>
              <a:rPr lang="en-GB" dirty="0"/>
              <a:t>  Cost of transactions= 27 x K20 = K540</a:t>
            </a:r>
          </a:p>
          <a:p>
            <a:r>
              <a:rPr lang="en-GB" dirty="0"/>
              <a:t>Opportunity cost = K5,500 x 10% = K550</a:t>
            </a:r>
          </a:p>
          <a:p>
            <a:r>
              <a:rPr lang="en-GB" dirty="0"/>
              <a:t>Total cost per annum = K540 + K550 = K1,090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821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4574E-C673-4AAB-A5D4-AC3FA8678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Miller and Orr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E7843-D64F-4B0C-98A7-ADE478E5B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M.H. Miller and Daniel Orr expanded on the Baumol model and developed a stochastic model for firms with uncertain cash inflows and outflows</a:t>
            </a:r>
          </a:p>
          <a:p>
            <a:r>
              <a:rPr lang="en-GB" dirty="0"/>
              <a:t>Baumol’s model is based on the basic assumption that the size and timing of cash flows are known with certainty</a:t>
            </a:r>
          </a:p>
          <a:p>
            <a:r>
              <a:rPr lang="en-GB" dirty="0"/>
              <a:t>The cash flows of a firm are neither uniform nor certain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522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D8B0E-487E-4128-B5A1-2BA9D042F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Miller and Orr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EC5C8-85C0-439F-943A-933F1BE49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Miller and Orr model overcomes the shortcomings of the Baumol model.</a:t>
            </a:r>
          </a:p>
          <a:p>
            <a:r>
              <a:rPr lang="en-GB" dirty="0"/>
              <a:t>Model provides two control limits i.e. the upper control limit and the lower control limit along with a return point</a:t>
            </a:r>
          </a:p>
          <a:p>
            <a:r>
              <a:rPr lang="en-GB" dirty="0"/>
              <a:t>When the cash balance reaches the upper control limit , marketable securities are purchased.  </a:t>
            </a:r>
          </a:p>
        </p:txBody>
      </p:sp>
    </p:spTree>
    <p:extLst>
      <p:ext uri="{BB962C8B-B14F-4D97-AF65-F5344CB8AC3E}">
        <p14:creationId xmlns:p14="http://schemas.microsoft.com/office/powerpoint/2010/main" val="346180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F41-7322-41D2-AB10-A4C3FCDD0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Miller and Orr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09AB0-6868-4705-88D0-3D4212D0A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the cash balance reaches the lower control limit, the firm will sell marketable securities to again return to the normal cash balance </a:t>
            </a:r>
          </a:p>
          <a:p>
            <a:r>
              <a:rPr lang="en-GB" dirty="0"/>
              <a:t>The spread between the upper and lower cash balance limits (called z) can be computed using the Miller-Orr model</a:t>
            </a:r>
          </a:p>
        </p:txBody>
      </p:sp>
    </p:spTree>
    <p:extLst>
      <p:ext uri="{BB962C8B-B14F-4D97-AF65-F5344CB8AC3E}">
        <p14:creationId xmlns:p14="http://schemas.microsoft.com/office/powerpoint/2010/main" val="321156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56F92-9CCB-4AE4-8FB1-780EA98E9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Miller- Orr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BF859-EE38-40DF-A038-BB8D537CF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 Z= 3 {</a:t>
            </a:r>
            <a:r>
              <a:rPr lang="en-GB" u="sng" dirty="0"/>
              <a:t>3</a:t>
            </a:r>
            <a:r>
              <a:rPr lang="en-GB" dirty="0"/>
              <a:t> x </a:t>
            </a:r>
            <a:r>
              <a:rPr lang="en-GB" u="sng" dirty="0"/>
              <a:t>transaction cost x variance of cash flows}</a:t>
            </a:r>
            <a:r>
              <a:rPr lang="en-GB" dirty="0"/>
              <a:t> </a:t>
            </a:r>
            <a:r>
              <a:rPr lang="en-GB" baseline="30000" dirty="0"/>
              <a:t>1/3</a:t>
            </a:r>
          </a:p>
          <a:p>
            <a:pPr marL="0" indent="0">
              <a:buNone/>
            </a:pPr>
            <a:r>
              <a:rPr lang="en-GB" dirty="0"/>
              <a:t>            4                  interest rate</a:t>
            </a:r>
          </a:p>
          <a:p>
            <a:pPr marL="0" indent="0">
              <a:buNone/>
            </a:pPr>
            <a:r>
              <a:rPr lang="en-GB" dirty="0"/>
              <a:t>And, return point = lower limit + </a:t>
            </a:r>
            <a:r>
              <a:rPr lang="en-GB" u="sng" dirty="0"/>
              <a:t>spread (Z)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                                                               3  </a:t>
            </a:r>
          </a:p>
        </p:txBody>
      </p:sp>
    </p:spTree>
    <p:extLst>
      <p:ext uri="{BB962C8B-B14F-4D97-AF65-F5344CB8AC3E}">
        <p14:creationId xmlns:p14="http://schemas.microsoft.com/office/powerpoint/2010/main" val="1938966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C97A1-C824-4B97-A2E5-E43697D89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51B21-1F45-43DD-9727-FC53CD1DE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Assume for example that:</a:t>
            </a:r>
          </a:p>
          <a:p>
            <a:r>
              <a:rPr lang="en-GB" dirty="0"/>
              <a:t>A lower control limit of K1,000 is decided upon;</a:t>
            </a:r>
          </a:p>
          <a:p>
            <a:r>
              <a:rPr lang="en-GB" dirty="0"/>
              <a:t>The interest rate is 0.025% per day</a:t>
            </a:r>
          </a:p>
          <a:p>
            <a:r>
              <a:rPr lang="en-GB" dirty="0"/>
              <a:t>The standard deviation of the daily cash flows has been measured as K500 i.e. a variance of K250,000</a:t>
            </a:r>
          </a:p>
          <a:p>
            <a:r>
              <a:rPr lang="en-GB" dirty="0"/>
              <a:t>Switching costs are K20 per transaction</a:t>
            </a:r>
          </a:p>
        </p:txBody>
      </p:sp>
    </p:spTree>
    <p:extLst>
      <p:ext uri="{BB962C8B-B14F-4D97-AF65-F5344CB8AC3E}">
        <p14:creationId xmlns:p14="http://schemas.microsoft.com/office/powerpoint/2010/main" val="268277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10EC2-2CFF-44D3-BC1E-12E7D1F27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76EBB-F4C2-432C-8E6A-3219013FE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Calculate the spread and return point</a:t>
            </a:r>
          </a:p>
        </p:txBody>
      </p:sp>
    </p:spTree>
    <p:extLst>
      <p:ext uri="{BB962C8B-B14F-4D97-AF65-F5344CB8AC3E}">
        <p14:creationId xmlns:p14="http://schemas.microsoft.com/office/powerpoint/2010/main" val="23092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99BE3-0877-4DE4-A974-8E44DCD2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ED468-BE02-4C5A-B23C-55AE6C619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Spread would be:</a:t>
            </a:r>
          </a:p>
          <a:p>
            <a:pPr marL="0" indent="0">
              <a:buNone/>
            </a:pPr>
            <a:r>
              <a:rPr lang="en-GB" dirty="0"/>
              <a:t>  Z = 3x {3/4 x </a:t>
            </a:r>
            <a:r>
              <a:rPr lang="en-GB" u="sng" dirty="0"/>
              <a:t>K20 x K250,000</a:t>
            </a:r>
            <a:r>
              <a:rPr lang="en-GB" dirty="0"/>
              <a:t>}</a:t>
            </a:r>
            <a:r>
              <a:rPr lang="en-GB" baseline="30000" dirty="0"/>
              <a:t>1/3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                           0.00025</a:t>
            </a:r>
          </a:p>
          <a:p>
            <a:pPr marL="0" indent="0">
              <a:buNone/>
            </a:pPr>
            <a:r>
              <a:rPr lang="en-GB" dirty="0"/>
              <a:t>          = K7,400</a:t>
            </a:r>
          </a:p>
          <a:p>
            <a:pPr marL="0" indent="0">
              <a:buNone/>
            </a:pPr>
            <a:r>
              <a:rPr lang="en-GB" dirty="0"/>
              <a:t>Upper limit = K1,000 + K7,4000</a:t>
            </a:r>
          </a:p>
          <a:p>
            <a:pPr marL="0" indent="0">
              <a:buNone/>
            </a:pPr>
            <a:r>
              <a:rPr lang="en-GB" dirty="0"/>
              <a:t>                      = K8,4000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985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B8C80-F01F-4E20-BFF5-9FC5E2CD1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38572-E3E6-4A0F-AE8A-3439E1E2C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Return point = K1,000 + K7400/3</a:t>
            </a:r>
          </a:p>
          <a:p>
            <a:r>
              <a:rPr lang="en-GB" dirty="0"/>
              <a:t>                        = K3,466</a:t>
            </a:r>
          </a:p>
        </p:txBody>
      </p:sp>
    </p:spTree>
    <p:extLst>
      <p:ext uri="{BB962C8B-B14F-4D97-AF65-F5344CB8AC3E}">
        <p14:creationId xmlns:p14="http://schemas.microsoft.com/office/powerpoint/2010/main" val="2662323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F9994-BA9E-4C33-AA16-B96E1285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FEF8F6-F7A2-4AE3-9C82-1B9297F94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0266" y="1438836"/>
            <a:ext cx="7770813" cy="5571564"/>
          </a:xfrm>
        </p:spPr>
      </p:pic>
    </p:spTree>
    <p:extLst>
      <p:ext uri="{BB962C8B-B14F-4D97-AF65-F5344CB8AC3E}">
        <p14:creationId xmlns:p14="http://schemas.microsoft.com/office/powerpoint/2010/main" val="2089689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DDF44-B18E-4C29-8A73-60380EE4E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MANAGING CASH SURPLUSES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FDB80-2063-40D0-AB7B-907ED3C05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Cash surpluses arise for many reasons and last for varying time periods</a:t>
            </a:r>
          </a:p>
          <a:p>
            <a:r>
              <a:rPr lang="en-GB" dirty="0"/>
              <a:t>In principle cash surplus must be returned to shareholders or used to pay down debt</a:t>
            </a:r>
          </a:p>
          <a:p>
            <a:r>
              <a:rPr lang="en-GB" dirty="0"/>
              <a:t>Cash is retained to protect against unexpected losses or to fund unexpected investment opportunities</a:t>
            </a:r>
          </a:p>
          <a:p>
            <a:r>
              <a:rPr lang="en-GB" dirty="0"/>
              <a:t>Idle cash does not generate any income unless invested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178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186C-725E-4326-A362-8B5E537FA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Points to note when investing surplus cash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3670F-ACBC-412D-A18E-D71D0246D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GB" dirty="0"/>
              <a:t>Length of time for which funds are available;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Amount of funds available;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Return offered on investment in relation to amount;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Risks associated with calling in investment early;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Ease of realization</a:t>
            </a:r>
          </a:p>
        </p:txBody>
      </p:sp>
    </p:spTree>
    <p:extLst>
      <p:ext uri="{BB962C8B-B14F-4D97-AF65-F5344CB8AC3E}">
        <p14:creationId xmlns:p14="http://schemas.microsoft.com/office/powerpoint/2010/main" val="248793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A32D-6320-4BE3-808B-0EB606674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Short Term Investments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E8A83-C1C1-43B8-891B-C5C396098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GB" dirty="0"/>
              <a:t>Treasury bills </a:t>
            </a:r>
          </a:p>
          <a:p>
            <a:r>
              <a:rPr lang="en-GB" dirty="0"/>
              <a:t> short term debt instruments issued by the government to raise funds. </a:t>
            </a:r>
          </a:p>
          <a:p>
            <a:r>
              <a:rPr lang="en-GB" dirty="0"/>
              <a:t>Issued at discount to face value</a:t>
            </a:r>
          </a:p>
          <a:p>
            <a:r>
              <a:rPr lang="en-GB" dirty="0"/>
              <a:t>Offer good liquidity</a:t>
            </a:r>
          </a:p>
          <a:p>
            <a:r>
              <a:rPr lang="en-GB" dirty="0"/>
              <a:t>Fixed maturity period </a:t>
            </a:r>
          </a:p>
        </p:txBody>
      </p:sp>
    </p:spTree>
    <p:extLst>
      <p:ext uri="{BB962C8B-B14F-4D97-AF65-F5344CB8AC3E}">
        <p14:creationId xmlns:p14="http://schemas.microsoft.com/office/powerpoint/2010/main" val="3604945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E71B-CB18-416C-B667-C03CE0908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Calculating Return on TB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16675-DC85-4585-AE90-4E01D2AFF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Yield = 100- price/price x 100</a:t>
            </a:r>
          </a:p>
          <a:p>
            <a:r>
              <a:rPr lang="en-GB" dirty="0"/>
              <a:t>Annualized return = yield x 365/days to maturity</a:t>
            </a:r>
          </a:p>
          <a:p>
            <a:pPr marL="0" indent="0">
              <a:buNone/>
            </a:pPr>
            <a:r>
              <a:rPr lang="en-GB" dirty="0"/>
              <a:t>Example</a:t>
            </a:r>
          </a:p>
          <a:p>
            <a:r>
              <a:rPr lang="en-GB" dirty="0"/>
              <a:t>Suppose you buy a 91 day TB for K99. Calculate the yield on the TB.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1023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4E12-55AC-4559-869F-DFECC1DE0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38B28-8D26-4792-87BA-890D33810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Yield = 100-99/99 x 100 = 1.01%</a:t>
            </a:r>
          </a:p>
          <a:p>
            <a:r>
              <a:rPr lang="en-GB" dirty="0"/>
              <a:t>Annualized yield = 1.01% x 365/91 =  4.05%</a:t>
            </a:r>
          </a:p>
          <a:p>
            <a:r>
              <a:rPr lang="en-GB" dirty="0"/>
              <a:t>This is the return that you compare with other types of investments.</a:t>
            </a:r>
          </a:p>
        </p:txBody>
      </p:sp>
    </p:spTree>
    <p:extLst>
      <p:ext uri="{BB962C8B-B14F-4D97-AF65-F5344CB8AC3E}">
        <p14:creationId xmlns:p14="http://schemas.microsoft.com/office/powerpoint/2010/main" val="3447798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ED2B9-A1BF-4F1C-8E13-77B9EE303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Short Term Investments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C8F44-9E4F-4642-A7F9-138ACE0AD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2. Call deposits</a:t>
            </a:r>
          </a:p>
          <a:p>
            <a:r>
              <a:rPr lang="en-GB" dirty="0"/>
              <a:t>Current accounts that pay interest</a:t>
            </a:r>
          </a:p>
          <a:p>
            <a:r>
              <a:rPr lang="en-GB" dirty="0"/>
              <a:t>Notice period required to withdraw</a:t>
            </a:r>
          </a:p>
          <a:p>
            <a:r>
              <a:rPr lang="en-GB" dirty="0"/>
              <a:t>Other features of current account remain the same i.e. cheque book, overdraft, unlimited transactions etc</a:t>
            </a:r>
          </a:p>
        </p:txBody>
      </p:sp>
    </p:spTree>
    <p:extLst>
      <p:ext uri="{BB962C8B-B14F-4D97-AF65-F5344CB8AC3E}">
        <p14:creationId xmlns:p14="http://schemas.microsoft.com/office/powerpoint/2010/main" val="237366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37278-F6FE-4AD3-86A0-698AADEC3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Short Term Investments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C04BE-00DA-46FD-B62A-64FF44AC8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3. Term deposits</a:t>
            </a:r>
          </a:p>
          <a:p>
            <a:r>
              <a:rPr lang="en-GB" dirty="0"/>
              <a:t>Allow customer to keep fixed amount of money for fixed period e.g. 30, 60, 90 day etc</a:t>
            </a:r>
          </a:p>
          <a:p>
            <a:r>
              <a:rPr lang="en-GB" dirty="0"/>
              <a:t>Fixed interest paid depending on period and amount i.e. tiered rates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0758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3F4C6-BD1B-405C-82E7-7088EDF39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Short Term Investments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E0DF-DDA1-4C7F-804B-BC2B9A80B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4. Certificates of deposit</a:t>
            </a:r>
          </a:p>
          <a:p>
            <a:r>
              <a:rPr lang="en-GB" dirty="0"/>
              <a:t>Issued by commercial banks at fixed interest rates</a:t>
            </a:r>
          </a:p>
          <a:p>
            <a:r>
              <a:rPr lang="en-GB" dirty="0"/>
              <a:t>Realized on the discount market at any time</a:t>
            </a:r>
          </a:p>
          <a:p>
            <a:pPr marL="0" indent="0">
              <a:buNone/>
            </a:pPr>
            <a:r>
              <a:rPr lang="en-GB" dirty="0"/>
              <a:t>5. Money market accounts</a:t>
            </a:r>
          </a:p>
          <a:p>
            <a:r>
              <a:rPr lang="en-GB" dirty="0"/>
              <a:t>Allows investment in the money markets at variable rates of interest</a:t>
            </a:r>
          </a:p>
        </p:txBody>
      </p:sp>
    </p:spTree>
    <p:extLst>
      <p:ext uri="{BB962C8B-B14F-4D97-AF65-F5344CB8AC3E}">
        <p14:creationId xmlns:p14="http://schemas.microsoft.com/office/powerpoint/2010/main" val="1373262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DD9BD-6701-48A5-9C23-3C38D4888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Overdrafts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748C1-0E45-4DD6-A285-CF7B92B8E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important source of short term finance for businesses</a:t>
            </a:r>
          </a:p>
          <a:p>
            <a:r>
              <a:rPr lang="en-GB" dirty="0"/>
              <a:t>A short term advance granted to customer with a current account</a:t>
            </a:r>
          </a:p>
          <a:p>
            <a:r>
              <a:rPr lang="en-GB" dirty="0"/>
              <a:t>Repayable within 12 months</a:t>
            </a:r>
          </a:p>
          <a:p>
            <a:r>
              <a:rPr lang="en-GB" dirty="0"/>
              <a:t>Allows customer to draw funds </a:t>
            </a:r>
            <a:r>
              <a:rPr lang="en-GB" dirty="0" err="1"/>
              <a:t>upto</a:t>
            </a:r>
            <a:r>
              <a:rPr lang="en-GB" dirty="0"/>
              <a:t> agreed limit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2613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1CF02-2791-41D8-823A-B30CD63A8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Overdrafts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84FD0-6298-46D7-8B8D-83176999D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Debit interest charged on daily balance outstanding </a:t>
            </a:r>
          </a:p>
          <a:p>
            <a:r>
              <a:rPr lang="en-GB" dirty="0"/>
              <a:t>Used by companies for working capital purposes and by individuals to meet expected salary payments and purchase consumer goods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528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5C3F6-D74E-4549-A788-8AF60DF6C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Advantages of Overdrafts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4E53E-B787-4DAA-B138-50906CEDF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romanLcPeriod"/>
            </a:pPr>
            <a:r>
              <a:rPr lang="en-GB" dirty="0"/>
              <a:t>Flexibility</a:t>
            </a:r>
          </a:p>
          <a:p>
            <a:r>
              <a:rPr lang="en-GB" dirty="0"/>
              <a:t>Customer may draw funds only when required</a:t>
            </a:r>
          </a:p>
          <a:p>
            <a:pPr marL="0" indent="0">
              <a:buNone/>
            </a:pPr>
            <a:r>
              <a:rPr lang="en-GB" dirty="0"/>
              <a:t>ii. Minimum documentation</a:t>
            </a:r>
          </a:p>
          <a:p>
            <a:r>
              <a:rPr lang="en-GB" dirty="0"/>
              <a:t>Legal documentation is fairly minimal when arranging an overdraft</a:t>
            </a:r>
          </a:p>
        </p:txBody>
      </p:sp>
    </p:spTree>
    <p:extLst>
      <p:ext uri="{BB962C8B-B14F-4D97-AF65-F5344CB8AC3E}">
        <p14:creationId xmlns:p14="http://schemas.microsoft.com/office/powerpoint/2010/main" val="387146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F300-6E54-48EA-B15A-F46803F2A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Advantages of Overdrafts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05181-1D8F-41E3-87A9-E361FD1C6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iii. Interest</a:t>
            </a:r>
          </a:p>
          <a:p>
            <a:r>
              <a:rPr lang="en-GB" dirty="0"/>
              <a:t>Paid on overdrawn amount rather than full facility</a:t>
            </a:r>
          </a:p>
          <a:p>
            <a:r>
              <a:rPr lang="en-GB" dirty="0"/>
              <a:t>If secured lower rate may be available because of lower risk to lender</a:t>
            </a:r>
          </a:p>
        </p:txBody>
      </p:sp>
    </p:spTree>
    <p:extLst>
      <p:ext uri="{BB962C8B-B14F-4D97-AF65-F5344CB8AC3E}">
        <p14:creationId xmlns:p14="http://schemas.microsoft.com/office/powerpoint/2010/main" val="2048690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97676-A13B-428A-A956-D96E40557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Disadvantages of overdrafts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FDB2C-8D61-4237-9458-8B3CAAA3F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GB" dirty="0"/>
              <a:t>Facility is repayable on demand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Bank will demand collateral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Borrower exposed to interest rate fluctuations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Interest rate charged varies according to perceived risk</a:t>
            </a:r>
          </a:p>
        </p:txBody>
      </p:sp>
    </p:spTree>
    <p:extLst>
      <p:ext uri="{BB962C8B-B14F-4D97-AF65-F5344CB8AC3E}">
        <p14:creationId xmlns:p14="http://schemas.microsoft.com/office/powerpoint/2010/main" val="23987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Folio">
  <a:themeElements>
    <a:clrScheme name="Folio">
      <a:dk1>
        <a:sysClr val="windowText" lastClr="000000"/>
      </a:dk1>
      <a:lt1>
        <a:sysClr val="window" lastClr="FFFFFF"/>
      </a:lt1>
      <a:dk2>
        <a:srgbClr val="2D2F2B"/>
      </a:dk2>
      <a:lt2>
        <a:srgbClr val="DEDED7"/>
      </a:lt2>
      <a:accent1>
        <a:srgbClr val="294171"/>
      </a:accent1>
      <a:accent2>
        <a:srgbClr val="748CBC"/>
      </a:accent2>
      <a:accent3>
        <a:srgbClr val="8E887C"/>
      </a:accent3>
      <a:accent4>
        <a:srgbClr val="834736"/>
      </a:accent4>
      <a:accent5>
        <a:srgbClr val="5A1705"/>
      </a:accent5>
      <a:accent6>
        <a:srgbClr val="A0A16A"/>
      </a:accent6>
      <a:hlink>
        <a:srgbClr val="74B6BC"/>
      </a:hlink>
      <a:folHlink>
        <a:srgbClr val="7F95A4"/>
      </a:folHlink>
    </a:clrScheme>
    <a:fontScheme name="Folio">
      <a:majorFont>
        <a:latin typeface="Calisto MT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Calisto MT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Folio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350000"/>
                <a:lumMod val="11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40000"/>
                <a:satMod val="120000"/>
              </a:schemeClr>
              <a:schemeClr val="phClr">
                <a:tint val="70000"/>
                <a:satMod val="300000"/>
                <a:lumMod val="110000"/>
              </a:schemeClr>
            </a:duotone>
          </a:blip>
          <a:tile tx="0" ty="0" sx="50000" sy="50000" flip="none" algn="tl"/>
        </a:blip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8100" dist="25400" dir="5400000" algn="br" rotWithShape="0">
              <a:srgbClr val="000000">
                <a:alpha val="50000"/>
              </a:srgbClr>
            </a:outerShdw>
          </a:effectLst>
        </a:effectStyle>
        <a:effectStyle>
          <a:effectLst>
            <a:innerShdw blurRad="190500" dist="25400">
              <a:srgbClr val="000000">
                <a:alpha val="50000"/>
              </a:srgbClr>
            </a:innerShdw>
          </a:effectLst>
        </a:effectStyle>
      </a:effectStyleLst>
      <a:bgFillStyleLst>
        <a:blipFill rotWithShape="1">
          <a:blip xmlns:r="http://schemas.openxmlformats.org/officeDocument/2006/relationships" r:embed="rId3">
            <a:duotone>
              <a:schemeClr val="phClr">
                <a:shade val="10000"/>
                <a:satMod val="125000"/>
              </a:schemeClr>
              <a:schemeClr val="phClr">
                <a:tint val="70000"/>
                <a:satMod val="350000"/>
                <a:lumMod val="11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10000"/>
                <a:satMod val="125000"/>
              </a:schemeClr>
              <a:schemeClr val="phClr">
                <a:tint val="70000"/>
                <a:satMod val="350000"/>
                <a:lumMod val="110000"/>
              </a:schemeClr>
            </a:duotone>
          </a:blip>
          <a:stretch/>
        </a:blipFill>
        <a:blipFill rotWithShape="1">
          <a:blip xmlns:r="http://schemas.openxmlformats.org/officeDocument/2006/relationships" r:embed="rId5">
            <a:duotone>
              <a:schemeClr val="phClr">
                <a:shade val="3000"/>
                <a:lumMod val="10000"/>
              </a:schemeClr>
              <a:schemeClr val="phClr">
                <a:tint val="91000"/>
                <a:satMod val="500000"/>
                <a:lumMod val="125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Folio.thmx</Template>
  <TotalTime>2511</TotalTime>
  <Words>1291</Words>
  <Application>Microsoft Office PowerPoint</Application>
  <PresentationFormat>On-screen Show (4:3)</PresentationFormat>
  <Paragraphs>154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Calisto MT</vt:lpstr>
      <vt:lpstr>Wingdings</vt:lpstr>
      <vt:lpstr>Folio</vt:lpstr>
      <vt:lpstr>Treasury Management</vt:lpstr>
      <vt:lpstr>Introduction</vt:lpstr>
      <vt:lpstr>Introduction</vt:lpstr>
      <vt:lpstr>Time value of Money</vt:lpstr>
      <vt:lpstr>Time value of Money</vt:lpstr>
      <vt:lpstr>Baumol Model of Cash Management</vt:lpstr>
      <vt:lpstr>Baumol Model of Cash Management</vt:lpstr>
      <vt:lpstr>Assumptions</vt:lpstr>
      <vt:lpstr>Formula  for Baumol’s model</vt:lpstr>
      <vt:lpstr>Example</vt:lpstr>
      <vt:lpstr>Solution</vt:lpstr>
      <vt:lpstr>Solution</vt:lpstr>
      <vt:lpstr>Miller and Orr Model</vt:lpstr>
      <vt:lpstr>Miller and Orr Model</vt:lpstr>
      <vt:lpstr>Miller and Orr Model</vt:lpstr>
      <vt:lpstr>Miller- Orr Formula</vt:lpstr>
      <vt:lpstr>Example</vt:lpstr>
      <vt:lpstr>Example</vt:lpstr>
      <vt:lpstr>solution</vt:lpstr>
      <vt:lpstr>solution</vt:lpstr>
      <vt:lpstr>PowerPoint Presentation</vt:lpstr>
      <vt:lpstr>MANAGING CASH SURPLUSES</vt:lpstr>
      <vt:lpstr>Points to note when investing surplus cash</vt:lpstr>
      <vt:lpstr>Short Term Investments</vt:lpstr>
      <vt:lpstr>Calculating Return on TB</vt:lpstr>
      <vt:lpstr>Solution</vt:lpstr>
      <vt:lpstr>Short Term Investments</vt:lpstr>
      <vt:lpstr>Short Term Investments</vt:lpstr>
      <vt:lpstr>Short Term Investments</vt:lpstr>
      <vt:lpstr>Overdrafts</vt:lpstr>
      <vt:lpstr>Overdrafts</vt:lpstr>
      <vt:lpstr>Advantages of Overdrafts </vt:lpstr>
      <vt:lpstr>Advantages of Overdrafts </vt:lpstr>
      <vt:lpstr>Disadvantages of overdrafts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BFS 322</dc:title>
  <dc:creator>Webster Sikazwe</dc:creator>
  <cp:lastModifiedBy>Webster Sikazwe</cp:lastModifiedBy>
  <cp:revision>167</cp:revision>
  <dcterms:created xsi:type="dcterms:W3CDTF">2018-08-06T09:52:02Z</dcterms:created>
  <dcterms:modified xsi:type="dcterms:W3CDTF">2020-09-07T10:26:13Z</dcterms:modified>
</cp:coreProperties>
</file>