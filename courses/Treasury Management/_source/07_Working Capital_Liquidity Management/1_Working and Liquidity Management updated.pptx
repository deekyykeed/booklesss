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7" r:id="rId1"/>
  </p:sldMasterIdLst>
  <p:sldIdLst>
    <p:sldId id="256" r:id="rId2"/>
    <p:sldId id="317" r:id="rId3"/>
    <p:sldId id="257" r:id="rId4"/>
    <p:sldId id="258" r:id="rId5"/>
    <p:sldId id="259" r:id="rId6"/>
    <p:sldId id="260" r:id="rId7"/>
    <p:sldId id="262" r:id="rId8"/>
    <p:sldId id="263" r:id="rId9"/>
    <p:sldId id="261" r:id="rId10"/>
    <p:sldId id="264" r:id="rId11"/>
    <p:sldId id="265" r:id="rId12"/>
    <p:sldId id="266" r:id="rId13"/>
    <p:sldId id="267" r:id="rId14"/>
    <p:sldId id="307" r:id="rId15"/>
    <p:sldId id="306" r:id="rId16"/>
    <p:sldId id="308" r:id="rId17"/>
    <p:sldId id="309" r:id="rId18"/>
    <p:sldId id="310" r:id="rId19"/>
    <p:sldId id="311" r:id="rId20"/>
    <p:sldId id="312" r:id="rId21"/>
    <p:sldId id="313" r:id="rId22"/>
    <p:sldId id="268" r:id="rId23"/>
    <p:sldId id="269" r:id="rId24"/>
    <p:sldId id="270" r:id="rId25"/>
    <p:sldId id="292" r:id="rId26"/>
    <p:sldId id="293" r:id="rId27"/>
    <p:sldId id="294" r:id="rId28"/>
    <p:sldId id="295" r:id="rId29"/>
    <p:sldId id="296" r:id="rId30"/>
    <p:sldId id="297" r:id="rId31"/>
    <p:sldId id="298" r:id="rId32"/>
    <p:sldId id="299" r:id="rId33"/>
    <p:sldId id="300" r:id="rId34"/>
    <p:sldId id="301" r:id="rId35"/>
    <p:sldId id="302" r:id="rId36"/>
    <p:sldId id="303" r:id="rId37"/>
    <p:sldId id="276" r:id="rId38"/>
    <p:sldId id="277" r:id="rId39"/>
    <p:sldId id="278" r:id="rId40"/>
    <p:sldId id="279" r:id="rId41"/>
    <p:sldId id="280" r:id="rId42"/>
    <p:sldId id="281" r:id="rId43"/>
    <p:sldId id="282" r:id="rId44"/>
    <p:sldId id="283" r:id="rId45"/>
    <p:sldId id="285" r:id="rId46"/>
    <p:sldId id="286" r:id="rId47"/>
    <p:sldId id="287" r:id="rId48"/>
    <p:sldId id="288" r:id="rId49"/>
    <p:sldId id="289" r:id="rId50"/>
    <p:sldId id="290" r:id="rId51"/>
    <p:sldId id="291" r:id="rId52"/>
    <p:sldId id="305" r:id="rId53"/>
    <p:sldId id="314" r:id="rId54"/>
    <p:sldId id="316" r:id="rId55"/>
    <p:sldId id="315" r:id="rId5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autoAdjust="0"/>
    <p:restoredTop sz="94675" autoAdjust="0"/>
  </p:normalViewPr>
  <p:slideViewPr>
    <p:cSldViewPr snapToGrid="0" snapToObjects="1">
      <p:cViewPr varScale="1">
        <p:scale>
          <a:sx n="65" d="100"/>
          <a:sy n="65" d="100"/>
        </p:scale>
        <p:origin x="1536"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627094"/>
            <a:ext cx="7772400" cy="1470025"/>
          </a:xfrm>
        </p:spPr>
        <p:txBody>
          <a:bodyPr anchor="b" anchorCtr="0"/>
          <a:lstStyle>
            <a:lvl1pPr>
              <a:defRPr sz="5400">
                <a:gradFill>
                  <a:gsLst>
                    <a:gs pos="0">
                      <a:schemeClr val="tx2"/>
                    </a:gs>
                    <a:gs pos="100000">
                      <a:schemeClr val="tx2">
                        <a:lumMod val="75000"/>
                      </a:schemeClr>
                    </a:gs>
                  </a:gsLst>
                  <a:lin ang="5400000" scaled="0"/>
                </a:gradFill>
                <a:effectLst>
                  <a:outerShdw blurRad="50800" dist="25400" dir="5400000" algn="t" rotWithShape="0">
                    <a:prstClr val="black">
                      <a:alpha val="40000"/>
                    </a:prstClr>
                  </a:outerShdw>
                </a:effectLst>
              </a:defRPr>
            </a:lvl1pPr>
          </a:lstStyle>
          <a:p>
            <a:r>
              <a:rPr lang="en-US"/>
              <a:t>Click to edit Master title style</a:t>
            </a:r>
            <a:endParaRPr/>
          </a:p>
        </p:txBody>
      </p:sp>
      <p:sp>
        <p:nvSpPr>
          <p:cNvPr id="3" name="Subtitle 2"/>
          <p:cNvSpPr>
            <a:spLocks noGrp="1"/>
          </p:cNvSpPr>
          <p:nvPr>
            <p:ph type="subTitle" idx="1"/>
          </p:nvPr>
        </p:nvSpPr>
        <p:spPr>
          <a:xfrm>
            <a:off x="685801" y="3810000"/>
            <a:ext cx="7770812" cy="1752600"/>
          </a:xfrm>
        </p:spPr>
        <p:txBody>
          <a:bodyPr>
            <a:normAutofit/>
          </a:bodyPr>
          <a:lstStyle>
            <a:lvl1pPr marL="0" indent="0" algn="ctr">
              <a:spcBef>
                <a:spcPts val="300"/>
              </a:spcBef>
              <a:buNone/>
              <a:defRPr sz="1600">
                <a:gradFill>
                  <a:gsLst>
                    <a:gs pos="0">
                      <a:schemeClr val="tx2"/>
                    </a:gs>
                    <a:gs pos="100000">
                      <a:schemeClr val="tx2">
                        <a:lumMod val="75000"/>
                      </a:schemeClr>
                    </a:gs>
                  </a:gsLst>
                  <a:lin ang="5400000" scaled="0"/>
                </a:gradFill>
                <a:effectLst>
                  <a:outerShdw blurRad="50800" dist="38100" dir="5400000" algn="t" rotWithShape="0">
                    <a:prstClr val="black">
                      <a:alpha val="40000"/>
                    </a:prst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p>
            <a:fld id="{1CDB690E-D504-EE46-BF09-1B8B105CE4C6}" type="datetimeFigureOut">
              <a:rPr lang="en-US" smtClean="0"/>
              <a:t>2/9/2023</a:t>
            </a:fld>
            <a:endParaRPr lang="en-US"/>
          </a:p>
        </p:txBody>
      </p:sp>
      <p:sp>
        <p:nvSpPr>
          <p:cNvPr id="5" name="Footer Placeholder 4"/>
          <p:cNvSpPr>
            <a:spLocks noGrp="1"/>
          </p:cNvSpPr>
          <p:nvPr>
            <p:ph type="ftr" sz="quarter" idx="11"/>
          </p:nvPr>
        </p:nvSpPr>
        <p:spPr/>
        <p:txBody>
          <a:bodyPr/>
          <a:lstStyle/>
          <a:p>
            <a:endParaRPr lang="en-US"/>
          </a:p>
        </p:txBody>
      </p:sp>
      <p:pic>
        <p:nvPicPr>
          <p:cNvPr id="7" name="Picture 6" descr="CoverGlyph.png"/>
          <p:cNvPicPr>
            <a:picLocks noChangeAspect="1"/>
          </p:cNvPicPr>
          <p:nvPr/>
        </p:nvPicPr>
        <p:blipFill>
          <a:blip r:embed="rId2"/>
          <a:stretch>
            <a:fillRect/>
          </a:stretch>
        </p:blipFill>
        <p:spPr>
          <a:xfrm>
            <a:off x="4010025" y="3048000"/>
            <a:ext cx="1123950" cy="771525"/>
          </a:xfrm>
          <a:prstGeom prst="rect">
            <a:avLst/>
          </a:prstGeom>
        </p:spPr>
      </p:pic>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1CDB690E-D504-EE46-BF09-1B8B105CE4C6}" type="datetimeFigureOut">
              <a:rPr lang="en-US" smtClean="0"/>
              <a:t>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6D9AA8-3163-9341-B184-8747F5D2BF21}" type="slidenum">
              <a:rPr lang="en-US" smtClean="0"/>
              <a:t>‹#›</a:t>
            </a:fld>
            <a:endParaRPr lang="en-US"/>
          </a:p>
        </p:txBody>
      </p:sp>
      <p:pic>
        <p:nvPicPr>
          <p:cNvPr id="8" name="Picture 2" descr="HR-Glyph-R3.png"/>
          <p:cNvPicPr>
            <a:picLocks noChangeAspect="1" noChangeArrowheads="1"/>
          </p:cNvPicPr>
          <p:nvPr/>
        </p:nvPicPr>
        <p:blipFill>
          <a:blip r:embed="rId2" cstate="print"/>
          <a:srcRect/>
          <a:stretch>
            <a:fillRect/>
          </a:stretch>
        </p:blipFill>
        <p:spPr bwMode="auto">
          <a:xfrm>
            <a:off x="3749040" y="1658992"/>
            <a:ext cx="1645920" cy="170411"/>
          </a:xfrm>
          <a:prstGeom prst="rect">
            <a:avLst/>
          </a:prstGeom>
          <a:noFill/>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626440"/>
            <a:ext cx="7770813" cy="1472184"/>
          </a:xfrm>
        </p:spPr>
        <p:txBody>
          <a:bodyPr anchor="b" anchorCtr="0"/>
          <a:lstStyle>
            <a:lvl1pPr algn="ctr">
              <a:defRPr sz="5400" b="0" i="0" cap="none" baseline="0"/>
            </a:lvl1pPr>
          </a:lstStyle>
          <a:p>
            <a:r>
              <a:rPr lang="en-US"/>
              <a:t>Click to edit Master title style</a:t>
            </a:r>
            <a:endParaRPr/>
          </a:p>
        </p:txBody>
      </p:sp>
      <p:sp>
        <p:nvSpPr>
          <p:cNvPr id="3" name="Text Placeholder 2"/>
          <p:cNvSpPr>
            <a:spLocks noGrp="1"/>
          </p:cNvSpPr>
          <p:nvPr>
            <p:ph type="body" idx="1"/>
          </p:nvPr>
        </p:nvSpPr>
        <p:spPr>
          <a:xfrm>
            <a:off x="685800" y="3813048"/>
            <a:ext cx="7770813" cy="1755648"/>
          </a:xfrm>
        </p:spPr>
        <p:txBody>
          <a:bodyPr anchor="t" anchorCtr="0">
            <a:normAutofit/>
          </a:bodyPr>
          <a:lstStyle>
            <a:lvl1pPr marL="0" indent="0" algn="ctr">
              <a:spcBef>
                <a:spcPts val="30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DB690E-D504-EE46-BF09-1B8B105CE4C6}" type="datetimeFigureOut">
              <a:rPr lang="en-US" smtClean="0"/>
              <a:t>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6D9AA8-3163-9341-B184-8747F5D2BF21}" type="slidenum">
              <a:rPr lang="en-US" smtClean="0"/>
              <a:t>‹#›</a:t>
            </a:fld>
            <a:endParaRPr lang="en-US"/>
          </a:p>
        </p:txBody>
      </p:sp>
      <p:pic>
        <p:nvPicPr>
          <p:cNvPr id="7" name="Picture 6" descr="Glyph-SectionHeader.png"/>
          <p:cNvPicPr>
            <a:picLocks noChangeAspect="1"/>
          </p:cNvPicPr>
          <p:nvPr/>
        </p:nvPicPr>
        <p:blipFill>
          <a:blip r:embed="rId2"/>
          <a:stretch>
            <a:fillRect/>
          </a:stretch>
        </p:blipFill>
        <p:spPr>
          <a:xfrm>
            <a:off x="4038600" y="3174066"/>
            <a:ext cx="1066800" cy="59055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85800" y="2209801"/>
            <a:ext cx="3657600" cy="3657600"/>
          </a:xfrm>
        </p:spPr>
        <p:txBody>
          <a:bodyPr>
            <a:normAutofit/>
          </a:bodyPr>
          <a:lstStyle>
            <a:lvl1pPr>
              <a:defRPr sz="2200"/>
            </a:lvl1pPr>
            <a:lvl2pPr>
              <a:defRPr sz="2000"/>
            </a:lvl2pPr>
            <a:lvl3pPr>
              <a:defRPr sz="1800"/>
            </a:lvl3pPr>
            <a:lvl4pPr>
              <a:defRPr sz="1800"/>
            </a:lvl4pPr>
            <a:lvl5pPr>
              <a:defRPr sz="1800"/>
            </a:lvl5pPr>
            <a:lvl6pPr marL="2290763" indent="-461963">
              <a:defRPr sz="1800"/>
            </a:lvl6pPr>
            <a:lvl7pPr marL="2290763" indent="-461963">
              <a:defRPr sz="1800"/>
            </a:lvl7pPr>
            <a:lvl8pPr marL="2290763" indent="-461963">
              <a:defRPr sz="1800"/>
            </a:lvl8pPr>
            <a:lvl9pPr marL="2290763" indent="-461963">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4800600" y="2209801"/>
            <a:ext cx="3657600" cy="3657600"/>
          </a:xfrm>
        </p:spPr>
        <p:txBody>
          <a:bodyPr>
            <a:normAutofit/>
          </a:bodyPr>
          <a:lstStyle>
            <a:lvl1pPr>
              <a:defRPr sz="2200"/>
            </a:lvl1pPr>
            <a:lvl2pPr>
              <a:defRPr sz="2000"/>
            </a:lvl2pPr>
            <a:lvl3pPr>
              <a:defRPr sz="1800"/>
            </a:lvl3pPr>
            <a:lvl4pPr>
              <a:defRPr sz="1800"/>
            </a:lvl4pPr>
            <a:lvl5pPr>
              <a:defRPr sz="1800"/>
            </a:lvl5pPr>
            <a:lvl6pPr marL="2290763" indent="-461963">
              <a:defRPr sz="1800"/>
            </a:lvl6pPr>
            <a:lvl7pPr marL="2290763" indent="-461963">
              <a:defRPr sz="1800"/>
            </a:lvl7pPr>
            <a:lvl8pPr marL="2290763" indent="-461963">
              <a:defRPr sz="1800"/>
            </a:lvl8pPr>
            <a:lvl9pPr marL="2290763" indent="-461963">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1CDB690E-D504-EE46-BF09-1B8B105CE4C6}" type="datetimeFigureOut">
              <a:rPr lang="en-US" smtClean="0"/>
              <a:t>2/9/2023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6D9AA8-3163-9341-B184-8747F5D2BF21}" type="slidenum">
              <a:rPr lang="en-US" smtClean="0"/>
              <a:t>‹#›</a:t>
            </a:fld>
            <a:endParaRPr lang="en-US"/>
          </a:p>
        </p:txBody>
      </p:sp>
      <p:pic>
        <p:nvPicPr>
          <p:cNvPr id="9" name="Picture 2" descr="HR-Glyph-R3.png"/>
          <p:cNvPicPr>
            <a:picLocks noChangeAspect="1" noChangeArrowheads="1"/>
          </p:cNvPicPr>
          <p:nvPr/>
        </p:nvPicPr>
        <p:blipFill>
          <a:blip r:embed="rId2" cstate="print"/>
          <a:srcRect/>
          <a:stretch>
            <a:fillRect/>
          </a:stretch>
        </p:blipFill>
        <p:spPr bwMode="auto">
          <a:xfrm>
            <a:off x="3749040" y="1658992"/>
            <a:ext cx="1645920" cy="170411"/>
          </a:xfrm>
          <a:prstGeom prst="rect">
            <a:avLst/>
          </a:prstGeom>
          <a:noFill/>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685800" y="2027238"/>
            <a:ext cx="3657600" cy="639762"/>
          </a:xfrm>
        </p:spPr>
        <p:txBody>
          <a:bodyPr anchor="ctr" anchorCtr="0"/>
          <a:lstStyle>
            <a:lvl1pPr marL="0" indent="0" algn="ctr">
              <a:spcBef>
                <a:spcPts val="300"/>
              </a:spcBef>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2819400"/>
            <a:ext cx="3657600" cy="3048000"/>
          </a:xfrm>
        </p:spPr>
        <p:txBody>
          <a:bodyPr>
            <a:normAutofit/>
          </a:bodyPr>
          <a:lstStyle>
            <a:lvl1pPr>
              <a:defRPr sz="2000"/>
            </a:lvl1pPr>
            <a:lvl2pPr>
              <a:defRPr sz="1800"/>
            </a:lvl2pPr>
            <a:lvl3pPr>
              <a:defRPr sz="1800"/>
            </a:lvl3pPr>
            <a:lvl4pPr>
              <a:defRPr sz="1800"/>
            </a:lvl4pPr>
            <a:lvl5pPr>
              <a:defRPr sz="1800"/>
            </a:lvl5pPr>
            <a:lvl6pPr marL="2290763" indent="-461963">
              <a:defRPr sz="1600"/>
            </a:lvl6pPr>
            <a:lvl7pPr marL="2290763" indent="-461963">
              <a:defRPr sz="1600"/>
            </a:lvl7pPr>
            <a:lvl8pPr marL="2290763" indent="-461963">
              <a:defRPr sz="1600"/>
            </a:lvl8pPr>
            <a:lvl9pPr marL="2290763" indent="-461963">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p:nvPr>
        </p:nvSpPr>
        <p:spPr>
          <a:xfrm>
            <a:off x="4800600" y="2027238"/>
            <a:ext cx="3657600" cy="639762"/>
          </a:xfrm>
        </p:spPr>
        <p:txBody>
          <a:bodyPr anchor="ctr" anchorCtr="0"/>
          <a:lstStyle>
            <a:lvl1pPr marL="0" indent="0" algn="ctr">
              <a:spcBef>
                <a:spcPts val="300"/>
              </a:spcBef>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800600" y="2819400"/>
            <a:ext cx="3657600" cy="3048000"/>
          </a:xfrm>
        </p:spPr>
        <p:txBody>
          <a:bodyPr>
            <a:normAutofit/>
          </a:bodyPr>
          <a:lstStyle>
            <a:lvl1pPr>
              <a:defRPr sz="2000"/>
            </a:lvl1pPr>
            <a:lvl2pPr>
              <a:defRPr sz="1800"/>
            </a:lvl2pPr>
            <a:lvl3pPr>
              <a:defRPr sz="1800"/>
            </a:lvl3pPr>
            <a:lvl4pPr>
              <a:defRPr sz="1800"/>
            </a:lvl4pPr>
            <a:lvl5pPr>
              <a:defRPr sz="1800"/>
            </a:lvl5pPr>
            <a:lvl6pPr marL="2290763" indent="-461963">
              <a:defRPr sz="1600"/>
            </a:lvl6pPr>
            <a:lvl7pPr marL="2290763" indent="-461963">
              <a:defRPr sz="1600"/>
            </a:lvl7pPr>
            <a:lvl8pPr marL="2290763" indent="-461963">
              <a:defRPr sz="1600"/>
            </a:lvl8pPr>
            <a:lvl9pPr marL="2290763" indent="-461963">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fld id="{1CDB690E-D504-EE46-BF09-1B8B105CE4C6}" type="datetimeFigureOut">
              <a:rPr lang="en-US" smtClean="0"/>
              <a:t>2/9/2023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E6D9AA8-3163-9341-B184-8747F5D2BF21}" type="slidenum">
              <a:rPr lang="en-US" smtClean="0"/>
              <a:t>‹#›</a:t>
            </a:fld>
            <a:endParaRPr lang="en-US"/>
          </a:p>
        </p:txBody>
      </p:sp>
      <p:pic>
        <p:nvPicPr>
          <p:cNvPr id="11" name="Picture 2" descr="HR-Glyph-R3.png"/>
          <p:cNvPicPr>
            <a:picLocks noChangeAspect="1" noChangeArrowheads="1"/>
          </p:cNvPicPr>
          <p:nvPr/>
        </p:nvPicPr>
        <p:blipFill>
          <a:blip r:embed="rId2" cstate="print"/>
          <a:srcRect/>
          <a:stretch>
            <a:fillRect/>
          </a:stretch>
        </p:blipFill>
        <p:spPr bwMode="auto">
          <a:xfrm>
            <a:off x="3749040" y="1658992"/>
            <a:ext cx="1645920" cy="170411"/>
          </a:xfrm>
          <a:prstGeom prst="rect">
            <a:avLst/>
          </a:prstGeom>
          <a:noFill/>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1CDB690E-D504-EE46-BF09-1B8B105CE4C6}" type="datetimeFigureOut">
              <a:rPr lang="en-US" smtClean="0"/>
              <a:t>2/9/2023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E6D9AA8-3163-9341-B184-8747F5D2BF21}" type="slidenum">
              <a:rPr lang="en-US" smtClean="0"/>
              <a:t>‹#›</a:t>
            </a:fld>
            <a:endParaRPr lang="en-US"/>
          </a:p>
        </p:txBody>
      </p:sp>
      <p:pic>
        <p:nvPicPr>
          <p:cNvPr id="8" name="Picture 2" descr="HR-Glyph-R3.png"/>
          <p:cNvPicPr>
            <a:picLocks noChangeAspect="1" noChangeArrowheads="1"/>
          </p:cNvPicPr>
          <p:nvPr/>
        </p:nvPicPr>
        <p:blipFill>
          <a:blip r:embed="rId2" cstate="print"/>
          <a:srcRect/>
          <a:stretch>
            <a:fillRect/>
          </a:stretch>
        </p:blipFill>
        <p:spPr bwMode="auto">
          <a:xfrm>
            <a:off x="3749040" y="1658992"/>
            <a:ext cx="1645920" cy="170411"/>
          </a:xfrm>
          <a:prstGeom prst="rect">
            <a:avLst/>
          </a:prstGeom>
          <a:noFill/>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DB690E-D504-EE46-BF09-1B8B105CE4C6}" type="datetimeFigureOut">
              <a:rPr lang="en-US" smtClean="0"/>
              <a:t>2/9/2023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E6D9AA8-3163-9341-B184-8747F5D2BF21}"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8906" y="914400"/>
            <a:ext cx="3657600" cy="1162050"/>
          </a:xfrm>
        </p:spPr>
        <p:txBody>
          <a:bodyPr anchor="b"/>
          <a:lstStyle>
            <a:lvl1pPr algn="ctr">
              <a:defRPr sz="3800" b="0"/>
            </a:lvl1pPr>
          </a:lstStyle>
          <a:p>
            <a:r>
              <a:rPr lang="en-US"/>
              <a:t>Click to edit Master title style</a:t>
            </a:r>
            <a:endParaRPr/>
          </a:p>
        </p:txBody>
      </p:sp>
      <p:sp>
        <p:nvSpPr>
          <p:cNvPr id="3" name="Content Placeholder 2"/>
          <p:cNvSpPr>
            <a:spLocks noGrp="1"/>
          </p:cNvSpPr>
          <p:nvPr>
            <p:ph idx="1"/>
          </p:nvPr>
        </p:nvSpPr>
        <p:spPr>
          <a:xfrm>
            <a:off x="4796118" y="457199"/>
            <a:ext cx="3657600" cy="5410201"/>
          </a:xfrm>
        </p:spPr>
        <p:txBody>
          <a:bodyPr>
            <a:normAutofit/>
          </a:bodyPr>
          <a:lstStyle>
            <a:lvl1pPr>
              <a:defRPr sz="2400"/>
            </a:lvl1pPr>
            <a:lvl2pPr>
              <a:defRPr sz="2200"/>
            </a:lvl2pPr>
            <a:lvl3pPr>
              <a:defRPr sz="2000"/>
            </a:lvl3pPr>
            <a:lvl4pPr>
              <a:defRPr sz="1800"/>
            </a:lvl4pPr>
            <a:lvl5pPr>
              <a:defRPr sz="1800"/>
            </a:lvl5pPr>
            <a:lvl6pPr marL="2290763" indent="-461963">
              <a:tabLst/>
              <a:defRPr sz="2000"/>
            </a:lvl6pPr>
            <a:lvl7pPr marL="2290763" indent="-461963">
              <a:tabLst/>
              <a:defRPr sz="2000"/>
            </a:lvl7pPr>
            <a:lvl8pPr marL="2290763" indent="-461963">
              <a:tabLst/>
              <a:defRPr sz="2000"/>
            </a:lvl8pPr>
            <a:lvl9pPr marL="2290763" indent="-461963">
              <a:tabLst/>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658906" y="2590799"/>
            <a:ext cx="3657600" cy="2895601"/>
          </a:xfrm>
        </p:spPr>
        <p:txBody>
          <a:bodyPr>
            <a:normAutofit/>
          </a:bodyPr>
          <a:lstStyle>
            <a:lvl1pPr marL="0" indent="0" algn="ctr">
              <a:lnSpc>
                <a:spcPct val="110000"/>
              </a:lnSpc>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DB690E-D504-EE46-BF09-1B8B105CE4C6}" type="datetimeFigureOut">
              <a:rPr lang="en-US" smtClean="0"/>
              <a:t>2/9/2023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6D9AA8-3163-9341-B184-8747F5D2BF21}" type="slidenum">
              <a:rPr lang="en-US" smtClean="0"/>
              <a:t>‹#›</a:t>
            </a:fld>
            <a:endParaRPr lang="en-US"/>
          </a:p>
        </p:txBody>
      </p:sp>
      <p:pic>
        <p:nvPicPr>
          <p:cNvPr id="10" name="Picture 2" descr="HR-Glyph-R3.png"/>
          <p:cNvPicPr>
            <a:picLocks noChangeAspect="1" noChangeArrowheads="1"/>
          </p:cNvPicPr>
          <p:nvPr/>
        </p:nvPicPr>
        <p:blipFill>
          <a:blip r:embed="rId2" cstate="print"/>
          <a:srcRect/>
          <a:stretch>
            <a:fillRect/>
          </a:stretch>
        </p:blipFill>
        <p:spPr bwMode="auto">
          <a:xfrm>
            <a:off x="1664746" y="2286000"/>
            <a:ext cx="1645920" cy="170411"/>
          </a:xfrm>
          <a:prstGeom prst="rect">
            <a:avLst/>
          </a:prstGeom>
          <a:noFill/>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99013" y="914400"/>
            <a:ext cx="3657600" cy="1161288"/>
          </a:xfrm>
          <a:effectLst/>
        </p:spPr>
        <p:txBody>
          <a:bodyPr vert="horz" lIns="91440" tIns="45720" rIns="91440" bIns="45720" rtlCol="0" anchor="b" anchorCtr="0">
            <a:noAutofit/>
          </a:bodyPr>
          <a:lstStyle>
            <a:lvl1pPr algn="ctr" defTabSz="914400" rtl="0" eaLnBrk="1" latinLnBrk="0" hangingPunct="1">
              <a:spcBef>
                <a:spcPct val="0"/>
              </a:spcBef>
              <a:buNone/>
              <a:defRPr sz="3800" b="0" kern="1200">
                <a:solidFill>
                  <a:schemeClr val="tx2"/>
                </a:solidFill>
                <a:effectLst>
                  <a:outerShdw blurRad="38100" dist="12700" algn="l" rotWithShape="0">
                    <a:prstClr val="black">
                      <a:alpha val="40000"/>
                    </a:prstClr>
                  </a:outerShdw>
                </a:effectLst>
                <a:latin typeface="+mj-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658906" y="457200"/>
            <a:ext cx="3657600" cy="5413248"/>
          </a:xfrm>
          <a:ln w="101600">
            <a:solidFill>
              <a:schemeClr val="tx1"/>
            </a:solidFill>
            <a:miter lim="800000"/>
          </a:ln>
          <a:effectLst>
            <a:outerShdw blurRad="50800" dist="38100" dir="2700000" algn="tl" rotWithShape="0">
              <a:prstClr val="black">
                <a:alpha val="40000"/>
              </a:prstClr>
            </a:outerShdw>
          </a:effectLst>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a:p>
        </p:txBody>
      </p:sp>
      <p:sp>
        <p:nvSpPr>
          <p:cNvPr id="4" name="Text Placeholder 3"/>
          <p:cNvSpPr>
            <a:spLocks noGrp="1"/>
          </p:cNvSpPr>
          <p:nvPr>
            <p:ph type="body" sz="half" idx="2"/>
          </p:nvPr>
        </p:nvSpPr>
        <p:spPr>
          <a:xfrm>
            <a:off x="4799013" y="2587752"/>
            <a:ext cx="3657600" cy="2898648"/>
          </a:xfrm>
        </p:spPr>
        <p:txBody>
          <a:bodyPr vert="horz" lIns="91440" tIns="45720" rIns="91440" bIns="45720" rtlCol="0">
            <a:normAutofit/>
          </a:bodyPr>
          <a:lstStyle>
            <a:lvl1pPr marL="0" indent="0" algn="ctr">
              <a:spcBef>
                <a:spcPts val="600"/>
              </a:spcBef>
              <a:buNone/>
              <a:defRPr sz="180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ctr" defTabSz="914400" rtl="0" eaLnBrk="1" latinLnBrk="0" hangingPunct="1">
              <a:lnSpc>
                <a:spcPct val="110000"/>
              </a:lnSpc>
              <a:spcBef>
                <a:spcPts val="2000"/>
              </a:spcBef>
              <a:buClr>
                <a:schemeClr val="accent3"/>
              </a:buClr>
              <a:buFont typeface="Wingdings" pitchFamily="2" charset="2"/>
              <a:buNone/>
            </a:pPr>
            <a:r>
              <a:rPr lang="en-US"/>
              <a:t>Click to edit Master text styles</a:t>
            </a:r>
          </a:p>
        </p:txBody>
      </p:sp>
      <p:sp>
        <p:nvSpPr>
          <p:cNvPr id="5" name="Date Placeholder 4"/>
          <p:cNvSpPr>
            <a:spLocks noGrp="1"/>
          </p:cNvSpPr>
          <p:nvPr>
            <p:ph type="dt" sz="half" idx="10"/>
          </p:nvPr>
        </p:nvSpPr>
        <p:spPr/>
        <p:txBody>
          <a:bodyPr/>
          <a:lstStyle/>
          <a:p>
            <a:fld id="{1CDB690E-D504-EE46-BF09-1B8B105CE4C6}" type="datetimeFigureOut">
              <a:rPr lang="en-US" smtClean="0"/>
              <a:t>2/9/2023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6D9AA8-3163-9341-B184-8747F5D2BF21}" type="slidenum">
              <a:rPr lang="en-US" smtClean="0"/>
              <a:t>‹#›</a:t>
            </a:fld>
            <a:endParaRPr lang="en-US"/>
          </a:p>
        </p:txBody>
      </p:sp>
      <p:pic>
        <p:nvPicPr>
          <p:cNvPr id="9" name="Picture 2" descr="HR-Glyph-R3.png"/>
          <p:cNvPicPr>
            <a:picLocks noChangeAspect="1" noChangeArrowheads="1"/>
          </p:cNvPicPr>
          <p:nvPr/>
        </p:nvPicPr>
        <p:blipFill>
          <a:blip r:embed="rId2" cstate="print"/>
          <a:srcRect/>
          <a:stretch>
            <a:fillRect/>
          </a:stretch>
        </p:blipFill>
        <p:spPr bwMode="auto">
          <a:xfrm>
            <a:off x="5804853" y="2286000"/>
            <a:ext cx="1645920" cy="170411"/>
          </a:xfrm>
          <a:prstGeom prst="rect">
            <a:avLst/>
          </a:prstGeom>
          <a:noFill/>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3738282"/>
            <a:ext cx="7770813" cy="1048870"/>
          </a:xfrm>
          <a:effectLst/>
        </p:spPr>
        <p:txBody>
          <a:bodyPr vert="horz" lIns="91440" tIns="45720" rIns="91440" bIns="45720" rtlCol="0" anchor="b" anchorCtr="0">
            <a:noAutofit/>
          </a:bodyPr>
          <a:lstStyle>
            <a:lvl1pPr algn="ctr" defTabSz="914400" rtl="0" eaLnBrk="1" latinLnBrk="0" hangingPunct="1">
              <a:spcBef>
                <a:spcPct val="0"/>
              </a:spcBef>
              <a:buNone/>
              <a:defRPr sz="3800" b="0" kern="1200">
                <a:solidFill>
                  <a:schemeClr val="tx2"/>
                </a:solidFill>
                <a:effectLst>
                  <a:outerShdw blurRad="38100" dist="12700" algn="l" rotWithShape="0">
                    <a:prstClr val="black">
                      <a:alpha val="40000"/>
                    </a:prstClr>
                  </a:outerShdw>
                </a:effectLst>
                <a:latin typeface="+mj-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2286000" y="457200"/>
            <a:ext cx="4572000" cy="3173506"/>
          </a:xfrm>
          <a:ln w="101600">
            <a:solidFill>
              <a:schemeClr val="tx1"/>
            </a:solidFill>
            <a:miter lim="800000"/>
          </a:ln>
          <a:effectLst>
            <a:outerShdw blurRad="50800" dist="38100" dir="2700000" algn="tl" rotWithShape="0">
              <a:prstClr val="black">
                <a:alpha val="40000"/>
              </a:prstClr>
            </a:outerShdw>
          </a:effectLst>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a:p>
        </p:txBody>
      </p:sp>
      <p:sp>
        <p:nvSpPr>
          <p:cNvPr id="4" name="Text Placeholder 3"/>
          <p:cNvSpPr>
            <a:spLocks noGrp="1"/>
          </p:cNvSpPr>
          <p:nvPr>
            <p:ph type="body" sz="half" idx="2"/>
          </p:nvPr>
        </p:nvSpPr>
        <p:spPr>
          <a:xfrm>
            <a:off x="685800" y="5181600"/>
            <a:ext cx="7770813" cy="685800"/>
          </a:xfrm>
        </p:spPr>
        <p:txBody>
          <a:bodyPr vert="horz" lIns="91440" tIns="45720" rIns="91440" bIns="45720" rtlCol="0">
            <a:normAutofit/>
          </a:bodyPr>
          <a:lstStyle>
            <a:lvl1pPr marL="0" indent="0" algn="ctr">
              <a:spcBef>
                <a:spcPts val="300"/>
              </a:spcBef>
              <a:buNone/>
              <a:defRPr sz="180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ctr" defTabSz="914400" rtl="0" eaLnBrk="1" latinLnBrk="0" hangingPunct="1">
              <a:lnSpc>
                <a:spcPct val="110000"/>
              </a:lnSpc>
              <a:spcBef>
                <a:spcPts val="2000"/>
              </a:spcBef>
              <a:buClr>
                <a:schemeClr val="accent3"/>
              </a:buClr>
              <a:buFont typeface="Wingdings" pitchFamily="2" charset="2"/>
              <a:buNone/>
            </a:pPr>
            <a:r>
              <a:rPr lang="en-US"/>
              <a:t>Click to edit Master text styles</a:t>
            </a:r>
          </a:p>
        </p:txBody>
      </p:sp>
      <p:sp>
        <p:nvSpPr>
          <p:cNvPr id="5" name="Date Placeholder 4"/>
          <p:cNvSpPr>
            <a:spLocks noGrp="1"/>
          </p:cNvSpPr>
          <p:nvPr>
            <p:ph type="dt" sz="half" idx="10"/>
          </p:nvPr>
        </p:nvSpPr>
        <p:spPr/>
        <p:txBody>
          <a:bodyPr/>
          <a:lstStyle/>
          <a:p>
            <a:fld id="{1CDB690E-D504-EE46-BF09-1B8B105CE4C6}" type="datetimeFigureOut">
              <a:rPr lang="en-US" smtClean="0"/>
              <a:t>2/9/2023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6D9AA8-3163-9341-B184-8747F5D2BF21}" type="slidenum">
              <a:rPr lang="en-US" smtClean="0"/>
              <a:t>‹#›</a:t>
            </a:fld>
            <a:endParaRPr lang="en-US"/>
          </a:p>
        </p:txBody>
      </p:sp>
      <p:pic>
        <p:nvPicPr>
          <p:cNvPr id="11" name="Picture 2" descr="HR-Glyph-R3.png"/>
          <p:cNvPicPr>
            <a:picLocks noChangeAspect="1" noChangeArrowheads="1"/>
          </p:cNvPicPr>
          <p:nvPr/>
        </p:nvPicPr>
        <p:blipFill>
          <a:blip r:embed="rId2" cstate="print"/>
          <a:srcRect/>
          <a:stretch>
            <a:fillRect/>
          </a:stretch>
        </p:blipFill>
        <p:spPr bwMode="auto">
          <a:xfrm>
            <a:off x="3749040" y="4890247"/>
            <a:ext cx="1645920" cy="170411"/>
          </a:xfrm>
          <a:prstGeom prst="rect">
            <a:avLst/>
          </a:prstGeom>
          <a:noFill/>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marL="2286000" indent="-457200">
              <a:defRPr/>
            </a:lvl6pPr>
            <a:lvl7pPr marL="2286000" indent="-457200">
              <a:defRPr/>
            </a:lvl7pPr>
            <a:lvl8pPr marL="2286000" indent="-457200">
              <a:defRPr/>
            </a:lvl8pPr>
            <a:lvl9pPr marL="2286000" indent="-45720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1CDB690E-D504-EE46-BF09-1B8B105CE4C6}" type="datetimeFigureOut">
              <a:rPr lang="en-US" smtClean="0"/>
              <a:t>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6D9AA8-3163-9341-B184-8747F5D2BF21}" type="slidenum">
              <a:rPr lang="en-US" smtClean="0"/>
              <a:t>‹#›</a:t>
            </a:fld>
            <a:endParaRPr lang="en-US"/>
          </a:p>
        </p:txBody>
      </p:sp>
      <p:pic>
        <p:nvPicPr>
          <p:cNvPr id="10" name="Picture 2" descr="HR-Glyph-R3.png"/>
          <p:cNvPicPr>
            <a:picLocks noChangeAspect="1" noChangeArrowheads="1"/>
          </p:cNvPicPr>
          <p:nvPr/>
        </p:nvPicPr>
        <p:blipFill>
          <a:blip r:embed="rId2" cstate="print"/>
          <a:srcRect/>
          <a:stretch>
            <a:fillRect/>
          </a:stretch>
        </p:blipFill>
        <p:spPr bwMode="auto">
          <a:xfrm>
            <a:off x="3749040" y="1658992"/>
            <a:ext cx="1645920" cy="170411"/>
          </a:xfrm>
          <a:prstGeom prst="rect">
            <a:avLst/>
          </a:prstGeom>
          <a:noFill/>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62800" y="537882"/>
            <a:ext cx="1524000" cy="5325036"/>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685800" y="537882"/>
            <a:ext cx="5889812" cy="5325036"/>
          </a:xfrm>
        </p:spPr>
        <p:txBody>
          <a:bodyPr vert="eaVert"/>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1CDB690E-D504-EE46-BF09-1B8B105CE4C6}" type="datetimeFigureOut">
              <a:rPr lang="en-US" smtClean="0"/>
              <a:t>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6D9AA8-3163-9341-B184-8747F5D2BF21}" type="slidenum">
              <a:rPr lang="en-US" smtClean="0"/>
              <a:t>‹#›</a:t>
            </a:fld>
            <a:endParaRPr lang="en-US"/>
          </a:p>
        </p:txBody>
      </p:sp>
      <p:pic>
        <p:nvPicPr>
          <p:cNvPr id="9" name="Picture 2" descr="HR-Glyph-R3.png"/>
          <p:cNvPicPr>
            <a:picLocks noChangeAspect="1" noChangeArrowheads="1"/>
          </p:cNvPicPr>
          <p:nvPr/>
        </p:nvPicPr>
        <p:blipFill>
          <a:blip r:embed="rId2" cstate="print"/>
          <a:srcRect/>
          <a:stretch>
            <a:fillRect/>
          </a:stretch>
        </p:blipFill>
        <p:spPr bwMode="auto">
          <a:xfrm rot="5400000">
            <a:off x="6052928" y="3115195"/>
            <a:ext cx="1645920" cy="170411"/>
          </a:xfrm>
          <a:prstGeom prst="rect">
            <a:avLst/>
          </a:prstGeom>
          <a:noFill/>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4305300" y="6289115"/>
            <a:ext cx="5334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DE6D9AA8-3163-9341-B184-8747F5D2BF21}" type="slidenum">
              <a:rPr lang="en-US" smtClean="0"/>
              <a:t>‹#›</a:t>
            </a:fld>
            <a:endParaRPr lang="en-US"/>
          </a:p>
        </p:txBody>
      </p:sp>
      <p:sp>
        <p:nvSpPr>
          <p:cNvPr id="2" name="Title Placeholder 1"/>
          <p:cNvSpPr>
            <a:spLocks noGrp="1"/>
          </p:cNvSpPr>
          <p:nvPr>
            <p:ph type="title"/>
          </p:nvPr>
        </p:nvSpPr>
        <p:spPr>
          <a:xfrm>
            <a:off x="685800" y="67236"/>
            <a:ext cx="7770813" cy="1371600"/>
          </a:xfrm>
          <a:prstGeom prst="rect">
            <a:avLst/>
          </a:prstGeom>
          <a:effectLst/>
        </p:spPr>
        <p:txBody>
          <a:bodyPr vert="horz" lIns="91440" tIns="45720" rIns="91440" bIns="45720" rtlCol="0" anchor="ctr" anchorCtr="0">
            <a:noAutofit/>
          </a:bodyPr>
          <a:lstStyle/>
          <a:p>
            <a:r>
              <a:rPr lang="en-US"/>
              <a:t>Click to edit Master title style</a:t>
            </a:r>
            <a:endParaRPr/>
          </a:p>
        </p:txBody>
      </p:sp>
      <p:sp>
        <p:nvSpPr>
          <p:cNvPr id="3" name="Text Placeholder 2"/>
          <p:cNvSpPr>
            <a:spLocks noGrp="1"/>
          </p:cNvSpPr>
          <p:nvPr>
            <p:ph type="body" idx="1"/>
          </p:nvPr>
        </p:nvSpPr>
        <p:spPr>
          <a:xfrm>
            <a:off x="685800" y="2209800"/>
            <a:ext cx="7770813" cy="3657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2"/>
          </p:nvPr>
        </p:nvSpPr>
        <p:spPr>
          <a:xfrm>
            <a:off x="6400800" y="6289115"/>
            <a:ext cx="2375647"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DB690E-D504-EE46-BF09-1B8B105CE4C6}" type="datetimeFigureOut">
              <a:rPr lang="en-US" smtClean="0"/>
              <a:t>2/9/2023</a:t>
            </a:fld>
            <a:endParaRPr lang="en-US"/>
          </a:p>
        </p:txBody>
      </p:sp>
      <p:sp>
        <p:nvSpPr>
          <p:cNvPr id="5" name="Footer Placeholder 4"/>
          <p:cNvSpPr>
            <a:spLocks noGrp="1"/>
          </p:cNvSpPr>
          <p:nvPr>
            <p:ph type="ftr" sz="quarter" idx="3"/>
          </p:nvPr>
        </p:nvSpPr>
        <p:spPr>
          <a:xfrm>
            <a:off x="349624" y="6289115"/>
            <a:ext cx="3155576"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Tree>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Lst>
  <p:txStyles>
    <p:titleStyle>
      <a:lvl1pPr algn="ctr" defTabSz="914400" rtl="0" eaLnBrk="1" latinLnBrk="0" hangingPunct="1">
        <a:spcBef>
          <a:spcPct val="0"/>
        </a:spcBef>
        <a:buNone/>
        <a:defRPr sz="5000" kern="1200">
          <a:solidFill>
            <a:schemeClr val="tx2"/>
          </a:solidFill>
          <a:effectLst>
            <a:outerShdw blurRad="38100" dist="12700" algn="l" rotWithShape="0">
              <a:prstClr val="black">
                <a:alpha val="40000"/>
              </a:prstClr>
            </a:outerShdw>
          </a:effectLst>
          <a:latin typeface="+mj-lt"/>
          <a:ea typeface="+mj-ea"/>
          <a:cs typeface="+mj-cs"/>
        </a:defRPr>
      </a:lvl1pPr>
    </p:titleStyle>
    <p:bodyStyle>
      <a:lvl1pPr marL="457200" indent="-457200" algn="l" defTabSz="914400" rtl="0" eaLnBrk="1" latinLnBrk="0" hangingPunct="1">
        <a:spcBef>
          <a:spcPts val="2000"/>
        </a:spcBef>
        <a:buClr>
          <a:schemeClr val="accent3"/>
        </a:buClr>
        <a:buFont typeface="Wingdings" pitchFamily="2" charset="2"/>
        <a:buChar char=""/>
        <a:defRPr sz="2400" kern="1200">
          <a:solidFill>
            <a:schemeClr val="tx2"/>
          </a:solidFill>
          <a:latin typeface="+mn-lt"/>
          <a:ea typeface="+mn-ea"/>
          <a:cs typeface="+mn-cs"/>
        </a:defRPr>
      </a:lvl1pPr>
      <a:lvl2pPr marL="914400" indent="-457200" algn="l" defTabSz="914400" rtl="0" eaLnBrk="1" latinLnBrk="0" hangingPunct="1">
        <a:spcBef>
          <a:spcPts val="600"/>
        </a:spcBef>
        <a:buClr>
          <a:schemeClr val="accent3">
            <a:lumMod val="50000"/>
          </a:schemeClr>
        </a:buClr>
        <a:buFont typeface="Wingdings" pitchFamily="2" charset="2"/>
        <a:buChar char=""/>
        <a:defRPr sz="2200" kern="1200">
          <a:solidFill>
            <a:schemeClr val="tx2"/>
          </a:solidFill>
          <a:latin typeface="+mn-lt"/>
          <a:ea typeface="+mn-ea"/>
          <a:cs typeface="+mn-cs"/>
        </a:defRPr>
      </a:lvl2pPr>
      <a:lvl3pPr marL="1371600" indent="-457200" algn="l" defTabSz="914400" rtl="0" eaLnBrk="1" latinLnBrk="0" hangingPunct="1">
        <a:spcBef>
          <a:spcPts val="600"/>
        </a:spcBef>
        <a:buClr>
          <a:schemeClr val="accent3"/>
        </a:buClr>
        <a:buFont typeface="Wingdings" pitchFamily="2" charset="2"/>
        <a:buChar char=""/>
        <a:defRPr sz="2000" kern="1200">
          <a:solidFill>
            <a:schemeClr val="tx2"/>
          </a:solidFill>
          <a:latin typeface="+mn-lt"/>
          <a:ea typeface="+mn-ea"/>
          <a:cs typeface="+mn-cs"/>
        </a:defRPr>
      </a:lvl3pPr>
      <a:lvl4pPr marL="1828800" indent="-457200" algn="l" defTabSz="914400" rtl="0" eaLnBrk="1" latinLnBrk="0" hangingPunct="1">
        <a:spcBef>
          <a:spcPts val="600"/>
        </a:spcBef>
        <a:buClr>
          <a:schemeClr val="accent3">
            <a:lumMod val="50000"/>
          </a:schemeClr>
        </a:buClr>
        <a:buFont typeface="Wingdings" pitchFamily="2" charset="2"/>
        <a:buChar char=""/>
        <a:defRPr sz="1800" kern="1200">
          <a:solidFill>
            <a:schemeClr val="tx2"/>
          </a:solidFill>
          <a:latin typeface="+mn-lt"/>
          <a:ea typeface="+mn-ea"/>
          <a:cs typeface="+mn-cs"/>
        </a:defRPr>
      </a:lvl4pPr>
      <a:lvl5pPr marL="2286000" indent="-457200" algn="l" defTabSz="914400" rtl="0" eaLnBrk="1" latinLnBrk="0" hangingPunct="1">
        <a:spcBef>
          <a:spcPts val="600"/>
        </a:spcBef>
        <a:buClr>
          <a:schemeClr val="accent3"/>
        </a:buClr>
        <a:buFont typeface="Wingdings" pitchFamily="2" charset="2"/>
        <a:buChar char=""/>
        <a:defRPr sz="1800" kern="1200">
          <a:solidFill>
            <a:schemeClr val="tx2"/>
          </a:solidFill>
          <a:latin typeface="+mn-lt"/>
          <a:ea typeface="+mn-ea"/>
          <a:cs typeface="+mn-cs"/>
        </a:defRPr>
      </a:lvl5pPr>
      <a:lvl6pPr marL="2743200" indent="-461963" algn="l" defTabSz="914400" rtl="0" eaLnBrk="1" latinLnBrk="0" hangingPunct="1">
        <a:spcBef>
          <a:spcPct val="20000"/>
        </a:spcBef>
        <a:buClr>
          <a:schemeClr val="accent3">
            <a:lumMod val="50000"/>
          </a:schemeClr>
        </a:buClr>
        <a:buFont typeface="Wingdings" pitchFamily="2" charset="2"/>
        <a:buChar char=""/>
        <a:defRPr sz="1800" kern="1200">
          <a:solidFill>
            <a:schemeClr val="tx1"/>
          </a:solidFill>
          <a:latin typeface="+mn-lt"/>
          <a:ea typeface="+mn-ea"/>
          <a:cs typeface="+mn-cs"/>
        </a:defRPr>
      </a:lvl6pPr>
      <a:lvl7pPr marL="3205163" indent="-461963" algn="l" defTabSz="914400" rtl="0" eaLnBrk="1" latinLnBrk="0" hangingPunct="1">
        <a:spcBef>
          <a:spcPct val="20000"/>
        </a:spcBef>
        <a:buClr>
          <a:schemeClr val="accent3"/>
        </a:buClr>
        <a:buFont typeface="Wingdings" pitchFamily="2" charset="2"/>
        <a:buChar char=""/>
        <a:defRPr sz="1800" kern="1200">
          <a:solidFill>
            <a:schemeClr val="tx1"/>
          </a:solidFill>
          <a:latin typeface="+mn-lt"/>
          <a:ea typeface="+mn-ea"/>
          <a:cs typeface="+mn-cs"/>
        </a:defRPr>
      </a:lvl7pPr>
      <a:lvl8pPr marL="3657600" indent="-461963" algn="l" defTabSz="914400" rtl="0" eaLnBrk="1" latinLnBrk="0" hangingPunct="1">
        <a:spcBef>
          <a:spcPct val="20000"/>
        </a:spcBef>
        <a:buClr>
          <a:schemeClr val="accent3">
            <a:lumMod val="50000"/>
          </a:schemeClr>
        </a:buClr>
        <a:buFont typeface="Wingdings" pitchFamily="2" charset="2"/>
        <a:buChar char=""/>
        <a:defRPr sz="1800" kern="1200">
          <a:solidFill>
            <a:schemeClr val="tx1"/>
          </a:solidFill>
          <a:latin typeface="+mn-lt"/>
          <a:ea typeface="+mn-ea"/>
          <a:cs typeface="+mn-cs"/>
        </a:defRPr>
      </a:lvl8pPr>
      <a:lvl9pPr marL="4119563" indent="-461963" algn="l" defTabSz="914400" rtl="0" eaLnBrk="1" latinLnBrk="0" hangingPunct="1">
        <a:spcBef>
          <a:spcPct val="20000"/>
        </a:spcBef>
        <a:buClr>
          <a:schemeClr val="accent3"/>
        </a:buClr>
        <a:buFont typeface="Wingdings" pitchFamily="2" charset="2"/>
        <a:buChar char=""/>
        <a:defRPr sz="18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tif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Treasury Management</a:t>
            </a:r>
          </a:p>
        </p:txBody>
      </p:sp>
      <p:sp>
        <p:nvSpPr>
          <p:cNvPr id="3" name="Subtitle 2"/>
          <p:cNvSpPr>
            <a:spLocks noGrp="1"/>
          </p:cNvSpPr>
          <p:nvPr>
            <p:ph type="subTitle" idx="1"/>
          </p:nvPr>
        </p:nvSpPr>
        <p:spPr/>
        <p:txBody>
          <a:bodyPr/>
          <a:lstStyle/>
          <a:p>
            <a:r>
              <a:rPr lang="en-US" dirty="0"/>
              <a:t>Working Capital/Liquidity Management</a:t>
            </a:r>
          </a:p>
        </p:txBody>
      </p:sp>
    </p:spTree>
    <p:extLst>
      <p:ext uri="{BB962C8B-B14F-4D97-AF65-F5344CB8AC3E}">
        <p14:creationId xmlns:p14="http://schemas.microsoft.com/office/powerpoint/2010/main" val="837277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3953F-6EBB-9B6D-F83F-EC9DF7FE5FB6}"/>
              </a:ext>
            </a:extLst>
          </p:cNvPr>
          <p:cNvSpPr>
            <a:spLocks noGrp="1"/>
          </p:cNvSpPr>
          <p:nvPr>
            <p:ph type="title"/>
          </p:nvPr>
        </p:nvSpPr>
        <p:spPr/>
        <p:txBody>
          <a:bodyPr/>
          <a:lstStyle/>
          <a:p>
            <a:r>
              <a:rPr lang="en-GB" dirty="0"/>
              <a:t>Outline</a:t>
            </a:r>
          </a:p>
        </p:txBody>
      </p:sp>
      <p:sp>
        <p:nvSpPr>
          <p:cNvPr id="3" name="Content Placeholder 2">
            <a:extLst>
              <a:ext uri="{FF2B5EF4-FFF2-40B4-BE49-F238E27FC236}">
                <a16:creationId xmlns:a16="http://schemas.microsoft.com/office/drawing/2014/main" id="{1A72B35C-45A9-A214-9A2E-35A58E468882}"/>
              </a:ext>
            </a:extLst>
          </p:cNvPr>
          <p:cNvSpPr>
            <a:spLocks noGrp="1"/>
          </p:cNvSpPr>
          <p:nvPr>
            <p:ph idx="1"/>
          </p:nvPr>
        </p:nvSpPr>
        <p:spPr/>
        <p:txBody>
          <a:bodyPr>
            <a:normAutofit/>
          </a:bodyPr>
          <a:lstStyle/>
          <a:p>
            <a:r>
              <a:rPr lang="en-GB" b="1" dirty="0"/>
              <a:t>Definition of working capital</a:t>
            </a:r>
          </a:p>
          <a:p>
            <a:r>
              <a:rPr lang="en-GB" b="1" dirty="0"/>
              <a:t>Working capital policy</a:t>
            </a:r>
          </a:p>
          <a:p>
            <a:r>
              <a:rPr lang="en-GB" b="1" dirty="0"/>
              <a:t>Cash operating cycle</a:t>
            </a:r>
          </a:p>
          <a:p>
            <a:r>
              <a:rPr lang="en-GB" b="1" dirty="0"/>
              <a:t>Debtor Management </a:t>
            </a:r>
          </a:p>
          <a:p>
            <a:r>
              <a:rPr lang="en-GB" b="1" dirty="0"/>
              <a:t>Factoring</a:t>
            </a:r>
          </a:p>
          <a:p>
            <a:r>
              <a:rPr lang="en-GB" b="1" dirty="0"/>
              <a:t>Invoice discounting </a:t>
            </a:r>
          </a:p>
        </p:txBody>
      </p:sp>
    </p:spTree>
    <p:extLst>
      <p:ext uri="{BB962C8B-B14F-4D97-AF65-F5344CB8AC3E}">
        <p14:creationId xmlns:p14="http://schemas.microsoft.com/office/powerpoint/2010/main" val="2464361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Working Capital</a:t>
            </a:r>
          </a:p>
        </p:txBody>
      </p:sp>
      <p:sp>
        <p:nvSpPr>
          <p:cNvPr id="3" name="Content Placeholder 2"/>
          <p:cNvSpPr>
            <a:spLocks noGrp="1"/>
          </p:cNvSpPr>
          <p:nvPr>
            <p:ph idx="1"/>
          </p:nvPr>
        </p:nvSpPr>
        <p:spPr/>
        <p:txBody>
          <a:bodyPr>
            <a:normAutofit lnSpcReduction="10000"/>
          </a:bodyPr>
          <a:lstStyle/>
          <a:p>
            <a:r>
              <a:rPr lang="en-US" dirty="0"/>
              <a:t>Working capital is technically defined as current assets less current liabilities</a:t>
            </a:r>
          </a:p>
          <a:p>
            <a:r>
              <a:rPr lang="en-US" dirty="0"/>
              <a:t>Corresponds to cash and liquid assets that can quickly be converted to cash</a:t>
            </a:r>
          </a:p>
          <a:p>
            <a:r>
              <a:rPr lang="en-US" dirty="0"/>
              <a:t>There is a limited and fluctuating amount of cash and liquid assets available at any given time</a:t>
            </a:r>
          </a:p>
          <a:p>
            <a:r>
              <a:rPr lang="en-US" dirty="0"/>
              <a:t>Treasury’s responsibility is to manage and use pool of resources as efficiently and effectively as possible. </a:t>
            </a:r>
          </a:p>
        </p:txBody>
      </p:sp>
    </p:spTree>
    <p:extLst>
      <p:ext uri="{BB962C8B-B14F-4D97-AF65-F5344CB8AC3E}">
        <p14:creationId xmlns:p14="http://schemas.microsoft.com/office/powerpoint/2010/main" val="332682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Working Capital</a:t>
            </a:r>
          </a:p>
        </p:txBody>
      </p:sp>
      <p:sp>
        <p:nvSpPr>
          <p:cNvPr id="3" name="Content Placeholder 2"/>
          <p:cNvSpPr>
            <a:spLocks noGrp="1"/>
          </p:cNvSpPr>
          <p:nvPr>
            <p:ph idx="1"/>
          </p:nvPr>
        </p:nvSpPr>
        <p:spPr/>
        <p:txBody>
          <a:bodyPr>
            <a:normAutofit lnSpcReduction="10000"/>
          </a:bodyPr>
          <a:lstStyle/>
          <a:p>
            <a:r>
              <a:rPr lang="en-US" dirty="0"/>
              <a:t>If current assets exceed current liabilities (inventory plus debtors less creditors) the company has a cash surplus (usually represented by bank deposits and investments)</a:t>
            </a:r>
          </a:p>
          <a:p>
            <a:r>
              <a:rPr lang="en-US" dirty="0"/>
              <a:t>Otherwise it has a deficit (usually represented by a bank loan and/or overdraft)</a:t>
            </a:r>
          </a:p>
          <a:p>
            <a:r>
              <a:rPr lang="en-US" dirty="0"/>
              <a:t>A business must be able to generate sufficient cash to be able to meet its immediate obligations and continue trading</a:t>
            </a:r>
          </a:p>
        </p:txBody>
      </p:sp>
    </p:spTree>
    <p:extLst>
      <p:ext uri="{BB962C8B-B14F-4D97-AF65-F5344CB8AC3E}">
        <p14:creationId xmlns:p14="http://schemas.microsoft.com/office/powerpoint/2010/main" val="823586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Working Capital</a:t>
            </a:r>
          </a:p>
        </p:txBody>
      </p:sp>
      <p:sp>
        <p:nvSpPr>
          <p:cNvPr id="3" name="Content Placeholder 2"/>
          <p:cNvSpPr>
            <a:spLocks noGrp="1"/>
          </p:cNvSpPr>
          <p:nvPr>
            <p:ph idx="1"/>
          </p:nvPr>
        </p:nvSpPr>
        <p:spPr/>
        <p:txBody>
          <a:bodyPr/>
          <a:lstStyle/>
          <a:p>
            <a:r>
              <a:rPr lang="en-US" dirty="0"/>
              <a:t>Even a profitable business will go under if it does not have adequate liquid resources (the adage ‘cash is king!’)</a:t>
            </a:r>
          </a:p>
          <a:p>
            <a:r>
              <a:rPr lang="en-US" dirty="0"/>
              <a:t>Working capital is essential to the company’s long term success</a:t>
            </a:r>
          </a:p>
          <a:p>
            <a:r>
              <a:rPr lang="en-US" dirty="0"/>
              <a:t>The efficient management of working capital is important from point of view of both liquidity and profitability</a:t>
            </a:r>
          </a:p>
        </p:txBody>
      </p:sp>
    </p:spTree>
    <p:extLst>
      <p:ext uri="{BB962C8B-B14F-4D97-AF65-F5344CB8AC3E}">
        <p14:creationId xmlns:p14="http://schemas.microsoft.com/office/powerpoint/2010/main" val="941160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Working Capital</a:t>
            </a:r>
          </a:p>
        </p:txBody>
      </p:sp>
      <p:sp>
        <p:nvSpPr>
          <p:cNvPr id="3" name="Content Placeholder 2"/>
          <p:cNvSpPr>
            <a:spLocks noGrp="1"/>
          </p:cNvSpPr>
          <p:nvPr>
            <p:ph idx="1"/>
          </p:nvPr>
        </p:nvSpPr>
        <p:spPr/>
        <p:txBody>
          <a:bodyPr/>
          <a:lstStyle/>
          <a:p>
            <a:r>
              <a:rPr lang="en-US" dirty="0"/>
              <a:t>Poor management of working capital means that funds are unnecessarily tied up in idle assets, hence reducing liquidity and also reducing the ability to invest in productive assets such as plant and machinery</a:t>
            </a:r>
          </a:p>
        </p:txBody>
      </p:sp>
    </p:spTree>
    <p:extLst>
      <p:ext uri="{BB962C8B-B14F-4D97-AF65-F5344CB8AC3E}">
        <p14:creationId xmlns:p14="http://schemas.microsoft.com/office/powerpoint/2010/main" val="1738982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Capital Policy</a:t>
            </a:r>
          </a:p>
        </p:txBody>
      </p:sp>
      <p:sp>
        <p:nvSpPr>
          <p:cNvPr id="3" name="Content Placeholder 2"/>
          <p:cNvSpPr>
            <a:spLocks noGrp="1"/>
          </p:cNvSpPr>
          <p:nvPr>
            <p:ph idx="1"/>
          </p:nvPr>
        </p:nvSpPr>
        <p:spPr/>
        <p:txBody>
          <a:bodyPr/>
          <a:lstStyle/>
          <a:p>
            <a:r>
              <a:rPr lang="en-US" dirty="0"/>
              <a:t>Company’s working capital policy function of two decisions:</a:t>
            </a:r>
          </a:p>
          <a:p>
            <a:pPr marL="514350" indent="-514350">
              <a:buFont typeface="+mj-lt"/>
              <a:buAutoNum type="romanLcPeriod"/>
            </a:pPr>
            <a:r>
              <a:rPr lang="en-US" dirty="0"/>
              <a:t>The Investment decision</a:t>
            </a:r>
          </a:p>
          <a:p>
            <a:r>
              <a:rPr lang="en-US" dirty="0"/>
              <a:t>In conditions of </a:t>
            </a:r>
            <a:r>
              <a:rPr lang="en-US" dirty="0" err="1"/>
              <a:t>uncertainity</a:t>
            </a:r>
            <a:r>
              <a:rPr lang="en-US" dirty="0"/>
              <a:t>, firms must hold some minimal level of cash and inventories based on expected sales, plus additional safety stocks</a:t>
            </a:r>
          </a:p>
        </p:txBody>
      </p:sp>
    </p:spTree>
    <p:extLst>
      <p:ext uri="{BB962C8B-B14F-4D97-AF65-F5344CB8AC3E}">
        <p14:creationId xmlns:p14="http://schemas.microsoft.com/office/powerpoint/2010/main" val="1286236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Capital Policy</a:t>
            </a:r>
          </a:p>
        </p:txBody>
      </p:sp>
      <p:sp>
        <p:nvSpPr>
          <p:cNvPr id="3" name="Content Placeholder 2"/>
          <p:cNvSpPr>
            <a:spLocks noGrp="1"/>
          </p:cNvSpPr>
          <p:nvPr>
            <p:ph idx="1"/>
          </p:nvPr>
        </p:nvSpPr>
        <p:spPr/>
        <p:txBody>
          <a:bodyPr>
            <a:normAutofit lnSpcReduction="10000"/>
          </a:bodyPr>
          <a:lstStyle/>
          <a:p>
            <a:r>
              <a:rPr lang="en-US" dirty="0"/>
              <a:t>With an aggressive working capital policy, firm would hold minimal safety stock </a:t>
            </a:r>
          </a:p>
          <a:p>
            <a:r>
              <a:rPr lang="en-US" dirty="0"/>
              <a:t>Such policy </a:t>
            </a:r>
            <a:r>
              <a:rPr lang="en-US" dirty="0" err="1"/>
              <a:t>minimises</a:t>
            </a:r>
            <a:r>
              <a:rPr lang="en-US" dirty="0"/>
              <a:t> costs, but lowers sales because firm not able to respond rapidly to increases in demand</a:t>
            </a:r>
          </a:p>
          <a:p>
            <a:r>
              <a:rPr lang="en-US" dirty="0"/>
              <a:t>conservative working capital policy, would call for large safety stocks</a:t>
            </a:r>
          </a:p>
          <a:p>
            <a:r>
              <a:rPr lang="en-US" dirty="0"/>
              <a:t>Expected return is lower under conservative policy, but so are the risks and vice versa.</a:t>
            </a:r>
          </a:p>
        </p:txBody>
      </p:sp>
    </p:spTree>
    <p:extLst>
      <p:ext uri="{BB962C8B-B14F-4D97-AF65-F5344CB8AC3E}">
        <p14:creationId xmlns:p14="http://schemas.microsoft.com/office/powerpoint/2010/main" val="1460097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Capital Policy</a:t>
            </a:r>
          </a:p>
        </p:txBody>
      </p:sp>
      <p:sp>
        <p:nvSpPr>
          <p:cNvPr id="3" name="Content Placeholder 2"/>
          <p:cNvSpPr>
            <a:spLocks noGrp="1"/>
          </p:cNvSpPr>
          <p:nvPr>
            <p:ph idx="1"/>
          </p:nvPr>
        </p:nvSpPr>
        <p:spPr/>
        <p:txBody>
          <a:bodyPr>
            <a:normAutofit fontScale="92500"/>
          </a:bodyPr>
          <a:lstStyle/>
          <a:p>
            <a:r>
              <a:rPr lang="en-US" dirty="0"/>
              <a:t>Moderate policy falls somewhere between the two extremes. </a:t>
            </a:r>
          </a:p>
          <a:p>
            <a:pPr marL="0" indent="0">
              <a:buNone/>
            </a:pPr>
            <a:r>
              <a:rPr lang="en-US" dirty="0"/>
              <a:t>ii. The financing decision</a:t>
            </a:r>
          </a:p>
          <a:p>
            <a:r>
              <a:rPr lang="en-US" dirty="0"/>
              <a:t>Involve the determination of the mix of long term versus short term debt</a:t>
            </a:r>
          </a:p>
          <a:p>
            <a:r>
              <a:rPr lang="en-US" dirty="0"/>
              <a:t>Aggressive financing policy, firm finances part of its permanent asset base with short term debt</a:t>
            </a:r>
          </a:p>
          <a:p>
            <a:pPr marL="0" indent="0">
              <a:buNone/>
            </a:pPr>
            <a:r>
              <a:rPr lang="en-US" dirty="0"/>
              <a:t> </a:t>
            </a:r>
          </a:p>
        </p:txBody>
      </p:sp>
    </p:spTree>
    <p:extLst>
      <p:ext uri="{BB962C8B-B14F-4D97-AF65-F5344CB8AC3E}">
        <p14:creationId xmlns:p14="http://schemas.microsoft.com/office/powerpoint/2010/main" val="2106356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Capital Policy</a:t>
            </a:r>
          </a:p>
        </p:txBody>
      </p:sp>
      <p:sp>
        <p:nvSpPr>
          <p:cNvPr id="3" name="Content Placeholder 2"/>
          <p:cNvSpPr>
            <a:spLocks noGrp="1"/>
          </p:cNvSpPr>
          <p:nvPr>
            <p:ph idx="1"/>
          </p:nvPr>
        </p:nvSpPr>
        <p:spPr/>
        <p:txBody>
          <a:bodyPr/>
          <a:lstStyle/>
          <a:p>
            <a:r>
              <a:rPr lang="en-US" dirty="0"/>
              <a:t>Policy generally provides highest expected return ( because short term debt costs are typically less than long term debt), but it is very risky.</a:t>
            </a:r>
          </a:p>
          <a:p>
            <a:r>
              <a:rPr lang="en-US" dirty="0"/>
              <a:t>Conservative is less risky but also results in the lowest expected return</a:t>
            </a:r>
          </a:p>
          <a:p>
            <a:r>
              <a:rPr lang="en-US" dirty="0"/>
              <a:t>Maturity matching policy falls between the two extremes</a:t>
            </a:r>
          </a:p>
          <a:p>
            <a:pPr marL="0" indent="0">
              <a:buNone/>
            </a:pPr>
            <a:endParaRPr lang="en-US" dirty="0"/>
          </a:p>
        </p:txBody>
      </p:sp>
    </p:spTree>
    <p:extLst>
      <p:ext uri="{BB962C8B-B14F-4D97-AF65-F5344CB8AC3E}">
        <p14:creationId xmlns:p14="http://schemas.microsoft.com/office/powerpoint/2010/main" val="1062204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Operating Cycle </a:t>
            </a:r>
          </a:p>
        </p:txBody>
      </p:sp>
      <p:sp>
        <p:nvSpPr>
          <p:cNvPr id="3" name="Content Placeholder 2"/>
          <p:cNvSpPr>
            <a:spLocks noGrp="1"/>
          </p:cNvSpPr>
          <p:nvPr>
            <p:ph idx="1"/>
          </p:nvPr>
        </p:nvSpPr>
        <p:spPr/>
        <p:txBody>
          <a:bodyPr>
            <a:normAutofit lnSpcReduction="10000"/>
          </a:bodyPr>
          <a:lstStyle/>
          <a:p>
            <a:r>
              <a:rPr lang="en-US" dirty="0"/>
              <a:t>The length of time between company’s outlay on raw materials, wages and other expenditures, and the inflow of cash from the sale of the goods.</a:t>
            </a:r>
          </a:p>
          <a:p>
            <a:r>
              <a:rPr lang="en-US" dirty="0"/>
              <a:t>In manufacturing, this is the average time that raw materials remain in inventory, less the period of credit taken from suppliers, plus time taken for producing the goods, plus time taken by customers to pay for the goods.</a:t>
            </a:r>
          </a:p>
          <a:p>
            <a:r>
              <a:rPr lang="en-US" dirty="0"/>
              <a:t>Also called cash conversion cycle</a:t>
            </a:r>
          </a:p>
        </p:txBody>
      </p:sp>
    </p:spTree>
    <p:extLst>
      <p:ext uri="{BB962C8B-B14F-4D97-AF65-F5344CB8AC3E}">
        <p14:creationId xmlns:p14="http://schemas.microsoft.com/office/powerpoint/2010/main" val="621586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Cash conversion cycle </a:t>
            </a:r>
          </a:p>
        </p:txBody>
      </p:sp>
      <p:pic>
        <p:nvPicPr>
          <p:cNvPr id="4" name="Content Placeholder 3"/>
          <p:cNvPicPr>
            <a:picLocks noGrp="1" noChangeAspect="1"/>
          </p:cNvPicPr>
          <p:nvPr>
            <p:ph idx="1"/>
          </p:nvPr>
        </p:nvPicPr>
        <p:blipFill>
          <a:blip r:embed="rId2"/>
          <a:stretch>
            <a:fillRect/>
          </a:stretch>
        </p:blipFill>
        <p:spPr>
          <a:xfrm>
            <a:off x="2031206" y="2406650"/>
            <a:ext cx="5080000" cy="3263900"/>
          </a:xfrm>
        </p:spPr>
      </p:pic>
    </p:spTree>
    <p:extLst>
      <p:ext uri="{BB962C8B-B14F-4D97-AF65-F5344CB8AC3E}">
        <p14:creationId xmlns:p14="http://schemas.microsoft.com/office/powerpoint/2010/main" val="584224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Cash conversion cycle</a:t>
            </a:r>
          </a:p>
        </p:txBody>
      </p:sp>
      <p:sp>
        <p:nvSpPr>
          <p:cNvPr id="3" name="Content Placeholder 2"/>
          <p:cNvSpPr>
            <a:spLocks noGrp="1"/>
          </p:cNvSpPr>
          <p:nvPr>
            <p:ph idx="1"/>
          </p:nvPr>
        </p:nvSpPr>
        <p:spPr/>
        <p:txBody>
          <a:bodyPr/>
          <a:lstStyle/>
          <a:p>
            <a:r>
              <a:rPr lang="en-US" dirty="0"/>
              <a:t>This is an important concept for the management of cash or working capital because the longer the operating cycle the more financial resources the company needs.</a:t>
            </a:r>
          </a:p>
          <a:p>
            <a:r>
              <a:rPr lang="en-US" dirty="0"/>
              <a:t>Management needs to watch that this cycle does not become too long</a:t>
            </a:r>
          </a:p>
          <a:p>
            <a:r>
              <a:rPr lang="en-US" dirty="0"/>
              <a:t>If the company is deliberately building up its stock, this will lengthen the operating cycle</a:t>
            </a:r>
          </a:p>
        </p:txBody>
      </p:sp>
    </p:spTree>
    <p:extLst>
      <p:ext uri="{BB962C8B-B14F-4D97-AF65-F5344CB8AC3E}">
        <p14:creationId xmlns:p14="http://schemas.microsoft.com/office/powerpoint/2010/main" val="1180315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70B6B-2B5A-4C22-A94C-5CF9B3FD431D}"/>
              </a:ext>
            </a:extLst>
          </p:cNvPr>
          <p:cNvSpPr>
            <a:spLocks noGrp="1"/>
          </p:cNvSpPr>
          <p:nvPr>
            <p:ph type="title"/>
          </p:nvPr>
        </p:nvSpPr>
        <p:spPr/>
        <p:txBody>
          <a:bodyPr/>
          <a:lstStyle/>
          <a:p>
            <a:r>
              <a:rPr lang="en-GB" dirty="0"/>
              <a:t>Calculating the cash conversion cycle</a:t>
            </a:r>
          </a:p>
        </p:txBody>
      </p:sp>
      <p:sp>
        <p:nvSpPr>
          <p:cNvPr id="5" name="Content Placeholder 4">
            <a:extLst>
              <a:ext uri="{FF2B5EF4-FFF2-40B4-BE49-F238E27FC236}">
                <a16:creationId xmlns:a16="http://schemas.microsoft.com/office/drawing/2014/main" id="{1323BDE1-7B76-4AE1-8A62-61AAAB33C441}"/>
              </a:ext>
            </a:extLst>
          </p:cNvPr>
          <p:cNvSpPr>
            <a:spLocks noGrp="1"/>
          </p:cNvSpPr>
          <p:nvPr>
            <p:ph idx="1"/>
          </p:nvPr>
        </p:nvSpPr>
        <p:spPr/>
        <p:txBody>
          <a:bodyPr/>
          <a:lstStyle/>
          <a:p>
            <a:r>
              <a:rPr lang="en-GB" dirty="0"/>
              <a:t>The Formula for CCC is:</a:t>
            </a:r>
          </a:p>
          <a:p>
            <a:pPr marL="0" indent="0">
              <a:buNone/>
            </a:pPr>
            <a:r>
              <a:rPr lang="en-GB" dirty="0"/>
              <a:t>Cash Conversion Cycle = Days’ inventory + Days’ receivables – Days’ payables</a:t>
            </a:r>
          </a:p>
          <a:p>
            <a:r>
              <a:rPr lang="en-GB" dirty="0"/>
              <a:t>CCC is the average number of days between the cash outflow for the acquisition of materials and supplies, and the cash inflow from the sale of products or services.</a:t>
            </a:r>
          </a:p>
        </p:txBody>
      </p:sp>
    </p:spTree>
    <p:extLst>
      <p:ext uri="{BB962C8B-B14F-4D97-AF65-F5344CB8AC3E}">
        <p14:creationId xmlns:p14="http://schemas.microsoft.com/office/powerpoint/2010/main" val="2842911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10FA4-75C3-476A-81D9-E30C93317E91}"/>
              </a:ext>
            </a:extLst>
          </p:cNvPr>
          <p:cNvSpPr>
            <a:spLocks noGrp="1"/>
          </p:cNvSpPr>
          <p:nvPr>
            <p:ph type="title"/>
          </p:nvPr>
        </p:nvSpPr>
        <p:spPr/>
        <p:txBody>
          <a:bodyPr/>
          <a:lstStyle/>
          <a:p>
            <a:r>
              <a:rPr lang="en-GB" dirty="0"/>
              <a:t>Working Capital Matrix </a:t>
            </a:r>
          </a:p>
        </p:txBody>
      </p:sp>
      <p:graphicFrame>
        <p:nvGraphicFramePr>
          <p:cNvPr id="7" name="Content Placeholder 6">
            <a:extLst>
              <a:ext uri="{FF2B5EF4-FFF2-40B4-BE49-F238E27FC236}">
                <a16:creationId xmlns:a16="http://schemas.microsoft.com/office/drawing/2014/main" id="{7C5A95ED-D905-4F26-9477-AA56C40446E0}"/>
              </a:ext>
            </a:extLst>
          </p:cNvPr>
          <p:cNvGraphicFramePr>
            <a:graphicFrameLocks noGrp="1"/>
          </p:cNvGraphicFramePr>
          <p:nvPr>
            <p:ph idx="1"/>
            <p:extLst>
              <p:ext uri="{D42A27DB-BD31-4B8C-83A1-F6EECF244321}">
                <p14:modId xmlns:p14="http://schemas.microsoft.com/office/powerpoint/2010/main" val="1901250263"/>
              </p:ext>
            </p:extLst>
          </p:nvPr>
        </p:nvGraphicFramePr>
        <p:xfrm>
          <a:off x="685800" y="2209800"/>
          <a:ext cx="7770814" cy="2225040"/>
        </p:xfrm>
        <a:graphic>
          <a:graphicData uri="http://schemas.openxmlformats.org/drawingml/2006/table">
            <a:tbl>
              <a:tblPr firstRow="1" bandRow="1">
                <a:tableStyleId>{5C22544A-7EE6-4342-B048-85BDC9FD1C3A}</a:tableStyleId>
              </a:tblPr>
              <a:tblGrid>
                <a:gridCol w="3885407">
                  <a:extLst>
                    <a:ext uri="{9D8B030D-6E8A-4147-A177-3AD203B41FA5}">
                      <a16:colId xmlns:a16="http://schemas.microsoft.com/office/drawing/2014/main" val="1541797255"/>
                    </a:ext>
                  </a:extLst>
                </a:gridCol>
                <a:gridCol w="3885407">
                  <a:extLst>
                    <a:ext uri="{9D8B030D-6E8A-4147-A177-3AD203B41FA5}">
                      <a16:colId xmlns:a16="http://schemas.microsoft.com/office/drawing/2014/main" val="635787069"/>
                    </a:ext>
                  </a:extLst>
                </a:gridCol>
              </a:tblGrid>
              <a:tr h="370840">
                <a:tc>
                  <a:txBody>
                    <a:bodyPr/>
                    <a:lstStyle/>
                    <a:p>
                      <a:r>
                        <a:rPr lang="en-GB" dirty="0"/>
                        <a:t>Annual Revenues</a:t>
                      </a:r>
                    </a:p>
                  </a:txBody>
                  <a:tcPr/>
                </a:tc>
                <a:tc>
                  <a:txBody>
                    <a:bodyPr/>
                    <a:lstStyle/>
                    <a:p>
                      <a:r>
                        <a:rPr lang="en-GB" dirty="0"/>
                        <a:t>K15,000</a:t>
                      </a:r>
                    </a:p>
                  </a:txBody>
                  <a:tcPr/>
                </a:tc>
                <a:extLst>
                  <a:ext uri="{0D108BD9-81ED-4DB2-BD59-A6C34878D82A}">
                    <a16:rowId xmlns:a16="http://schemas.microsoft.com/office/drawing/2014/main" val="2811042377"/>
                  </a:ext>
                </a:extLst>
              </a:tr>
              <a:tr h="370840">
                <a:tc>
                  <a:txBody>
                    <a:bodyPr/>
                    <a:lstStyle/>
                    <a:p>
                      <a:r>
                        <a:rPr lang="en-GB" dirty="0"/>
                        <a:t>Annual Cost of Goods Sold</a:t>
                      </a:r>
                    </a:p>
                  </a:txBody>
                  <a:tcPr/>
                </a:tc>
                <a:tc>
                  <a:txBody>
                    <a:bodyPr/>
                    <a:lstStyle/>
                    <a:p>
                      <a:r>
                        <a:rPr lang="en-GB" dirty="0"/>
                        <a:t>K9,200</a:t>
                      </a:r>
                    </a:p>
                  </a:txBody>
                  <a:tcPr/>
                </a:tc>
                <a:extLst>
                  <a:ext uri="{0D108BD9-81ED-4DB2-BD59-A6C34878D82A}">
                    <a16:rowId xmlns:a16="http://schemas.microsoft.com/office/drawing/2014/main" val="4233069922"/>
                  </a:ext>
                </a:extLst>
              </a:tr>
              <a:tr h="370840">
                <a:tc>
                  <a:txBody>
                    <a:bodyPr/>
                    <a:lstStyle/>
                    <a:p>
                      <a:r>
                        <a:rPr lang="en-GB" dirty="0"/>
                        <a:t>Cash Flow from Operations</a:t>
                      </a:r>
                    </a:p>
                  </a:txBody>
                  <a:tcPr/>
                </a:tc>
                <a:tc>
                  <a:txBody>
                    <a:bodyPr/>
                    <a:lstStyle/>
                    <a:p>
                      <a:r>
                        <a:rPr lang="en-GB" dirty="0"/>
                        <a:t>K550</a:t>
                      </a:r>
                    </a:p>
                  </a:txBody>
                  <a:tcPr/>
                </a:tc>
                <a:extLst>
                  <a:ext uri="{0D108BD9-81ED-4DB2-BD59-A6C34878D82A}">
                    <a16:rowId xmlns:a16="http://schemas.microsoft.com/office/drawing/2014/main" val="3795665233"/>
                  </a:ext>
                </a:extLst>
              </a:tr>
              <a:tr h="370840">
                <a:tc>
                  <a:txBody>
                    <a:bodyPr/>
                    <a:lstStyle/>
                    <a:p>
                      <a:r>
                        <a:rPr lang="en-GB" dirty="0"/>
                        <a:t>Ending Inventory</a:t>
                      </a:r>
                    </a:p>
                  </a:txBody>
                  <a:tcPr/>
                </a:tc>
                <a:tc>
                  <a:txBody>
                    <a:bodyPr/>
                    <a:lstStyle/>
                    <a:p>
                      <a:r>
                        <a:rPr lang="en-GB" dirty="0"/>
                        <a:t>K2,600</a:t>
                      </a:r>
                    </a:p>
                  </a:txBody>
                  <a:tcPr/>
                </a:tc>
                <a:extLst>
                  <a:ext uri="{0D108BD9-81ED-4DB2-BD59-A6C34878D82A}">
                    <a16:rowId xmlns:a16="http://schemas.microsoft.com/office/drawing/2014/main" val="615378372"/>
                  </a:ext>
                </a:extLst>
              </a:tr>
              <a:tr h="370840">
                <a:tc>
                  <a:txBody>
                    <a:bodyPr/>
                    <a:lstStyle/>
                    <a:p>
                      <a:r>
                        <a:rPr lang="en-GB" dirty="0"/>
                        <a:t>Ending Accounts Receivable</a:t>
                      </a:r>
                    </a:p>
                  </a:txBody>
                  <a:tcPr/>
                </a:tc>
                <a:tc>
                  <a:txBody>
                    <a:bodyPr/>
                    <a:lstStyle/>
                    <a:p>
                      <a:r>
                        <a:rPr lang="en-GB" dirty="0"/>
                        <a:t>K1,700</a:t>
                      </a:r>
                    </a:p>
                  </a:txBody>
                  <a:tcPr/>
                </a:tc>
                <a:extLst>
                  <a:ext uri="{0D108BD9-81ED-4DB2-BD59-A6C34878D82A}">
                    <a16:rowId xmlns:a16="http://schemas.microsoft.com/office/drawing/2014/main" val="1553206546"/>
                  </a:ext>
                </a:extLst>
              </a:tr>
              <a:tr h="370840">
                <a:tc>
                  <a:txBody>
                    <a:bodyPr/>
                    <a:lstStyle/>
                    <a:p>
                      <a:r>
                        <a:rPr lang="en-GB" dirty="0"/>
                        <a:t>Ending Accounts Payable  </a:t>
                      </a:r>
                    </a:p>
                  </a:txBody>
                  <a:tcPr/>
                </a:tc>
                <a:tc>
                  <a:txBody>
                    <a:bodyPr/>
                    <a:lstStyle/>
                    <a:p>
                      <a:r>
                        <a:rPr lang="en-GB" dirty="0"/>
                        <a:t>K1,600</a:t>
                      </a:r>
                    </a:p>
                  </a:txBody>
                  <a:tcPr/>
                </a:tc>
                <a:extLst>
                  <a:ext uri="{0D108BD9-81ED-4DB2-BD59-A6C34878D82A}">
                    <a16:rowId xmlns:a16="http://schemas.microsoft.com/office/drawing/2014/main" val="1705821857"/>
                  </a:ext>
                </a:extLst>
              </a:tr>
            </a:tbl>
          </a:graphicData>
        </a:graphic>
      </p:graphicFrame>
    </p:spTree>
    <p:extLst>
      <p:ext uri="{BB962C8B-B14F-4D97-AF65-F5344CB8AC3E}">
        <p14:creationId xmlns:p14="http://schemas.microsoft.com/office/powerpoint/2010/main" val="3979472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DF627-8E0C-4807-A26F-00A005AC41C9}"/>
              </a:ext>
            </a:extLst>
          </p:cNvPr>
          <p:cNvSpPr>
            <a:spLocks noGrp="1"/>
          </p:cNvSpPr>
          <p:nvPr>
            <p:ph type="title"/>
          </p:nvPr>
        </p:nvSpPr>
        <p:spPr/>
        <p:txBody>
          <a:bodyPr/>
          <a:lstStyle/>
          <a:p>
            <a:r>
              <a:rPr lang="en-GB" dirty="0"/>
              <a:t>Working Capital Matrix </a:t>
            </a:r>
          </a:p>
        </p:txBody>
      </p:sp>
      <p:sp>
        <p:nvSpPr>
          <p:cNvPr id="3" name="Content Placeholder 2">
            <a:extLst>
              <a:ext uri="{FF2B5EF4-FFF2-40B4-BE49-F238E27FC236}">
                <a16:creationId xmlns:a16="http://schemas.microsoft.com/office/drawing/2014/main" id="{281FED8B-CE50-413F-977C-BD398F59301F}"/>
              </a:ext>
            </a:extLst>
          </p:cNvPr>
          <p:cNvSpPr>
            <a:spLocks noGrp="1"/>
          </p:cNvSpPr>
          <p:nvPr>
            <p:ph idx="1"/>
          </p:nvPr>
        </p:nvSpPr>
        <p:spPr/>
        <p:txBody>
          <a:bodyPr>
            <a:normAutofit fontScale="92500" lnSpcReduction="10000"/>
          </a:bodyPr>
          <a:lstStyle/>
          <a:p>
            <a:pPr>
              <a:buAutoNum type="alphaUcPeriod"/>
            </a:pPr>
            <a:r>
              <a:rPr lang="en-GB" b="1" dirty="0"/>
              <a:t>Days’ Sales in Inventory or Days Inventory</a:t>
            </a:r>
          </a:p>
          <a:p>
            <a:r>
              <a:rPr lang="en-GB" dirty="0"/>
              <a:t>Calculated as a function of the inventory value and the cost of goods sold.</a:t>
            </a:r>
          </a:p>
          <a:p>
            <a:r>
              <a:rPr lang="en-GB" dirty="0"/>
              <a:t>Idea is to determine how many days it normally takes to convert inventory into actual sales during the period (e.g. one year)</a:t>
            </a:r>
          </a:p>
          <a:p>
            <a:pPr marL="0" indent="0">
              <a:buNone/>
            </a:pPr>
            <a:r>
              <a:rPr lang="en-GB" dirty="0"/>
              <a:t>Days inventory = </a:t>
            </a:r>
            <a:r>
              <a:rPr lang="en-GB" u="sng" dirty="0"/>
              <a:t>Inventory  </a:t>
            </a:r>
            <a:r>
              <a:rPr lang="en-GB" dirty="0"/>
              <a:t> x 365    = </a:t>
            </a:r>
            <a:r>
              <a:rPr lang="en-GB" u="sng" dirty="0"/>
              <a:t>K2,600 </a:t>
            </a:r>
            <a:r>
              <a:rPr lang="en-GB" dirty="0"/>
              <a:t>x 365 = 103.15</a:t>
            </a:r>
            <a:endParaRPr lang="en-GB" u="sng" dirty="0"/>
          </a:p>
          <a:p>
            <a:pPr marL="0" indent="0">
              <a:buNone/>
            </a:pPr>
            <a:r>
              <a:rPr lang="en-GB" dirty="0"/>
              <a:t>                              Cost of Goods sold    K9,200</a:t>
            </a:r>
          </a:p>
        </p:txBody>
      </p:sp>
    </p:spTree>
    <p:extLst>
      <p:ext uri="{BB962C8B-B14F-4D97-AF65-F5344CB8AC3E}">
        <p14:creationId xmlns:p14="http://schemas.microsoft.com/office/powerpoint/2010/main" val="3731715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B4ABE-4170-40D7-A86C-A5AA31BAF159}"/>
              </a:ext>
            </a:extLst>
          </p:cNvPr>
          <p:cNvSpPr>
            <a:spLocks noGrp="1"/>
          </p:cNvSpPr>
          <p:nvPr>
            <p:ph type="title"/>
          </p:nvPr>
        </p:nvSpPr>
        <p:spPr/>
        <p:txBody>
          <a:bodyPr/>
          <a:lstStyle/>
          <a:p>
            <a:r>
              <a:rPr lang="en-GB" dirty="0"/>
              <a:t>Working Capital Matrix </a:t>
            </a:r>
          </a:p>
        </p:txBody>
      </p:sp>
      <p:sp>
        <p:nvSpPr>
          <p:cNvPr id="3" name="Content Placeholder 2">
            <a:extLst>
              <a:ext uri="{FF2B5EF4-FFF2-40B4-BE49-F238E27FC236}">
                <a16:creationId xmlns:a16="http://schemas.microsoft.com/office/drawing/2014/main" id="{E20FFE57-0960-43F9-A522-EE1031E86489}"/>
              </a:ext>
            </a:extLst>
          </p:cNvPr>
          <p:cNvSpPr>
            <a:spLocks noGrp="1"/>
          </p:cNvSpPr>
          <p:nvPr>
            <p:ph idx="1"/>
          </p:nvPr>
        </p:nvSpPr>
        <p:spPr/>
        <p:txBody>
          <a:bodyPr/>
          <a:lstStyle/>
          <a:p>
            <a:pPr marL="0" indent="0">
              <a:buNone/>
            </a:pPr>
            <a:r>
              <a:rPr lang="en-GB" b="1" dirty="0"/>
              <a:t>B. Days’ Receivable (DR)</a:t>
            </a:r>
          </a:p>
          <a:p>
            <a:r>
              <a:rPr lang="en-GB" dirty="0"/>
              <a:t>Calculated by determining how many days of sales reside in A/R.</a:t>
            </a:r>
          </a:p>
          <a:p>
            <a:r>
              <a:rPr lang="en-GB" dirty="0"/>
              <a:t>Period ending value for A/R is divided by the amount of sales (or revenues) per day</a:t>
            </a:r>
          </a:p>
          <a:p>
            <a:r>
              <a:rPr lang="en-GB" dirty="0"/>
              <a:t>DR represents the number of days required to convert a sale into a cash inflow</a:t>
            </a:r>
          </a:p>
        </p:txBody>
      </p:sp>
    </p:spTree>
    <p:extLst>
      <p:ext uri="{BB962C8B-B14F-4D97-AF65-F5344CB8AC3E}">
        <p14:creationId xmlns:p14="http://schemas.microsoft.com/office/powerpoint/2010/main" val="549956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21E7C-5D33-458F-9521-DFC3C5B9752F}"/>
              </a:ext>
            </a:extLst>
          </p:cNvPr>
          <p:cNvSpPr>
            <a:spLocks noGrp="1"/>
          </p:cNvSpPr>
          <p:nvPr>
            <p:ph type="title"/>
          </p:nvPr>
        </p:nvSpPr>
        <p:spPr/>
        <p:txBody>
          <a:bodyPr/>
          <a:lstStyle/>
          <a:p>
            <a:r>
              <a:rPr lang="en-GB" dirty="0"/>
              <a:t>Working Capital Matrix </a:t>
            </a:r>
          </a:p>
        </p:txBody>
      </p:sp>
      <p:sp>
        <p:nvSpPr>
          <p:cNvPr id="3" name="Content Placeholder 2">
            <a:extLst>
              <a:ext uri="{FF2B5EF4-FFF2-40B4-BE49-F238E27FC236}">
                <a16:creationId xmlns:a16="http://schemas.microsoft.com/office/drawing/2014/main" id="{F33B198B-5F07-417D-9131-DC2C74F10CD4}"/>
              </a:ext>
            </a:extLst>
          </p:cNvPr>
          <p:cNvSpPr>
            <a:spLocks noGrp="1"/>
          </p:cNvSpPr>
          <p:nvPr>
            <p:ph idx="1"/>
          </p:nvPr>
        </p:nvSpPr>
        <p:spPr/>
        <p:txBody>
          <a:bodyPr>
            <a:normAutofit/>
          </a:bodyPr>
          <a:lstStyle/>
          <a:p>
            <a:pPr marL="0" indent="0">
              <a:buNone/>
            </a:pPr>
            <a:r>
              <a:rPr lang="en-GB" dirty="0"/>
              <a:t>Days’ Receivables= </a:t>
            </a:r>
            <a:r>
              <a:rPr lang="en-GB" u="sng" dirty="0"/>
              <a:t>Accounts Receivable </a:t>
            </a:r>
            <a:r>
              <a:rPr lang="en-GB" dirty="0"/>
              <a:t>x 365</a:t>
            </a:r>
            <a:endParaRPr lang="en-GB" u="sng" dirty="0"/>
          </a:p>
          <a:p>
            <a:pPr marL="0" indent="0">
              <a:buNone/>
            </a:pPr>
            <a:r>
              <a:rPr lang="en-GB" dirty="0"/>
              <a:t>                                   Revenues</a:t>
            </a:r>
          </a:p>
          <a:p>
            <a:pPr marL="0" indent="0">
              <a:buNone/>
            </a:pPr>
            <a:r>
              <a:rPr lang="en-GB" dirty="0"/>
              <a:t>                               = </a:t>
            </a:r>
            <a:r>
              <a:rPr lang="en-GB" u="sng" dirty="0"/>
              <a:t>K1,700 </a:t>
            </a:r>
            <a:r>
              <a:rPr lang="en-GB" dirty="0"/>
              <a:t>x 365 = 41.37 days</a:t>
            </a:r>
            <a:endParaRPr lang="en-GB" u="sng" dirty="0"/>
          </a:p>
          <a:p>
            <a:pPr marL="0" indent="0">
              <a:buNone/>
            </a:pPr>
            <a:r>
              <a:rPr lang="en-GB" dirty="0"/>
              <a:t>                                   K15,000</a:t>
            </a:r>
          </a:p>
          <a:p>
            <a:pPr marL="0" indent="0">
              <a:buNone/>
            </a:pPr>
            <a:r>
              <a:rPr lang="en-GB" u="sng" dirty="0"/>
              <a:t>                                   </a:t>
            </a:r>
          </a:p>
          <a:p>
            <a:pPr marL="0" indent="0">
              <a:buNone/>
            </a:pPr>
            <a:r>
              <a:rPr lang="en-GB" u="sng" dirty="0"/>
              <a:t>                                </a:t>
            </a:r>
          </a:p>
        </p:txBody>
      </p:sp>
    </p:spTree>
    <p:extLst>
      <p:ext uri="{BB962C8B-B14F-4D97-AF65-F5344CB8AC3E}">
        <p14:creationId xmlns:p14="http://schemas.microsoft.com/office/powerpoint/2010/main" val="1658036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B4C2B-7F40-4335-8439-17577C36EEF0}"/>
              </a:ext>
            </a:extLst>
          </p:cNvPr>
          <p:cNvSpPr>
            <a:spLocks noGrp="1"/>
          </p:cNvSpPr>
          <p:nvPr>
            <p:ph type="title"/>
          </p:nvPr>
        </p:nvSpPr>
        <p:spPr/>
        <p:txBody>
          <a:bodyPr/>
          <a:lstStyle/>
          <a:p>
            <a:r>
              <a:rPr lang="en-GB" dirty="0"/>
              <a:t>Working Capital Matrix </a:t>
            </a:r>
          </a:p>
        </p:txBody>
      </p:sp>
      <p:sp>
        <p:nvSpPr>
          <p:cNvPr id="3" name="Content Placeholder 2">
            <a:extLst>
              <a:ext uri="{FF2B5EF4-FFF2-40B4-BE49-F238E27FC236}">
                <a16:creationId xmlns:a16="http://schemas.microsoft.com/office/drawing/2014/main" id="{DD8C48F8-D10A-4369-B959-5668E799890C}"/>
              </a:ext>
            </a:extLst>
          </p:cNvPr>
          <p:cNvSpPr>
            <a:spLocks noGrp="1"/>
          </p:cNvSpPr>
          <p:nvPr>
            <p:ph idx="1"/>
          </p:nvPr>
        </p:nvSpPr>
        <p:spPr/>
        <p:txBody>
          <a:bodyPr/>
          <a:lstStyle/>
          <a:p>
            <a:pPr marL="0" indent="0">
              <a:buNone/>
            </a:pPr>
            <a:r>
              <a:rPr lang="en-GB" b="1" dirty="0"/>
              <a:t>C. Days’ Payables (DP)</a:t>
            </a:r>
          </a:p>
          <a:p>
            <a:r>
              <a:rPr lang="en-GB" dirty="0"/>
              <a:t>Calculated by dividing A/P by the COGS per day</a:t>
            </a:r>
          </a:p>
          <a:p>
            <a:pPr marL="0" indent="0">
              <a:buNone/>
            </a:pPr>
            <a:r>
              <a:rPr lang="en-GB" dirty="0"/>
              <a:t>Days’ Payable = </a:t>
            </a:r>
            <a:r>
              <a:rPr lang="en-GB" u="sng" dirty="0"/>
              <a:t>Accounts Payable </a:t>
            </a:r>
            <a:r>
              <a:rPr lang="en-GB" dirty="0"/>
              <a:t> x 365</a:t>
            </a:r>
            <a:endParaRPr lang="en-GB" u="sng" dirty="0"/>
          </a:p>
          <a:p>
            <a:pPr marL="0" indent="0">
              <a:buNone/>
            </a:pPr>
            <a:r>
              <a:rPr lang="en-GB" dirty="0"/>
              <a:t>                            Cost of Goods Sold</a:t>
            </a:r>
          </a:p>
          <a:p>
            <a:pPr marL="0" indent="0">
              <a:buNone/>
            </a:pPr>
            <a:r>
              <a:rPr lang="en-GB" dirty="0"/>
              <a:t>                         = </a:t>
            </a:r>
            <a:r>
              <a:rPr lang="en-GB" u="sng" dirty="0"/>
              <a:t>K1,600 </a:t>
            </a:r>
            <a:r>
              <a:rPr lang="en-GB" dirty="0"/>
              <a:t> x 365 = 63.48 days</a:t>
            </a:r>
            <a:endParaRPr lang="en-GB" u="sng" dirty="0"/>
          </a:p>
          <a:p>
            <a:pPr marL="0" indent="0">
              <a:buNone/>
            </a:pPr>
            <a:r>
              <a:rPr lang="en-GB" dirty="0"/>
              <a:t>                             K9,200</a:t>
            </a:r>
          </a:p>
        </p:txBody>
      </p:sp>
    </p:spTree>
    <p:extLst>
      <p:ext uri="{BB962C8B-B14F-4D97-AF65-F5344CB8AC3E}">
        <p14:creationId xmlns:p14="http://schemas.microsoft.com/office/powerpoint/2010/main" val="80072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551A8-3306-4929-974B-EA5C3BA0B955}"/>
              </a:ext>
            </a:extLst>
          </p:cNvPr>
          <p:cNvSpPr>
            <a:spLocks noGrp="1"/>
          </p:cNvSpPr>
          <p:nvPr>
            <p:ph type="title"/>
          </p:nvPr>
        </p:nvSpPr>
        <p:spPr/>
        <p:txBody>
          <a:bodyPr/>
          <a:lstStyle/>
          <a:p>
            <a:r>
              <a:rPr lang="en-GB" dirty="0"/>
              <a:t>Working Capital Matrix </a:t>
            </a:r>
          </a:p>
        </p:txBody>
      </p:sp>
      <p:sp>
        <p:nvSpPr>
          <p:cNvPr id="3" name="Content Placeholder 2">
            <a:extLst>
              <a:ext uri="{FF2B5EF4-FFF2-40B4-BE49-F238E27FC236}">
                <a16:creationId xmlns:a16="http://schemas.microsoft.com/office/drawing/2014/main" id="{D0AE7273-16B4-4349-B011-0E156B3DA17B}"/>
              </a:ext>
            </a:extLst>
          </p:cNvPr>
          <p:cNvSpPr>
            <a:spLocks noGrp="1"/>
          </p:cNvSpPr>
          <p:nvPr>
            <p:ph idx="1"/>
          </p:nvPr>
        </p:nvSpPr>
        <p:spPr/>
        <p:txBody>
          <a:bodyPr/>
          <a:lstStyle/>
          <a:p>
            <a:pPr marL="0" indent="0">
              <a:buNone/>
            </a:pPr>
            <a:r>
              <a:rPr lang="en-GB" b="1" dirty="0"/>
              <a:t>D. Cash Conversion Cycle (CCC)</a:t>
            </a:r>
          </a:p>
          <a:p>
            <a:r>
              <a:rPr lang="en-GB" dirty="0"/>
              <a:t>CCC the average number of days that elapse from the time the firm pays for inputs into the production-sales cycle to the time when cash is received from a sale</a:t>
            </a:r>
          </a:p>
          <a:p>
            <a:pPr marL="0" indent="0">
              <a:buNone/>
            </a:pPr>
            <a:r>
              <a:rPr lang="en-GB" dirty="0"/>
              <a:t>Cash Conversion Cycle = Days’ inventory + Days’ receivable – Days’ Payables</a:t>
            </a:r>
          </a:p>
          <a:p>
            <a:pPr marL="0" indent="0">
              <a:buNone/>
            </a:pPr>
            <a:r>
              <a:rPr lang="en-GB" dirty="0"/>
              <a:t>= 103.15 days + 41.37 days – 63.48 days = 81.04 days</a:t>
            </a:r>
          </a:p>
        </p:txBody>
      </p:sp>
    </p:spTree>
    <p:extLst>
      <p:ext uri="{BB962C8B-B14F-4D97-AF65-F5344CB8AC3E}">
        <p14:creationId xmlns:p14="http://schemas.microsoft.com/office/powerpoint/2010/main" val="1112160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6B8DB-F8FB-4442-80F6-5338720E4A03}"/>
              </a:ext>
            </a:extLst>
          </p:cNvPr>
          <p:cNvSpPr>
            <a:spLocks noGrp="1"/>
          </p:cNvSpPr>
          <p:nvPr>
            <p:ph type="title"/>
          </p:nvPr>
        </p:nvSpPr>
        <p:spPr/>
        <p:txBody>
          <a:bodyPr/>
          <a:lstStyle/>
          <a:p>
            <a:r>
              <a:rPr lang="en-GB" dirty="0"/>
              <a:t>Working Capital Matrix </a:t>
            </a:r>
          </a:p>
        </p:txBody>
      </p:sp>
      <p:sp>
        <p:nvSpPr>
          <p:cNvPr id="3" name="Content Placeholder 2">
            <a:extLst>
              <a:ext uri="{FF2B5EF4-FFF2-40B4-BE49-F238E27FC236}">
                <a16:creationId xmlns:a16="http://schemas.microsoft.com/office/drawing/2014/main" id="{A8F1A77C-CE86-4F22-A012-8B98C5D3850E}"/>
              </a:ext>
            </a:extLst>
          </p:cNvPr>
          <p:cNvSpPr>
            <a:spLocks noGrp="1"/>
          </p:cNvSpPr>
          <p:nvPr>
            <p:ph idx="1"/>
          </p:nvPr>
        </p:nvSpPr>
        <p:spPr/>
        <p:txBody>
          <a:bodyPr>
            <a:normAutofit lnSpcReduction="10000"/>
          </a:bodyPr>
          <a:lstStyle/>
          <a:p>
            <a:r>
              <a:rPr lang="en-GB" dirty="0"/>
              <a:t>On average during the prior year, 81.04 days elapsed from the time the company disbursed cash until it recovered cash from a sale</a:t>
            </a:r>
          </a:p>
          <a:p>
            <a:pPr marL="0" indent="0">
              <a:buNone/>
            </a:pPr>
            <a:r>
              <a:rPr lang="en-GB" b="1" dirty="0"/>
              <a:t>E. Cash Turnover</a:t>
            </a:r>
          </a:p>
          <a:p>
            <a:r>
              <a:rPr lang="en-GB" dirty="0"/>
              <a:t>Number of cash cycles a firm experiences in one year</a:t>
            </a:r>
          </a:p>
          <a:p>
            <a:pPr marL="0" indent="0">
              <a:buNone/>
            </a:pPr>
            <a:r>
              <a:rPr lang="en-GB" dirty="0"/>
              <a:t>Cash Turnover = </a:t>
            </a:r>
            <a:r>
              <a:rPr lang="en-GB" u="sng" dirty="0"/>
              <a:t>365 </a:t>
            </a:r>
            <a:r>
              <a:rPr lang="en-GB" dirty="0"/>
              <a:t>                                = </a:t>
            </a:r>
            <a:r>
              <a:rPr lang="en-GB" u="sng" dirty="0"/>
              <a:t>365       </a:t>
            </a:r>
            <a:r>
              <a:rPr lang="en-GB" dirty="0"/>
              <a:t>= 4.5 </a:t>
            </a:r>
            <a:endParaRPr lang="en-GB" u="sng" dirty="0"/>
          </a:p>
          <a:p>
            <a:pPr marL="0" indent="0">
              <a:buNone/>
            </a:pPr>
            <a:r>
              <a:rPr lang="en-GB" dirty="0"/>
              <a:t>                             Cash Conversion Cycle      81.04</a:t>
            </a:r>
          </a:p>
        </p:txBody>
      </p:sp>
    </p:spTree>
    <p:extLst>
      <p:ext uri="{BB962C8B-B14F-4D97-AF65-F5344CB8AC3E}">
        <p14:creationId xmlns:p14="http://schemas.microsoft.com/office/powerpoint/2010/main" val="1553804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Steps to Shorten the  Operating Cycle </a:t>
            </a:r>
          </a:p>
        </p:txBody>
      </p:sp>
      <p:sp>
        <p:nvSpPr>
          <p:cNvPr id="3" name="Content Placeholder 2"/>
          <p:cNvSpPr>
            <a:spLocks noGrp="1"/>
          </p:cNvSpPr>
          <p:nvPr>
            <p:ph idx="1"/>
          </p:nvPr>
        </p:nvSpPr>
        <p:spPr/>
        <p:txBody>
          <a:bodyPr/>
          <a:lstStyle/>
          <a:p>
            <a:r>
              <a:rPr lang="en-US" dirty="0"/>
              <a:t>Number of steps can be taken to shorten the cycle:</a:t>
            </a:r>
          </a:p>
          <a:p>
            <a:pPr marL="514350" indent="-514350">
              <a:buFont typeface="+mj-lt"/>
              <a:buAutoNum type="romanLcPeriod"/>
            </a:pPr>
            <a:r>
              <a:rPr lang="en-US" dirty="0"/>
              <a:t>The volume of debtor balances could be cut by quicker collection of debt</a:t>
            </a:r>
          </a:p>
          <a:p>
            <a:pPr marL="514350" indent="-514350">
              <a:buFont typeface="+mj-lt"/>
              <a:buAutoNum type="romanLcPeriod"/>
            </a:pPr>
            <a:r>
              <a:rPr lang="en-US" dirty="0"/>
              <a:t>Finished goods could be turned over more rapidly</a:t>
            </a:r>
          </a:p>
          <a:p>
            <a:pPr marL="514350" indent="-514350">
              <a:buFont typeface="+mj-lt"/>
              <a:buAutoNum type="romanLcPeriod"/>
            </a:pPr>
            <a:r>
              <a:rPr lang="en-US" dirty="0"/>
              <a:t>The level of raw material inventory could be reduced </a:t>
            </a:r>
          </a:p>
          <a:p>
            <a:pPr marL="514350" indent="-514350">
              <a:buFont typeface="+mj-lt"/>
              <a:buAutoNum type="romanLcPeriod"/>
            </a:pPr>
            <a:r>
              <a:rPr lang="en-US" dirty="0"/>
              <a:t>Production period could be shortened</a:t>
            </a:r>
          </a:p>
        </p:txBody>
      </p:sp>
    </p:spTree>
    <p:extLst>
      <p:ext uri="{BB962C8B-B14F-4D97-AF65-F5344CB8AC3E}">
        <p14:creationId xmlns:p14="http://schemas.microsoft.com/office/powerpoint/2010/main" val="1224862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Debtor Management</a:t>
            </a:r>
          </a:p>
        </p:txBody>
      </p:sp>
      <p:sp>
        <p:nvSpPr>
          <p:cNvPr id="3" name="Content Placeholder 2"/>
          <p:cNvSpPr>
            <a:spLocks noGrp="1"/>
          </p:cNvSpPr>
          <p:nvPr>
            <p:ph idx="1"/>
          </p:nvPr>
        </p:nvSpPr>
        <p:spPr/>
        <p:txBody>
          <a:bodyPr/>
          <a:lstStyle/>
          <a:p>
            <a:r>
              <a:rPr lang="en-US" dirty="0"/>
              <a:t>In order to reduce debtor days to more sustainable level, companies will offer customers inducements in the form of cash discounts</a:t>
            </a:r>
          </a:p>
          <a:p>
            <a:r>
              <a:rPr lang="en-US" dirty="0"/>
              <a:t>These discounts may speed up collection but reduce amount from each sale when collected</a:t>
            </a:r>
          </a:p>
          <a:p>
            <a:r>
              <a:rPr lang="en-US" dirty="0"/>
              <a:t>Credit management involves balancing benefits to be gained from extending credit to customers against the costs of doing so</a:t>
            </a:r>
          </a:p>
        </p:txBody>
      </p:sp>
    </p:spTree>
    <p:extLst>
      <p:ext uri="{BB962C8B-B14F-4D97-AF65-F5344CB8AC3E}">
        <p14:creationId xmlns:p14="http://schemas.microsoft.com/office/powerpoint/2010/main" val="1333457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Debtor Management</a:t>
            </a:r>
          </a:p>
        </p:txBody>
      </p:sp>
      <p:sp>
        <p:nvSpPr>
          <p:cNvPr id="3" name="Content Placeholder 2"/>
          <p:cNvSpPr>
            <a:spLocks noGrp="1"/>
          </p:cNvSpPr>
          <p:nvPr>
            <p:ph idx="1"/>
          </p:nvPr>
        </p:nvSpPr>
        <p:spPr/>
        <p:txBody>
          <a:bodyPr>
            <a:normAutofit fontScale="92500" lnSpcReduction="20000"/>
          </a:bodyPr>
          <a:lstStyle/>
          <a:p>
            <a:r>
              <a:rPr lang="en-US" dirty="0"/>
              <a:t>Finding the optimum level of credit and discounts which will </a:t>
            </a:r>
            <a:r>
              <a:rPr lang="en-US" dirty="0" err="1"/>
              <a:t>maximise</a:t>
            </a:r>
            <a:r>
              <a:rPr lang="en-US" dirty="0"/>
              <a:t> the company’s profits.</a:t>
            </a:r>
          </a:p>
          <a:p>
            <a:r>
              <a:rPr lang="en-US" dirty="0"/>
              <a:t>also involves:</a:t>
            </a:r>
          </a:p>
          <a:p>
            <a:pPr marL="514350" indent="-514350">
              <a:buFont typeface="+mj-lt"/>
              <a:buAutoNum type="romanLcPeriod"/>
            </a:pPr>
            <a:r>
              <a:rPr lang="en-US" dirty="0"/>
              <a:t>assessing credit risk of customers wanting credit</a:t>
            </a:r>
          </a:p>
          <a:p>
            <a:pPr marL="514350" indent="-514350">
              <a:buFont typeface="+mj-lt"/>
              <a:buAutoNum type="romanLcPeriod"/>
            </a:pPr>
            <a:r>
              <a:rPr lang="en-US" dirty="0"/>
              <a:t>Collecting debts which are overdue</a:t>
            </a:r>
          </a:p>
          <a:p>
            <a:pPr marL="514350" indent="-514350">
              <a:buFont typeface="+mj-lt"/>
              <a:buAutoNum type="romanLcPeriod"/>
            </a:pPr>
            <a:r>
              <a:rPr lang="en-US" dirty="0"/>
              <a:t>Assessing what effect changing credit terms will have on occurrence of bad debts</a:t>
            </a:r>
          </a:p>
          <a:p>
            <a:pPr marL="514350" indent="-514350">
              <a:buFont typeface="+mj-lt"/>
              <a:buAutoNum type="romanLcPeriod"/>
            </a:pPr>
            <a:r>
              <a:rPr lang="en-US" dirty="0"/>
              <a:t>Setting individual credit limits for customers</a:t>
            </a:r>
          </a:p>
        </p:txBody>
      </p:sp>
    </p:spTree>
    <p:extLst>
      <p:ext uri="{BB962C8B-B14F-4D97-AF65-F5344CB8AC3E}">
        <p14:creationId xmlns:p14="http://schemas.microsoft.com/office/powerpoint/2010/main" val="1486023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Cost to a Buyer of Not Taking Cash Discount</a:t>
            </a:r>
          </a:p>
        </p:txBody>
      </p:sp>
      <p:sp>
        <p:nvSpPr>
          <p:cNvPr id="3" name="Content Placeholder 2"/>
          <p:cNvSpPr>
            <a:spLocks noGrp="1"/>
          </p:cNvSpPr>
          <p:nvPr>
            <p:ph idx="1"/>
          </p:nvPr>
        </p:nvSpPr>
        <p:spPr/>
        <p:txBody>
          <a:bodyPr>
            <a:normAutofit fontScale="92500"/>
          </a:bodyPr>
          <a:lstStyle/>
          <a:p>
            <a:r>
              <a:rPr lang="en-US" dirty="0"/>
              <a:t>Cash or trade discounts are offered to induce payment near the beginning of the credit term</a:t>
            </a:r>
          </a:p>
          <a:p>
            <a:r>
              <a:rPr lang="en-US" dirty="0"/>
              <a:t>Credit terms often are expressed in the form 2/10 net 30</a:t>
            </a:r>
          </a:p>
          <a:p>
            <a:r>
              <a:rPr lang="en-US" dirty="0"/>
              <a:t>This means the credit period or term is 30 days, but the customer may take a 2% discount if it pays the invoice within 10 days </a:t>
            </a:r>
          </a:p>
          <a:p>
            <a:r>
              <a:rPr lang="en-US" dirty="0"/>
              <a:t>If the customer pays any time from day 11 through day 30, then the full invoice amount is due</a:t>
            </a:r>
          </a:p>
          <a:p>
            <a:pPr marL="0" indent="0">
              <a:buNone/>
            </a:pPr>
            <a:endParaRPr lang="en-US" dirty="0"/>
          </a:p>
        </p:txBody>
      </p:sp>
    </p:spTree>
    <p:extLst>
      <p:ext uri="{BB962C8B-B14F-4D97-AF65-F5344CB8AC3E}">
        <p14:creationId xmlns:p14="http://schemas.microsoft.com/office/powerpoint/2010/main" val="879683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cost of Cash Discount</a:t>
            </a:r>
          </a:p>
        </p:txBody>
      </p:sp>
      <p:sp>
        <p:nvSpPr>
          <p:cNvPr id="3" name="Content Placeholder 2"/>
          <p:cNvSpPr>
            <a:spLocks noGrp="1"/>
          </p:cNvSpPr>
          <p:nvPr>
            <p:ph idx="1"/>
          </p:nvPr>
        </p:nvSpPr>
        <p:spPr/>
        <p:txBody>
          <a:bodyPr/>
          <a:lstStyle/>
          <a:p>
            <a:r>
              <a:rPr lang="en-US" dirty="0"/>
              <a:t>Assume an </a:t>
            </a:r>
            <a:r>
              <a:rPr lang="en-US" dirty="0" err="1"/>
              <a:t>organisation</a:t>
            </a:r>
            <a:r>
              <a:rPr lang="en-US" dirty="0"/>
              <a:t> is offered credit terms 2/10 net 30</a:t>
            </a:r>
          </a:p>
          <a:p>
            <a:r>
              <a:rPr lang="en-US" dirty="0"/>
              <a:t>If </a:t>
            </a:r>
            <a:r>
              <a:rPr lang="en-US" dirty="0" err="1"/>
              <a:t>organisation’s</a:t>
            </a:r>
            <a:r>
              <a:rPr lang="en-US" dirty="0"/>
              <a:t> opportunity cost of funds is 8% (assuming this is its short term borrowing rate)</a:t>
            </a:r>
          </a:p>
          <a:p>
            <a:r>
              <a:rPr lang="en-US" dirty="0"/>
              <a:t>Should it take the discount?</a:t>
            </a:r>
          </a:p>
        </p:txBody>
      </p:sp>
    </p:spTree>
    <p:extLst>
      <p:ext uri="{BB962C8B-B14F-4D97-AF65-F5344CB8AC3E}">
        <p14:creationId xmlns:p14="http://schemas.microsoft.com/office/powerpoint/2010/main" val="353828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cost of Cash Discount</a:t>
            </a:r>
          </a:p>
        </p:txBody>
      </p:sp>
      <p:sp>
        <p:nvSpPr>
          <p:cNvPr id="3" name="Content Placeholder 2"/>
          <p:cNvSpPr>
            <a:spLocks noGrp="1"/>
          </p:cNvSpPr>
          <p:nvPr>
            <p:ph idx="1"/>
          </p:nvPr>
        </p:nvSpPr>
        <p:spPr/>
        <p:txBody>
          <a:bodyPr/>
          <a:lstStyle/>
          <a:p>
            <a:r>
              <a:rPr lang="en-US" dirty="0"/>
              <a:t>If the invoice is K100, then the customer can pay within 10 days and take a 2%, or K2.00 discount</a:t>
            </a:r>
          </a:p>
          <a:p>
            <a:r>
              <a:rPr lang="en-US" dirty="0"/>
              <a:t>The buyers resulting invoice is K98, with an option to finance the invoice for an additional 20 days (i.e. from day 11 to day 30) at a cost of K2.</a:t>
            </a:r>
          </a:p>
          <a:p>
            <a:r>
              <a:rPr lang="en-US" dirty="0"/>
              <a:t>If the buyer chooses to pay K100 on day 30, then it has charged itself K2.00 in interest to finance the invoice for 20 days</a:t>
            </a:r>
          </a:p>
        </p:txBody>
      </p:sp>
    </p:spTree>
    <p:extLst>
      <p:ext uri="{BB962C8B-B14F-4D97-AF65-F5344CB8AC3E}">
        <p14:creationId xmlns:p14="http://schemas.microsoft.com/office/powerpoint/2010/main" val="1737386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cost of Cash Discount</a:t>
            </a:r>
          </a:p>
        </p:txBody>
      </p:sp>
      <p:sp>
        <p:nvSpPr>
          <p:cNvPr id="3" name="Content Placeholder 2"/>
          <p:cNvSpPr>
            <a:spLocks noGrp="1"/>
          </p:cNvSpPr>
          <p:nvPr>
            <p:ph idx="1"/>
          </p:nvPr>
        </p:nvSpPr>
        <p:spPr/>
        <p:txBody>
          <a:bodyPr>
            <a:normAutofit fontScale="92500" lnSpcReduction="10000"/>
          </a:bodyPr>
          <a:lstStyle/>
          <a:p>
            <a:r>
              <a:rPr lang="en-US" dirty="0"/>
              <a:t>The approximate annual cost of not taking the discount and paying at term is as follows:</a:t>
            </a:r>
          </a:p>
          <a:p>
            <a:pPr marL="0" indent="0">
              <a:buNone/>
            </a:pPr>
            <a:r>
              <a:rPr lang="en-US" dirty="0"/>
              <a:t>Discount Cost = </a:t>
            </a:r>
            <a:r>
              <a:rPr lang="en-US" u="sng" dirty="0"/>
              <a:t>D </a:t>
            </a:r>
            <a:r>
              <a:rPr lang="en-US" dirty="0"/>
              <a:t>    x   </a:t>
            </a:r>
            <a:r>
              <a:rPr lang="en-US" u="sng" dirty="0"/>
              <a:t>365</a:t>
            </a:r>
          </a:p>
          <a:p>
            <a:pPr marL="0" indent="0">
              <a:buNone/>
            </a:pPr>
            <a:r>
              <a:rPr lang="en-US" dirty="0"/>
              <a:t>                           100- D     N-T</a:t>
            </a:r>
          </a:p>
          <a:p>
            <a:pPr marL="0" indent="0">
              <a:buNone/>
            </a:pPr>
            <a:r>
              <a:rPr lang="en-US" dirty="0"/>
              <a:t>Where: D= Discount percentage</a:t>
            </a:r>
          </a:p>
          <a:p>
            <a:pPr marL="0" indent="0">
              <a:buNone/>
            </a:pPr>
            <a:r>
              <a:rPr lang="en-US" dirty="0"/>
              <a:t>              N= Net period</a:t>
            </a:r>
          </a:p>
          <a:p>
            <a:pPr marL="0" indent="0">
              <a:buNone/>
            </a:pPr>
            <a:r>
              <a:rPr lang="en-US" dirty="0"/>
              <a:t>              T= Discount period</a:t>
            </a:r>
          </a:p>
        </p:txBody>
      </p:sp>
    </p:spTree>
    <p:extLst>
      <p:ext uri="{BB962C8B-B14F-4D97-AF65-F5344CB8AC3E}">
        <p14:creationId xmlns:p14="http://schemas.microsoft.com/office/powerpoint/2010/main" val="2013726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cost of Cash Discount</a:t>
            </a:r>
          </a:p>
        </p:txBody>
      </p:sp>
      <p:sp>
        <p:nvSpPr>
          <p:cNvPr id="3" name="Content Placeholder 2"/>
          <p:cNvSpPr>
            <a:spLocks noGrp="1"/>
          </p:cNvSpPr>
          <p:nvPr>
            <p:ph idx="1"/>
          </p:nvPr>
        </p:nvSpPr>
        <p:spPr/>
        <p:txBody>
          <a:bodyPr>
            <a:normAutofit fontScale="92500" lnSpcReduction="20000"/>
          </a:bodyPr>
          <a:lstStyle/>
          <a:p>
            <a:r>
              <a:rPr lang="en-US" dirty="0"/>
              <a:t>Discount cost =  </a:t>
            </a:r>
            <a:r>
              <a:rPr lang="en-US" u="sng" dirty="0"/>
              <a:t>2  </a:t>
            </a:r>
            <a:r>
              <a:rPr lang="en-US" dirty="0"/>
              <a:t>    x    </a:t>
            </a:r>
            <a:r>
              <a:rPr lang="en-US" u="sng" dirty="0"/>
              <a:t>365</a:t>
            </a:r>
          </a:p>
          <a:p>
            <a:pPr marL="0" indent="0">
              <a:buNone/>
            </a:pPr>
            <a:r>
              <a:rPr lang="en-US" dirty="0"/>
              <a:t>                                100-2       30-10</a:t>
            </a:r>
          </a:p>
          <a:p>
            <a:pPr marL="0" indent="0">
              <a:buNone/>
            </a:pPr>
            <a:r>
              <a:rPr lang="en-US" dirty="0"/>
              <a:t>                               0.0204 x 18.25 =  0.3723 or 37.23</a:t>
            </a:r>
          </a:p>
          <a:p>
            <a:r>
              <a:rPr lang="en-US" dirty="0"/>
              <a:t>The cost of not taking the discount can be compared with </a:t>
            </a:r>
            <a:r>
              <a:rPr lang="en-US"/>
              <a:t>the organization's </a:t>
            </a:r>
            <a:r>
              <a:rPr lang="en-US" dirty="0"/>
              <a:t>8% opportunity cost to borrow short term funds.</a:t>
            </a:r>
          </a:p>
          <a:p>
            <a:r>
              <a:rPr lang="en-US" dirty="0"/>
              <a:t>Since the cost to borrow is less than the cost of not taking the discount, the customer should borrow funds and take the discount</a:t>
            </a:r>
          </a:p>
        </p:txBody>
      </p:sp>
    </p:spTree>
    <p:extLst>
      <p:ext uri="{BB962C8B-B14F-4D97-AF65-F5344CB8AC3E}">
        <p14:creationId xmlns:p14="http://schemas.microsoft.com/office/powerpoint/2010/main" val="1403384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Reasons for foregoing discount</a:t>
            </a:r>
          </a:p>
        </p:txBody>
      </p:sp>
      <p:sp>
        <p:nvSpPr>
          <p:cNvPr id="3" name="Content Placeholder 2"/>
          <p:cNvSpPr>
            <a:spLocks noGrp="1"/>
          </p:cNvSpPr>
          <p:nvPr>
            <p:ph idx="1"/>
          </p:nvPr>
        </p:nvSpPr>
        <p:spPr/>
        <p:txBody>
          <a:bodyPr/>
          <a:lstStyle/>
          <a:p>
            <a:pPr>
              <a:buFont typeface="+mj-lt"/>
              <a:buAutoNum type="arabicPeriod"/>
            </a:pPr>
            <a:r>
              <a:rPr lang="en-US" dirty="0"/>
              <a:t>If the </a:t>
            </a:r>
            <a:r>
              <a:rPr lang="en-US" dirty="0" err="1"/>
              <a:t>organisation</a:t>
            </a:r>
            <a:r>
              <a:rPr lang="en-US" dirty="0"/>
              <a:t> can earn a return exceeding the discount rate by investing funds in the short term instead of paying early and earning the discount</a:t>
            </a:r>
          </a:p>
          <a:p>
            <a:pPr>
              <a:buFont typeface="+mj-lt"/>
              <a:buAutoNum type="arabicPeriod"/>
            </a:pPr>
            <a:r>
              <a:rPr lang="en-US" dirty="0"/>
              <a:t>If the </a:t>
            </a:r>
            <a:r>
              <a:rPr lang="en-US" dirty="0" err="1"/>
              <a:t>organisation</a:t>
            </a:r>
            <a:r>
              <a:rPr lang="en-US" dirty="0"/>
              <a:t> does not have cash available to take the discount, but has to borrow the necessary funds at an interest rate higher than the appropriate cost of not taking the discount</a:t>
            </a:r>
          </a:p>
          <a:p>
            <a:pPr marL="0" indent="0">
              <a:buNone/>
            </a:pPr>
            <a:endParaRPr lang="en-US" dirty="0"/>
          </a:p>
        </p:txBody>
      </p:sp>
    </p:spTree>
    <p:extLst>
      <p:ext uri="{BB962C8B-B14F-4D97-AF65-F5344CB8AC3E}">
        <p14:creationId xmlns:p14="http://schemas.microsoft.com/office/powerpoint/2010/main" val="1343193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Reasons for foregoing discount</a:t>
            </a:r>
          </a:p>
        </p:txBody>
      </p:sp>
      <p:sp>
        <p:nvSpPr>
          <p:cNvPr id="3" name="Content Placeholder 2"/>
          <p:cNvSpPr>
            <a:spLocks noGrp="1"/>
          </p:cNvSpPr>
          <p:nvPr>
            <p:ph idx="1"/>
          </p:nvPr>
        </p:nvSpPr>
        <p:spPr/>
        <p:txBody>
          <a:bodyPr/>
          <a:lstStyle/>
          <a:p>
            <a:pPr marL="0" indent="0">
              <a:buNone/>
            </a:pPr>
            <a:r>
              <a:rPr lang="en-US" dirty="0"/>
              <a:t>3. If the organization has the ability to effectively change the terms by stretching out its accounts payable (AP) terms. </a:t>
            </a:r>
          </a:p>
          <a:p>
            <a:r>
              <a:rPr lang="en-US" dirty="0"/>
              <a:t>By paying the net amount at a later date, the paying organization is effectively reducing the implied interest rate on the transaction.</a:t>
            </a:r>
          </a:p>
        </p:txBody>
      </p:sp>
    </p:spTree>
    <p:extLst>
      <p:ext uri="{BB962C8B-B14F-4D97-AF65-F5344CB8AC3E}">
        <p14:creationId xmlns:p14="http://schemas.microsoft.com/office/powerpoint/2010/main" val="816504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Financial Impact to Seller of offering cash discount</a:t>
            </a:r>
          </a:p>
        </p:txBody>
      </p:sp>
      <p:sp>
        <p:nvSpPr>
          <p:cNvPr id="3" name="Content Placeholder 2"/>
          <p:cNvSpPr>
            <a:spLocks noGrp="1"/>
          </p:cNvSpPr>
          <p:nvPr>
            <p:ph idx="1"/>
          </p:nvPr>
        </p:nvSpPr>
        <p:spPr/>
        <p:txBody>
          <a:bodyPr/>
          <a:lstStyle/>
          <a:p>
            <a:r>
              <a:rPr lang="en-US" dirty="0"/>
              <a:t>Sellers offer cash discounts to induce their customer to pay before term or to be competitive.</a:t>
            </a:r>
          </a:p>
          <a:p>
            <a:r>
              <a:rPr lang="en-US" dirty="0"/>
              <a:t>The net benefit can be calculated because there is a cost, in the form of lower revenue per kwacha of sales</a:t>
            </a:r>
          </a:p>
        </p:txBody>
      </p:sp>
    </p:spTree>
    <p:extLst>
      <p:ext uri="{BB962C8B-B14F-4D97-AF65-F5344CB8AC3E}">
        <p14:creationId xmlns:p14="http://schemas.microsoft.com/office/powerpoint/2010/main" val="551836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Net benefit of offering cash discount</a:t>
            </a:r>
          </a:p>
        </p:txBody>
      </p:sp>
      <p:sp>
        <p:nvSpPr>
          <p:cNvPr id="3" name="Content Placeholder 2"/>
          <p:cNvSpPr>
            <a:spLocks noGrp="1"/>
          </p:cNvSpPr>
          <p:nvPr>
            <p:ph idx="1"/>
          </p:nvPr>
        </p:nvSpPr>
        <p:spPr/>
        <p:txBody>
          <a:bodyPr/>
          <a:lstStyle/>
          <a:p>
            <a:r>
              <a:rPr lang="en-US" dirty="0"/>
              <a:t>Assume that a seller has an opportunity cost of 8%, the average credit sale to the buyer is K100, and the credit terms are 2/10 net 30.</a:t>
            </a:r>
          </a:p>
          <a:p>
            <a:r>
              <a:rPr lang="en-US" dirty="0"/>
              <a:t>To determine the present value (PV) of receiving the discounted payment on day 10, begin by calculating the discounted payment amount as follows:</a:t>
            </a:r>
          </a:p>
          <a:p>
            <a:pPr marL="0" indent="0">
              <a:buNone/>
            </a:pPr>
            <a:r>
              <a:rPr lang="en-US" dirty="0"/>
              <a:t>PV = FV/(1+r)</a:t>
            </a:r>
          </a:p>
        </p:txBody>
      </p:sp>
    </p:spTree>
    <p:extLst>
      <p:ext uri="{BB962C8B-B14F-4D97-AF65-F5344CB8AC3E}">
        <p14:creationId xmlns:p14="http://schemas.microsoft.com/office/powerpoint/2010/main" val="2118801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Net benefit of offering cash discount</a:t>
            </a:r>
          </a:p>
        </p:txBody>
      </p:sp>
      <p:sp>
        <p:nvSpPr>
          <p:cNvPr id="3" name="Content Placeholder 2"/>
          <p:cNvSpPr>
            <a:spLocks noGrp="1"/>
          </p:cNvSpPr>
          <p:nvPr>
            <p:ph idx="1"/>
          </p:nvPr>
        </p:nvSpPr>
        <p:spPr/>
        <p:txBody>
          <a:bodyPr/>
          <a:lstStyle/>
          <a:p>
            <a:r>
              <a:rPr lang="en-US" dirty="0"/>
              <a:t>And the interest rate (</a:t>
            </a:r>
            <a:r>
              <a:rPr lang="en-US" dirty="0" err="1"/>
              <a:t>i</a:t>
            </a:r>
            <a:r>
              <a:rPr lang="en-US" dirty="0"/>
              <a:t>) for the discounted period  can be calculated as:</a:t>
            </a:r>
          </a:p>
          <a:p>
            <a:pPr marL="0" indent="0">
              <a:buNone/>
            </a:pPr>
            <a:r>
              <a:rPr lang="en-US" dirty="0" err="1"/>
              <a:t>i</a:t>
            </a:r>
            <a:r>
              <a:rPr lang="en-US" dirty="0"/>
              <a:t>= days in discount period x annual interest/365</a:t>
            </a:r>
          </a:p>
          <a:p>
            <a:pPr marL="0" indent="0">
              <a:buNone/>
            </a:pPr>
            <a:r>
              <a:rPr lang="en-US" dirty="0"/>
              <a:t>= 10 x 8%/365 = 0.22%</a:t>
            </a:r>
          </a:p>
          <a:p>
            <a:r>
              <a:rPr lang="en-US" dirty="0"/>
              <a:t>The two can be combined to calculate the PV of the discounted payment as:</a:t>
            </a:r>
          </a:p>
        </p:txBody>
      </p:sp>
    </p:spTree>
    <p:extLst>
      <p:ext uri="{BB962C8B-B14F-4D97-AF65-F5344CB8AC3E}">
        <p14:creationId xmlns:p14="http://schemas.microsoft.com/office/powerpoint/2010/main" val="943190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Net benefit of offering cash discount</a:t>
            </a:r>
          </a:p>
        </p:txBody>
      </p:sp>
      <p:sp>
        <p:nvSpPr>
          <p:cNvPr id="3" name="Content Placeholder 2"/>
          <p:cNvSpPr>
            <a:spLocks noGrp="1"/>
          </p:cNvSpPr>
          <p:nvPr>
            <p:ph idx="1"/>
          </p:nvPr>
        </p:nvSpPr>
        <p:spPr/>
        <p:txBody>
          <a:bodyPr>
            <a:normAutofit lnSpcReduction="10000"/>
          </a:bodyPr>
          <a:lstStyle/>
          <a:p>
            <a:pPr marL="0" indent="0">
              <a:buNone/>
            </a:pPr>
            <a:r>
              <a:rPr lang="en-US" dirty="0"/>
              <a:t> </a:t>
            </a:r>
            <a:r>
              <a:rPr lang="en-US" dirty="0" err="1"/>
              <a:t>Pv</a:t>
            </a:r>
            <a:r>
              <a:rPr lang="en-US" baseline="-25000" dirty="0" err="1"/>
              <a:t>day</a:t>
            </a:r>
            <a:r>
              <a:rPr lang="en-US" baseline="-25000" dirty="0"/>
              <a:t> 10</a:t>
            </a:r>
            <a:r>
              <a:rPr lang="en-US" dirty="0"/>
              <a:t> = K98/(1+0.22%)= K97.78</a:t>
            </a:r>
          </a:p>
          <a:p>
            <a:r>
              <a:rPr lang="en-US" dirty="0"/>
              <a:t>Alternatively the PV of receiving the full payment after 30 days is calculated as:</a:t>
            </a:r>
          </a:p>
          <a:p>
            <a:pPr marL="0" indent="0">
              <a:buNone/>
            </a:pPr>
            <a:r>
              <a:rPr lang="en-US" dirty="0" err="1"/>
              <a:t>Pv</a:t>
            </a:r>
            <a:r>
              <a:rPr lang="en-US" baseline="-25000" dirty="0" err="1"/>
              <a:t>day</a:t>
            </a:r>
            <a:r>
              <a:rPr lang="en-US" dirty="0"/>
              <a:t> </a:t>
            </a:r>
            <a:r>
              <a:rPr lang="en-US" baseline="-25000" dirty="0"/>
              <a:t>30</a:t>
            </a:r>
            <a:r>
              <a:rPr lang="en-US" dirty="0"/>
              <a:t> = K100/(1+0.66%) = K99.34</a:t>
            </a:r>
          </a:p>
          <a:p>
            <a:r>
              <a:rPr lang="en-US" dirty="0"/>
              <a:t>The seller can now calculate the NPV of the discount as follows:</a:t>
            </a:r>
          </a:p>
          <a:p>
            <a:pPr marL="0" indent="0">
              <a:buNone/>
            </a:pPr>
            <a:r>
              <a:rPr lang="en-US" dirty="0"/>
              <a:t>NPV= PV</a:t>
            </a:r>
            <a:r>
              <a:rPr lang="en-US" baseline="-25000" dirty="0"/>
              <a:t>day10</a:t>
            </a:r>
            <a:r>
              <a:rPr lang="en-US" dirty="0"/>
              <a:t> </a:t>
            </a:r>
            <a:r>
              <a:rPr lang="mr-IN" dirty="0"/>
              <a:t>–</a:t>
            </a:r>
            <a:r>
              <a:rPr lang="en-US" dirty="0"/>
              <a:t> PV</a:t>
            </a:r>
            <a:r>
              <a:rPr lang="en-US" baseline="-25000" dirty="0"/>
              <a:t>day30</a:t>
            </a:r>
            <a:r>
              <a:rPr lang="en-US" dirty="0"/>
              <a:t>= K97.76-K99.34 = -K1.56</a:t>
            </a:r>
          </a:p>
        </p:txBody>
      </p:sp>
    </p:spTree>
    <p:extLst>
      <p:ext uri="{BB962C8B-B14F-4D97-AF65-F5344CB8AC3E}">
        <p14:creationId xmlns:p14="http://schemas.microsoft.com/office/powerpoint/2010/main" val="1851445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Net benefit of offering cash discount</a:t>
            </a:r>
          </a:p>
        </p:txBody>
      </p:sp>
      <p:sp>
        <p:nvSpPr>
          <p:cNvPr id="3" name="Content Placeholder 2"/>
          <p:cNvSpPr>
            <a:spLocks noGrp="1"/>
          </p:cNvSpPr>
          <p:nvPr>
            <p:ph idx="1"/>
          </p:nvPr>
        </p:nvSpPr>
        <p:spPr/>
        <p:txBody>
          <a:bodyPr/>
          <a:lstStyle/>
          <a:p>
            <a:r>
              <a:rPr lang="en-US" dirty="0"/>
              <a:t>From results, the seller knows its net disadvantage is K1.56 for every K100 of credit sales if the buyer takes the discount and pays by day 10 rather than wait to pay the full amount on day 30.</a:t>
            </a:r>
          </a:p>
        </p:txBody>
      </p:sp>
    </p:spTree>
    <p:extLst>
      <p:ext uri="{BB962C8B-B14F-4D97-AF65-F5344CB8AC3E}">
        <p14:creationId xmlns:p14="http://schemas.microsoft.com/office/powerpoint/2010/main" val="1090438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Credit Control</a:t>
            </a:r>
          </a:p>
        </p:txBody>
      </p:sp>
      <p:sp>
        <p:nvSpPr>
          <p:cNvPr id="3" name="Content Placeholder 2"/>
          <p:cNvSpPr>
            <a:spLocks noGrp="1"/>
          </p:cNvSpPr>
          <p:nvPr>
            <p:ph idx="1"/>
          </p:nvPr>
        </p:nvSpPr>
        <p:spPr/>
        <p:txBody>
          <a:bodyPr>
            <a:normAutofit lnSpcReduction="10000"/>
          </a:bodyPr>
          <a:lstStyle/>
          <a:p>
            <a:r>
              <a:rPr lang="en-US" dirty="0"/>
              <a:t>To have good credit management you should assess the credit risk of your customer base</a:t>
            </a:r>
          </a:p>
          <a:p>
            <a:r>
              <a:rPr lang="en-US" dirty="0"/>
              <a:t>This would involve giving consideration to the credit control procedures</a:t>
            </a:r>
          </a:p>
          <a:p>
            <a:pPr marL="0" indent="0">
              <a:buNone/>
            </a:pPr>
            <a:r>
              <a:rPr lang="en-US" dirty="0"/>
              <a:t>Key elements of credit control policy:</a:t>
            </a:r>
          </a:p>
          <a:p>
            <a:pPr>
              <a:buFont typeface="+mj-lt"/>
              <a:buAutoNum type="alphaLcPeriod"/>
            </a:pPr>
            <a:r>
              <a:rPr lang="en-US" dirty="0"/>
              <a:t>Terms of trade, notably the period of credit to be granted, and any discounts to be allowed for early settlement</a:t>
            </a:r>
          </a:p>
        </p:txBody>
      </p:sp>
    </p:spTree>
    <p:extLst>
      <p:ext uri="{BB962C8B-B14F-4D97-AF65-F5344CB8AC3E}">
        <p14:creationId xmlns:p14="http://schemas.microsoft.com/office/powerpoint/2010/main" val="1737518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Credit Control</a:t>
            </a:r>
          </a:p>
        </p:txBody>
      </p:sp>
      <p:sp>
        <p:nvSpPr>
          <p:cNvPr id="3" name="Content Placeholder 2"/>
          <p:cNvSpPr>
            <a:spLocks noGrp="1"/>
          </p:cNvSpPr>
          <p:nvPr>
            <p:ph idx="1"/>
          </p:nvPr>
        </p:nvSpPr>
        <p:spPr/>
        <p:txBody>
          <a:bodyPr/>
          <a:lstStyle/>
          <a:p>
            <a:pPr marL="0" indent="0">
              <a:buNone/>
            </a:pPr>
            <a:r>
              <a:rPr lang="en-US" dirty="0"/>
              <a:t>b. On a customer-by-customer basis, it is necessary to assess creditworthiness and to establish limits in terms of amount and time</a:t>
            </a:r>
          </a:p>
        </p:txBody>
      </p:sp>
    </p:spTree>
    <p:extLst>
      <p:ext uri="{BB962C8B-B14F-4D97-AF65-F5344CB8AC3E}">
        <p14:creationId xmlns:p14="http://schemas.microsoft.com/office/powerpoint/2010/main" val="1527622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Sources of customer credit standing</a:t>
            </a:r>
          </a:p>
        </p:txBody>
      </p:sp>
      <p:sp>
        <p:nvSpPr>
          <p:cNvPr id="3" name="Content Placeholder 2"/>
          <p:cNvSpPr>
            <a:spLocks noGrp="1"/>
          </p:cNvSpPr>
          <p:nvPr>
            <p:ph idx="1"/>
          </p:nvPr>
        </p:nvSpPr>
        <p:spPr/>
        <p:txBody>
          <a:bodyPr/>
          <a:lstStyle/>
          <a:p>
            <a:pPr marL="514350" indent="-514350">
              <a:buFont typeface="+mj-lt"/>
              <a:buAutoNum type="romanLcPeriod"/>
            </a:pPr>
            <a:r>
              <a:rPr lang="en-US" dirty="0"/>
              <a:t>Bank references- most banks in Zambia offer references on their customers</a:t>
            </a:r>
          </a:p>
          <a:p>
            <a:pPr marL="514350" indent="-514350">
              <a:buFont typeface="+mj-lt"/>
              <a:buAutoNum type="romanLcPeriod"/>
            </a:pPr>
            <a:r>
              <a:rPr lang="en-US" dirty="0"/>
              <a:t>Trade references- suppliers already giving credit to the customer can give useful information about how good a customer is on baying bills</a:t>
            </a:r>
          </a:p>
          <a:p>
            <a:pPr marL="514350" indent="-514350">
              <a:buFont typeface="+mj-lt"/>
              <a:buAutoNum type="romanLcPeriod"/>
            </a:pPr>
            <a:r>
              <a:rPr lang="en-US" dirty="0"/>
              <a:t>Published information </a:t>
            </a:r>
            <a:r>
              <a:rPr lang="mr-IN" dirty="0"/>
              <a:t>–</a:t>
            </a:r>
            <a:r>
              <a:rPr lang="en-US" dirty="0"/>
              <a:t> customer’s annual accounts and reports will give some idea of general financial position of company and its liquidity</a:t>
            </a:r>
          </a:p>
        </p:txBody>
      </p:sp>
    </p:spTree>
    <p:extLst>
      <p:ext uri="{BB962C8B-B14F-4D97-AF65-F5344CB8AC3E}">
        <p14:creationId xmlns:p14="http://schemas.microsoft.com/office/powerpoint/2010/main" val="1434322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Sources of customer credit standing</a:t>
            </a:r>
          </a:p>
        </p:txBody>
      </p:sp>
      <p:sp>
        <p:nvSpPr>
          <p:cNvPr id="3" name="Content Placeholder 2"/>
          <p:cNvSpPr>
            <a:spLocks noGrp="1"/>
          </p:cNvSpPr>
          <p:nvPr>
            <p:ph idx="1"/>
          </p:nvPr>
        </p:nvSpPr>
        <p:spPr/>
        <p:txBody>
          <a:bodyPr/>
          <a:lstStyle/>
          <a:p>
            <a:pPr marL="0" indent="0">
              <a:buNone/>
            </a:pPr>
            <a:r>
              <a:rPr lang="en-US" dirty="0"/>
              <a:t>iv. Credit agencies- agencies such as the Credit Reference Bureau in Zambia keeps information of individual and company borrowings from different banks</a:t>
            </a:r>
          </a:p>
          <a:p>
            <a:pPr marL="0" indent="0">
              <a:buNone/>
            </a:pPr>
            <a:r>
              <a:rPr lang="en-US" dirty="0"/>
              <a:t>v. Company’s own sales record- for an existing customer, the sales ledger will show how prompt a payer the company is</a:t>
            </a:r>
          </a:p>
        </p:txBody>
      </p:sp>
    </p:spTree>
    <p:extLst>
      <p:ext uri="{BB962C8B-B14F-4D97-AF65-F5344CB8AC3E}">
        <p14:creationId xmlns:p14="http://schemas.microsoft.com/office/powerpoint/2010/main" val="64564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Chasing Overdue Accounts</a:t>
            </a:r>
          </a:p>
        </p:txBody>
      </p:sp>
      <p:sp>
        <p:nvSpPr>
          <p:cNvPr id="3" name="Content Placeholder 2"/>
          <p:cNvSpPr>
            <a:spLocks noGrp="1"/>
          </p:cNvSpPr>
          <p:nvPr>
            <p:ph idx="1"/>
          </p:nvPr>
        </p:nvSpPr>
        <p:spPr/>
        <p:txBody>
          <a:bodyPr>
            <a:normAutofit lnSpcReduction="10000"/>
          </a:bodyPr>
          <a:lstStyle/>
          <a:p>
            <a:r>
              <a:rPr lang="en-US" dirty="0"/>
              <a:t>There is need to have well defined procedures for following up overdue debts. In worst case scenario, there will be need to understand the law relating to contracts, insolvency, winding up and liquidation.</a:t>
            </a:r>
          </a:p>
          <a:p>
            <a:r>
              <a:rPr lang="en-US" dirty="0"/>
              <a:t>One can also sue for the debt or institute winding up proceedings. </a:t>
            </a:r>
          </a:p>
          <a:p>
            <a:r>
              <a:rPr lang="en-US" dirty="0"/>
              <a:t>In Zambia ‘the small claims court’ deals with non-payment of amounts owed by individuals and small firms</a:t>
            </a:r>
          </a:p>
        </p:txBody>
      </p:sp>
    </p:spTree>
    <p:extLst>
      <p:ext uri="{BB962C8B-B14F-4D97-AF65-F5344CB8AC3E}">
        <p14:creationId xmlns:p14="http://schemas.microsoft.com/office/powerpoint/2010/main" val="1815754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Factoring</a:t>
            </a:r>
          </a:p>
        </p:txBody>
      </p:sp>
      <p:sp>
        <p:nvSpPr>
          <p:cNvPr id="3" name="Content Placeholder 2"/>
          <p:cNvSpPr>
            <a:spLocks noGrp="1"/>
          </p:cNvSpPr>
          <p:nvPr>
            <p:ph idx="1"/>
          </p:nvPr>
        </p:nvSpPr>
        <p:spPr/>
        <p:txBody>
          <a:bodyPr/>
          <a:lstStyle/>
          <a:p>
            <a:r>
              <a:rPr lang="en-US" dirty="0"/>
              <a:t>Management may contract out the management of receivables</a:t>
            </a:r>
          </a:p>
          <a:p>
            <a:r>
              <a:rPr lang="en-US" dirty="0"/>
              <a:t>In many industries, the capital required to fund the granting of credit to customers represents substantial proportion of total sales</a:t>
            </a:r>
          </a:p>
          <a:p>
            <a:r>
              <a:rPr lang="en-US" dirty="0"/>
              <a:t>The greater the volume, the greater the investment in receivables.</a:t>
            </a:r>
          </a:p>
        </p:txBody>
      </p:sp>
    </p:spTree>
    <p:extLst>
      <p:ext uri="{BB962C8B-B14F-4D97-AF65-F5344CB8AC3E}">
        <p14:creationId xmlns:p14="http://schemas.microsoft.com/office/powerpoint/2010/main" val="1683673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Factoring</a:t>
            </a:r>
          </a:p>
        </p:txBody>
      </p:sp>
      <p:sp>
        <p:nvSpPr>
          <p:cNvPr id="3" name="Content Placeholder 2"/>
          <p:cNvSpPr>
            <a:spLocks noGrp="1"/>
          </p:cNvSpPr>
          <p:nvPr>
            <p:ph idx="1"/>
          </p:nvPr>
        </p:nvSpPr>
        <p:spPr/>
        <p:txBody>
          <a:bodyPr/>
          <a:lstStyle/>
          <a:p>
            <a:r>
              <a:rPr lang="en-US" dirty="0"/>
              <a:t>Rather than obtaining traditional finance (e.g. equity and overdrafts), some business outsource this process to concentrate only on the provision of goods or services</a:t>
            </a:r>
          </a:p>
          <a:p>
            <a:r>
              <a:rPr lang="en-US" dirty="0"/>
              <a:t>Specialist finance companies offer a factoring arrangement under which they:</a:t>
            </a:r>
          </a:p>
        </p:txBody>
      </p:sp>
    </p:spTree>
    <p:extLst>
      <p:ext uri="{BB962C8B-B14F-4D97-AF65-F5344CB8AC3E}">
        <p14:creationId xmlns:p14="http://schemas.microsoft.com/office/powerpoint/2010/main" val="1418468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Factoring</a:t>
            </a:r>
          </a:p>
        </p:txBody>
      </p:sp>
      <p:sp>
        <p:nvSpPr>
          <p:cNvPr id="3" name="Content Placeholder 2"/>
          <p:cNvSpPr>
            <a:spLocks noGrp="1"/>
          </p:cNvSpPr>
          <p:nvPr>
            <p:ph idx="1"/>
          </p:nvPr>
        </p:nvSpPr>
        <p:spPr/>
        <p:txBody>
          <a:bodyPr/>
          <a:lstStyle/>
          <a:p>
            <a:pPr marL="514350" indent="-514350">
              <a:buAutoNum type="romanLcPeriod"/>
            </a:pPr>
            <a:r>
              <a:rPr lang="en-US" dirty="0"/>
              <a:t>Provide finance by advancing, say, 80% of invoice value immediately, the remainder being settled when the customer settles the debt (net of finance charge, i.e. 3% per annum above base rate)</a:t>
            </a:r>
          </a:p>
          <a:p>
            <a:pPr marL="514350" indent="-514350">
              <a:buAutoNum type="romanLcPeriod"/>
            </a:pPr>
            <a:r>
              <a:rPr lang="en-US" dirty="0"/>
              <a:t>Take responsibility for the operation of the client’s sales ledger, including assessment of creditworthiness and dealing with customer’s for an additional fee, offer non-recourse finance, i.e. guarantee settlement even if they are not paid by the customer</a:t>
            </a:r>
          </a:p>
          <a:p>
            <a:endParaRPr lang="en-US" dirty="0"/>
          </a:p>
        </p:txBody>
      </p:sp>
    </p:spTree>
    <p:extLst>
      <p:ext uri="{BB962C8B-B14F-4D97-AF65-F5344CB8AC3E}">
        <p14:creationId xmlns:p14="http://schemas.microsoft.com/office/powerpoint/2010/main" val="1059789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Evaluation of Factoring Facility</a:t>
            </a:r>
          </a:p>
        </p:txBody>
      </p:sp>
      <p:sp>
        <p:nvSpPr>
          <p:cNvPr id="3" name="Content Placeholder 2"/>
          <p:cNvSpPr>
            <a:spLocks noGrp="1"/>
          </p:cNvSpPr>
          <p:nvPr>
            <p:ph idx="1"/>
          </p:nvPr>
        </p:nvSpPr>
        <p:spPr/>
        <p:txBody>
          <a:bodyPr/>
          <a:lstStyle/>
          <a:p>
            <a:pPr marL="0" indent="0">
              <a:buNone/>
            </a:pPr>
            <a:r>
              <a:rPr lang="en-US" dirty="0"/>
              <a:t>Example</a:t>
            </a:r>
          </a:p>
          <a:p>
            <a:r>
              <a:rPr lang="en-US" dirty="0" err="1"/>
              <a:t>Mutengo</a:t>
            </a:r>
            <a:r>
              <a:rPr lang="en-US" dirty="0"/>
              <a:t> Plc has been set up for the purpose of importing commodities which will be sold to a small number of reliable customers.</a:t>
            </a:r>
          </a:p>
          <a:p>
            <a:r>
              <a:rPr lang="en-US" dirty="0"/>
              <a:t>Sales invoices are forecast at K300,000 per month</a:t>
            </a:r>
          </a:p>
          <a:p>
            <a:r>
              <a:rPr lang="en-US" dirty="0"/>
              <a:t>The average credit period for this type of business is two and half months</a:t>
            </a:r>
          </a:p>
          <a:p>
            <a:endParaRPr lang="en-US" dirty="0"/>
          </a:p>
        </p:txBody>
      </p:sp>
    </p:spTree>
    <p:extLst>
      <p:ext uri="{BB962C8B-B14F-4D97-AF65-F5344CB8AC3E}">
        <p14:creationId xmlns:p14="http://schemas.microsoft.com/office/powerpoint/2010/main" val="773058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Evaluation of Factoring Facility</a:t>
            </a:r>
          </a:p>
        </p:txBody>
      </p:sp>
      <p:sp>
        <p:nvSpPr>
          <p:cNvPr id="3" name="Content Placeholder 2"/>
          <p:cNvSpPr>
            <a:spLocks noGrp="1"/>
          </p:cNvSpPr>
          <p:nvPr>
            <p:ph idx="1"/>
          </p:nvPr>
        </p:nvSpPr>
        <p:spPr/>
        <p:txBody>
          <a:bodyPr/>
          <a:lstStyle/>
          <a:p>
            <a:r>
              <a:rPr lang="en-US" dirty="0"/>
              <a:t>The company is considering factoring its accounts receivables under a full factoring agreement without recourse.</a:t>
            </a:r>
          </a:p>
          <a:p>
            <a:r>
              <a:rPr lang="en-US" dirty="0"/>
              <a:t>Under the agreement, the factor will charge a fee of 2.5% on total invoices</a:t>
            </a:r>
          </a:p>
          <a:p>
            <a:r>
              <a:rPr lang="en-US" dirty="0"/>
              <a:t>He will give an advance of 85% of invoiced amounts at an interest rate of 13% per annum</a:t>
            </a:r>
          </a:p>
        </p:txBody>
      </p:sp>
    </p:spTree>
    <p:extLst>
      <p:ext uri="{BB962C8B-B14F-4D97-AF65-F5344CB8AC3E}">
        <p14:creationId xmlns:p14="http://schemas.microsoft.com/office/powerpoint/2010/main" val="146266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Evaluation of Factoring Facility</a:t>
            </a:r>
          </a:p>
        </p:txBody>
      </p:sp>
      <p:sp>
        <p:nvSpPr>
          <p:cNvPr id="3" name="Content Placeholder 2"/>
          <p:cNvSpPr>
            <a:spLocks noGrp="1"/>
          </p:cNvSpPr>
          <p:nvPr>
            <p:ph idx="1"/>
          </p:nvPr>
        </p:nvSpPr>
        <p:spPr/>
        <p:txBody>
          <a:bodyPr/>
          <a:lstStyle/>
          <a:p>
            <a:r>
              <a:rPr lang="en-US" dirty="0"/>
              <a:t>The agreement should enable </a:t>
            </a:r>
            <a:r>
              <a:rPr lang="en-US" dirty="0" err="1"/>
              <a:t>Mutengo</a:t>
            </a:r>
            <a:r>
              <a:rPr lang="en-US" dirty="0"/>
              <a:t> PLC to avoid spending K95,000 on administration costs.</a:t>
            </a:r>
          </a:p>
          <a:p>
            <a:pPr marL="0" indent="0">
              <a:buNone/>
            </a:pPr>
            <a:r>
              <a:rPr lang="en-US" dirty="0"/>
              <a:t>Required</a:t>
            </a:r>
          </a:p>
          <a:p>
            <a:pPr>
              <a:buFont typeface="+mj-lt"/>
              <a:buAutoNum type="arabicPeriod"/>
            </a:pPr>
            <a:r>
              <a:rPr lang="en-US" dirty="0"/>
              <a:t>Calculate the annual net cost of factoring;</a:t>
            </a:r>
          </a:p>
          <a:p>
            <a:pPr>
              <a:buFont typeface="+mj-lt"/>
              <a:buAutoNum type="arabicPeriod"/>
            </a:pPr>
            <a:r>
              <a:rPr lang="en-US" dirty="0"/>
              <a:t>Consider the financial benefits of such an arrangement, having regard to current interest rate on bank overdrafts of 12.5%</a:t>
            </a:r>
          </a:p>
        </p:txBody>
      </p:sp>
    </p:spTree>
    <p:extLst>
      <p:ext uri="{BB962C8B-B14F-4D97-AF65-F5344CB8AC3E}">
        <p14:creationId xmlns:p14="http://schemas.microsoft.com/office/powerpoint/2010/main" val="350162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a:t>
            </a:r>
          </a:p>
        </p:txBody>
      </p:sp>
      <p:sp>
        <p:nvSpPr>
          <p:cNvPr id="3" name="Content Placeholder 2"/>
          <p:cNvSpPr>
            <a:spLocks noGrp="1"/>
          </p:cNvSpPr>
          <p:nvPr>
            <p:ph idx="1"/>
          </p:nvPr>
        </p:nvSpPr>
        <p:spPr/>
        <p:txBody>
          <a:bodyPr>
            <a:normAutofit fontScale="92500" lnSpcReduction="20000"/>
          </a:bodyPr>
          <a:lstStyle/>
          <a:p>
            <a:pPr>
              <a:buAutoNum type="arabicPeriod"/>
            </a:pPr>
            <a:r>
              <a:rPr lang="en-US" dirty="0"/>
              <a:t>Annual sales: K300,000 x 12  =                 K3,600,000</a:t>
            </a:r>
          </a:p>
          <a:p>
            <a:pPr marL="0" indent="0">
              <a:buNone/>
            </a:pPr>
            <a:r>
              <a:rPr lang="en-US" dirty="0"/>
              <a:t>Annual net cost of factoring:</a:t>
            </a:r>
          </a:p>
          <a:p>
            <a:pPr marL="0" indent="0">
              <a:buNone/>
            </a:pPr>
            <a:r>
              <a:rPr lang="en-US" dirty="0"/>
              <a:t>Fee: 2.5% of K3,600,000                                       K90,000</a:t>
            </a:r>
          </a:p>
          <a:p>
            <a:pPr marL="0" indent="0">
              <a:buNone/>
            </a:pPr>
            <a:r>
              <a:rPr lang="en-US" dirty="0"/>
              <a:t>Annual interest ( 2.5/12 x 3.6m x85% x 13%)  +</a:t>
            </a:r>
            <a:r>
              <a:rPr lang="en-US" u="sng" dirty="0"/>
              <a:t>K82,873.67</a:t>
            </a:r>
          </a:p>
          <a:p>
            <a:pPr marL="0" indent="0">
              <a:buNone/>
            </a:pPr>
            <a:r>
              <a:rPr lang="en-US" dirty="0"/>
              <a:t>						    K172,875</a:t>
            </a:r>
          </a:p>
          <a:p>
            <a:pPr marL="0" indent="0">
              <a:buNone/>
            </a:pPr>
            <a:r>
              <a:rPr lang="en-US" dirty="0"/>
              <a:t>Less: administration costs                                    - </a:t>
            </a:r>
            <a:r>
              <a:rPr lang="en-US" u="sng" dirty="0"/>
              <a:t>K95,000</a:t>
            </a:r>
          </a:p>
          <a:p>
            <a:pPr marL="0" indent="0">
              <a:buNone/>
            </a:pPr>
            <a:r>
              <a:rPr lang="en-US" dirty="0"/>
              <a:t>Net costs                                                                  K77,875</a:t>
            </a:r>
          </a:p>
        </p:txBody>
      </p:sp>
    </p:spTree>
    <p:extLst>
      <p:ext uri="{BB962C8B-B14F-4D97-AF65-F5344CB8AC3E}">
        <p14:creationId xmlns:p14="http://schemas.microsoft.com/office/powerpoint/2010/main" val="45276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a:t>
            </a:r>
          </a:p>
        </p:txBody>
      </p:sp>
      <p:sp>
        <p:nvSpPr>
          <p:cNvPr id="3" name="Content Placeholder 2"/>
          <p:cNvSpPr>
            <a:spLocks noGrp="1"/>
          </p:cNvSpPr>
          <p:nvPr>
            <p:ph idx="1"/>
          </p:nvPr>
        </p:nvSpPr>
        <p:spPr/>
        <p:txBody>
          <a:bodyPr/>
          <a:lstStyle/>
          <a:p>
            <a:pPr marL="0" indent="0">
              <a:buNone/>
            </a:pPr>
            <a:r>
              <a:rPr lang="en-US" dirty="0"/>
              <a:t>2. The borrowing of K637,500 i.e. (2.5/12 x 3.6m x 85%) from the bank would cost K79, 687.50</a:t>
            </a:r>
          </a:p>
          <a:p>
            <a:r>
              <a:rPr lang="en-US" dirty="0"/>
              <a:t>Therefore, factoring offers a saving of around K2,000 </a:t>
            </a:r>
          </a:p>
        </p:txBody>
      </p:sp>
    </p:spTree>
    <p:extLst>
      <p:ext uri="{BB962C8B-B14F-4D97-AF65-F5344CB8AC3E}">
        <p14:creationId xmlns:p14="http://schemas.microsoft.com/office/powerpoint/2010/main" val="687679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Advantages of Factoring</a:t>
            </a:r>
          </a:p>
        </p:txBody>
      </p:sp>
      <p:sp>
        <p:nvSpPr>
          <p:cNvPr id="3" name="Content Placeholder 2"/>
          <p:cNvSpPr>
            <a:spLocks noGrp="1"/>
          </p:cNvSpPr>
          <p:nvPr>
            <p:ph idx="1"/>
          </p:nvPr>
        </p:nvSpPr>
        <p:spPr/>
        <p:txBody>
          <a:bodyPr/>
          <a:lstStyle/>
          <a:p>
            <a:pPr marL="514350" indent="-514350">
              <a:buFont typeface="+mj-lt"/>
              <a:buAutoNum type="romanLcPeriod"/>
            </a:pPr>
            <a:r>
              <a:rPr lang="en-US" dirty="0"/>
              <a:t>Flexibility </a:t>
            </a:r>
            <a:r>
              <a:rPr lang="mr-IN" dirty="0"/>
              <a:t>–</a:t>
            </a:r>
            <a:r>
              <a:rPr lang="en-US" dirty="0"/>
              <a:t> as sales increase with the corresponding demand for finance, so finance from this source increases</a:t>
            </a:r>
          </a:p>
          <a:p>
            <a:pPr marL="514350" indent="-514350">
              <a:buFont typeface="+mj-lt"/>
              <a:buAutoNum type="romanLcPeriod"/>
            </a:pPr>
            <a:r>
              <a:rPr lang="en-US" dirty="0"/>
              <a:t>Security- it allows the firm to pledge other assets as security for the finance</a:t>
            </a:r>
          </a:p>
          <a:p>
            <a:pPr marL="514350" indent="-514350">
              <a:buFont typeface="+mj-lt"/>
              <a:buAutoNum type="romanLcPeriod"/>
            </a:pPr>
            <a:r>
              <a:rPr lang="en-US" dirty="0"/>
              <a:t>Last resort- it may be the most cost effective lender to a firm which has no assets to offer as security</a:t>
            </a:r>
          </a:p>
          <a:p>
            <a:pPr marL="0" indent="0">
              <a:buNone/>
            </a:pPr>
            <a:endParaRPr lang="en-US" dirty="0"/>
          </a:p>
        </p:txBody>
      </p:sp>
    </p:spTree>
    <p:extLst>
      <p:ext uri="{BB962C8B-B14F-4D97-AF65-F5344CB8AC3E}">
        <p14:creationId xmlns:p14="http://schemas.microsoft.com/office/powerpoint/2010/main" val="2699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Advantages </a:t>
            </a:r>
            <a:r>
              <a:rPr lang="en-US" dirty="0"/>
              <a:t>of Factoring</a:t>
            </a:r>
          </a:p>
        </p:txBody>
      </p:sp>
      <p:sp>
        <p:nvSpPr>
          <p:cNvPr id="3" name="Content Placeholder 2"/>
          <p:cNvSpPr>
            <a:spLocks noGrp="1"/>
          </p:cNvSpPr>
          <p:nvPr>
            <p:ph idx="1"/>
          </p:nvPr>
        </p:nvSpPr>
        <p:spPr/>
        <p:txBody>
          <a:bodyPr/>
          <a:lstStyle/>
          <a:p>
            <a:r>
              <a:rPr lang="en-US" dirty="0"/>
              <a:t>Iv. Responsibility- relieves management of the responsibility for the sales ledger and can probably perform credit checking better than the firm.</a:t>
            </a:r>
          </a:p>
        </p:txBody>
      </p:sp>
    </p:spTree>
    <p:extLst>
      <p:ext uri="{BB962C8B-B14F-4D97-AF65-F5344CB8AC3E}">
        <p14:creationId xmlns:p14="http://schemas.microsoft.com/office/powerpoint/2010/main" val="1906705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4B717-F6F2-4970-BE5C-31DC59263C6F}"/>
              </a:ext>
            </a:extLst>
          </p:cNvPr>
          <p:cNvSpPr>
            <a:spLocks noGrp="1"/>
          </p:cNvSpPr>
          <p:nvPr>
            <p:ph type="title"/>
          </p:nvPr>
        </p:nvSpPr>
        <p:spPr/>
        <p:txBody>
          <a:bodyPr/>
          <a:lstStyle/>
          <a:p>
            <a:r>
              <a:rPr lang="en-GB" dirty="0"/>
              <a:t>Disadvantages</a:t>
            </a:r>
          </a:p>
        </p:txBody>
      </p:sp>
      <p:sp>
        <p:nvSpPr>
          <p:cNvPr id="3" name="Content Placeholder 2">
            <a:extLst>
              <a:ext uri="{FF2B5EF4-FFF2-40B4-BE49-F238E27FC236}">
                <a16:creationId xmlns:a16="http://schemas.microsoft.com/office/drawing/2014/main" id="{03B75AB8-B714-4716-931B-38B4A493376C}"/>
              </a:ext>
            </a:extLst>
          </p:cNvPr>
          <p:cNvSpPr>
            <a:spLocks noGrp="1"/>
          </p:cNvSpPr>
          <p:nvPr>
            <p:ph idx="1"/>
          </p:nvPr>
        </p:nvSpPr>
        <p:spPr/>
        <p:txBody>
          <a:bodyPr/>
          <a:lstStyle/>
          <a:p>
            <a:pPr>
              <a:buFont typeface="+mj-lt"/>
              <a:buAutoNum type="arabicPeriod"/>
            </a:pPr>
            <a:r>
              <a:rPr lang="en-GB" dirty="0"/>
              <a:t>Customer resistance</a:t>
            </a:r>
          </a:p>
          <a:p>
            <a:pPr>
              <a:buFont typeface="+mj-lt"/>
              <a:buAutoNum type="arabicPeriod"/>
            </a:pPr>
            <a:r>
              <a:rPr lang="en-GB" dirty="0"/>
              <a:t>Customer relationship</a:t>
            </a:r>
          </a:p>
          <a:p>
            <a:pPr>
              <a:buFont typeface="+mj-lt"/>
              <a:buAutoNum type="arabicPeriod"/>
            </a:pPr>
            <a:r>
              <a:rPr lang="en-GB" dirty="0"/>
              <a:t>Reputation</a:t>
            </a:r>
          </a:p>
          <a:p>
            <a:pPr>
              <a:buFont typeface="+mj-lt"/>
              <a:buAutoNum type="arabicPeriod"/>
            </a:pPr>
            <a:r>
              <a:rPr lang="en-GB" dirty="0"/>
              <a:t>Too reliant </a:t>
            </a:r>
          </a:p>
        </p:txBody>
      </p:sp>
    </p:spTree>
    <p:extLst>
      <p:ext uri="{BB962C8B-B14F-4D97-AF65-F5344CB8AC3E}">
        <p14:creationId xmlns:p14="http://schemas.microsoft.com/office/powerpoint/2010/main" val="1559275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1A48E-2F13-43B1-8CDF-740CFEAE3FE8}"/>
              </a:ext>
            </a:extLst>
          </p:cNvPr>
          <p:cNvSpPr>
            <a:spLocks noGrp="1"/>
          </p:cNvSpPr>
          <p:nvPr>
            <p:ph type="title"/>
          </p:nvPr>
        </p:nvSpPr>
        <p:spPr/>
        <p:txBody>
          <a:bodyPr/>
          <a:lstStyle/>
          <a:p>
            <a:r>
              <a:rPr lang="en-US" dirty="0"/>
              <a:t>Invoice Discounting</a:t>
            </a:r>
            <a:endParaRPr lang="en-GB" dirty="0"/>
          </a:p>
        </p:txBody>
      </p:sp>
      <p:sp>
        <p:nvSpPr>
          <p:cNvPr id="3" name="Content Placeholder 2">
            <a:extLst>
              <a:ext uri="{FF2B5EF4-FFF2-40B4-BE49-F238E27FC236}">
                <a16:creationId xmlns:a16="http://schemas.microsoft.com/office/drawing/2014/main" id="{795F4081-94DC-40D5-A7FF-081DB64B4F37}"/>
              </a:ext>
            </a:extLst>
          </p:cNvPr>
          <p:cNvSpPr>
            <a:spLocks noGrp="1"/>
          </p:cNvSpPr>
          <p:nvPr>
            <p:ph idx="1"/>
          </p:nvPr>
        </p:nvSpPr>
        <p:spPr/>
        <p:txBody>
          <a:bodyPr/>
          <a:lstStyle/>
          <a:p>
            <a:r>
              <a:rPr lang="en-US" dirty="0"/>
              <a:t>Specialist finance company can alternatively discount the companies invoices</a:t>
            </a:r>
          </a:p>
          <a:p>
            <a:r>
              <a:rPr lang="en-US" dirty="0"/>
              <a:t>They provide the finance as above but do not get involved with the operation of the sales ledger or hence become known to the customers</a:t>
            </a:r>
          </a:p>
          <a:p>
            <a:r>
              <a:rPr lang="en-US" dirty="0"/>
              <a:t>It is cheaper than factoring and avoids creating a barrier between the business and its customer</a:t>
            </a:r>
          </a:p>
          <a:p>
            <a:endParaRPr lang="en-GB" dirty="0"/>
          </a:p>
        </p:txBody>
      </p:sp>
    </p:spTree>
    <p:extLst>
      <p:ext uri="{BB962C8B-B14F-4D97-AF65-F5344CB8AC3E}">
        <p14:creationId xmlns:p14="http://schemas.microsoft.com/office/powerpoint/2010/main" val="3849708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002B1-16C5-4060-AA6F-5D70D442DFBF}"/>
              </a:ext>
            </a:extLst>
          </p:cNvPr>
          <p:cNvSpPr>
            <a:spLocks noGrp="1"/>
          </p:cNvSpPr>
          <p:nvPr>
            <p:ph type="title"/>
          </p:nvPr>
        </p:nvSpPr>
        <p:spPr/>
        <p:txBody>
          <a:bodyPr/>
          <a:lstStyle/>
          <a:p>
            <a:r>
              <a:rPr lang="en-GB" dirty="0"/>
              <a:t>Invoice Discounting </a:t>
            </a:r>
          </a:p>
        </p:txBody>
      </p:sp>
      <p:pic>
        <p:nvPicPr>
          <p:cNvPr id="2050" name="Picture 2" descr="Invoice Discounting | What is Invoice Finance? | 2020 Guide">
            <a:extLst>
              <a:ext uri="{FF2B5EF4-FFF2-40B4-BE49-F238E27FC236}">
                <a16:creationId xmlns:a16="http://schemas.microsoft.com/office/drawing/2014/main" id="{E553E36F-18EF-462E-89DF-415AAEA6175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3558" y="1438836"/>
            <a:ext cx="8496886" cy="49760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36789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E3C94-0285-4038-A4FE-7A83FAC754F8}"/>
              </a:ext>
            </a:extLst>
          </p:cNvPr>
          <p:cNvSpPr>
            <a:spLocks noGrp="1"/>
          </p:cNvSpPr>
          <p:nvPr>
            <p:ph type="title"/>
          </p:nvPr>
        </p:nvSpPr>
        <p:spPr/>
        <p:txBody>
          <a:bodyPr/>
          <a:lstStyle/>
          <a:p>
            <a:r>
              <a:rPr lang="en-GB" dirty="0"/>
              <a:t>Question?</a:t>
            </a:r>
          </a:p>
        </p:txBody>
      </p:sp>
      <p:pic>
        <p:nvPicPr>
          <p:cNvPr id="1030" name="Picture 6" descr="What is a good question? | Dragonfly Training">
            <a:extLst>
              <a:ext uri="{FF2B5EF4-FFF2-40B4-BE49-F238E27FC236}">
                <a16:creationId xmlns:a16="http://schemas.microsoft.com/office/drawing/2014/main" id="{781E4FBF-FB69-4B1E-95B9-A0BBC4419EE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795838" y="1955408"/>
            <a:ext cx="3657600" cy="3035691"/>
          </a:xfrm>
          <a:prstGeom prst="rect">
            <a:avLst/>
          </a:prstGeom>
          <a:noFill/>
          <a:extLst>
            <a:ext uri="{909E8E84-426E-40DD-AFC4-6F175D3DCCD1}">
              <a14:hiddenFill xmlns:a14="http://schemas.microsoft.com/office/drawing/2010/main">
                <a:solidFill>
                  <a:srgbClr val="FFFFFF"/>
                </a:solidFill>
              </a14:hiddenFill>
            </a:ext>
          </a:extLst>
        </p:spPr>
      </p:pic>
      <p:sp>
        <p:nvSpPr>
          <p:cNvPr id="10" name="Text Placeholder 9">
            <a:extLst>
              <a:ext uri="{FF2B5EF4-FFF2-40B4-BE49-F238E27FC236}">
                <a16:creationId xmlns:a16="http://schemas.microsoft.com/office/drawing/2014/main" id="{A045955A-7A89-4677-AEF7-7DA0024FF22B}"/>
              </a:ext>
            </a:extLst>
          </p:cNvPr>
          <p:cNvSpPr>
            <a:spLocks noGrp="1"/>
          </p:cNvSpPr>
          <p:nvPr>
            <p:ph type="body" sz="half" idx="2"/>
          </p:nvPr>
        </p:nvSpPr>
        <p:spPr/>
        <p:txBody>
          <a:bodyPr>
            <a:normAutofit/>
          </a:bodyPr>
          <a:lstStyle/>
          <a:p>
            <a:r>
              <a:rPr lang="en-GB" sz="3200" dirty="0">
                <a:solidFill>
                  <a:schemeClr val="accent2">
                    <a:lumMod val="75000"/>
                  </a:schemeClr>
                </a:solidFill>
              </a:rPr>
              <a:t>What is the difference between factoring and invoice discounting?</a:t>
            </a:r>
          </a:p>
        </p:txBody>
      </p:sp>
    </p:spTree>
    <p:extLst>
      <p:ext uri="{BB962C8B-B14F-4D97-AF65-F5344CB8AC3E}">
        <p14:creationId xmlns:p14="http://schemas.microsoft.com/office/powerpoint/2010/main" val="4008615725"/>
      </p:ext>
    </p:extLst>
  </p:cSld>
  <p:clrMapOvr>
    <a:masterClrMapping/>
  </p:clrMapOvr>
</p:sld>
</file>

<file path=ppt/theme/_rels/them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 Id="rId5" Type="http://schemas.openxmlformats.org/officeDocument/2006/relationships/image" Target="../media/image5.jpeg"/><Relationship Id="rId4" Type="http://schemas.openxmlformats.org/officeDocument/2006/relationships/image" Target="../media/image4.jpeg"/></Relationships>
</file>

<file path=ppt/theme/theme1.xml><?xml version="1.0" encoding="utf-8"?>
<a:theme xmlns:a="http://schemas.openxmlformats.org/drawingml/2006/main" name="Folio">
  <a:themeElements>
    <a:clrScheme name="Folio">
      <a:dk1>
        <a:sysClr val="windowText" lastClr="000000"/>
      </a:dk1>
      <a:lt1>
        <a:sysClr val="window" lastClr="FFFFFF"/>
      </a:lt1>
      <a:dk2>
        <a:srgbClr val="2D2F2B"/>
      </a:dk2>
      <a:lt2>
        <a:srgbClr val="DEDED7"/>
      </a:lt2>
      <a:accent1>
        <a:srgbClr val="294171"/>
      </a:accent1>
      <a:accent2>
        <a:srgbClr val="748CBC"/>
      </a:accent2>
      <a:accent3>
        <a:srgbClr val="8E887C"/>
      </a:accent3>
      <a:accent4>
        <a:srgbClr val="834736"/>
      </a:accent4>
      <a:accent5>
        <a:srgbClr val="5A1705"/>
      </a:accent5>
      <a:accent6>
        <a:srgbClr val="A0A16A"/>
      </a:accent6>
      <a:hlink>
        <a:srgbClr val="74B6BC"/>
      </a:hlink>
      <a:folHlink>
        <a:srgbClr val="7F95A4"/>
      </a:folHlink>
    </a:clrScheme>
    <a:fontScheme name="Folio">
      <a:majorFont>
        <a:latin typeface="Calisto MT"/>
        <a:ea typeface=""/>
        <a:cs typeface=""/>
        <a:font script="Jpan" typeface="ＭＳ 明朝"/>
        <a:font script="Hans" typeface="宋体"/>
        <a:font script="Hant" typeface="新細明體"/>
      </a:majorFont>
      <a:minorFont>
        <a:latin typeface="Calisto MT"/>
        <a:ea typeface=""/>
        <a:cs typeface=""/>
        <a:font script="Jpan" typeface="ＭＳ 明朝"/>
        <a:font script="Hans" typeface="宋体"/>
        <a:font script="Hant" typeface="新細明體"/>
      </a:minorFont>
    </a:fontScheme>
    <a:fmtScheme name="Folio">
      <a:fillStyleLst>
        <a:solidFill>
          <a:schemeClr val="phClr"/>
        </a:solidFill>
        <a:blipFill rotWithShape="1">
          <a:blip xmlns:r="http://schemas.openxmlformats.org/officeDocument/2006/relationships" r:embed="rId1">
            <a:duotone>
              <a:schemeClr val="phClr">
                <a:shade val="30000"/>
                <a:satMod val="120000"/>
              </a:schemeClr>
              <a:schemeClr val="phClr">
                <a:tint val="70000"/>
                <a:satMod val="350000"/>
                <a:lumMod val="110000"/>
              </a:schemeClr>
            </a:duotone>
          </a:blip>
          <a:stretch/>
        </a:blipFill>
        <a:blipFill rotWithShape="1">
          <a:blip xmlns:r="http://schemas.openxmlformats.org/officeDocument/2006/relationships" r:embed="rId2">
            <a:duotone>
              <a:schemeClr val="phClr">
                <a:shade val="40000"/>
                <a:satMod val="120000"/>
              </a:schemeClr>
              <a:schemeClr val="phClr">
                <a:tint val="70000"/>
                <a:satMod val="300000"/>
                <a:lumMod val="110000"/>
              </a:schemeClr>
            </a:duotone>
          </a:blip>
          <a:tile tx="0" ty="0" sx="50000" sy="50000" flip="none" algn="tl"/>
        </a:blipFill>
      </a:fillStyleLst>
      <a:lnStyleLst>
        <a:ln w="12700" cap="flat" cmpd="sng" algn="ctr">
          <a:solidFill>
            <a:schemeClr val="phClr">
              <a:shade val="95000"/>
              <a:satMod val="105000"/>
            </a:schemeClr>
          </a:solidFill>
          <a:prstDash val="solid"/>
        </a:ln>
        <a:ln w="3175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38100" dist="25400" dir="5400000" algn="br" rotWithShape="0">
              <a:srgbClr val="000000">
                <a:alpha val="50000"/>
              </a:srgbClr>
            </a:outerShdw>
          </a:effectLst>
        </a:effectStyle>
        <a:effectStyle>
          <a:effectLst>
            <a:innerShdw blurRad="190500" dist="25400">
              <a:srgbClr val="000000">
                <a:alpha val="50000"/>
              </a:srgbClr>
            </a:innerShdw>
          </a:effectLst>
        </a:effectStyle>
      </a:effectStyleLst>
      <a:bgFillStyleLst>
        <a:blipFill rotWithShape="1">
          <a:blip xmlns:r="http://schemas.openxmlformats.org/officeDocument/2006/relationships" r:embed="rId3">
            <a:duotone>
              <a:schemeClr val="phClr">
                <a:shade val="10000"/>
                <a:satMod val="125000"/>
              </a:schemeClr>
              <a:schemeClr val="phClr">
                <a:tint val="70000"/>
                <a:satMod val="350000"/>
                <a:lumMod val="110000"/>
              </a:schemeClr>
            </a:duotone>
          </a:blip>
          <a:stretch/>
        </a:blipFill>
        <a:blipFill rotWithShape="1">
          <a:blip xmlns:r="http://schemas.openxmlformats.org/officeDocument/2006/relationships" r:embed="rId4">
            <a:duotone>
              <a:schemeClr val="phClr">
                <a:shade val="10000"/>
                <a:satMod val="125000"/>
              </a:schemeClr>
              <a:schemeClr val="phClr">
                <a:tint val="70000"/>
                <a:satMod val="350000"/>
                <a:lumMod val="110000"/>
              </a:schemeClr>
            </a:duotone>
          </a:blip>
          <a:stretch/>
        </a:blipFill>
        <a:blipFill rotWithShape="1">
          <a:blip xmlns:r="http://schemas.openxmlformats.org/officeDocument/2006/relationships" r:embed="rId5">
            <a:duotone>
              <a:schemeClr val="phClr">
                <a:shade val="3000"/>
                <a:lumMod val="10000"/>
              </a:schemeClr>
              <a:schemeClr val="phClr">
                <a:tint val="91000"/>
                <a:satMod val="500000"/>
                <a:lumMod val="125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Folio.thmx</Template>
  <TotalTime>2432</TotalTime>
  <Words>2722</Words>
  <Application>Microsoft Office PowerPoint</Application>
  <PresentationFormat>On-screen Show (4:3)</PresentationFormat>
  <Paragraphs>245</Paragraphs>
  <Slides>55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Calisto MT</vt:lpstr>
      <vt:lpstr>Wingdings</vt:lpstr>
      <vt:lpstr>Folio</vt:lpstr>
      <vt:lpstr>Treasury Management</vt:lpstr>
      <vt:lpstr>Outline</vt:lpstr>
      <vt:lpstr>Defining Working Capital</vt:lpstr>
      <vt:lpstr>Defining Working Capital</vt:lpstr>
      <vt:lpstr>Defining Working Capital</vt:lpstr>
      <vt:lpstr>Defining Working Capital</vt:lpstr>
      <vt:lpstr>Working Capital Policy</vt:lpstr>
      <vt:lpstr>Working Capital Policy</vt:lpstr>
      <vt:lpstr>Working Capital Policy</vt:lpstr>
      <vt:lpstr>Working Capital Policy</vt:lpstr>
      <vt:lpstr>The Operating Cycle </vt:lpstr>
      <vt:lpstr>Cash conversion cycle </vt:lpstr>
      <vt:lpstr>Cash conversion cycle</vt:lpstr>
      <vt:lpstr>Calculating the cash conversion cycle</vt:lpstr>
      <vt:lpstr>Working Capital Matrix </vt:lpstr>
      <vt:lpstr>Working Capital Matrix </vt:lpstr>
      <vt:lpstr>Working Capital Matrix </vt:lpstr>
      <vt:lpstr>Working Capital Matrix </vt:lpstr>
      <vt:lpstr>Working Capital Matrix </vt:lpstr>
      <vt:lpstr>Working Capital Matrix </vt:lpstr>
      <vt:lpstr>Working Capital Matrix </vt:lpstr>
      <vt:lpstr>Steps to Shorten the  Operating Cycle </vt:lpstr>
      <vt:lpstr>Debtor Management</vt:lpstr>
      <vt:lpstr>Debtor Management</vt:lpstr>
      <vt:lpstr>Cost to a Buyer of Not Taking Cash Discount</vt:lpstr>
      <vt:lpstr>Example: cost of Cash Discount</vt:lpstr>
      <vt:lpstr>Example: cost of Cash Discount</vt:lpstr>
      <vt:lpstr>Example: cost of Cash Discount</vt:lpstr>
      <vt:lpstr>Example: cost of Cash Discount</vt:lpstr>
      <vt:lpstr>Reasons for foregoing discount</vt:lpstr>
      <vt:lpstr>Reasons for foregoing discount</vt:lpstr>
      <vt:lpstr>Financial Impact to Seller of offering cash discount</vt:lpstr>
      <vt:lpstr>Example: Net benefit of offering cash discount</vt:lpstr>
      <vt:lpstr>Example: Net benefit of offering cash discount</vt:lpstr>
      <vt:lpstr>Example: Net benefit of offering cash discount</vt:lpstr>
      <vt:lpstr>Example: Net benefit of offering cash discount</vt:lpstr>
      <vt:lpstr>Credit Control</vt:lpstr>
      <vt:lpstr>Credit Control</vt:lpstr>
      <vt:lpstr>Sources of customer credit standing</vt:lpstr>
      <vt:lpstr>Sources of customer credit standing</vt:lpstr>
      <vt:lpstr>Chasing Overdue Accounts</vt:lpstr>
      <vt:lpstr>Factoring</vt:lpstr>
      <vt:lpstr>Factoring</vt:lpstr>
      <vt:lpstr>Factoring</vt:lpstr>
      <vt:lpstr>Evaluation of Factoring Facility</vt:lpstr>
      <vt:lpstr>Evaluation of Factoring Facility</vt:lpstr>
      <vt:lpstr>Evaluation of Factoring Facility</vt:lpstr>
      <vt:lpstr>Solution</vt:lpstr>
      <vt:lpstr>Solution</vt:lpstr>
      <vt:lpstr>Advantages of Factoring</vt:lpstr>
      <vt:lpstr>Advantages of Factoring</vt:lpstr>
      <vt:lpstr>Disadvantages</vt:lpstr>
      <vt:lpstr>Invoice Discounting</vt:lpstr>
      <vt:lpstr>Invoice Discounting </vt:lpstr>
      <vt:lpstr>Question?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BFS 322</dc:title>
  <dc:creator>Webster Sikazwe</dc:creator>
  <cp:lastModifiedBy>Webster Sikazwe</cp:lastModifiedBy>
  <cp:revision>153</cp:revision>
  <dcterms:created xsi:type="dcterms:W3CDTF">2018-08-06T09:52:02Z</dcterms:created>
  <dcterms:modified xsi:type="dcterms:W3CDTF">2023-02-09T12:00:59Z</dcterms:modified>
</cp:coreProperties>
</file>